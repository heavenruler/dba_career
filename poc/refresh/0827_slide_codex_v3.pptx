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439D8B8-B63C-4071-BE8E-126C92B1625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SSD 技術審查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FEFF06-757C-4EC1-A83F-1550E143A736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95250" cy="31908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F2D98B-55D4-4335-94C3-E3D052EA50CA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6381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多寫多讀</a:t>
            </a:r>
          </a:p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混合雲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4D89D5-AFC8-4213-9CE7-F78E20D10A05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 dirty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Y25 </a:t>
            </a:r>
            <a:r>
              <a:rPr lang="en-US" sz="2100" dirty="0" err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紀錄</a:t>
            </a:r>
            <a:r>
              <a:rPr lang="en-US" sz="210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 Recap</a:t>
            </a:r>
            <a:r>
              <a:rPr sz="21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2100" b="0" dirty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× Y26 PoC </a:t>
            </a:r>
            <a:r>
              <a:rPr sz="2100" b="0" dirty="0" err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決策彙整</a:t>
            </a:r>
            <a:endParaRPr sz="2100" b="0" dirty="0">
              <a:solidFill>
                <a:srgbClr val="667085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83A587-CC04-494C-B368-E159B1245B15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781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7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從多寫目標，收斂為可交付的 A/S → A/A (RO) 路線</a:t>
            </a:r>
          </a:p>
        </p:txBody>
      </p:sp>
    </p:spTree>
    <p:extLst>
      <p:ext uri="{BB962C8B-B14F-4D97-AF65-F5344CB8AC3E}">
        <p14:creationId xmlns:p14="http://schemas.microsoft.com/office/powerpoint/2010/main" val="157941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243A429-4E64-46DC-83B4-7A6349DCAB9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EXECUTIVE ANSWER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F7F1D7-EF91-4C4E-ADE3-B3AD95EBD4E2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目標不變；交付路線改為 A/S → A/A (RO)</a:t>
            </a:r>
          </a:p>
        </p:txBody>
      </p:sp>
      <p:cxnSp>
        <p:nvCxnSpPr>
          <p:cNvPr id="29" name="直線箭頭接點 2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594F840-A002-4083-837D-0161F773417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093E72-95F3-4D61-854B-BEB093FF628C}"/>
              </a:ext>
            </a:extLst>
          </p:cNvPr>
          <p:cNvSpPr>
            <a:spLocks noGrp="1"/>
          </p:cNvSpPr>
          <p:nvPr/>
        </p:nvSpPr>
        <p:spPr>
          <a:xfrm>
            <a:off x="495300" y="1571625"/>
            <a:ext cx="1123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TiDB 是 MySQL 相容的主線候選，但依現行架構規劃，A/A 目前仍無法達成目標。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5BC489-F790-4A5D-B80F-49D599A906CD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3429000" cy="22860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4BBC01-17DE-4F69-8FF2-5BC58B64791E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2.06×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5B8651-C93F-4EA4-A026-31C521ECA822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TiDB 水平擴展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8599D8-AE4E-4216-9D7C-5EF31FE81084}"/>
              </a:ext>
            </a:extLst>
          </p:cNvPr>
          <p:cNvSpPr>
            <a:spLocks noGrp="1"/>
          </p:cNvSpPr>
          <p:nvPr/>
        </p:nvSpPr>
        <p:spPr>
          <a:xfrm>
            <a:off x="704850" y="3657600"/>
            <a:ext cx="3009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 node → 3 node HAProxy；四家最高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C86525-6284-4863-AE70-A355ADFFE6F2}"/>
              </a:ext>
            </a:extLst>
          </p:cNvPr>
          <p:cNvSpPr>
            <a:spLocks noGrp="1"/>
          </p:cNvSpPr>
          <p:nvPr/>
        </p:nvSpPr>
        <p:spPr>
          <a:xfrm>
            <a:off x="4152900" y="2381250"/>
            <a:ext cx="3429000" cy="22860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25155C-2B8D-4F7D-A3F5-30A135C45415}"/>
              </a:ext>
            </a:extLst>
          </p:cNvPr>
          <p:cNvSpPr>
            <a:spLocks noGrp="1"/>
          </p:cNvSpPr>
          <p:nvPr/>
        </p:nvSpPr>
        <p:spPr>
          <a:xfrm>
            <a:off x="4362450" y="257175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0.000%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30453C-9E1A-4392-A02C-1A20CF9898C4}"/>
              </a:ext>
            </a:extLst>
          </p:cNvPr>
          <p:cNvSpPr>
            <a:spLocks noGrp="1"/>
          </p:cNvSpPr>
          <p:nvPr/>
        </p:nvSpPr>
        <p:spPr>
          <a:xfrm>
            <a:off x="4362450" y="32575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高併發交易錯誤率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5F5F4A-712A-4461-BA7D-C45306DC1F84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3009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t=128；五輪 range/mean 7.4%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B55E24-C756-4E44-93FD-6182A86D7BC9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3429000" cy="22860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3AAA93-2B9E-40A9-B6EE-D82F980061CD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3009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40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A/S → A/A (RO)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B38434-501A-419A-A5C3-C26C7E5B9D0D}"/>
              </a:ext>
            </a:extLst>
          </p:cNvPr>
          <p:cNvSpPr>
            <a:spLocks noGrp="1"/>
          </p:cNvSpPr>
          <p:nvPr/>
        </p:nvSpPr>
        <p:spPr>
          <a:xfrm>
            <a:off x="8020050" y="32575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跨區實務終點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A7D263-3334-4331-87AB-AA3303F0AB35}"/>
              </a:ext>
            </a:extLst>
          </p:cNvPr>
          <p:cNvSpPr>
            <a:spLocks noGrp="1"/>
          </p:cNvSpPr>
          <p:nvPr/>
        </p:nvSpPr>
        <p:spPr>
          <a:xfrm>
            <a:off x="8020050" y="3657600"/>
            <a:ext cx="3009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A/A 僅保留為條件式長期選項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D858A4-A1F3-40ED-A7E7-70EA9FCE7197}"/>
              </a:ext>
            </a:extLst>
          </p:cNvPr>
          <p:cNvSpPr>
            <a:spLocks noGrp="1"/>
          </p:cNvSpPr>
          <p:nvPr/>
        </p:nvSpPr>
        <p:spPr>
          <a:xfrm>
            <a:off x="495300" y="5000625"/>
            <a:ext cx="10744200" cy="1000125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19C967-081C-4BE5-8249-9248EC7707D0}"/>
              </a:ext>
            </a:extLst>
          </p:cNvPr>
          <p:cNvSpPr>
            <a:spLocks noGrp="1"/>
          </p:cNvSpPr>
          <p:nvPr/>
        </p:nvSpPr>
        <p:spPr>
          <a:xfrm>
            <a:off x="742950" y="5267325"/>
            <a:ext cx="10239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建議核准：Phase 0 技術補件 + 一個代表性 MySQL 應用 Pilot；通過後才進入 IDC + EDC 跨區架構。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688B70-82BD-4E13-B41C-F673A6683D10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§2.2、§2.4、§4</a:t>
            </a:r>
          </a:p>
        </p:txBody>
      </p:sp>
    </p:spTree>
    <p:extLst>
      <p:ext uri="{BB962C8B-B14F-4D97-AF65-F5344CB8AC3E}">
        <p14:creationId xmlns:p14="http://schemas.microsoft.com/office/powerpoint/2010/main" val="1194510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AF0A459-4E7E-421A-8143-EDA05CFC734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NORTH STAR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5A5AB5-EEC5-4B74-898B-388C64189EC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北極星沒變，只有達成方式被證據修正</a:t>
            </a:r>
          </a:p>
        </p:txBody>
      </p:sp>
      <p:cxnSp>
        <p:nvCxnSpPr>
          <p:cNvPr id="36" name="直線箭頭接點 29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A6C7D10-FF0F-45AA-81E4-13491ED28D63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3FBDF-A0F9-472C-8F8B-22BA30D6173B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3337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AE5F36-DA5E-4436-A709-742F5DBCBCFE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1809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DE9386-0416-4E6C-88DD-13F835EB7EFA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策略層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82ECAB-BC42-4EFE-B57F-BEDDEAC554D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876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隔離應用與基礎建設的直接關連，讓應用具備可攜性。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91A5AC-F3A8-49EC-BE9C-645755788B38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33337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BC673B-89EF-45B6-AE92-4F14EAF011AC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66675" cy="180975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EFE48F-A3BA-4CC3-ADBD-3A25DA4967F0}"/>
              </a:ext>
            </a:extLst>
          </p:cNvPr>
          <p:cNvSpPr>
            <a:spLocks noGrp="1"/>
          </p:cNvSpPr>
          <p:nvPr/>
        </p:nvSpPr>
        <p:spPr>
          <a:xfrm>
            <a:off x="4276725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業務層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3D820B-B2B0-4906-A8FD-7C61C31D05CE}"/>
              </a:ext>
            </a:extLst>
          </p:cNvPr>
          <p:cNvSpPr>
            <a:spLocks noGrp="1"/>
          </p:cNvSpPr>
          <p:nvPr/>
        </p:nvSpPr>
        <p:spPr>
          <a:xfrm>
            <a:off x="4276725" y="2305050"/>
            <a:ext cx="2876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期待封站或機房維護時，關鍵服務客戶不受影響。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22F8C9-DE6B-4B40-8BFC-84C119D8C865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36385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3C92D3-5978-49A8-A910-A366F9108EAB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66675" cy="1809750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862C7C-80C0-4909-B92E-67C2DFE09B17}"/>
              </a:ext>
            </a:extLst>
          </p:cNvPr>
          <p:cNvSpPr>
            <a:spLocks noGrp="1"/>
          </p:cNvSpPr>
          <p:nvPr/>
        </p:nvSpPr>
        <p:spPr>
          <a:xfrm>
            <a:off x="7829550" y="18669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維運層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86432A-50D0-4C07-9B93-13500D599F5E}"/>
              </a:ext>
            </a:extLst>
          </p:cNvPr>
          <p:cNvSpPr>
            <a:spLocks noGrp="1"/>
          </p:cNvSpPr>
          <p:nvPr/>
        </p:nvSpPr>
        <p:spPr>
          <a:xfrm>
            <a:off x="7829550" y="2305050"/>
            <a:ext cx="3181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停機維護是內部作業，不應轉嫁為客戶權益損失。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2CF977-20AB-49F5-A50F-9641FE24F1E1}"/>
              </a:ext>
            </a:extLst>
          </p:cNvPr>
          <p:cNvSpPr>
            <a:spLocks noGrp="1"/>
          </p:cNvSpPr>
          <p:nvPr/>
        </p:nvSpPr>
        <p:spPr>
          <a:xfrm>
            <a:off x="514350" y="4029075"/>
            <a:ext cx="1238250" cy="3048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6CABE7-E345-4783-AEB3-2EAEE542AE9B}"/>
              </a:ext>
            </a:extLst>
          </p:cNvPr>
          <p:cNvSpPr>
            <a:spLocks noGrp="1"/>
          </p:cNvSpPr>
          <p:nvPr/>
        </p:nvSpPr>
        <p:spPr>
          <a:xfrm>
            <a:off x="514350" y="40767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Y25 原訂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002DBD-3AB5-4C44-9C1F-0DAFE19A9707}"/>
              </a:ext>
            </a:extLst>
          </p:cNvPr>
          <p:cNvSpPr>
            <a:spLocks noGrp="1"/>
          </p:cNvSpPr>
          <p:nvPr/>
        </p:nvSpPr>
        <p:spPr>
          <a:xfrm>
            <a:off x="1885950" y="397192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10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A/A 雙區同時寫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1F7AF7-07D1-4E46-8978-357D19D9D455}"/>
              </a:ext>
            </a:extLst>
          </p:cNvPr>
          <p:cNvSpPr>
            <a:spLocks noGrp="1"/>
          </p:cNvSpPr>
          <p:nvPr/>
        </p:nvSpPr>
        <p:spPr>
          <a:xfrm>
            <a:off x="4876800" y="3971925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4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A3B46F-5CB7-40C0-A979-706AFD1B77AA}"/>
              </a:ext>
            </a:extLst>
          </p:cNvPr>
          <p:cNvSpPr>
            <a:spLocks noGrp="1"/>
          </p:cNvSpPr>
          <p:nvPr/>
        </p:nvSpPr>
        <p:spPr>
          <a:xfrm>
            <a:off x="5572125" y="4029075"/>
            <a:ext cx="1238250" cy="304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6451858-7571-4B1D-915E-0D22F726333D}"/>
              </a:ext>
            </a:extLst>
          </p:cNvPr>
          <p:cNvSpPr>
            <a:spLocks noGrp="1"/>
          </p:cNvSpPr>
          <p:nvPr/>
        </p:nvSpPr>
        <p:spPr>
          <a:xfrm>
            <a:off x="5572125" y="40767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Y26 修正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CD2B12-4427-4B13-8B1D-EC48D22E8D64}"/>
              </a:ext>
            </a:extLst>
          </p:cNvPr>
          <p:cNvSpPr>
            <a:spLocks noGrp="1"/>
          </p:cNvSpPr>
          <p:nvPr/>
        </p:nvSpPr>
        <p:spPr>
          <a:xfrm>
            <a:off x="6953250" y="3971925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1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A/S 單寫 + A/A (RO) 就近讀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3866E4D-40FF-4B43-AA5A-CD01E05DC1AB}"/>
              </a:ext>
            </a:extLst>
          </p:cNvPr>
          <p:cNvSpPr>
            <a:spLocks noGrp="1"/>
          </p:cNvSpPr>
          <p:nvPr/>
        </p:nvSpPr>
        <p:spPr>
          <a:xfrm>
            <a:off x="495300" y="4819650"/>
            <a:ext cx="10744200" cy="10477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735ED2-BED6-45D2-87EA-7E903F0DFFFF}"/>
              </a:ext>
            </a:extLst>
          </p:cNvPr>
          <p:cNvSpPr>
            <a:spLocks noGrp="1"/>
          </p:cNvSpPr>
          <p:nvPr/>
        </p:nvSpPr>
        <p:spPr>
          <a:xfrm>
            <a:off x="742950" y="5143500"/>
            <a:ext cx="10239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本交付路線仍待驗收；Failover、staleness 與 fallback 機制的成效，</a:t>
            </a:r>
          </a:p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尚需於產品上線後，結合實際運作情境持續評估。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3D115C-D895-448C-8F62-EB6EE2A3D091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§0.1–§0.3</a:t>
            </a:r>
          </a:p>
        </p:txBody>
      </p:sp>
    </p:spTree>
    <p:extLst>
      <p:ext uri="{BB962C8B-B14F-4D97-AF65-F5344CB8AC3E}">
        <p14:creationId xmlns:p14="http://schemas.microsoft.com/office/powerpoint/2010/main" val="1029908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6EE5A87-935C-4E6B-B2E5-553C9403EF9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WHY NOT A/A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2AD2ED-FA70-4D68-8F24-4F44C5940541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目前雙活機房架構 (A/A) 仍有阻礙</a:t>
            </a:r>
          </a:p>
        </p:txBody>
      </p:sp>
      <p:cxnSp>
        <p:nvCxnSpPr>
          <p:cNvPr id="32" name="直線箭頭接點 2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88ADA7D-77BB-4E5B-B7B4-10C67097FF55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BEE5BA-54B4-4977-B777-D7A24BAEA532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2476500" cy="31432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76B42E-5F62-409A-9AC6-7C2C959A1FD9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3143250"/>
          </a:xfrm>
          <a:prstGeom prst="rect">
            <a:avLst/>
          </a:prstGeom>
          <a:solidFill>
            <a:srgbClr val="C241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5420A6-4FB1-40F3-8F64-5CFF7C0165A0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應用組件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CA92E7-BDE8-40E2-9D7A-F55EAA5D2C9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Memcache 不支援 A/A mode；OMS 寫檔寄信需改 SMTP。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9A41BE-7F5B-4CF9-9159-2F2253891FC8}"/>
              </a:ext>
            </a:extLst>
          </p:cNvPr>
          <p:cNvSpPr>
            <a:spLocks noGrp="1"/>
          </p:cNvSpPr>
          <p:nvPr/>
        </p:nvSpPr>
        <p:spPr>
          <a:xfrm>
            <a:off x="3181350" y="1657350"/>
            <a:ext cx="2476500" cy="31432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F3243A-834B-4966-802E-5E246DA8608C}"/>
              </a:ext>
            </a:extLst>
          </p:cNvPr>
          <p:cNvSpPr>
            <a:spLocks noGrp="1"/>
          </p:cNvSpPr>
          <p:nvPr/>
        </p:nvSpPr>
        <p:spPr>
          <a:xfrm>
            <a:off x="3181350" y="1657350"/>
            <a:ext cx="66675" cy="3143250"/>
          </a:xfrm>
          <a:prstGeom prst="rect">
            <a:avLst/>
          </a:prstGeom>
          <a:solidFill>
            <a:srgbClr val="C241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3E877E-E08F-45BF-A50C-2B78144CEFF0}"/>
              </a:ext>
            </a:extLst>
          </p:cNvPr>
          <p:cNvSpPr>
            <a:spLocks noGrp="1"/>
          </p:cNvSpPr>
          <p:nvPr/>
        </p:nvSpPr>
        <p:spPr>
          <a:xfrm>
            <a:off x="340995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儲存與網路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2F9B70-1E64-40DA-B24E-D790F50F0D1E}"/>
              </a:ext>
            </a:extLst>
          </p:cNvPr>
          <p:cNvSpPr>
            <a:spLocks noGrp="1"/>
          </p:cNvSpPr>
          <p:nvPr/>
        </p:nvSpPr>
        <p:spPr>
          <a:xfrm>
            <a:off x="340995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NetApp 部分檔案無法轉入；F5 sticky 失效；GCP SLB 無 Ignore-TCP-MSL。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7BBD3C-5C1C-450C-BD9F-1FB6303A1C19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2476500" cy="31432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095F26-204A-43D9-976B-0E950468CC9E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66675" cy="3143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B40A90-F9C7-4875-B282-242F4C52D517}"/>
              </a:ext>
            </a:extLst>
          </p:cNvPr>
          <p:cNvSpPr>
            <a:spLocks noGrp="1"/>
          </p:cNvSpPr>
          <p:nvPr/>
        </p:nvSpPr>
        <p:spPr>
          <a:xfrm>
            <a:off x="609600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故障域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1C42DA-0D38-41A6-B2E7-9CAB50947A47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複本數 (</a:t>
            </a:r>
            <a:r>
              <a:rPr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RF</a:t>
            </a: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) =3 只有 IDC＋EDC 兩個 failure domain，整區故障秒級接手無法</a:t>
            </a:r>
            <a:r>
              <a:rPr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科學</a:t>
            </a: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保證</a:t>
            </a:r>
            <a:r>
              <a:rPr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，仍待規劃合理最佳實踐。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DD6D4B-7627-4F5C-AFA3-73638AB1E1C6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2686050" cy="31432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C471BE-D4E3-4073-B845-8A48E1AB8AAE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66675" cy="3143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8B7C20-5158-4ABF-B300-8EE8A16E66A3}"/>
              </a:ext>
            </a:extLst>
          </p:cNvPr>
          <p:cNvSpPr>
            <a:spLocks noGrp="1"/>
          </p:cNvSpPr>
          <p:nvPr/>
        </p:nvSpPr>
        <p:spPr>
          <a:xfrm>
            <a:off x="8782050" y="1866900"/>
            <a:ext cx="2228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專線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1C7228-8002-44B4-B661-6F52C9A516D9}"/>
              </a:ext>
            </a:extLst>
          </p:cNvPr>
          <p:cNvSpPr>
            <a:spLocks noGrp="1"/>
          </p:cNvSpPr>
          <p:nvPr/>
        </p:nvSpPr>
        <p:spPr>
          <a:xfrm>
            <a:off x="8782050" y="2305050"/>
            <a:ext cx="222885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Y26 PoC 僅使用 VPN </a:t>
            </a: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RTT 8.5 ms、探測 190–227 Mbps；正式專線投資與可用性仍待確認。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77849E-8E33-4F93-BF23-4ED6FAF88634}"/>
              </a:ext>
            </a:extLst>
          </p:cNvPr>
          <p:cNvSpPr>
            <a:spLocks noGrp="1"/>
          </p:cNvSpPr>
          <p:nvPr/>
        </p:nvSpPr>
        <p:spPr>
          <a:xfrm>
            <a:off x="495300" y="5095875"/>
            <a:ext cx="10744200" cy="8191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29C6DB-0D39-461F-A073-3C62638DBEA4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22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結論：先把 A/S 與 A/A (</a:t>
            </a:r>
            <a:r>
              <a:rPr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RO</a:t>
            </a:r>
            <a:r>
              <a: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) 做成可營運能力；雙活機房架構保留為條件式選項。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98212C-2ECA-4F84-BBBF-78D4B81A02E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§1.3、§2.3</a:t>
            </a:r>
          </a:p>
        </p:txBody>
      </p:sp>
    </p:spTree>
    <p:extLst>
      <p:ext uri="{BB962C8B-B14F-4D97-AF65-F5344CB8AC3E}">
        <p14:creationId xmlns:p14="http://schemas.microsoft.com/office/powerpoint/2010/main" val="594989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0619CF6-B8B7-4BA6-B653-7B91A8455AD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Y25 → Y26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BABCF7-8C8A-446D-9FD6-B1491B350024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把雙活機房願景逐步轉成可驗收路線</a:t>
            </a:r>
          </a:p>
        </p:txBody>
      </p:sp>
      <p:cxnSp>
        <p:nvCxnSpPr>
          <p:cNvPr id="37" name="直線箭頭接點 2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BBC5E39A-06BA-45CB-850D-069EFC2726E1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cxnSp>
        <p:nvCxnSpPr>
          <p:cNvPr id="39" name="直線箭頭接點 28"/>
          <p:cNvCxnSpPr/>
          <p:nvPr/>
        </p:nvCxnSpPr>
        <p:spPr>
          <a:xfrm>
            <a:off x="857250" y="3314700"/>
            <a:ext cx="102870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02F8AD20-873B-42EF-9C26-D6C5D5ACFF47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2BC680-B261-4311-A356-13AD71664939}"/>
              </a:ext>
            </a:extLst>
          </p:cNvPr>
          <p:cNvSpPr>
            <a:spLocks noGrp="1"/>
          </p:cNvSpPr>
          <p:nvPr/>
        </p:nvSpPr>
        <p:spPr>
          <a:xfrm>
            <a:off x="99060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2024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EA845A-2166-49C8-913E-0F50FFB8AB8F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先降低單點影響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F1316A-4D6E-4352-BCF1-149BF696F493}"/>
              </a:ext>
            </a:extLst>
          </p:cNvPr>
          <p:cNvSpPr>
            <a:spLocks noGrp="1"/>
          </p:cNvSpPr>
          <p:nvPr/>
        </p:nvSpPr>
        <p:spPr>
          <a:xfrm>
            <a:off x="99060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Service Mesh 與 AC 雲地部署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資料一寫多讀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E4B4B0-AEE4-4FFF-A808-410E48ADF371}"/>
              </a:ext>
            </a:extLst>
          </p:cNvPr>
          <p:cNvSpPr>
            <a:spLocks noGrp="1"/>
          </p:cNvSpPr>
          <p:nvPr/>
        </p:nvSpPr>
        <p:spPr>
          <a:xfrm>
            <a:off x="371475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6FDE6A-82E4-43C0-AA09-097F8E986FC6}"/>
              </a:ext>
            </a:extLst>
          </p:cNvPr>
          <p:cNvSpPr>
            <a:spLocks noGrp="1"/>
          </p:cNvSpPr>
          <p:nvPr/>
        </p:nvSpPr>
        <p:spPr>
          <a:xfrm>
            <a:off x="356235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9B446F-E819-46CF-A13D-A90EFCE22C8A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驗證跨雲組件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A24354-F16E-4755-A429-C78165D8B708}"/>
              </a:ext>
            </a:extLst>
          </p:cNvPr>
          <p:cNvSpPr>
            <a:spLocks noGrp="1"/>
          </p:cNvSpPr>
          <p:nvPr/>
        </p:nvSpPr>
        <p:spPr>
          <a:xfrm>
            <a:off x="356235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Cloudflare LB 通過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ac-api 測至 STG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7F37E0-06DC-4C86-81C1-A993B67B85C1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F18B8D-18D8-44AB-A5A9-9B847736631C}"/>
              </a:ext>
            </a:extLst>
          </p:cNvPr>
          <p:cNvSpPr>
            <a:spLocks noGrp="1"/>
          </p:cNvSpPr>
          <p:nvPr/>
        </p:nvSpPr>
        <p:spPr>
          <a:xfrm>
            <a:off x="613410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A6C3D6-F227-48EA-8C32-DA0A6D7D8AF1}"/>
              </a:ext>
            </a:extLst>
          </p:cNvPr>
          <p:cNvSpPr>
            <a:spLocks noGrp="1"/>
          </p:cNvSpPr>
          <p:nvPr/>
        </p:nvSpPr>
        <p:spPr>
          <a:xfrm>
            <a:off x="613410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四家資料庫實測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5AAD6C-FD8C-4E9A-8811-FBC4271F9A8C}"/>
              </a:ext>
            </a:extLst>
          </p:cNvPr>
          <p:cNvSpPr>
            <a:spLocks noGrp="1"/>
          </p:cNvSpPr>
          <p:nvPr/>
        </p:nvSpPr>
        <p:spPr>
          <a:xfrm>
            <a:off x="613410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S-BASE、K8s、X-CROSS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Chaos／Failover／Galera 對照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F8FD85-AE91-46D4-87DA-0FF79649F13C}"/>
              </a:ext>
            </a:extLst>
          </p:cNvPr>
          <p:cNvSpPr>
            <a:spLocks noGrp="1"/>
          </p:cNvSpPr>
          <p:nvPr/>
        </p:nvSpPr>
        <p:spPr>
          <a:xfrm>
            <a:off x="8858250" y="3219450"/>
            <a:ext cx="171450" cy="171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EA3E62-A410-4E3C-A6D7-34EFE5C13A5F}"/>
              </a:ext>
            </a:extLst>
          </p:cNvPr>
          <p:cNvSpPr>
            <a:spLocks noGrp="1"/>
          </p:cNvSpPr>
          <p:nvPr/>
        </p:nvSpPr>
        <p:spPr>
          <a:xfrm>
            <a:off x="870585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NEXT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03FFC4-3C2C-4FD3-87F4-E0A0450DBC38}"/>
              </a:ext>
            </a:extLst>
          </p:cNvPr>
          <p:cNvSpPr>
            <a:spLocks noGrp="1"/>
          </p:cNvSpPr>
          <p:nvPr/>
        </p:nvSpPr>
        <p:spPr>
          <a:xfrm>
            <a:off x="870585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分階段交付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1EFFA0A-29FB-4056-8C20-C46CD013C177}"/>
              </a:ext>
            </a:extLst>
          </p:cNvPr>
          <p:cNvSpPr>
            <a:spLocks noGrp="1"/>
          </p:cNvSpPr>
          <p:nvPr/>
        </p:nvSpPr>
        <p:spPr>
          <a:xfrm>
            <a:off x="870585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Phase 0 → S0 Pilot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 S1 A/S → S2 A/A (RO)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1AB56ED-5F5D-4536-985A-119E3ED4163C}"/>
              </a:ext>
            </a:extLst>
          </p:cNvPr>
          <p:cNvSpPr>
            <a:spLocks noGrp="1"/>
          </p:cNvSpPr>
          <p:nvPr/>
        </p:nvSpPr>
        <p:spPr>
          <a:xfrm>
            <a:off x="857250" y="5324475"/>
            <a:ext cx="10287000" cy="6286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BF43C3-814F-49B6-B1F3-CC3ED237FD17}"/>
              </a:ext>
            </a:extLst>
          </p:cNvPr>
          <p:cNvSpPr>
            <a:spLocks noGrp="1"/>
          </p:cNvSpPr>
          <p:nvPr/>
        </p:nvSpPr>
        <p:spPr>
          <a:xfrm>
            <a:off x="1104900" y="5514975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關鍵轉折：Y25 證明應用改造與流量導向可行；Y26 證明資料庫主線與完整 Infra 架構的串接限制。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F5D32FF-5A84-4C22-86EC-AFC6C0E56E18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來源：Y25_多寫多讀POC_摘要、MILESTONES、SLIDE-BRIEF-2026 §1</a:t>
            </a:r>
          </a:p>
        </p:txBody>
      </p:sp>
    </p:spTree>
    <p:extLst>
      <p:ext uri="{BB962C8B-B14F-4D97-AF65-F5344CB8AC3E}">
        <p14:creationId xmlns:p14="http://schemas.microsoft.com/office/powerpoint/2010/main" val="131456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51A6A52-D5C4-481F-AC5F-C60673C7351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CANDIDATE ROLES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926B52-2145-4A4C-8DAD-C5BCBB46492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四家不是同一賽道：先按協定與使用情境定位</a:t>
            </a:r>
          </a:p>
        </p:txBody>
      </p:sp>
      <p:cxnSp>
        <p:nvCxnSpPr>
          <p:cNvPr id="39" name="直線箭頭接點 3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D8DFED0-847B-4D03-B329-094C4CFE6AB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86FFD7-E5F1-4537-8E0E-0152CD3E8EAD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10744200" cy="80010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0C0080-9151-46FD-A4EC-3507F6AA4354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76200" cy="800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CE742A-6926-4EB7-BF44-08AC5699FCAD}"/>
              </a:ext>
            </a:extLst>
          </p:cNvPr>
          <p:cNvSpPr>
            <a:spLocks noGrp="1"/>
          </p:cNvSpPr>
          <p:nvPr/>
        </p:nvSpPr>
        <p:spPr>
          <a:xfrm>
            <a:off x="781050" y="182880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AEE7BC-469F-42BF-8C6C-8254DC458E53}"/>
              </a:ext>
            </a:extLst>
          </p:cNvPr>
          <p:cNvSpPr>
            <a:spLocks noGrp="1"/>
          </p:cNvSpPr>
          <p:nvPr/>
        </p:nvSpPr>
        <p:spPr>
          <a:xfrm>
            <a:off x="3143250" y="18573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74C533-EE1E-43C2-80C4-87668887FD7B}"/>
              </a:ext>
            </a:extLst>
          </p:cNvPr>
          <p:cNvSpPr>
            <a:spLocks noGrp="1"/>
          </p:cNvSpPr>
          <p:nvPr/>
        </p:nvSpPr>
        <p:spPr>
          <a:xfrm>
            <a:off x="5048250" y="18573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主線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B64DC7-53BF-4FAE-8E6C-96740615069F}"/>
              </a:ext>
            </a:extLst>
          </p:cNvPr>
          <p:cNvSpPr>
            <a:spLocks noGrp="1"/>
          </p:cNvSpPr>
          <p:nvPr/>
        </p:nvSpPr>
        <p:spPr>
          <a:xfrm>
            <a:off x="6381750" y="18288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水平擴展、跨區 A/S／就近讀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CCC4B-9E03-4058-8039-8EA7370EF977}"/>
              </a:ext>
            </a:extLst>
          </p:cNvPr>
          <p:cNvSpPr>
            <a:spLocks noGrp="1"/>
          </p:cNvSpPr>
          <p:nvPr/>
        </p:nvSpPr>
        <p:spPr>
          <a:xfrm>
            <a:off x="495300" y="2619375"/>
            <a:ext cx="10744200" cy="8001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B7B6E9-DB35-478D-BF03-079B2024A1A9}"/>
              </a:ext>
            </a:extLst>
          </p:cNvPr>
          <p:cNvSpPr>
            <a:spLocks noGrp="1"/>
          </p:cNvSpPr>
          <p:nvPr/>
        </p:nvSpPr>
        <p:spPr>
          <a:xfrm>
            <a:off x="495300" y="2619375"/>
            <a:ext cx="76200" cy="8001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AF272F-2F51-4A1A-880F-21E393F44491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PXC / Galera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67A5F8-113C-4E5D-94FD-6B01DE57CCC8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F60F12-1B31-4531-A247-59837DC171FC}"/>
              </a:ext>
            </a:extLst>
          </p:cNvPr>
          <p:cNvSpPr>
            <a:spLocks noGrp="1"/>
          </p:cNvSpPr>
          <p:nvPr/>
        </p:nvSpPr>
        <p:spPr>
          <a:xfrm>
            <a:off x="5048250" y="28575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對照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64BFEF-0EF0-473C-8A53-C2872DF6551F}"/>
              </a:ext>
            </a:extLst>
          </p:cNvPr>
          <p:cNvSpPr>
            <a:spLocks noGrp="1"/>
          </p:cNvSpPr>
          <p:nvPr/>
        </p:nvSpPr>
        <p:spPr>
          <a:xfrm>
            <a:off x="6381750" y="282892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單寫、單機房、低延遲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9EF077-B582-4F05-9D4A-D05FA83B1A60}"/>
              </a:ext>
            </a:extLst>
          </p:cNvPr>
          <p:cNvSpPr>
            <a:spLocks noGrp="1"/>
          </p:cNvSpPr>
          <p:nvPr/>
        </p:nvSpPr>
        <p:spPr>
          <a:xfrm>
            <a:off x="495300" y="3619500"/>
            <a:ext cx="10744200" cy="8001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4603A0-BA64-41F4-B8C6-544AAB78672E}"/>
              </a:ext>
            </a:extLst>
          </p:cNvPr>
          <p:cNvSpPr>
            <a:spLocks noGrp="1"/>
          </p:cNvSpPr>
          <p:nvPr/>
        </p:nvSpPr>
        <p:spPr>
          <a:xfrm>
            <a:off x="495300" y="3619500"/>
            <a:ext cx="76200" cy="8001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D4B07A-3A53-420E-A274-645D4DB51BED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YugabyteDB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CADC85-9918-4798-B994-FB0300B5DF7F}"/>
              </a:ext>
            </a:extLst>
          </p:cNvPr>
          <p:cNvSpPr>
            <a:spLocks noGrp="1"/>
          </p:cNvSpPr>
          <p:nvPr/>
        </p:nvSpPr>
        <p:spPr>
          <a:xfrm>
            <a:off x="3143250" y="38576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69717A-E8FF-4381-AEFD-F5D2A918274B}"/>
              </a:ext>
            </a:extLst>
          </p:cNvPr>
          <p:cNvSpPr>
            <a:spLocks noGrp="1"/>
          </p:cNvSpPr>
          <p:nvPr/>
        </p:nvSpPr>
        <p:spPr>
          <a:xfrm>
            <a:off x="5048250" y="385762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12CBB16-AE29-483A-B05D-DFFD1758608C}"/>
              </a:ext>
            </a:extLst>
          </p:cNvPr>
          <p:cNvSpPr>
            <a:spLocks noGrp="1"/>
          </p:cNvSpPr>
          <p:nvPr/>
        </p:nvSpPr>
        <p:spPr>
          <a:xfrm>
            <a:off x="6381750" y="38290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高關鍵度 PostgreSQL／AI 需求 (104 B,C Agent 應用)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4926BC-9AB7-4A81-A117-E9169F310670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10744200" cy="8001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724A94-8F56-4044-B370-1D94A9841F26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76200" cy="8001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2E5DFC-DFDC-4D77-A3BE-0E0268B5EB07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CockroachDB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B53268-202C-48F7-A43B-33B5E064DC40}"/>
              </a:ext>
            </a:extLst>
          </p:cNvPr>
          <p:cNvSpPr>
            <a:spLocks noGrp="1"/>
          </p:cNvSpPr>
          <p:nvPr/>
        </p:nvSpPr>
        <p:spPr>
          <a:xfrm>
            <a:off x="3143250" y="4857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FCCC6A-B13A-4342-8F7C-49C166ACEACC}"/>
              </a:ext>
            </a:extLst>
          </p:cNvPr>
          <p:cNvSpPr>
            <a:spLocks noGrp="1"/>
          </p:cNvSpPr>
          <p:nvPr/>
        </p:nvSpPr>
        <p:spPr>
          <a:xfrm>
            <a:off x="5048250" y="48577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00D6BC-EFC4-48E3-9294-6774AD8E0CE3}"/>
              </a:ext>
            </a:extLst>
          </p:cNvPr>
          <p:cNvSpPr>
            <a:spLocks noGrp="1"/>
          </p:cNvSpPr>
          <p:nvPr/>
        </p:nvSpPr>
        <p:spPr>
          <a:xfrm>
            <a:off x="6381750" y="48291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同上；待需求觸發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9ABFC4-194D-4912-A357-AB75C52BAC47}"/>
              </a:ext>
            </a:extLst>
          </p:cNvPr>
          <p:cNvSpPr>
            <a:spLocks noGrp="1"/>
          </p:cNvSpPr>
          <p:nvPr/>
        </p:nvSpPr>
        <p:spPr>
          <a:xfrm>
            <a:off x="495300" y="58293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公司目前 MySQL 業務占比約 95%；PostgreSQL 路線不與 TiDB 同時展開完整矩陣。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7F60239-76FE-4808-8C41-CFCC2624C39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§2.1；D3 拍板紀錄</a:t>
            </a:r>
          </a:p>
        </p:txBody>
      </p:sp>
    </p:spTree>
    <p:extLst>
      <p:ext uri="{BB962C8B-B14F-4D97-AF65-F5344CB8AC3E}">
        <p14:creationId xmlns:p14="http://schemas.microsoft.com/office/powerpoint/2010/main" val="135783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418A933-9491-4C34-AD61-8FF81673C70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SCALE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921A3B-A108-4BED-AF0F-218080B3CA43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水平擴展不是單一分數：比較單節點到三節點的變化</a:t>
            </a:r>
          </a:p>
        </p:txBody>
      </p:sp>
      <p:cxnSp>
        <p:nvCxnSpPr>
          <p:cNvPr id="68" name="直線箭頭接點 61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1500430-7E12-4EF9-9544-9B4CC5B8DEDA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788BF2-12EC-458C-B807-1D860EAC050C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水平擴展倍率 = 三節點 HAProxy tpmC ÷ 單節點 tpmC；&gt;1× 代表本次配置吞吐增加，&lt;1× 代表下降。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D7AABA-166A-4544-8BA3-FA7B1E883A9B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1809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4DA30F-9C30-4FAD-B348-9A9396415E83}"/>
              </a:ext>
            </a:extLst>
          </p:cNvPr>
          <p:cNvSpPr>
            <a:spLocks noGrp="1"/>
          </p:cNvSpPr>
          <p:nvPr/>
        </p:nvSpPr>
        <p:spPr>
          <a:xfrm>
            <a:off x="590550" y="204787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B6BB4F-DDF1-4230-BD4C-F09B0689D25F}"/>
              </a:ext>
            </a:extLst>
          </p:cNvPr>
          <p:cNvSpPr>
            <a:spLocks noGrp="1"/>
          </p:cNvSpPr>
          <p:nvPr/>
        </p:nvSpPr>
        <p:spPr>
          <a:xfrm>
            <a:off x="2400300" y="1943100"/>
            <a:ext cx="20002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4DE8CE-22AA-464F-83E8-74BD7C6BAB63}"/>
              </a:ext>
            </a:extLst>
          </p:cNvPr>
          <p:cNvSpPr>
            <a:spLocks noGrp="1"/>
          </p:cNvSpPr>
          <p:nvPr/>
        </p:nvSpPr>
        <p:spPr>
          <a:xfrm>
            <a:off x="2495550" y="20478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單節點 tpmC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9452B4-12C2-4A16-A12F-D0FC1FA9B60A}"/>
              </a:ext>
            </a:extLst>
          </p:cNvPr>
          <p:cNvSpPr>
            <a:spLocks noGrp="1"/>
          </p:cNvSpPr>
          <p:nvPr/>
        </p:nvSpPr>
        <p:spPr>
          <a:xfrm>
            <a:off x="4495800" y="1943100"/>
            <a:ext cx="20002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FD1948-9B68-4D27-B42A-EAE7E1E5C828}"/>
              </a:ext>
            </a:extLst>
          </p:cNvPr>
          <p:cNvSpPr>
            <a:spLocks noGrp="1"/>
          </p:cNvSpPr>
          <p:nvPr/>
        </p:nvSpPr>
        <p:spPr>
          <a:xfrm>
            <a:off x="4591050" y="20478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三節點 tpmC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4EB85F-D2AD-4150-9303-582FCC0D06F3}"/>
              </a:ext>
            </a:extLst>
          </p:cNvPr>
          <p:cNvSpPr>
            <a:spLocks noGrp="1"/>
          </p:cNvSpPr>
          <p:nvPr/>
        </p:nvSpPr>
        <p:spPr>
          <a:xfrm>
            <a:off x="6591300" y="1943100"/>
            <a:ext cx="1428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18BCF3-783F-45C5-B09A-E386BE0F791B}"/>
              </a:ext>
            </a:extLst>
          </p:cNvPr>
          <p:cNvSpPr>
            <a:spLocks noGrp="1"/>
          </p:cNvSpPr>
          <p:nvPr/>
        </p:nvSpPr>
        <p:spPr>
          <a:xfrm>
            <a:off x="6686550" y="20478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增減幅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EDAE45-20F3-42A5-824B-A59D92E4C726}"/>
              </a:ext>
            </a:extLst>
          </p:cNvPr>
          <p:cNvSpPr>
            <a:spLocks noGrp="1"/>
          </p:cNvSpPr>
          <p:nvPr/>
        </p:nvSpPr>
        <p:spPr>
          <a:xfrm>
            <a:off x="8115300" y="1943100"/>
            <a:ext cx="31242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032FB3-AA95-4660-A8A4-CF437DB435EB}"/>
              </a:ext>
            </a:extLst>
          </p:cNvPr>
          <p:cNvSpPr>
            <a:spLocks noGrp="1"/>
          </p:cNvSpPr>
          <p:nvPr/>
        </p:nvSpPr>
        <p:spPr>
          <a:xfrm>
            <a:off x="8210550" y="2047875"/>
            <a:ext cx="2933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擴展倍率／判讀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B83F6E-34AB-49FE-A5D5-F8BE92820CE3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1809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62869A-ABC8-4F70-9EE8-F302E61C25F5}"/>
              </a:ext>
            </a:extLst>
          </p:cNvPr>
          <p:cNvSpPr>
            <a:spLocks noGrp="1"/>
          </p:cNvSpPr>
          <p:nvPr/>
        </p:nvSpPr>
        <p:spPr>
          <a:xfrm>
            <a:off x="590550" y="25146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Galera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69A896-932A-4295-BC0D-A1EB83522682}"/>
              </a:ext>
            </a:extLst>
          </p:cNvPr>
          <p:cNvSpPr>
            <a:spLocks noGrp="1"/>
          </p:cNvSpPr>
          <p:nvPr/>
        </p:nvSpPr>
        <p:spPr>
          <a:xfrm>
            <a:off x="2400300" y="23431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50EAFB-B971-4139-9FD2-FEAC8BE372C0}"/>
              </a:ext>
            </a:extLst>
          </p:cNvPr>
          <p:cNvSpPr>
            <a:spLocks noGrp="1"/>
          </p:cNvSpPr>
          <p:nvPr/>
        </p:nvSpPr>
        <p:spPr>
          <a:xfrm>
            <a:off x="2495550" y="25146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53,791.9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37E2BF-E3D1-48F2-AF9D-01822B99E85C}"/>
              </a:ext>
            </a:extLst>
          </p:cNvPr>
          <p:cNvSpPr>
            <a:spLocks noGrp="1"/>
          </p:cNvSpPr>
          <p:nvPr/>
        </p:nvSpPr>
        <p:spPr>
          <a:xfrm>
            <a:off x="4495800" y="23431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F62C72-19C2-470E-830D-00DA36030D75}"/>
              </a:ext>
            </a:extLst>
          </p:cNvPr>
          <p:cNvSpPr>
            <a:spLocks noGrp="1"/>
          </p:cNvSpPr>
          <p:nvPr/>
        </p:nvSpPr>
        <p:spPr>
          <a:xfrm>
            <a:off x="4591050" y="25146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26,166.2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643D77-9ECF-47A7-964B-B33AA70B33BB}"/>
              </a:ext>
            </a:extLst>
          </p:cNvPr>
          <p:cNvSpPr>
            <a:spLocks noGrp="1"/>
          </p:cNvSpPr>
          <p:nvPr/>
        </p:nvSpPr>
        <p:spPr>
          <a:xfrm>
            <a:off x="6591300" y="2343150"/>
            <a:ext cx="1428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5D98A3-0F11-4FD3-94C2-4D7BE8D34EA7}"/>
              </a:ext>
            </a:extLst>
          </p:cNvPr>
          <p:cNvSpPr>
            <a:spLocks noGrp="1"/>
          </p:cNvSpPr>
          <p:nvPr/>
        </p:nvSpPr>
        <p:spPr>
          <a:xfrm>
            <a:off x="6686550" y="25146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−51%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D91C20-46E8-4E48-94EF-ADE74005D312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312420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C768912-28B2-4E75-A7A0-3CCC0555BF0C}"/>
              </a:ext>
            </a:extLst>
          </p:cNvPr>
          <p:cNvSpPr>
            <a:spLocks noGrp="1"/>
          </p:cNvSpPr>
          <p:nvPr/>
        </p:nvSpPr>
        <p:spPr>
          <a:xfrm>
            <a:off x="8210550" y="25146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0.49×　吞吐下降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E70A85-0707-4130-A529-E67395A6D339}"/>
              </a:ext>
            </a:extLst>
          </p:cNvPr>
          <p:cNvSpPr>
            <a:spLocks noGrp="1"/>
          </p:cNvSpPr>
          <p:nvPr/>
        </p:nvSpPr>
        <p:spPr>
          <a:xfrm>
            <a:off x="495300" y="2933700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0F3BB7E-1D15-4CB9-9279-E1ADDFFA251D}"/>
              </a:ext>
            </a:extLst>
          </p:cNvPr>
          <p:cNvSpPr>
            <a:spLocks noGrp="1"/>
          </p:cNvSpPr>
          <p:nvPr/>
        </p:nvSpPr>
        <p:spPr>
          <a:xfrm>
            <a:off x="590550" y="3105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TiDB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17D756-0B9E-4FF8-B3BF-A08E22B980C5}"/>
              </a:ext>
            </a:extLst>
          </p:cNvPr>
          <p:cNvSpPr>
            <a:spLocks noGrp="1"/>
          </p:cNvSpPr>
          <p:nvPr/>
        </p:nvSpPr>
        <p:spPr>
          <a:xfrm>
            <a:off x="2400300" y="29337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E079AD-6213-48DB-A1ED-D37EADC988B8}"/>
              </a:ext>
            </a:extLst>
          </p:cNvPr>
          <p:cNvSpPr>
            <a:spLocks noGrp="1"/>
          </p:cNvSpPr>
          <p:nvPr/>
        </p:nvSpPr>
        <p:spPr>
          <a:xfrm>
            <a:off x="2495550" y="3105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13,064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2250426-61E6-4117-BD79-7EAB0917F37E}"/>
              </a:ext>
            </a:extLst>
          </p:cNvPr>
          <p:cNvSpPr>
            <a:spLocks noGrp="1"/>
          </p:cNvSpPr>
          <p:nvPr/>
        </p:nvSpPr>
        <p:spPr>
          <a:xfrm>
            <a:off x="4495800" y="29337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499361-23DF-442E-9064-44195F61FB7E}"/>
              </a:ext>
            </a:extLst>
          </p:cNvPr>
          <p:cNvSpPr>
            <a:spLocks noGrp="1"/>
          </p:cNvSpPr>
          <p:nvPr/>
        </p:nvSpPr>
        <p:spPr>
          <a:xfrm>
            <a:off x="4591050" y="3105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26,947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E9DC26-5EF4-49D8-9A2B-4EE9A0299CAF}"/>
              </a:ext>
            </a:extLst>
          </p:cNvPr>
          <p:cNvSpPr>
            <a:spLocks noGrp="1"/>
          </p:cNvSpPr>
          <p:nvPr/>
        </p:nvSpPr>
        <p:spPr>
          <a:xfrm>
            <a:off x="6591300" y="29337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1A92736-D0C1-4F94-8A43-B3669680312D}"/>
              </a:ext>
            </a:extLst>
          </p:cNvPr>
          <p:cNvSpPr>
            <a:spLocks noGrp="1"/>
          </p:cNvSpPr>
          <p:nvPr/>
        </p:nvSpPr>
        <p:spPr>
          <a:xfrm>
            <a:off x="6686550" y="31051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+106%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0E15665-5419-4B6E-8ED6-0B0933D47C4E}"/>
              </a:ext>
            </a:extLst>
          </p:cNvPr>
          <p:cNvSpPr>
            <a:spLocks noGrp="1"/>
          </p:cNvSpPr>
          <p:nvPr/>
        </p:nvSpPr>
        <p:spPr>
          <a:xfrm>
            <a:off x="8115300" y="2933700"/>
            <a:ext cx="3124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E6E5011-8E97-4358-BA72-65E53B5B3DB3}"/>
              </a:ext>
            </a:extLst>
          </p:cNvPr>
          <p:cNvSpPr>
            <a:spLocks noGrp="1"/>
          </p:cNvSpPr>
          <p:nvPr/>
        </p:nvSpPr>
        <p:spPr>
          <a:xfrm>
            <a:off x="8210550" y="31051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2.06×　擴展倍率最高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12707CA-1427-4580-A63E-D782C01B1899}"/>
              </a:ext>
            </a:extLst>
          </p:cNvPr>
          <p:cNvSpPr>
            <a:spLocks noGrp="1"/>
          </p:cNvSpPr>
          <p:nvPr/>
        </p:nvSpPr>
        <p:spPr>
          <a:xfrm>
            <a:off x="495300" y="3524250"/>
            <a:ext cx="1809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9706036-2E65-424D-88A3-E450FE37375F}"/>
              </a:ext>
            </a:extLst>
          </p:cNvPr>
          <p:cNvSpPr>
            <a:spLocks noGrp="1"/>
          </p:cNvSpPr>
          <p:nvPr/>
        </p:nvSpPr>
        <p:spPr>
          <a:xfrm>
            <a:off x="590550" y="36957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YugabyteDB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35A460F-116B-4EDE-9E6E-F492C0B71A0C}"/>
              </a:ext>
            </a:extLst>
          </p:cNvPr>
          <p:cNvSpPr>
            <a:spLocks noGrp="1"/>
          </p:cNvSpPr>
          <p:nvPr/>
        </p:nvSpPr>
        <p:spPr>
          <a:xfrm>
            <a:off x="2400300" y="35242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6150DD6-8DEE-4B21-BBEF-8765F811AE0C}"/>
              </a:ext>
            </a:extLst>
          </p:cNvPr>
          <p:cNvSpPr>
            <a:spLocks noGrp="1"/>
          </p:cNvSpPr>
          <p:nvPr/>
        </p:nvSpPr>
        <p:spPr>
          <a:xfrm>
            <a:off x="249555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11,436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4887EFF-B0F2-461A-9559-43AF16B0E506}"/>
              </a:ext>
            </a:extLst>
          </p:cNvPr>
          <p:cNvSpPr>
            <a:spLocks noGrp="1"/>
          </p:cNvSpPr>
          <p:nvPr/>
        </p:nvSpPr>
        <p:spPr>
          <a:xfrm>
            <a:off x="4495800" y="35242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8B1B33A-0554-4109-A491-0EDCBD9A10CC}"/>
              </a:ext>
            </a:extLst>
          </p:cNvPr>
          <p:cNvSpPr>
            <a:spLocks noGrp="1"/>
          </p:cNvSpPr>
          <p:nvPr/>
        </p:nvSpPr>
        <p:spPr>
          <a:xfrm>
            <a:off x="459105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15,632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6D06BA4-BA95-4351-BF06-6144E0A881A4}"/>
              </a:ext>
            </a:extLst>
          </p:cNvPr>
          <p:cNvSpPr>
            <a:spLocks noGrp="1"/>
          </p:cNvSpPr>
          <p:nvPr/>
        </p:nvSpPr>
        <p:spPr>
          <a:xfrm>
            <a:off x="6591300" y="3524250"/>
            <a:ext cx="1428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C345E99-B153-4BFB-B5EE-10A05DD10CD0}"/>
              </a:ext>
            </a:extLst>
          </p:cNvPr>
          <p:cNvSpPr>
            <a:spLocks noGrp="1"/>
          </p:cNvSpPr>
          <p:nvPr/>
        </p:nvSpPr>
        <p:spPr>
          <a:xfrm>
            <a:off x="6686550" y="36957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+37%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6A9C34D-F733-4C81-B14F-7DD185651AC6}"/>
              </a:ext>
            </a:extLst>
          </p:cNvPr>
          <p:cNvSpPr>
            <a:spLocks noGrp="1"/>
          </p:cNvSpPr>
          <p:nvPr/>
        </p:nvSpPr>
        <p:spPr>
          <a:xfrm>
            <a:off x="8115300" y="3524250"/>
            <a:ext cx="312420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FA65705-D4BD-4F12-8077-52BD7B037CDE}"/>
              </a:ext>
            </a:extLst>
          </p:cNvPr>
          <p:cNvSpPr>
            <a:spLocks noGrp="1"/>
          </p:cNvSpPr>
          <p:nvPr/>
        </p:nvSpPr>
        <p:spPr>
          <a:xfrm>
            <a:off x="8210550" y="36957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1.37×　正向擴展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1C24673-2336-48C7-A282-113A2B72020C}"/>
              </a:ext>
            </a:extLst>
          </p:cNvPr>
          <p:cNvSpPr>
            <a:spLocks noGrp="1"/>
          </p:cNvSpPr>
          <p:nvPr/>
        </p:nvSpPr>
        <p:spPr>
          <a:xfrm>
            <a:off x="495300" y="4114800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3FDDA03-D6A9-4D92-8326-B47EAF3AE786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CockroachDB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73C1D5F-A90F-40DB-A171-41B11F6E4B11}"/>
              </a:ext>
            </a:extLst>
          </p:cNvPr>
          <p:cNvSpPr>
            <a:spLocks noGrp="1"/>
          </p:cNvSpPr>
          <p:nvPr/>
        </p:nvSpPr>
        <p:spPr>
          <a:xfrm>
            <a:off x="2400300" y="41148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C9A13E4-F926-43E3-B8BF-DF8AD1B0D414}"/>
              </a:ext>
            </a:extLst>
          </p:cNvPr>
          <p:cNvSpPr>
            <a:spLocks noGrp="1"/>
          </p:cNvSpPr>
          <p:nvPr/>
        </p:nvSpPr>
        <p:spPr>
          <a:xfrm>
            <a:off x="2495550" y="4286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9,134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604C67C-23B2-4997-AC88-548C1E2B02A0}"/>
              </a:ext>
            </a:extLst>
          </p:cNvPr>
          <p:cNvSpPr>
            <a:spLocks noGrp="1"/>
          </p:cNvSpPr>
          <p:nvPr/>
        </p:nvSpPr>
        <p:spPr>
          <a:xfrm>
            <a:off x="4495800" y="41148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4759917-ADD8-4D16-8508-F2CC847B0F2E}"/>
              </a:ext>
            </a:extLst>
          </p:cNvPr>
          <p:cNvSpPr>
            <a:spLocks noGrp="1"/>
          </p:cNvSpPr>
          <p:nvPr/>
        </p:nvSpPr>
        <p:spPr>
          <a:xfrm>
            <a:off x="4591050" y="4286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15,033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38F2FAB-54A8-4019-BA02-FC990065A827}"/>
              </a:ext>
            </a:extLst>
          </p:cNvPr>
          <p:cNvSpPr>
            <a:spLocks noGrp="1"/>
          </p:cNvSpPr>
          <p:nvPr/>
        </p:nvSpPr>
        <p:spPr>
          <a:xfrm>
            <a:off x="6591300" y="41148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8AAA363-D764-4C37-A9AE-D1B32478AC10}"/>
              </a:ext>
            </a:extLst>
          </p:cNvPr>
          <p:cNvSpPr>
            <a:spLocks noGrp="1"/>
          </p:cNvSpPr>
          <p:nvPr/>
        </p:nvSpPr>
        <p:spPr>
          <a:xfrm>
            <a:off x="6686550" y="42862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+65%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E10DE6C-89C9-4786-BEFD-121CCA2D6081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3124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A1B5EFD-6DB9-43E4-ADA8-A0FADA2F6D3B}"/>
              </a:ext>
            </a:extLst>
          </p:cNvPr>
          <p:cNvSpPr>
            <a:spLocks noGrp="1"/>
          </p:cNvSpPr>
          <p:nvPr/>
        </p:nvSpPr>
        <p:spPr>
          <a:xfrm>
            <a:off x="8210550" y="42862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1.65×　正向擴展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166FECA-5E6D-400A-A42C-5A3600CE2836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0744200" cy="8572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6D0A3C1-998B-487F-BB9E-61DCD890CFC6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023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怎麼讀：倍率只回答「增加節點後吞吐如何變化」，不等於產品排名。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5CD4B46-981A-4BA1-AF66-CADCFE5D445A}"/>
              </a:ext>
            </a:extLst>
          </p:cNvPr>
          <p:cNvSpPr>
            <a:spLocks noGrp="1"/>
          </p:cNvSpPr>
          <p:nvPr/>
        </p:nvSpPr>
        <p:spPr>
          <a:xfrm>
            <a:off x="723900" y="5476875"/>
            <a:ext cx="10239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本輪觀察：Galera 低延遲仍有優勢；TiDB 在三節點配置的擴展倍率最高。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68CF052-941E-4F0E-8186-6597127C6459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來源：DISTRIBUTED-DB-SCORING §3.2；數據僅作方向性判讀</a:t>
            </a:r>
          </a:p>
        </p:txBody>
      </p:sp>
    </p:spTree>
    <p:extLst>
      <p:ext uri="{BB962C8B-B14F-4D97-AF65-F5344CB8AC3E}">
        <p14:creationId xmlns:p14="http://schemas.microsoft.com/office/powerpoint/2010/main" val="172224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81B8965-53A9-4394-84DF-B6B8D1650A3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CROSS-REGION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F8F89A-B8AB-465F-A155-268A34EB0198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跨區結果：Placement 策略會改變資料路徑與效能</a:t>
            </a:r>
          </a:p>
        </p:txBody>
      </p:sp>
      <p:cxnSp>
        <p:nvCxnSpPr>
          <p:cNvPr id="87" name="直線箭頭接點 4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F9AD44F-C2A4-4D37-91C8-C5FD246E65FF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320A6B-BA60-44C5-8198-35262817ED1A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335280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705CA8-9BCB-4F4F-BFAD-B36015ED0D0A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2933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12,526.5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90E323-5CDE-4DDF-AC60-0EC5D4C25C45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293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P-A × A/S · TiDB tpmC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17CAAC-98E8-4F50-9C42-5FB2D3093EB0}"/>
              </a:ext>
            </a:extLst>
          </p:cNvPr>
          <p:cNvSpPr>
            <a:spLocks noGrp="1"/>
          </p:cNvSpPr>
          <p:nvPr/>
        </p:nvSpPr>
        <p:spPr>
          <a:xfrm>
            <a:off x="704850" y="2971800"/>
            <a:ext cx="2933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IDC 單邊讀寫；threads=128；0 error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7CEA98-9DB8-48DC-AA1E-21ED558DBD94}"/>
              </a:ext>
            </a:extLst>
          </p:cNvPr>
          <p:cNvSpPr>
            <a:spLocks noGrp="1"/>
          </p:cNvSpPr>
          <p:nvPr/>
        </p:nvSpPr>
        <p:spPr>
          <a:xfrm>
            <a:off x="4076700" y="1695450"/>
            <a:ext cx="335280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69D101-B0F8-4F2F-83DD-0D673A352986}"/>
              </a:ext>
            </a:extLst>
          </p:cNvPr>
          <p:cNvSpPr>
            <a:spLocks noGrp="1"/>
          </p:cNvSpPr>
          <p:nvPr/>
        </p:nvSpPr>
        <p:spPr>
          <a:xfrm>
            <a:off x="4286250" y="1885950"/>
            <a:ext cx="2933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31,571.3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9886AB-BEAB-45D7-A39D-5D955996AD75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293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P-A × A/A (RO) · GCP 就近讀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801628-35A2-41C1-9F4E-634A123ED540}"/>
              </a:ext>
            </a:extLst>
          </p:cNvPr>
          <p:cNvSpPr>
            <a:spLocks noGrp="1"/>
          </p:cNvSpPr>
          <p:nvPr/>
        </p:nvSpPr>
        <p:spPr>
          <a:xfrm>
            <a:off x="4286250" y="2971800"/>
            <a:ext cx="2933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read_tpmTotal；全程 0 error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7D2012-B25F-4133-8920-F9843C501ABC}"/>
              </a:ext>
            </a:extLst>
          </p:cNvPr>
          <p:cNvSpPr>
            <a:spLocks noGrp="1"/>
          </p:cNvSpPr>
          <p:nvPr/>
        </p:nvSpPr>
        <p:spPr>
          <a:xfrm>
            <a:off x="7658100" y="1695450"/>
            <a:ext cx="358140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CB1637-2E64-4359-BD34-687D3A17A717}"/>
              </a:ext>
            </a:extLst>
          </p:cNvPr>
          <p:cNvSpPr>
            <a:spLocks noGrp="1"/>
          </p:cNvSpPr>
          <p:nvPr/>
        </p:nvSpPr>
        <p:spPr>
          <a:xfrm>
            <a:off x="7867650" y="1885950"/>
            <a:ext cx="3162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0.158%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7153EE-4664-4337-B030-53A90B6EC1A8}"/>
              </a:ext>
            </a:extLst>
          </p:cNvPr>
          <p:cNvSpPr>
            <a:spLocks noGrp="1"/>
          </p:cNvSpPr>
          <p:nvPr/>
        </p:nvSpPr>
        <p:spPr>
          <a:xfrm>
            <a:off x="7867650" y="2571750"/>
            <a:ext cx="316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P-B × A/A · GCP 錯誤率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BF48D3-D529-497D-B5AE-94EAB24971A4}"/>
              </a:ext>
            </a:extLst>
          </p:cNvPr>
          <p:cNvSpPr>
            <a:spLocks noGrp="1"/>
          </p:cNvSpPr>
          <p:nvPr/>
        </p:nvSpPr>
        <p:spPr>
          <a:xfrm>
            <a:off x="7867650" y="2971800"/>
            <a:ext cx="3162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雙區寫入；屬不同 workload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12C89A-66C8-4FCE-A0B8-099095A100AD}"/>
              </a:ext>
            </a:extLst>
          </p:cNvPr>
          <p:cNvSpPr>
            <a:spLocks noGrp="1"/>
          </p:cNvSpPr>
          <p:nvPr/>
        </p:nvSpPr>
        <p:spPr>
          <a:xfrm>
            <a:off x="495300" y="3829050"/>
            <a:ext cx="10744200" cy="19240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2375BB-8BB6-4F19-BBB1-023B786742A1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TiDB A/S placement 對照 · threads=128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C6017B-892C-479C-9FE0-E1F3DCACED30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指標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010BD9-3DB1-4FA6-9AE1-80885D625929}"/>
              </a:ext>
            </a:extLst>
          </p:cNvPr>
          <p:cNvSpPr>
            <a:spLocks noGrp="1"/>
          </p:cNvSpPr>
          <p:nvPr/>
        </p:nvSpPr>
        <p:spPr>
          <a:xfrm>
            <a:off x="3905250" y="45148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P-A × A/S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E00838-7B89-46C3-85D6-830CCFEBABB9}"/>
              </a:ext>
            </a:extLst>
          </p:cNvPr>
          <p:cNvSpPr>
            <a:spLocks noGrp="1"/>
          </p:cNvSpPr>
          <p:nvPr/>
        </p:nvSpPr>
        <p:spPr>
          <a:xfrm>
            <a:off x="5905500" y="45148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P-B × A/S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6359C8-D95E-4036-AC0C-360E01472BD9}"/>
              </a:ext>
            </a:extLst>
          </p:cNvPr>
          <p:cNvSpPr>
            <a:spLocks noGrp="1"/>
          </p:cNvSpPr>
          <p:nvPr/>
        </p:nvSpPr>
        <p:spPr>
          <a:xfrm>
            <a:off x="7905750" y="45148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差異</a:t>
            </a:r>
          </a:p>
        </p:txBody>
      </p:sp>
      <p:cxnSp>
        <p:nvCxnSpPr>
          <p:cNvPr id="107" name="直線箭頭接點 60"/>
          <p:cNvCxnSpPr/>
          <p:nvPr/>
        </p:nvCxnSpPr>
        <p:spPr>
          <a:xfrm>
            <a:off x="742950" y="4857750"/>
            <a:ext cx="962025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90F36F2-FA0B-4C6D-A2FF-2D499B3EA49B}"/>
              </a:ext>
            </a:extLst>
          </p:cNvPr>
          <p:cNvSpPr>
            <a:spLocks noGrp="1"/>
          </p:cNvSpPr>
          <p:nvPr/>
        </p:nvSpPr>
        <p:spPr>
          <a:xfrm>
            <a:off x="742950" y="49720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tpmC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76E53E-E4F6-4C5E-B106-CFB6B409337E}"/>
              </a:ext>
            </a:extLst>
          </p:cNvPr>
          <p:cNvSpPr>
            <a:spLocks noGrp="1"/>
          </p:cNvSpPr>
          <p:nvPr/>
        </p:nvSpPr>
        <p:spPr>
          <a:xfrm>
            <a:off x="3905250" y="49720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12,526.5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6C96EE-86F4-4C1E-AA3A-7F9D87E7AD37}"/>
              </a:ext>
            </a:extLst>
          </p:cNvPr>
          <p:cNvSpPr>
            <a:spLocks noGrp="1"/>
          </p:cNvSpPr>
          <p:nvPr/>
        </p:nvSpPr>
        <p:spPr>
          <a:xfrm>
            <a:off x="5905500" y="49720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15,107.4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51A95D-FB3E-4701-B8D8-0B71461CBC6B}"/>
              </a:ext>
            </a:extLst>
          </p:cNvPr>
          <p:cNvSpPr>
            <a:spLocks noGrp="1"/>
          </p:cNvSpPr>
          <p:nvPr/>
        </p:nvSpPr>
        <p:spPr>
          <a:xfrm>
            <a:off x="7905750" y="49720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P-B +20.6%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B27B51-5A5B-422D-859A-2207A8FD8777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NEW_ORDER p99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917D457-F002-4401-80F8-302503A75F11}"/>
              </a:ext>
            </a:extLst>
          </p:cNvPr>
          <p:cNvSpPr>
            <a:spLocks noGrp="1"/>
          </p:cNvSpPr>
          <p:nvPr/>
        </p:nvSpPr>
        <p:spPr>
          <a:xfrm>
            <a:off x="3905250" y="52768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677.8 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D1D0C3E-2DA5-4BDA-9272-31995DDB3933}"/>
              </a:ext>
            </a:extLst>
          </p:cNvPr>
          <p:cNvSpPr>
            <a:spLocks noGrp="1"/>
          </p:cNvSpPr>
          <p:nvPr/>
        </p:nvSpPr>
        <p:spPr>
          <a:xfrm>
            <a:off x="5905500" y="52768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664.4 ms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1188C89-7119-4BE9-981B-6E0765DEB6DB}"/>
              </a:ext>
            </a:extLst>
          </p:cNvPr>
          <p:cNvSpPr>
            <a:spLocks noGrp="1"/>
          </p:cNvSpPr>
          <p:nvPr/>
        </p:nvSpPr>
        <p:spPr>
          <a:xfrm>
            <a:off x="7905750" y="52768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P-B -2.0%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CCEB22-748E-4E60-9C3D-12C4720A9052}"/>
              </a:ext>
            </a:extLst>
          </p:cNvPr>
          <p:cNvSpPr>
            <a:spLocks noGrp="1"/>
          </p:cNvSpPr>
          <p:nvPr/>
        </p:nvSpPr>
        <p:spPr>
          <a:xfrm>
            <a:off x="742950" y="55816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all-txn error rate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ECF544-D5EC-47A7-862B-33F5534DD0A0}"/>
              </a:ext>
            </a:extLst>
          </p:cNvPr>
          <p:cNvSpPr>
            <a:spLocks noGrp="1"/>
          </p:cNvSpPr>
          <p:nvPr/>
        </p:nvSpPr>
        <p:spPr>
          <a:xfrm>
            <a:off x="3905250" y="5581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0%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BE65A9B-325B-40EB-86E4-5827271D4590}"/>
              </a:ext>
            </a:extLst>
          </p:cNvPr>
          <p:cNvSpPr>
            <a:spLocks noGrp="1"/>
          </p:cNvSpPr>
          <p:nvPr/>
        </p:nvSpPr>
        <p:spPr>
          <a:xfrm>
            <a:off x="5905500" y="5581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0%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061277-D880-4645-AAE3-F56FF03C8740}"/>
              </a:ext>
            </a:extLst>
          </p:cNvPr>
          <p:cNvSpPr>
            <a:spLocks noGrp="1"/>
          </p:cNvSpPr>
          <p:nvPr/>
        </p:nvSpPr>
        <p:spPr>
          <a:xfrm>
            <a:off x="7905750" y="55816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相同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FC48793-DA7F-4C1A-BB61-3226DF81738B}"/>
              </a:ext>
            </a:extLst>
          </p:cNvPr>
          <p:cNvSpPr>
            <a:spLocks noGrp="1"/>
          </p:cNvSpPr>
          <p:nvPr/>
        </p:nvSpPr>
        <p:spPr>
          <a:xfrm>
            <a:off x="495300" y="5905500"/>
            <a:ext cx="10744200" cy="2857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B376B3-1C5C-4B1B-AEEF-D169E60074FC}"/>
              </a:ext>
            </a:extLst>
          </p:cNvPr>
          <p:cNvSpPr>
            <a:spLocks noGrp="1"/>
          </p:cNvSpPr>
          <p:nvPr/>
        </p:nvSpPr>
        <p:spPr>
          <a:xfrm>
            <a:off x="742950" y="5953125"/>
            <a:ext cx="10239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P-A：quorum 以 IDC 為主；P-B：副本跨 IDC／EDC 分散，跨區鏈路更常進入提交路徑。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53D2F8D-85E6-4705-A8CC-812689BD5D57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§2.2、§2.4；X-CROSS P-A／P-B 結案報告</a:t>
            </a:r>
          </a:p>
        </p:txBody>
      </p:sp>
    </p:spTree>
    <p:extLst>
      <p:ext uri="{BB962C8B-B14F-4D97-AF65-F5344CB8AC3E}">
        <p14:creationId xmlns:p14="http://schemas.microsoft.com/office/powerpoint/2010/main" val="148340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0F97943-2BC5-4527-A994-E4012F6D57E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TARGET ROUTE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A76EE3-F0DE-4A0D-907B-9567B79E013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主線按風險遞進：S0 → S1 → S2；A/A 延後</a:t>
            </a:r>
          </a:p>
        </p:txBody>
      </p:sp>
      <p:cxnSp>
        <p:nvCxnSpPr>
          <p:cNvPr id="48" name="直線箭頭接點 33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72F4001-2112-4B37-A303-EFBB146CE364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cxnSp>
        <p:nvCxnSpPr>
          <p:cNvPr id="50" name="直線箭頭接點 35"/>
          <p:cNvCxnSpPr/>
          <p:nvPr/>
        </p:nvCxnSpPr>
        <p:spPr>
          <a:xfrm>
            <a:off x="2381250" y="3352800"/>
            <a:ext cx="1285875" cy="0"/>
          </a:xfrm>
          <a:prstGeom prst="straightConnector1">
            <a:avLst/>
          </a:prstGeom>
          <a:ln w="38100">
            <a:solidFill>
              <a:srgbClr val="2563EB"/>
            </a:solidFill>
            <a:prstDash val="solid"/>
          </a:ln>
        </p:spPr>
      </p:cxnSp>
      <p:cxnSp>
        <p:nvCxnSpPr>
          <p:cNvPr id="51" name="直線箭頭接點 36"/>
          <p:cNvCxnSpPr/>
          <p:nvPr/>
        </p:nvCxnSpPr>
        <p:spPr>
          <a:xfrm>
            <a:off x="5095875" y="3352800"/>
            <a:ext cx="1285875" cy="0"/>
          </a:xfrm>
          <a:prstGeom prst="straightConnector1">
            <a:avLst/>
          </a:prstGeom>
          <a:ln w="38100">
            <a:solidFill>
              <a:srgbClr val="2563EB"/>
            </a:solidFill>
            <a:prstDash val="solid"/>
          </a:ln>
        </p:spPr>
      </p:cxnSp>
      <p:cxnSp>
        <p:nvCxnSpPr>
          <p:cNvPr id="52" name="直線箭頭接點 37"/>
          <p:cNvCxnSpPr/>
          <p:nvPr/>
        </p:nvCxnSpPr>
        <p:spPr>
          <a:xfrm>
            <a:off x="7810500" y="3352800"/>
            <a:ext cx="1285875" cy="0"/>
          </a:xfrm>
          <a:prstGeom prst="straightConnector1">
            <a:avLst/>
          </a:prstGeom>
          <a:ln w="38100">
            <a:solidFill>
              <a:srgbClr val="D0D5DD"/>
            </a:solidFill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81631554-4E11-4F6E-8BFB-E6ECD74EE6D7}"/>
              </a:ext>
            </a:extLst>
          </p:cNvPr>
          <p:cNvSpPr>
            <a:spLocks noGrp="1"/>
          </p:cNvSpPr>
          <p:nvPr/>
        </p:nvSpPr>
        <p:spPr>
          <a:xfrm>
            <a:off x="342900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0721C6-3BC7-48DD-B0D2-AE3FF40FC208}"/>
              </a:ext>
            </a:extLst>
          </p:cNvPr>
          <p:cNvSpPr>
            <a:spLocks noGrp="1"/>
          </p:cNvSpPr>
          <p:nvPr/>
        </p:nvSpPr>
        <p:spPr>
          <a:xfrm>
            <a:off x="6143625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F0E1C8-D6FF-42FE-8365-0672E0D2C348}"/>
              </a:ext>
            </a:extLst>
          </p:cNvPr>
          <p:cNvSpPr>
            <a:spLocks noGrp="1"/>
          </p:cNvSpPr>
          <p:nvPr/>
        </p:nvSpPr>
        <p:spPr>
          <a:xfrm>
            <a:off x="885825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5560384-46E3-446B-9636-F3939F1AFD4A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3B2B7D-4E87-4F3C-87AC-104B951EDB87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6AE551-B43C-4074-84E4-537C57E27E37}"/>
              </a:ext>
            </a:extLst>
          </p:cNvPr>
          <p:cNvSpPr>
            <a:spLocks noGrp="1"/>
          </p:cNvSpPr>
          <p:nvPr/>
        </p:nvSpPr>
        <p:spPr>
          <a:xfrm>
            <a:off x="72390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IDC Only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580F64-A684-4351-B6C2-3599F82A4C21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維運、備份、監控</a:t>
            </a:r>
          </a:p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代表性應用 Pilot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E85A7F5-8D35-48DE-A27A-72FC9955D5E7}"/>
              </a:ext>
            </a:extLst>
          </p:cNvPr>
          <p:cNvSpPr>
            <a:spLocks noGrp="1"/>
          </p:cNvSpPr>
          <p:nvPr/>
        </p:nvSpPr>
        <p:spPr>
          <a:xfrm>
            <a:off x="3209925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46BA9E-CF13-4DFC-B493-ED2A08871EAF}"/>
              </a:ext>
            </a:extLst>
          </p:cNvPr>
          <p:cNvSpPr>
            <a:spLocks noGrp="1"/>
          </p:cNvSpPr>
          <p:nvPr/>
        </p:nvSpPr>
        <p:spPr>
          <a:xfrm>
            <a:off x="343852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C8A65-E55F-42B8-BBCF-1FFD34F02D7B}"/>
              </a:ext>
            </a:extLst>
          </p:cNvPr>
          <p:cNvSpPr>
            <a:spLocks noGrp="1"/>
          </p:cNvSpPr>
          <p:nvPr/>
        </p:nvSpPr>
        <p:spPr>
          <a:xfrm>
            <a:off x="343852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IDC + EDC A/S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1C2E02-99C4-4E19-BEBA-92AAA407BF03}"/>
              </a:ext>
            </a:extLst>
          </p:cNvPr>
          <p:cNvSpPr>
            <a:spLocks noGrp="1"/>
          </p:cNvSpPr>
          <p:nvPr/>
        </p:nvSpPr>
        <p:spPr>
          <a:xfrm>
            <a:off x="3438525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IDC 主寫</a:t>
            </a:r>
          </a:p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EDC 副本＋切換演練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3EAB6AFD-580F-492B-B5C3-C3EE7930F843}"/>
              </a:ext>
            </a:extLst>
          </p:cNvPr>
          <p:cNvSpPr>
            <a:spLocks noGrp="1"/>
          </p:cNvSpPr>
          <p:nvPr/>
        </p:nvSpPr>
        <p:spPr>
          <a:xfrm>
            <a:off x="5924550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98ECBA-D75C-4B5C-9A08-7422EF23F0C5}"/>
              </a:ext>
            </a:extLst>
          </p:cNvPr>
          <p:cNvSpPr>
            <a:spLocks noGrp="1"/>
          </p:cNvSpPr>
          <p:nvPr/>
        </p:nvSpPr>
        <p:spPr>
          <a:xfrm>
            <a:off x="615315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CA2709-59C4-426E-9457-9CC377B73D39}"/>
              </a:ext>
            </a:extLst>
          </p:cNvPr>
          <p:cNvSpPr>
            <a:spLocks noGrp="1"/>
          </p:cNvSpPr>
          <p:nvPr/>
        </p:nvSpPr>
        <p:spPr>
          <a:xfrm>
            <a:off x="615315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A/A (RO)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47163D-BE11-4329-A49F-01FC42BAF540}"/>
              </a:ext>
            </a:extLst>
          </p:cNvPr>
          <p:cNvSpPr>
            <a:spLocks noGrp="1"/>
          </p:cNvSpPr>
          <p:nvPr/>
        </p:nvSpPr>
        <p:spPr>
          <a:xfrm>
            <a:off x="6153150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EDC 就近讀</a:t>
            </a:r>
          </a:p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staleness＋fallback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EF592D52-A4D4-4A32-84A0-00C5E71D3D81}"/>
              </a:ext>
            </a:extLst>
          </p:cNvPr>
          <p:cNvSpPr>
            <a:spLocks noGrp="1"/>
          </p:cNvSpPr>
          <p:nvPr/>
        </p:nvSpPr>
        <p:spPr>
          <a:xfrm>
            <a:off x="8639175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9525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88D4DC-C80A-4FE3-B9C3-A452ED7AC7A3}"/>
              </a:ext>
            </a:extLst>
          </p:cNvPr>
          <p:cNvSpPr>
            <a:spLocks noGrp="1"/>
          </p:cNvSpPr>
          <p:nvPr/>
        </p:nvSpPr>
        <p:spPr>
          <a:xfrm>
            <a:off x="886777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44CC6E-56B2-4BA7-AC16-BE128D4508C0}"/>
              </a:ext>
            </a:extLst>
          </p:cNvPr>
          <p:cNvSpPr>
            <a:spLocks noGrp="1"/>
          </p:cNvSpPr>
          <p:nvPr/>
        </p:nvSpPr>
        <p:spPr>
          <a:xfrm>
            <a:off x="886777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A/A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42CF39-C506-4ADE-BEEB-4938ABD35E5B}"/>
              </a:ext>
            </a:extLst>
          </p:cNvPr>
          <p:cNvSpPr>
            <a:spLocks noGrp="1"/>
          </p:cNvSpPr>
          <p:nvPr/>
        </p:nvSpPr>
        <p:spPr>
          <a:xfrm>
            <a:off x="8867775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非 DB 阻礙解除</a:t>
            </a:r>
          </a:p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且有雙寫需求才評估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BFC78D-6DEC-46A3-911A-423396D7B2C1}"/>
              </a:ext>
            </a:extLst>
          </p:cNvPr>
          <p:cNvSpPr>
            <a:spLocks noGrp="1"/>
          </p:cNvSpPr>
          <p:nvPr/>
        </p:nvSpPr>
        <p:spPr>
          <a:xfrm>
            <a:off x="495300" y="4972050"/>
            <a:ext cx="7810500" cy="87630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976A02-2AEA-4924-BBDD-674CB5B39F47}"/>
              </a:ext>
            </a:extLst>
          </p:cNvPr>
          <p:cNvSpPr>
            <a:spLocks noGrp="1"/>
          </p:cNvSpPr>
          <p:nvPr/>
        </p:nvSpPr>
        <p:spPr>
          <a:xfrm>
            <a:off x="723900" y="5229225"/>
            <a:ext cx="733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遞進原則：前一階段驗收，是下一階段的進入條件；失敗時能清楚歸因與退場。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0BAB6D-007A-497D-9975-231698B03F01}"/>
              </a:ext>
            </a:extLst>
          </p:cNvPr>
          <p:cNvSpPr>
            <a:spLocks noGrp="1"/>
          </p:cNvSpPr>
          <p:nvPr/>
        </p:nvSpPr>
        <p:spPr>
          <a:xfrm>
            <a:off x="8524875" y="4972050"/>
            <a:ext cx="2714625" cy="87630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0FB926B-B8CE-46FC-99AC-8B11DAE0D85E}"/>
              </a:ext>
            </a:extLst>
          </p:cNvPr>
          <p:cNvSpPr>
            <a:spLocks noGrp="1"/>
          </p:cNvSpPr>
          <p:nvPr/>
        </p:nvSpPr>
        <p:spPr>
          <a:xfrm>
            <a:off x="8763000" y="5210175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S3 不納入規劃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0C542B-F04A-4FE6-B69C-D41E6A6881ED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§3.1–§3.2</a:t>
            </a:r>
          </a:p>
        </p:txBody>
      </p:sp>
    </p:spTree>
    <p:extLst>
      <p:ext uri="{BB962C8B-B14F-4D97-AF65-F5344CB8AC3E}">
        <p14:creationId xmlns:p14="http://schemas.microsoft.com/office/powerpoint/2010/main" val="207378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4FB2CF1-5FC2-4A81-B09B-011769219EB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 → S2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9BB213-74AD-42BD-B144-DB30F0E7E30E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跨區先證明副本與切換，再開放就近讀</a:t>
            </a:r>
          </a:p>
        </p:txBody>
      </p:sp>
      <p:cxnSp>
        <p:nvCxnSpPr>
          <p:cNvPr id="37" name="直線箭頭接點 3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318F542-CDEF-41D0-9181-B98D3B836F37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C60E1B-00C1-4221-8029-D9921DDA7E9F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048250" cy="3857625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273DDC-7C89-4EE4-9A81-7BE74D0F00E6}"/>
              </a:ext>
            </a:extLst>
          </p:cNvPr>
          <p:cNvSpPr>
            <a:spLocks noGrp="1"/>
          </p:cNvSpPr>
          <p:nvPr/>
        </p:nvSpPr>
        <p:spPr>
          <a:xfrm>
            <a:off x="742950" y="1905000"/>
            <a:ext cx="438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S1｜A/S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635CC-CE5A-4E37-A267-2375C1B3DFBD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IDC 主寫；EDC 持副本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7E20C2-2C7D-4F84-B511-AA1247133C8A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BCA4C3-7056-4CE6-A512-F2012A8697D5}"/>
              </a:ext>
            </a:extLst>
          </p:cNvPr>
          <p:cNvSpPr>
            <a:spLocks noGrp="1"/>
          </p:cNvSpPr>
          <p:nvPr/>
        </p:nvSpPr>
        <p:spPr>
          <a:xfrm>
            <a:off x="1028700" y="30003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placement 設定與 readback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DE999B-C551-40FF-8928-9DDC7C694E10}"/>
              </a:ext>
            </a:extLst>
          </p:cNvPr>
          <p:cNvSpPr>
            <a:spLocks noGrp="1"/>
          </p:cNvSpPr>
          <p:nvPr/>
        </p:nvSpPr>
        <p:spPr>
          <a:xfrm>
            <a:off x="742950" y="34575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1ADC0-B1C6-4EA5-8EA3-47C9ACF58409}"/>
              </a:ext>
            </a:extLst>
          </p:cNvPr>
          <p:cNvSpPr>
            <a:spLocks noGrp="1"/>
          </p:cNvSpPr>
          <p:nvPr/>
        </p:nvSpPr>
        <p:spPr>
          <a:xfrm>
            <a:off x="1028700" y="34575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逐 region 副本存在門檻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54B1EB-861C-4FCD-B65E-B209AC348328}"/>
              </a:ext>
            </a:extLst>
          </p:cNvPr>
          <p:cNvSpPr>
            <a:spLocks noGrp="1"/>
          </p:cNvSpPr>
          <p:nvPr/>
        </p:nvSpPr>
        <p:spPr>
          <a:xfrm>
            <a:off x="742950" y="39147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02A034-B35B-4F97-AC1E-0A90B43E6A2B}"/>
              </a:ext>
            </a:extLst>
          </p:cNvPr>
          <p:cNvSpPr>
            <a:spLocks noGrp="1"/>
          </p:cNvSpPr>
          <p:nvPr/>
        </p:nvSpPr>
        <p:spPr>
          <a:xfrm>
            <a:off x="1028700" y="39147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切換、回切與資料對帳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1340B9-516F-4D2C-AC1B-8A9887E5247A}"/>
              </a:ext>
            </a:extLst>
          </p:cNvPr>
          <p:cNvSpPr>
            <a:spLocks noGrp="1"/>
          </p:cNvSpPr>
          <p:nvPr/>
        </p:nvSpPr>
        <p:spPr>
          <a:xfrm>
            <a:off x="742950" y="43719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8079C0-37E1-462A-8E9C-12D9EE47E5D8}"/>
              </a:ext>
            </a:extLst>
          </p:cNvPr>
          <p:cNvSpPr>
            <a:spLocks noGrp="1"/>
          </p:cNvSpPr>
          <p:nvPr/>
        </p:nvSpPr>
        <p:spPr>
          <a:xfrm>
            <a:off x="1028700" y="43719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B3：EDC 讀取型工作負載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1EC801-C736-4A73-A9BF-0477C6588343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5048250" cy="3857625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A8E70D-F106-4390-94D8-60854CF375C5}"/>
              </a:ext>
            </a:extLst>
          </p:cNvPr>
          <p:cNvSpPr>
            <a:spLocks noGrp="1"/>
          </p:cNvSpPr>
          <p:nvPr/>
        </p:nvSpPr>
        <p:spPr>
          <a:xfrm>
            <a:off x="6438900" y="1905000"/>
            <a:ext cx="438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S2｜A/A (RO)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3E72A4-636B-4321-B4DB-0D76B9861DF6}"/>
              </a:ext>
            </a:extLst>
          </p:cNvPr>
          <p:cNvSpPr>
            <a:spLocks noGrp="1"/>
          </p:cNvSpPr>
          <p:nvPr/>
        </p:nvSpPr>
        <p:spPr>
          <a:xfrm>
            <a:off x="6438900" y="24288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寫入仍在 IDC；EDC 就近讀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15E458-7D36-4E02-8F8A-7CB534403DF7}"/>
              </a:ext>
            </a:extLst>
          </p:cNvPr>
          <p:cNvSpPr>
            <a:spLocks noGrp="1"/>
          </p:cNvSpPr>
          <p:nvPr/>
        </p:nvSpPr>
        <p:spPr>
          <a:xfrm>
            <a:off x="6438900" y="30003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1F1DCC5-3711-4FFB-AC76-25BB4A65EEEF}"/>
              </a:ext>
            </a:extLst>
          </p:cNvPr>
          <p:cNvSpPr>
            <a:spLocks noGrp="1"/>
          </p:cNvSpPr>
          <p:nvPr/>
        </p:nvSpPr>
        <p:spPr>
          <a:xfrm>
            <a:off x="6724650" y="30003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near-read probe 必須命中 EDC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74DE07-0C55-4224-B23F-A610FDB4C6B8}"/>
              </a:ext>
            </a:extLst>
          </p:cNvPr>
          <p:cNvSpPr>
            <a:spLocks noGrp="1"/>
          </p:cNvSpPr>
          <p:nvPr/>
        </p:nvSpPr>
        <p:spPr>
          <a:xfrm>
            <a:off x="6438900" y="34575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C4E2CB-2180-4266-91FA-F908F3155173}"/>
              </a:ext>
            </a:extLst>
          </p:cNvPr>
          <p:cNvSpPr>
            <a:spLocks noGrp="1"/>
          </p:cNvSpPr>
          <p:nvPr/>
        </p:nvSpPr>
        <p:spPr>
          <a:xfrm>
            <a:off x="6724650" y="34575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staleness 上限由產品定義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76725B-B894-4635-8393-7CA84920C8E7}"/>
              </a:ext>
            </a:extLst>
          </p:cNvPr>
          <p:cNvSpPr>
            <a:spLocks noGrp="1"/>
          </p:cNvSpPr>
          <p:nvPr/>
        </p:nvSpPr>
        <p:spPr>
          <a:xfrm>
            <a:off x="6438900" y="39147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3D87C9E-81F6-4CE4-AC47-ADC83D7938BD}"/>
              </a:ext>
            </a:extLst>
          </p:cNvPr>
          <p:cNvSpPr>
            <a:spLocks noGrp="1"/>
          </p:cNvSpPr>
          <p:nvPr/>
        </p:nvSpPr>
        <p:spPr>
          <a:xfrm>
            <a:off x="6724650" y="39147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read-your-write 與 fallback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2C131F-0873-4260-B479-F7728B14190A}"/>
              </a:ext>
            </a:extLst>
          </p:cNvPr>
          <p:cNvSpPr>
            <a:spLocks noGrp="1"/>
          </p:cNvSpPr>
          <p:nvPr/>
        </p:nvSpPr>
        <p:spPr>
          <a:xfrm>
            <a:off x="6438900" y="43719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A95C57-E5CB-4B0A-AD05-84A6DE7FE10D}"/>
              </a:ext>
            </a:extLst>
          </p:cNvPr>
          <p:cNvSpPr>
            <a:spLocks noGrp="1"/>
          </p:cNvSpPr>
          <p:nvPr/>
        </p:nvSpPr>
        <p:spPr>
          <a:xfrm>
            <a:off x="6724650" y="43719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跨區分斷與恢復演練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E5C748-B59F-4586-B942-A87AC85BD260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§4.3–§4.4</a:t>
            </a:r>
          </a:p>
        </p:txBody>
      </p:sp>
    </p:spTree>
    <p:extLst>
      <p:ext uri="{BB962C8B-B14F-4D97-AF65-F5344CB8AC3E}">
        <p14:creationId xmlns:p14="http://schemas.microsoft.com/office/powerpoint/2010/main" val="2948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0F97943-2BC5-4527-A994-E4012F6D57E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DECISION SUMMARY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A76EE3-F0DE-4A0D-907B-9567B79E013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決策一：TiDB 進入主線，其餘依場景保留</a:t>
            </a:r>
          </a:p>
        </p:txBody>
      </p:sp>
      <p:cxnSp>
        <p:nvCxnSpPr>
          <p:cNvPr id="48" name="直線箭頭接點 33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0">
            <a:noFill/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72F4001-2112-4B37-A303-EFBB146CE364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cxnSp>
        <p:nvCxnSpPr>
          <p:cNvPr id="50" name="直線箭頭接點 35"/>
          <p:cNvCxnSpPr/>
          <p:nvPr/>
        </p:nvCxnSpPr>
        <p:spPr>
          <a:xfrm>
            <a:off x="2381250" y="3352800"/>
            <a:ext cx="1285875" cy="0"/>
          </a:xfrm>
          <a:prstGeom prst="straightConnector1">
            <a:avLst/>
          </a:prstGeom>
          <a:ln w="0">
            <a:noFill/>
            <a:prstDash val="solid"/>
          </a:ln>
        </p:spPr>
      </p:cxnSp>
      <p:cxnSp>
        <p:nvCxnSpPr>
          <p:cNvPr id="51" name="直線箭頭接點 36"/>
          <p:cNvCxnSpPr/>
          <p:nvPr/>
        </p:nvCxnSpPr>
        <p:spPr>
          <a:xfrm>
            <a:off x="5095875" y="3352800"/>
            <a:ext cx="1285875" cy="0"/>
          </a:xfrm>
          <a:prstGeom prst="straightConnector1">
            <a:avLst/>
          </a:prstGeom>
          <a:ln w="0">
            <a:noFill/>
            <a:prstDash val="solid"/>
          </a:ln>
        </p:spPr>
      </p:cxnSp>
      <p:cxnSp>
        <p:nvCxnSpPr>
          <p:cNvPr id="52" name="直線箭頭接點 37"/>
          <p:cNvCxnSpPr/>
          <p:nvPr/>
        </p:nvCxnSpPr>
        <p:spPr>
          <a:xfrm>
            <a:off x="7810500" y="3352800"/>
            <a:ext cx="1285875" cy="0"/>
          </a:xfrm>
          <a:prstGeom prst="straightConnector1">
            <a:avLst/>
          </a:prstGeom>
          <a:ln w="0">
            <a:noFill/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81631554-4E11-4F6E-8BFB-E6ECD74EE6D7}"/>
              </a:ext>
            </a:extLst>
          </p:cNvPr>
          <p:cNvSpPr>
            <a:spLocks noGrp="1"/>
          </p:cNvSpPr>
          <p:nvPr/>
        </p:nvSpPr>
        <p:spPr>
          <a:xfrm>
            <a:off x="342900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0721C6-3BC7-48DD-B0D2-AE3FF40FC208}"/>
              </a:ext>
            </a:extLst>
          </p:cNvPr>
          <p:cNvSpPr>
            <a:spLocks noGrp="1"/>
          </p:cNvSpPr>
          <p:nvPr/>
        </p:nvSpPr>
        <p:spPr>
          <a:xfrm>
            <a:off x="6143625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F0E1C8-D6FF-42FE-8365-0672E0D2C348}"/>
              </a:ext>
            </a:extLst>
          </p:cNvPr>
          <p:cNvSpPr>
            <a:spLocks noGrp="1"/>
          </p:cNvSpPr>
          <p:nvPr/>
        </p:nvSpPr>
        <p:spPr>
          <a:xfrm>
            <a:off x="885825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5560384-46E3-446B-9636-F3939F1AFD4A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8F1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3B2B7D-4E87-4F3C-87AC-104B951EDB87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主線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6AE551-B43C-4074-84E4-537C57E27E37}"/>
              </a:ext>
            </a:extLst>
          </p:cNvPr>
          <p:cNvSpPr>
            <a:spLocks noGrp="1"/>
          </p:cNvSpPr>
          <p:nvPr/>
        </p:nvSpPr>
        <p:spPr>
          <a:xfrm>
            <a:off x="72390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580F64-A684-4351-B6C2-3599F82A4C21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 相容</a:t>
            </a:r>
          </a:p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Phase 0 ＋ Pilot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E85A7F5-8D35-48DE-A27A-72FC9955D5E7}"/>
              </a:ext>
            </a:extLst>
          </p:cNvPr>
          <p:cNvSpPr>
            <a:spLocks noGrp="1"/>
          </p:cNvSpPr>
          <p:nvPr/>
        </p:nvSpPr>
        <p:spPr>
          <a:xfrm>
            <a:off x="3209925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FFF3D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46BA9E-CF13-4DFC-B493-ED2A08871EAF}"/>
              </a:ext>
            </a:extLst>
          </p:cNvPr>
          <p:cNvSpPr>
            <a:spLocks noGrp="1"/>
          </p:cNvSpPr>
          <p:nvPr/>
        </p:nvSpPr>
        <p:spPr>
          <a:xfrm>
            <a:off x="343852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對照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C8A65-E55F-42B8-BBCF-1FFD34F02D7B}"/>
              </a:ext>
            </a:extLst>
          </p:cNvPr>
          <p:cNvSpPr>
            <a:spLocks noGrp="1"/>
          </p:cNvSpPr>
          <p:nvPr/>
        </p:nvSpPr>
        <p:spPr>
          <a:xfrm>
            <a:off x="343852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PXC / Galera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1C2E02-99C4-4E19-BEBA-92AAA407BF03}"/>
              </a:ext>
            </a:extLst>
          </p:cNvPr>
          <p:cNvSpPr>
            <a:spLocks noGrp="1"/>
          </p:cNvSpPr>
          <p:nvPr/>
        </p:nvSpPr>
        <p:spPr>
          <a:xfrm>
            <a:off x="3438525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低延遲／單機房</a:t>
            </a:r>
          </a:p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保留適用場景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3EAB6AFD-580F-492B-B5C3-C3EE7930F843}"/>
              </a:ext>
            </a:extLst>
          </p:cNvPr>
          <p:cNvSpPr>
            <a:spLocks noGrp="1"/>
          </p:cNvSpPr>
          <p:nvPr/>
        </p:nvSpPr>
        <p:spPr>
          <a:xfrm>
            <a:off x="5924550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98ECBA-D75C-4B5C-9A08-7422EF23F0C5}"/>
              </a:ext>
            </a:extLst>
          </p:cNvPr>
          <p:cNvSpPr>
            <a:spLocks noGrp="1"/>
          </p:cNvSpPr>
          <p:nvPr/>
        </p:nvSpPr>
        <p:spPr>
          <a:xfrm>
            <a:off x="615315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CA2709-59C4-426E-9457-9CC377B73D39}"/>
              </a:ext>
            </a:extLst>
          </p:cNvPr>
          <p:cNvSpPr>
            <a:spLocks noGrp="1"/>
          </p:cNvSpPr>
          <p:nvPr/>
        </p:nvSpPr>
        <p:spPr>
          <a:xfrm>
            <a:off x="615315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YugabyteDB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47163D-BE11-4329-A49F-01FC42BAF540}"/>
              </a:ext>
            </a:extLst>
          </p:cNvPr>
          <p:cNvSpPr>
            <a:spLocks noGrp="1"/>
          </p:cNvSpPr>
          <p:nvPr/>
        </p:nvSpPr>
        <p:spPr>
          <a:xfrm>
            <a:off x="6153150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PostgreSQL／AI</a:t>
            </a:r>
          </a:p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需求觸發再評估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EF592D52-A4D4-4A32-84A0-00C5E71D3D81}"/>
              </a:ext>
            </a:extLst>
          </p:cNvPr>
          <p:cNvSpPr>
            <a:spLocks noGrp="1"/>
          </p:cNvSpPr>
          <p:nvPr/>
        </p:nvSpPr>
        <p:spPr>
          <a:xfrm>
            <a:off x="8639175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88D4DC-C80A-4FE3-B9C3-A452ED7AC7A3}"/>
              </a:ext>
            </a:extLst>
          </p:cNvPr>
          <p:cNvSpPr>
            <a:spLocks noGrp="1"/>
          </p:cNvSpPr>
          <p:nvPr/>
        </p:nvSpPr>
        <p:spPr>
          <a:xfrm>
            <a:off x="886777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44CC6E-56B2-4BA7-AC16-BE128D4508C0}"/>
              </a:ext>
            </a:extLst>
          </p:cNvPr>
          <p:cNvSpPr>
            <a:spLocks noGrp="1"/>
          </p:cNvSpPr>
          <p:nvPr/>
        </p:nvSpPr>
        <p:spPr>
          <a:xfrm>
            <a:off x="886777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CockroachDB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42CF39-C506-4ADE-BEEB-4938ABD35E5B}"/>
              </a:ext>
            </a:extLst>
          </p:cNvPr>
          <p:cNvSpPr>
            <a:spLocks noGrp="1"/>
          </p:cNvSpPr>
          <p:nvPr/>
        </p:nvSpPr>
        <p:spPr>
          <a:xfrm>
            <a:off x="8867775" y="3524250"/>
            <a:ext cx="19240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PostgreSQL／分散式</a:t>
            </a:r>
          </a:p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需求觸發再評估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BFC78D-6DEC-46A3-911A-423396D7B2C1}"/>
              </a:ext>
            </a:extLst>
          </p:cNvPr>
          <p:cNvSpPr>
            <a:spLocks noGrp="1"/>
          </p:cNvSpPr>
          <p:nvPr/>
        </p:nvSpPr>
        <p:spPr>
          <a:xfrm>
            <a:off x="495300" y="4972050"/>
            <a:ext cx="7810500" cy="87630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976A02-2AEA-4924-BBDD-674CB5B39F47}"/>
              </a:ext>
            </a:extLst>
          </p:cNvPr>
          <p:cNvSpPr>
            <a:spLocks noGrp="1"/>
          </p:cNvSpPr>
          <p:nvPr/>
        </p:nvSpPr>
        <p:spPr>
          <a:xfrm>
            <a:off x="723900" y="5229225"/>
            <a:ext cx="733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建議：TiDB 進入 Phase 0 與代表性 MySQL Pilot。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0BAB6D-007A-497D-9975-231698B03F01}"/>
              </a:ext>
            </a:extLst>
          </p:cNvPr>
          <p:cNvSpPr>
            <a:spLocks noGrp="1"/>
          </p:cNvSpPr>
          <p:nvPr/>
        </p:nvSpPr>
        <p:spPr>
          <a:xfrm>
            <a:off x="8524875" y="4972050"/>
            <a:ext cx="2714625" cy="87630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0FB926B-B8CE-46FC-99AC-8B11DAE0D85E}"/>
              </a:ext>
            </a:extLst>
          </p:cNvPr>
          <p:cNvSpPr>
            <a:spLocks noGrp="1"/>
          </p:cNvSpPr>
          <p:nvPr/>
        </p:nvSpPr>
        <p:spPr>
          <a:xfrm>
            <a:off x="8763000" y="5210175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其餘依需求保留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0C542B-F04A-4FE6-B69C-D41E6A6881ED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來源：DISTRIBUTED-DB-SCORING.md；SLIDE-BRIEF-2026 §2.1</a:t>
            </a:r>
          </a:p>
        </p:txBody>
      </p:sp>
    </p:spTree>
    <p:extLst>
      <p:ext uri="{BB962C8B-B14F-4D97-AF65-F5344CB8AC3E}">
        <p14:creationId xmlns:p14="http://schemas.microsoft.com/office/powerpoint/2010/main" val="2073780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4FB2CF1-5FC2-4A81-B09B-011769219EB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DECISION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9BB213-74AD-42BD-B144-DB30F0E7E30E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決策二：本次核准與暫緩範圍</a:t>
            </a:r>
          </a:p>
        </p:txBody>
      </p:sp>
      <p:cxnSp>
        <p:nvCxnSpPr>
          <p:cNvPr id="38" name="直線箭頭接點 3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318F542-CDEF-41D0-9181-B98D3B836F37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C60E1B-00C1-4221-8029-D9921DDA7E9F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048250" cy="3857625"/>
          </a:xfrm>
          <a:prstGeom prst="rect">
            <a:avLst/>
          </a:prstGeom>
          <a:solidFill>
            <a:srgbClr val="EAF7EF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273DDC-7C89-4EE4-9A81-7BE74D0F00E6}"/>
              </a:ext>
            </a:extLst>
          </p:cNvPr>
          <p:cNvSpPr>
            <a:spLocks noGrp="1"/>
          </p:cNvSpPr>
          <p:nvPr/>
        </p:nvSpPr>
        <p:spPr>
          <a:xfrm>
            <a:off x="742950" y="1905000"/>
            <a:ext cx="438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本次核准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635CC-CE5A-4E37-A267-2375C1B3DFBD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先完成可交付路線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7E20C2-2C7D-4F84-B511-AA1247133C8A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BCA4C3-7056-4CE6-A512-F2012A8697D5}"/>
              </a:ext>
            </a:extLst>
          </p:cNvPr>
          <p:cNvSpPr>
            <a:spLocks noGrp="1"/>
          </p:cNvSpPr>
          <p:nvPr/>
        </p:nvSpPr>
        <p:spPr>
          <a:xfrm>
            <a:off x="1028700" y="30003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TiDB Phase 0 技術補件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DE999B-C551-40FF-8928-9DDC7C694E10}"/>
              </a:ext>
            </a:extLst>
          </p:cNvPr>
          <p:cNvSpPr>
            <a:spLocks noGrp="1"/>
          </p:cNvSpPr>
          <p:nvPr/>
        </p:nvSpPr>
        <p:spPr>
          <a:xfrm>
            <a:off x="742950" y="34575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1ADC0-B1C6-4EA5-8EA3-47C9ACF58409}"/>
              </a:ext>
            </a:extLst>
          </p:cNvPr>
          <p:cNvSpPr>
            <a:spLocks noGrp="1"/>
          </p:cNvSpPr>
          <p:nvPr/>
        </p:nvSpPr>
        <p:spPr>
          <a:xfrm>
            <a:off x="1028700" y="34575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代表性 MySQL 應用 Pilot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54B1EB-861C-4FCD-B65E-B209AC348328}"/>
              </a:ext>
            </a:extLst>
          </p:cNvPr>
          <p:cNvSpPr>
            <a:spLocks noGrp="1"/>
          </p:cNvSpPr>
          <p:nvPr/>
        </p:nvSpPr>
        <p:spPr>
          <a:xfrm>
            <a:off x="742950" y="39147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02A034-B35B-4F97-AC1E-0A90B43E6A2B}"/>
              </a:ext>
            </a:extLst>
          </p:cNvPr>
          <p:cNvSpPr>
            <a:spLocks noGrp="1"/>
          </p:cNvSpPr>
          <p:nvPr/>
        </p:nvSpPr>
        <p:spPr>
          <a:xfrm>
            <a:off x="1028700" y="39147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通過後進入 IDC + EDC A/S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1340B9-516F-4D2C-AC1B-8A9887E5247A}"/>
              </a:ext>
            </a:extLst>
          </p:cNvPr>
          <p:cNvSpPr>
            <a:spLocks noGrp="1"/>
          </p:cNvSpPr>
          <p:nvPr/>
        </p:nvSpPr>
        <p:spPr>
          <a:xfrm>
            <a:off x="742950" y="43719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8079C0-37E1-462A-8E9C-12D9EE47E5D8}"/>
              </a:ext>
            </a:extLst>
          </p:cNvPr>
          <p:cNvSpPr>
            <a:spLocks noGrp="1"/>
          </p:cNvSpPr>
          <p:nvPr/>
        </p:nvSpPr>
        <p:spPr>
          <a:xfrm>
            <a:off x="1028700" y="43719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產品驗收後評估 A/A (RO)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1EC801-C736-4A73-A9BF-0477C6588343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5048250" cy="3857625"/>
          </a:xfrm>
          <a:prstGeom prst="rect">
            <a:avLst/>
          </a:prstGeom>
          <a:solidFill>
            <a:srgbClr val="FDECEC"/>
          </a:solidFill>
          <a:ln w="9525">
            <a:solidFill>
              <a:srgbClr val="C73E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A8E70D-F106-4390-94D8-60854CF375C5}"/>
              </a:ext>
            </a:extLst>
          </p:cNvPr>
          <p:cNvSpPr>
            <a:spLocks noGrp="1"/>
          </p:cNvSpPr>
          <p:nvPr/>
        </p:nvSpPr>
        <p:spPr>
          <a:xfrm>
            <a:off x="6438900" y="1905000"/>
            <a:ext cx="438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C73E3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C73E32"/>
                </a:solidFill>
                <a:latin typeface="PingFang TC"/>
                <a:ea typeface="PingFang TC"/>
                <a:cs typeface="PingFang TC"/>
              </a:rPr>
              <a:t>本次暫緩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3E72A4-636B-4321-B4DB-0D76B9861DF6}"/>
              </a:ext>
            </a:extLst>
          </p:cNvPr>
          <p:cNvSpPr>
            <a:spLocks noGrp="1"/>
          </p:cNvSpPr>
          <p:nvPr/>
        </p:nvSpPr>
        <p:spPr>
          <a:xfrm>
            <a:off x="6438900" y="24288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避免把未驗證當承諾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15E458-7D36-4E02-8F8A-7CB534403DF7}"/>
              </a:ext>
            </a:extLst>
          </p:cNvPr>
          <p:cNvSpPr>
            <a:spLocks noGrp="1"/>
          </p:cNvSpPr>
          <p:nvPr/>
        </p:nvSpPr>
        <p:spPr>
          <a:xfrm>
            <a:off x="6438900" y="30003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C73E32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C73E32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1F1DCC5-3711-4FFB-AC76-25BB4A65EEEF}"/>
              </a:ext>
            </a:extLst>
          </p:cNvPr>
          <p:cNvSpPr>
            <a:spLocks noGrp="1"/>
          </p:cNvSpPr>
          <p:nvPr/>
        </p:nvSpPr>
        <p:spPr>
          <a:xfrm>
            <a:off x="6724650" y="30003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S3 A/A 不納入規劃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74DE07-0C55-4224-B23F-A610FDB4C6B8}"/>
              </a:ext>
            </a:extLst>
          </p:cNvPr>
          <p:cNvSpPr>
            <a:spLocks noGrp="1"/>
          </p:cNvSpPr>
          <p:nvPr/>
        </p:nvSpPr>
        <p:spPr>
          <a:xfrm>
            <a:off x="6438900" y="34575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C73E32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C73E32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C4E2CB-2180-4266-91FA-F908F3155173}"/>
              </a:ext>
            </a:extLst>
          </p:cNvPr>
          <p:cNvSpPr>
            <a:spLocks noGrp="1"/>
          </p:cNvSpPr>
          <p:nvPr/>
        </p:nvSpPr>
        <p:spPr>
          <a:xfrm>
            <a:off x="6724650" y="34575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不承諾整區秒級接手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76725B-B894-4635-8393-7CA84920C8E7}"/>
              </a:ext>
            </a:extLst>
          </p:cNvPr>
          <p:cNvSpPr>
            <a:spLocks noGrp="1"/>
          </p:cNvSpPr>
          <p:nvPr/>
        </p:nvSpPr>
        <p:spPr>
          <a:xfrm>
            <a:off x="6438900" y="39147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C73E32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C73E32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3D87C9E-81F6-4CE4-AC47-ADC83D7938BD}"/>
              </a:ext>
            </a:extLst>
          </p:cNvPr>
          <p:cNvSpPr>
            <a:spLocks noGrp="1"/>
          </p:cNvSpPr>
          <p:nvPr/>
        </p:nvSpPr>
        <p:spPr>
          <a:xfrm>
            <a:off x="6724650" y="39147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Failover 不跨產品直接排名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2C131F-0873-4260-B479-F7728B14190A}"/>
              </a:ext>
            </a:extLst>
          </p:cNvPr>
          <p:cNvSpPr>
            <a:spLocks noGrp="1"/>
          </p:cNvSpPr>
          <p:nvPr/>
        </p:nvSpPr>
        <p:spPr>
          <a:xfrm>
            <a:off x="6438900" y="43719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C73E32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C73E32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A95C57-E5CB-4B0A-AD05-84A6DE7FE10D}"/>
              </a:ext>
            </a:extLst>
          </p:cNvPr>
          <p:cNvSpPr>
            <a:spLocks noGrp="1"/>
          </p:cNvSpPr>
          <p:nvPr/>
        </p:nvSpPr>
        <p:spPr>
          <a:xfrm>
            <a:off x="6724650" y="4371975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 路線待需求觸發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E5C748-B59F-4586-B942-A87AC85BD260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§3–§4；DISTRIBUTED-DB-SCORING.md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B564431-7971-46F3-8264-44608CADF5B1}"/>
              </a:ext>
            </a:extLst>
          </p:cNvPr>
          <p:cNvSpPr>
            <a:spLocks noGrp="1"/>
          </p:cNvSpPr>
          <p:nvPr/>
        </p:nvSpPr>
        <p:spPr>
          <a:xfrm>
            <a:off x="495300" y="5619750"/>
            <a:ext cx="10744200" cy="5143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最終建議：核准 Phase 0 ＋ MySQL Pilot；通過後才進入 A/S，A/A (RO) 由產品驗收結果決定。</a:t>
            </a:r>
          </a:p>
        </p:txBody>
      </p:sp>
    </p:spTree>
    <p:extLst>
      <p:ext uri="{BB962C8B-B14F-4D97-AF65-F5344CB8AC3E}">
        <p14:creationId xmlns:p14="http://schemas.microsoft.com/office/powerpoint/2010/main" val="29481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4A2FC06-450E-4253-AB3F-3B16716880B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OPERATING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99B607-DDCF-4212-89EB-E2381385F4A6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技術主線、產品服務化、維運後勤可以並行</a:t>
            </a:r>
          </a:p>
        </p:txBody>
      </p:sp>
      <p:cxnSp>
        <p:nvCxnSpPr>
          <p:cNvPr id="27" name="直線箭頭接點 2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95A3F048-88A2-45A9-8057-B871F1DF4665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7A8A4B-84C4-48E4-AA88-C3378F0139E4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333750" cy="37147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941BEF-5C97-4A25-A327-361372EF2EEA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3714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10BCDF-0605-4CCE-84E8-9916B9BA0A88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技術主線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985C52-90FC-4CF9-A834-0F9CC2C71EC5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87655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S0 IDC Only</a:t>
            </a:r>
          </a:p>
          <a:p>
            <a:pPr algn="l">
              <a:buNone/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→ S1 A/S</a:t>
            </a:r>
          </a:p>
          <a:p>
            <a:pPr algn="l">
              <a:buNone/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→ S2 A/A (RO)</a:t>
            </a:r>
          </a:p>
          <a:p>
            <a:endParaRPr sz="1575" b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  <a:p>
            <a:pPr algn="l">
              <a:buNone/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每一步皆須驗收，並可退場。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92ABD9-FD68-4253-8C17-DBAFEAF88EB1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3333750" cy="371475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49B693-A121-413E-BE44-323A03510573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66675" cy="3714750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36BEC3-68A3-467C-B97D-7A5774872029}"/>
              </a:ext>
            </a:extLst>
          </p:cNvPr>
          <p:cNvSpPr>
            <a:spLocks noGrp="1"/>
          </p:cNvSpPr>
          <p:nvPr/>
        </p:nvSpPr>
        <p:spPr>
          <a:xfrm>
            <a:off x="4276725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產品期待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1FAD88-68DA-466A-AD80-232D611C1853}"/>
              </a:ext>
            </a:extLst>
          </p:cNvPr>
          <p:cNvSpPr>
            <a:spLocks noGrp="1"/>
          </p:cNvSpPr>
          <p:nvPr/>
        </p:nvSpPr>
        <p:spPr>
          <a:xfrm>
            <a:off x="4276725" y="2305050"/>
            <a:ext cx="287655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B1 Database Self-Service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B2 DB 申請 CI/CD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B3 EDC 資源活化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B4 Observability</a:t>
            </a:r>
          </a:p>
          <a:p>
            <a:endParaRPr sz="1500" b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從 S0 起逐步交付。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ABBF8B-4AF3-4C70-B5B5-95A9250B515D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3638550" cy="37147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1D8B7C-1F9B-473F-9829-643838A221B9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66675" cy="37147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301831-B083-40D1-B0E3-E840EAA0A21E}"/>
              </a:ext>
            </a:extLst>
          </p:cNvPr>
          <p:cNvSpPr>
            <a:spLocks noGrp="1"/>
          </p:cNvSpPr>
          <p:nvPr/>
        </p:nvSpPr>
        <p:spPr>
          <a:xfrm>
            <a:off x="7829550" y="18669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維運後勤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C0BE5D-A8FA-47AA-AD83-B56A66AEE79F}"/>
              </a:ext>
            </a:extLst>
          </p:cNvPr>
          <p:cNvSpPr>
            <a:spLocks noGrp="1"/>
          </p:cNvSpPr>
          <p:nvPr/>
        </p:nvSpPr>
        <p:spPr>
          <a:xfrm>
            <a:off x="7829550" y="2305050"/>
            <a:ext cx="318135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自控：PITR、Online DDL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協作：相容性與隔離級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原廠：方案、SLA、升級</a:t>
            </a:r>
          </a:p>
          <a:p>
            <a:endParaRPr sz="1500" b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先建立能力，不預設採購。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C38EF6-F9A3-4C59-BA64-5B3ECCAA91A4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§3.1、§3.3、§3.4</a:t>
            </a:r>
          </a:p>
        </p:txBody>
      </p:sp>
    </p:spTree>
    <p:extLst>
      <p:ext uri="{BB962C8B-B14F-4D97-AF65-F5344CB8AC3E}">
        <p14:creationId xmlns:p14="http://schemas.microsoft.com/office/powerpoint/2010/main" val="87926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8E1B998-439D-C24C-BE48-7A087B91295D}"/>
              </a:ext>
            </a:extLst>
          </p:cNvPr>
          <p:cNvSpPr>
            <a:spLocks noGrp="1"/>
          </p:cNvSpPr>
          <p:nvPr/>
        </p:nvSpPr>
        <p:spPr>
          <a:xfrm>
            <a:off x="1137557" y="4759778"/>
            <a:ext cx="6381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Thanks.</a:t>
            </a:r>
          </a:p>
        </p:txBody>
      </p:sp>
    </p:spTree>
    <p:extLst>
      <p:ext uri="{BB962C8B-B14F-4D97-AF65-F5344CB8AC3E}">
        <p14:creationId xmlns:p14="http://schemas.microsoft.com/office/powerpoint/2010/main" val="30172489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1016</Words>
  <Application>Microsoft Macintosh PowerPoint</Application>
  <DocSecurity>0</DocSecurity>
  <PresentationFormat>寬螢幕</PresentationFormat>
  <Paragraphs>278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PingFang TC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Wn Lin 林武男</cp:lastModifiedBy>
  <cp:revision>1</cp:revision>
  <dcterms:created xsi:type="dcterms:W3CDTF">2026-08-28T04:48:30Z</dcterms:created>
  <dcterms:modified xsi:type="dcterms:W3CDTF">2026-08-28T04:54:32Z</dcterms:modified>
</cp:coreProperties>
</file>