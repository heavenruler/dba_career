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  <p:sldId id="264" r:id="rId9"/>
    <p:sldId id="266" r:id="rId10"/>
    <p:sldId id="268" r:id="rId11"/>
    <p:sldId id="269" r:id="rId12"/>
    <p:sldId id="270" r:id="rId13"/>
    <p:sldId id="267" r:id="rId14"/>
    <p:sldId id="274" r:id="rId15"/>
    <p:sldId id="271" r:id="rId16"/>
    <p:sldId id="260" r:id="rId17"/>
    <p:sldId id="265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60"/>
  </p:normalViewPr>
  <p:slideViewPr>
    <p:cSldViewPr snapToGrid="0">
      <p:cViewPr varScale="1">
        <p:scale>
          <a:sx n="118" d="100"/>
          <a:sy n="118" d="100"/>
        </p:scale>
        <p:origin x="2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67250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439D8B8-B63C-4071-BE8E-126C92B16256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SSD 技術審查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FEFF06-757C-4EC1-A83F-1550E143A736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95250" cy="31908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F2D98B-55D4-4335-94C3-E3D052EA50CA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6381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多寫多讀</a:t>
            </a:r>
            <a:endParaRPr sz="5100" b="1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  <a:p>
            <a:pPr algn="l">
              <a:def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混合雲</a:t>
            </a:r>
            <a:endParaRPr sz="5100" b="1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4D89D5-AFC8-4213-9CE7-F78E20D10A05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657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Y25 結案 × Y26 PoC 決策彙整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83A587-CC04-494C-B368-E159B1245B15}"/>
              </a:ext>
            </a:extLst>
          </p:cNvPr>
          <p:cNvSpPr>
            <a:spLocks noGrp="1"/>
          </p:cNvSpPr>
          <p:nvPr/>
        </p:nvSpPr>
        <p:spPr>
          <a:xfrm>
            <a:off x="895350" y="4362450"/>
            <a:ext cx="781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72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從多寫目標，收斂為可交付的</a:t>
            </a:r>
            <a:r>
              <a:rPr sz="1725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 A/S → A/A</a:t>
            </a:r>
            <a:r>
              <a:rPr lang="en-US" sz="1725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 (</a:t>
            </a:r>
            <a:r>
              <a:rPr lang="en" altLang="zh-TW" sz="1725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RO</a:t>
            </a:r>
            <a:r>
              <a:rPr lang="en-US" sz="1725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)</a:t>
            </a:r>
            <a:r>
              <a:rPr sz="1725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725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路線</a:t>
            </a:r>
            <a:endParaRPr sz="1725" b="1" dirty="0">
              <a:solidFill>
                <a:srgbClr val="2563EB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157941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243A429-4E64-46DC-83B4-7A6349DCAB9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EXECUTIVE ANSWER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F7F1D7-EF91-4C4E-ADE3-B3AD95EBD4E2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目標不變；交付路線改為</a:t>
            </a:r>
            <a:r>
              <a:rPr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A/S → A/A</a:t>
            </a:r>
            <a:r>
              <a:rPr lang="en-US"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(</a:t>
            </a:r>
            <a:r>
              <a:rPr lang="en" altLang="zh-TW"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RO</a:t>
            </a:r>
            <a:r>
              <a:rPr lang="en-US"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)</a:t>
            </a:r>
            <a:endParaRPr sz="3000" b="1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cxnSp>
        <p:nvCxnSpPr>
          <p:cNvPr id="23" name="直線箭頭接點 22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594F840-A002-4083-837D-0161F773417B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093E72-95F3-4D61-854B-BEB093FF628C}"/>
              </a:ext>
            </a:extLst>
          </p:cNvPr>
          <p:cNvSpPr>
            <a:spLocks noGrp="1"/>
          </p:cNvSpPr>
          <p:nvPr/>
        </p:nvSpPr>
        <p:spPr>
          <a:xfrm>
            <a:off x="495300" y="1571625"/>
            <a:ext cx="1123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lang="en" sz="1875" b="1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TiDB</a:t>
            </a:r>
            <a:r>
              <a:rPr lang="en" sz="1875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lang="zh-TW" altLang="en-US" sz="1875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是 </a:t>
            </a:r>
            <a:r>
              <a:rPr lang="en" sz="1875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MySQL </a:t>
            </a:r>
            <a:r>
              <a:rPr lang="zh-TW" altLang="en-US" sz="1875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相容的主線候選，但依現行架構規劃，</a:t>
            </a:r>
            <a:r>
              <a:rPr lang="en" sz="1875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A/A </a:t>
            </a:r>
            <a:r>
              <a:rPr lang="zh-TW" altLang="en-US" sz="1875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目前仍無法達成目標。</a:t>
            </a:r>
          </a:p>
          <a:p>
            <a:pPr algn="l">
              <a:defRPr sz="187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endParaRPr lang="zh-TW" altLang="en-US" sz="1875" b="1" dirty="0" err="1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5BC489-F790-4A5D-B80F-49D599A906CD}"/>
              </a:ext>
            </a:extLst>
          </p:cNvPr>
          <p:cNvSpPr>
            <a:spLocks noGrp="1"/>
          </p:cNvSpPr>
          <p:nvPr/>
        </p:nvSpPr>
        <p:spPr>
          <a:xfrm>
            <a:off x="495300" y="2381250"/>
            <a:ext cx="3429000" cy="228600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4BBC01-17DE-4F69-8FF2-5BC58B64791E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009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1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2.06×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5B8651-C93F-4EA4-A026-31C521ECA822}"/>
              </a:ext>
            </a:extLst>
          </p:cNvPr>
          <p:cNvSpPr>
            <a:spLocks noGrp="1"/>
          </p:cNvSpPr>
          <p:nvPr/>
        </p:nvSpPr>
        <p:spPr>
          <a:xfrm>
            <a:off x="704850" y="325755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TiDB 水平擴展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8599D8-AE4E-4216-9D7C-5EF31FE81084}"/>
              </a:ext>
            </a:extLst>
          </p:cNvPr>
          <p:cNvSpPr>
            <a:spLocks noGrp="1"/>
          </p:cNvSpPr>
          <p:nvPr/>
        </p:nvSpPr>
        <p:spPr>
          <a:xfrm>
            <a:off x="704850" y="3657600"/>
            <a:ext cx="30099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 node → 3 node HAProxy；四家最高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C86525-6284-4863-AE70-A355ADFFE6F2}"/>
              </a:ext>
            </a:extLst>
          </p:cNvPr>
          <p:cNvSpPr>
            <a:spLocks noGrp="1"/>
          </p:cNvSpPr>
          <p:nvPr/>
        </p:nvSpPr>
        <p:spPr>
          <a:xfrm>
            <a:off x="4152900" y="2381250"/>
            <a:ext cx="3429000" cy="228600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25155C-2B8D-4F7D-A3F5-30A135C45415}"/>
              </a:ext>
            </a:extLst>
          </p:cNvPr>
          <p:cNvSpPr>
            <a:spLocks noGrp="1"/>
          </p:cNvSpPr>
          <p:nvPr/>
        </p:nvSpPr>
        <p:spPr>
          <a:xfrm>
            <a:off x="4362450" y="2571750"/>
            <a:ext cx="3009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1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0.000%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30453C-9E1A-4392-A02C-1A20CF9898C4}"/>
              </a:ext>
            </a:extLst>
          </p:cNvPr>
          <p:cNvSpPr>
            <a:spLocks noGrp="1"/>
          </p:cNvSpPr>
          <p:nvPr/>
        </p:nvSpPr>
        <p:spPr>
          <a:xfrm>
            <a:off x="4362450" y="325755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高併發交易錯誤率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5F5F4A-712A-4461-BA7D-C45306DC1F84}"/>
              </a:ext>
            </a:extLst>
          </p:cNvPr>
          <p:cNvSpPr>
            <a:spLocks noGrp="1"/>
          </p:cNvSpPr>
          <p:nvPr/>
        </p:nvSpPr>
        <p:spPr>
          <a:xfrm>
            <a:off x="4362450" y="3657600"/>
            <a:ext cx="30099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t=128；五輪 range/mean 7.4%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B55E24-C756-4E44-93FD-6182A86D7BC9}"/>
              </a:ext>
            </a:extLst>
          </p:cNvPr>
          <p:cNvSpPr>
            <a:spLocks noGrp="1"/>
          </p:cNvSpPr>
          <p:nvPr/>
        </p:nvSpPr>
        <p:spPr>
          <a:xfrm>
            <a:off x="7810500" y="2381250"/>
            <a:ext cx="3429000" cy="228600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3AAA93-2B9E-40A9-B6EE-D82F980061CD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3009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31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 dirty="0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A/S → </a:t>
            </a:r>
            <a:r>
              <a:rPr lang="en" altLang="zh-TW" sz="3150" b="1" dirty="0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A/A (RO)</a:t>
            </a:r>
            <a:endParaRPr sz="3150" b="1" dirty="0">
              <a:solidFill>
                <a:srgbClr val="D97706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B38434-501A-419A-A5C3-C26C7E5B9D0D}"/>
              </a:ext>
            </a:extLst>
          </p:cNvPr>
          <p:cNvSpPr>
            <a:spLocks noGrp="1"/>
          </p:cNvSpPr>
          <p:nvPr/>
        </p:nvSpPr>
        <p:spPr>
          <a:xfrm>
            <a:off x="8020050" y="325755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跨區實務終點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A7D263-3334-4331-87AB-AA3303F0AB35}"/>
              </a:ext>
            </a:extLst>
          </p:cNvPr>
          <p:cNvSpPr>
            <a:spLocks noGrp="1"/>
          </p:cNvSpPr>
          <p:nvPr/>
        </p:nvSpPr>
        <p:spPr>
          <a:xfrm>
            <a:off x="8020050" y="3657600"/>
            <a:ext cx="30099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A/A 僅保留為條件式長期選項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D858A4-A1F3-40ED-A7E7-70EA9FCE7197}"/>
              </a:ext>
            </a:extLst>
          </p:cNvPr>
          <p:cNvSpPr>
            <a:spLocks noGrp="1"/>
          </p:cNvSpPr>
          <p:nvPr/>
        </p:nvSpPr>
        <p:spPr>
          <a:xfrm>
            <a:off x="495300" y="5000625"/>
            <a:ext cx="10744200" cy="1000125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919C967-081C-4BE5-8249-9248EC7707D0}"/>
              </a:ext>
            </a:extLst>
          </p:cNvPr>
          <p:cNvSpPr>
            <a:spLocks noGrp="1"/>
          </p:cNvSpPr>
          <p:nvPr/>
        </p:nvSpPr>
        <p:spPr>
          <a:xfrm>
            <a:off x="742950" y="5267325"/>
            <a:ext cx="10239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建議核准：Phase 0 技術補件 + 一個代表性 MySQL 應用 Pilot；通過後才進入跨區。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5688B70-82BD-4E13-B41C-F673A6683D10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§2.2、§2.4、§4</a:t>
            </a:r>
          </a:p>
        </p:txBody>
      </p:sp>
    </p:spTree>
    <p:extLst>
      <p:ext uri="{BB962C8B-B14F-4D97-AF65-F5344CB8AC3E}">
        <p14:creationId xmlns:p14="http://schemas.microsoft.com/office/powerpoint/2010/main" val="1194510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AF0A459-4E7E-421A-8143-EDA05CFC734C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NORTH STAR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5A5AB5-EEC5-4B74-898B-388C64189EC7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北極星沒變，只有達成方式被證據修正</a:t>
            </a:r>
          </a:p>
        </p:txBody>
      </p:sp>
      <p:cxnSp>
        <p:nvCxnSpPr>
          <p:cNvPr id="30" name="直線箭頭接點 29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A6C7D10-FF0F-45AA-81E4-13491ED28D63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53FBDF-A0F9-472C-8F8B-22BA30D6173B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333375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AE5F36-DA5E-4436-A709-742F5DBCBCFE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66675" cy="1809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DE9386-0416-4E6C-88DD-13F835EB7EFA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策略層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82ECAB-BC42-4EFE-B57F-BEDDEAC554D8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28765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隔離應用與基礎建設的直接關連，讓應用具備可攜性。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91A5AC-F3A8-49EC-BE9C-645755788B38}"/>
              </a:ext>
            </a:extLst>
          </p:cNvPr>
          <p:cNvSpPr>
            <a:spLocks noGrp="1"/>
          </p:cNvSpPr>
          <p:nvPr/>
        </p:nvSpPr>
        <p:spPr>
          <a:xfrm>
            <a:off x="4048125" y="1657350"/>
            <a:ext cx="333375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BC673B-89EF-45B6-AE92-4F14EAF011AC}"/>
              </a:ext>
            </a:extLst>
          </p:cNvPr>
          <p:cNvSpPr>
            <a:spLocks noGrp="1"/>
          </p:cNvSpPr>
          <p:nvPr/>
        </p:nvSpPr>
        <p:spPr>
          <a:xfrm>
            <a:off x="4048125" y="1657350"/>
            <a:ext cx="66675" cy="1809750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EFE48F-A3BA-4CC3-ADBD-3A25DA4967F0}"/>
              </a:ext>
            </a:extLst>
          </p:cNvPr>
          <p:cNvSpPr>
            <a:spLocks noGrp="1"/>
          </p:cNvSpPr>
          <p:nvPr/>
        </p:nvSpPr>
        <p:spPr>
          <a:xfrm>
            <a:off x="4276725" y="186690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業務層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3D820B-B2B0-4906-A8FD-7C61C31D05CE}"/>
              </a:ext>
            </a:extLst>
          </p:cNvPr>
          <p:cNvSpPr>
            <a:spLocks noGrp="1"/>
          </p:cNvSpPr>
          <p:nvPr/>
        </p:nvSpPr>
        <p:spPr>
          <a:xfrm>
            <a:off x="4276725" y="2305050"/>
            <a:ext cx="28765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期待封站或機房維護時，關鍵服務客戶不受影響。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22F8C9-DE6B-4B40-8BFC-84C119D8C865}"/>
              </a:ext>
            </a:extLst>
          </p:cNvPr>
          <p:cNvSpPr>
            <a:spLocks noGrp="1"/>
          </p:cNvSpPr>
          <p:nvPr/>
        </p:nvSpPr>
        <p:spPr>
          <a:xfrm>
            <a:off x="7600950" y="1657350"/>
            <a:ext cx="363855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3C92D3-5978-49A8-A910-A366F9108EAB}"/>
              </a:ext>
            </a:extLst>
          </p:cNvPr>
          <p:cNvSpPr>
            <a:spLocks noGrp="1"/>
          </p:cNvSpPr>
          <p:nvPr/>
        </p:nvSpPr>
        <p:spPr>
          <a:xfrm>
            <a:off x="7600950" y="1657350"/>
            <a:ext cx="66675" cy="1809750"/>
          </a:xfrm>
          <a:prstGeom prst="rect">
            <a:avLst/>
          </a:prstGeom>
          <a:solidFill>
            <a:srgbClr val="16803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862C7C-80C0-4909-B92E-67C2DFE09B17}"/>
              </a:ext>
            </a:extLst>
          </p:cNvPr>
          <p:cNvSpPr>
            <a:spLocks noGrp="1"/>
          </p:cNvSpPr>
          <p:nvPr/>
        </p:nvSpPr>
        <p:spPr>
          <a:xfrm>
            <a:off x="7829550" y="186690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維運層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86432A-50D0-4C07-9B93-13500D599F5E}"/>
              </a:ext>
            </a:extLst>
          </p:cNvPr>
          <p:cNvSpPr>
            <a:spLocks noGrp="1"/>
          </p:cNvSpPr>
          <p:nvPr/>
        </p:nvSpPr>
        <p:spPr>
          <a:xfrm>
            <a:off x="7829550" y="2305050"/>
            <a:ext cx="31813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停機維護是內部作業，不應轉嫁為客戶權益損失。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B2CF977-20AB-49F5-A50F-9641FE24F1E1}"/>
              </a:ext>
            </a:extLst>
          </p:cNvPr>
          <p:cNvSpPr>
            <a:spLocks noGrp="1"/>
          </p:cNvSpPr>
          <p:nvPr/>
        </p:nvSpPr>
        <p:spPr>
          <a:xfrm>
            <a:off x="514350" y="4029075"/>
            <a:ext cx="1238250" cy="304800"/>
          </a:xfrm>
          <a:prstGeom prst="rect">
            <a:avLst/>
          </a:prstGeom>
          <a:solidFill>
            <a:srgbClr val="66708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56CABE7-E345-4783-AEB3-2EAEE542AE9B}"/>
              </a:ext>
            </a:extLst>
          </p:cNvPr>
          <p:cNvSpPr>
            <a:spLocks noGrp="1"/>
          </p:cNvSpPr>
          <p:nvPr/>
        </p:nvSpPr>
        <p:spPr>
          <a:xfrm>
            <a:off x="514350" y="40767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Y25 原訂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2002DBD-3AB5-4C44-9C1F-0DAFE19A9707}"/>
              </a:ext>
            </a:extLst>
          </p:cNvPr>
          <p:cNvSpPr>
            <a:spLocks noGrp="1"/>
          </p:cNvSpPr>
          <p:nvPr/>
        </p:nvSpPr>
        <p:spPr>
          <a:xfrm>
            <a:off x="1885950" y="3971925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A/A 雙區同時寫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1F7AF7-07D1-4E46-8978-357D19D9D455}"/>
              </a:ext>
            </a:extLst>
          </p:cNvPr>
          <p:cNvSpPr>
            <a:spLocks noGrp="1"/>
          </p:cNvSpPr>
          <p:nvPr/>
        </p:nvSpPr>
        <p:spPr>
          <a:xfrm>
            <a:off x="4876800" y="3971925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4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A3B46F-5CB7-40C0-A979-706AFD1B77AA}"/>
              </a:ext>
            </a:extLst>
          </p:cNvPr>
          <p:cNvSpPr>
            <a:spLocks noGrp="1"/>
          </p:cNvSpPr>
          <p:nvPr/>
        </p:nvSpPr>
        <p:spPr>
          <a:xfrm>
            <a:off x="5572125" y="4029075"/>
            <a:ext cx="1238250" cy="304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6451858-7571-4B1D-915E-0D22F726333D}"/>
              </a:ext>
            </a:extLst>
          </p:cNvPr>
          <p:cNvSpPr>
            <a:spLocks noGrp="1"/>
          </p:cNvSpPr>
          <p:nvPr/>
        </p:nvSpPr>
        <p:spPr>
          <a:xfrm>
            <a:off x="5572125" y="40767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Y26 修正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CD2B12-4427-4B13-8B1D-EC48D22E8D64}"/>
              </a:ext>
            </a:extLst>
          </p:cNvPr>
          <p:cNvSpPr>
            <a:spLocks noGrp="1"/>
          </p:cNvSpPr>
          <p:nvPr/>
        </p:nvSpPr>
        <p:spPr>
          <a:xfrm>
            <a:off x="6953250" y="3971925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21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A/S </a:t>
            </a:r>
            <a:r>
              <a:rPr sz="2100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單寫</a:t>
            </a:r>
            <a:r>
              <a:rPr sz="21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 + A/A</a:t>
            </a:r>
            <a:r>
              <a:rPr lang="en-US" sz="21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 (</a:t>
            </a:r>
            <a:r>
              <a:rPr lang="en" altLang="zh-TW" sz="21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RO</a:t>
            </a:r>
            <a:r>
              <a:rPr lang="en-US" sz="21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)</a:t>
            </a:r>
            <a:r>
              <a:rPr sz="21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2100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就近讀</a:t>
            </a:r>
            <a:endParaRPr sz="2100" b="1" dirty="0">
              <a:solidFill>
                <a:srgbClr val="2563EB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3866E4D-40FF-4B43-AA5A-CD01E05DC1AB}"/>
              </a:ext>
            </a:extLst>
          </p:cNvPr>
          <p:cNvSpPr>
            <a:spLocks noGrp="1"/>
          </p:cNvSpPr>
          <p:nvPr/>
        </p:nvSpPr>
        <p:spPr>
          <a:xfrm>
            <a:off x="495300" y="4819650"/>
            <a:ext cx="10744200" cy="104775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E735ED2-BED6-45D2-87EA-7E903F0DFFFF}"/>
              </a:ext>
            </a:extLst>
          </p:cNvPr>
          <p:cNvSpPr>
            <a:spLocks noGrp="1"/>
          </p:cNvSpPr>
          <p:nvPr/>
        </p:nvSpPr>
        <p:spPr>
          <a:xfrm>
            <a:off x="742950" y="5143500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l"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1650" b="1" dirty="0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本交付路線仍待驗收；</a:t>
            </a:r>
            <a:r>
              <a:rPr lang="en" sz="1650" b="1" dirty="0" err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Failover、staleness</a:t>
            </a:r>
            <a:r>
              <a:rPr lang="en" sz="1650" b="1" dirty="0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lang="zh-TW" altLang="en-US" sz="1650" b="1" dirty="0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與 </a:t>
            </a:r>
            <a:r>
              <a:rPr lang="en" sz="1650" b="1" dirty="0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fallback </a:t>
            </a:r>
            <a:r>
              <a:rPr lang="zh-TW" altLang="en-US" sz="1650" b="1" dirty="0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機制的成效，</a:t>
            </a:r>
            <a:endParaRPr lang="en-US" altLang="zh-TW" sz="1650" b="1" dirty="0">
              <a:solidFill>
                <a:srgbClr val="D97706"/>
              </a:solidFill>
              <a:latin typeface="PingFang TC"/>
              <a:ea typeface="PingFang TC"/>
              <a:cs typeface="PingFang TC"/>
            </a:endParaRPr>
          </a:p>
          <a:p>
            <a:pPr algn="l"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1650" b="1" dirty="0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尚需於產品上線後，結合實際運作情境持續評估。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3D115C-D895-448C-8F62-EB6EE2A3D091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§0.1–§0.3</a:t>
            </a:r>
          </a:p>
        </p:txBody>
      </p:sp>
    </p:spTree>
    <p:extLst>
      <p:ext uri="{BB962C8B-B14F-4D97-AF65-F5344CB8AC3E}">
        <p14:creationId xmlns:p14="http://schemas.microsoft.com/office/powerpoint/2010/main" val="1029908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6EE5A87-935C-4E6B-B2E5-553C9403EF9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WHY NOT A/A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2AD2ED-FA70-4D68-8F24-4F44C5940541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lang="en-US" sz="3000" b="1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目前雙活機房架構</a:t>
            </a:r>
            <a:r>
              <a:rPr lang="en-US"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(</a:t>
            </a:r>
            <a:r>
              <a:rPr lang="en" altLang="zh-TW"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A/A</a:t>
            </a:r>
            <a:r>
              <a:rPr lang="en-US"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)</a:t>
            </a:r>
            <a:r>
              <a:rPr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lang="en-US" sz="3000" b="1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仍有</a:t>
            </a:r>
            <a:r>
              <a:rPr sz="3000" b="1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阻礙</a:t>
            </a:r>
            <a:endParaRPr sz="3000" b="1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cxnSp>
        <p:nvCxnSpPr>
          <p:cNvPr id="26" name="直線箭頭接點 25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88ADA7D-77BB-4E5B-B7B4-10C67097FF55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BEE5BA-54B4-4977-B777-D7A24BAEA532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2476500" cy="314325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76B42E-5F62-409A-9AC6-7C2C959A1FD9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66675" cy="3143250"/>
          </a:xfrm>
          <a:prstGeom prst="rect">
            <a:avLst/>
          </a:prstGeom>
          <a:solidFill>
            <a:srgbClr val="C2413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5420A6-4FB1-40F3-8F64-5CFF7C0165A0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應用組件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CA92E7-BDE8-40E2-9D7A-F55EAA5D2C98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20193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Memcache</a:t>
            </a:r>
            <a:r>
              <a:rPr sz="1425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不支援</a:t>
            </a:r>
            <a:r>
              <a:rPr sz="1425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A</a:t>
            </a:r>
            <a:r>
              <a:rPr lang="en-US" sz="1425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/</a:t>
            </a:r>
            <a:r>
              <a:rPr sz="1425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A </a:t>
            </a:r>
            <a:r>
              <a:rPr sz="1425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mode；OMS</a:t>
            </a:r>
            <a:r>
              <a:rPr sz="1425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425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寫檔寄信需改</a:t>
            </a:r>
            <a:r>
              <a:rPr sz="1425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SMTP。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9A41BE-7F5B-4CF9-9159-2F2253891FC8}"/>
              </a:ext>
            </a:extLst>
          </p:cNvPr>
          <p:cNvSpPr>
            <a:spLocks noGrp="1"/>
          </p:cNvSpPr>
          <p:nvPr/>
        </p:nvSpPr>
        <p:spPr>
          <a:xfrm>
            <a:off x="3181350" y="1657350"/>
            <a:ext cx="2476500" cy="314325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F3243A-834B-4966-802E-5E246DA8608C}"/>
              </a:ext>
            </a:extLst>
          </p:cNvPr>
          <p:cNvSpPr>
            <a:spLocks noGrp="1"/>
          </p:cNvSpPr>
          <p:nvPr/>
        </p:nvSpPr>
        <p:spPr>
          <a:xfrm>
            <a:off x="3181350" y="1657350"/>
            <a:ext cx="66675" cy="3143250"/>
          </a:xfrm>
          <a:prstGeom prst="rect">
            <a:avLst/>
          </a:prstGeom>
          <a:solidFill>
            <a:srgbClr val="C2413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3E877E-E08F-45BF-A50C-2B78144CEFF0}"/>
              </a:ext>
            </a:extLst>
          </p:cNvPr>
          <p:cNvSpPr>
            <a:spLocks noGrp="1"/>
          </p:cNvSpPr>
          <p:nvPr/>
        </p:nvSpPr>
        <p:spPr>
          <a:xfrm>
            <a:off x="3409950" y="18669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儲存與網路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2F9B70-1E64-40DA-B24E-D790F50F0D1E}"/>
              </a:ext>
            </a:extLst>
          </p:cNvPr>
          <p:cNvSpPr>
            <a:spLocks noGrp="1"/>
          </p:cNvSpPr>
          <p:nvPr/>
        </p:nvSpPr>
        <p:spPr>
          <a:xfrm>
            <a:off x="3409950" y="2305050"/>
            <a:ext cx="20193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NetApp 部分檔案無法轉入；F5 sticky 失效；GCP SLB 無 Ignore-TCP-MSL。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7BBD3C-5C1C-450C-BD9F-1FB6303A1C19}"/>
              </a:ext>
            </a:extLst>
          </p:cNvPr>
          <p:cNvSpPr>
            <a:spLocks noGrp="1"/>
          </p:cNvSpPr>
          <p:nvPr/>
        </p:nvSpPr>
        <p:spPr>
          <a:xfrm>
            <a:off x="5867400" y="1657350"/>
            <a:ext cx="2476500" cy="314325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095F26-204A-43D9-976B-0E950468CC9E}"/>
              </a:ext>
            </a:extLst>
          </p:cNvPr>
          <p:cNvSpPr>
            <a:spLocks noGrp="1"/>
          </p:cNvSpPr>
          <p:nvPr/>
        </p:nvSpPr>
        <p:spPr>
          <a:xfrm>
            <a:off x="5867400" y="1657350"/>
            <a:ext cx="66675" cy="31432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B40A90-F9C7-4875-B282-242F4C52D517}"/>
              </a:ext>
            </a:extLst>
          </p:cNvPr>
          <p:cNvSpPr>
            <a:spLocks noGrp="1"/>
          </p:cNvSpPr>
          <p:nvPr/>
        </p:nvSpPr>
        <p:spPr>
          <a:xfrm>
            <a:off x="6096000" y="18669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故障域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1C42DA-0D38-41A6-B2E7-9CAB50947A47}"/>
              </a:ext>
            </a:extLst>
          </p:cNvPr>
          <p:cNvSpPr>
            <a:spLocks noGrp="1"/>
          </p:cNvSpPr>
          <p:nvPr/>
        </p:nvSpPr>
        <p:spPr>
          <a:xfrm>
            <a:off x="6096000" y="2305050"/>
            <a:ext cx="20193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1425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複本數</a:t>
            </a:r>
            <a:r>
              <a:rPr lang="en-US" altLang="zh-TW" sz="1425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(</a:t>
            </a:r>
            <a:r>
              <a:rPr lang="en" altLang="zh-TW" sz="1425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RF</a:t>
            </a:r>
            <a:r>
              <a:rPr lang="en-US" altLang="zh-TW" sz="1425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)</a:t>
            </a:r>
            <a:r>
              <a:rPr sz="1425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=3 </a:t>
            </a:r>
            <a:r>
              <a:rPr sz="1425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只有</a:t>
            </a:r>
            <a:r>
              <a:rPr sz="1425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IDC＋EDC </a:t>
            </a:r>
            <a:r>
              <a:rPr sz="1425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兩個</a:t>
            </a:r>
            <a:r>
              <a:rPr sz="1425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failure </a:t>
            </a:r>
            <a:r>
              <a:rPr sz="1425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domain，整區故障秒級接手無法</a:t>
            </a:r>
            <a:r>
              <a:rPr lang="en-US" sz="1425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科學</a:t>
            </a:r>
            <a:r>
              <a:rPr sz="1425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保證</a:t>
            </a:r>
            <a:r>
              <a:rPr lang="zh-TW" altLang="en-US" sz="1425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，仍待規劃合理最佳實踐。</a:t>
            </a:r>
            <a:endParaRPr sz="1425" b="0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CDD6D4B-7627-4F5C-AFA3-73638AB1E1C6}"/>
              </a:ext>
            </a:extLst>
          </p:cNvPr>
          <p:cNvSpPr>
            <a:spLocks noGrp="1"/>
          </p:cNvSpPr>
          <p:nvPr/>
        </p:nvSpPr>
        <p:spPr>
          <a:xfrm>
            <a:off x="8553450" y="1657350"/>
            <a:ext cx="2686050" cy="314325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C471BE-D4E3-4073-B845-8A48E1AB8AAE}"/>
              </a:ext>
            </a:extLst>
          </p:cNvPr>
          <p:cNvSpPr>
            <a:spLocks noGrp="1"/>
          </p:cNvSpPr>
          <p:nvPr/>
        </p:nvSpPr>
        <p:spPr>
          <a:xfrm>
            <a:off x="8553450" y="1657350"/>
            <a:ext cx="66675" cy="31432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8B7C20-5158-4ABF-B300-8EE8A16E66A3}"/>
              </a:ext>
            </a:extLst>
          </p:cNvPr>
          <p:cNvSpPr>
            <a:spLocks noGrp="1"/>
          </p:cNvSpPr>
          <p:nvPr/>
        </p:nvSpPr>
        <p:spPr>
          <a:xfrm>
            <a:off x="8782050" y="1866900"/>
            <a:ext cx="2228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專線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1C7228-8002-44B4-B661-6F52C9A516D9}"/>
              </a:ext>
            </a:extLst>
          </p:cNvPr>
          <p:cNvSpPr>
            <a:spLocks noGrp="1"/>
          </p:cNvSpPr>
          <p:nvPr/>
        </p:nvSpPr>
        <p:spPr>
          <a:xfrm>
            <a:off x="8782050" y="2305050"/>
            <a:ext cx="222885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lang="en-US" sz="1425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Y26 PoC </a:t>
            </a:r>
            <a:r>
              <a:rPr lang="en-US" sz="1425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僅使用</a:t>
            </a:r>
            <a:r>
              <a:rPr lang="zh-TW" altLang="en-US" sz="1425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lang="en-US" altLang="zh-TW" sz="1425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VPN </a:t>
            </a:r>
            <a:r>
              <a:rPr sz="1425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RTT 8.5 </a:t>
            </a:r>
            <a:r>
              <a:rPr sz="1425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ms、探測</a:t>
            </a:r>
            <a:r>
              <a:rPr sz="1425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190–227 </a:t>
            </a:r>
            <a:r>
              <a:rPr sz="1425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Mbps；正式專線投資與可用性仍待確認</a:t>
            </a:r>
            <a:r>
              <a:rPr sz="1425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77849E-8E33-4F93-BF23-4ED6FAF88634}"/>
              </a:ext>
            </a:extLst>
          </p:cNvPr>
          <p:cNvSpPr>
            <a:spLocks noGrp="1"/>
          </p:cNvSpPr>
          <p:nvPr/>
        </p:nvSpPr>
        <p:spPr>
          <a:xfrm>
            <a:off x="495300" y="5095875"/>
            <a:ext cx="10744200" cy="8191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629C6DB-0D39-461F-A073-3C62638DBEA4}"/>
              </a:ext>
            </a:extLst>
          </p:cNvPr>
          <p:cNvSpPr>
            <a:spLocks noGrp="1"/>
          </p:cNvSpPr>
          <p:nvPr/>
        </p:nvSpPr>
        <p:spPr>
          <a:xfrm>
            <a:off x="762000" y="5314950"/>
            <a:ext cx="1022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結論：先把</a:t>
            </a:r>
            <a:r>
              <a:rPr sz="18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 A/S </a:t>
            </a:r>
            <a:r>
              <a:rPr sz="1800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與</a:t>
            </a:r>
            <a:r>
              <a:rPr sz="18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 A/A</a:t>
            </a:r>
            <a:r>
              <a:rPr lang="en-US" sz="18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 (</a:t>
            </a:r>
            <a:r>
              <a:rPr lang="en" altLang="zh-TW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RO</a:t>
            </a:r>
            <a:r>
              <a:rPr lang="en-US" sz="18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)</a:t>
            </a:r>
            <a:r>
              <a:rPr sz="18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800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做成可營運能力</a:t>
            </a:r>
            <a:r>
              <a:rPr sz="18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；</a:t>
            </a:r>
            <a:r>
              <a:rPr lang="zh-TW" altLang="en-US" sz="18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雙活機房架構</a:t>
            </a:r>
            <a:r>
              <a:rPr sz="1800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保留為條件式選項</a:t>
            </a:r>
            <a:r>
              <a:rPr sz="18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E98212C-2ECA-4F84-BBBF-78D4B81A02EE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§1.3、§2.3</a:t>
            </a:r>
          </a:p>
        </p:txBody>
      </p:sp>
    </p:spTree>
    <p:extLst>
      <p:ext uri="{BB962C8B-B14F-4D97-AF65-F5344CB8AC3E}">
        <p14:creationId xmlns:p14="http://schemas.microsoft.com/office/powerpoint/2010/main" val="594989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0619CF6-B8B7-4BA6-B653-7B91A8455AD9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Y25 → Y26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BABCF7-8C8A-446D-9FD6-B1491B350024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兩年工作把願景逐步轉成可驗收路線</a:t>
            </a:r>
          </a:p>
        </p:txBody>
      </p:sp>
      <p:cxnSp>
        <p:nvCxnSpPr>
          <p:cNvPr id="27" name="直線箭頭接點 26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BBC5E39A-06BA-45CB-850D-069EFC2726E1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cxnSp>
        <p:nvCxnSpPr>
          <p:cNvPr id="29" name="直線箭頭接點 28"/>
          <p:cNvCxnSpPr/>
          <p:nvPr/>
        </p:nvCxnSpPr>
        <p:spPr>
          <a:xfrm>
            <a:off x="857250" y="3314700"/>
            <a:ext cx="1028700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</a:ln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02F8AD20-873B-42EF-9C26-D6C5D5ACFF47}"/>
              </a:ext>
            </a:extLst>
          </p:cNvPr>
          <p:cNvSpPr>
            <a:spLocks noGrp="1"/>
          </p:cNvSpPr>
          <p:nvPr/>
        </p:nvSpPr>
        <p:spPr>
          <a:xfrm>
            <a:off x="1143000" y="3219450"/>
            <a:ext cx="171450" cy="1714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2BC680-B261-4311-A356-13AD71664939}"/>
              </a:ext>
            </a:extLst>
          </p:cNvPr>
          <p:cNvSpPr>
            <a:spLocks noGrp="1"/>
          </p:cNvSpPr>
          <p:nvPr/>
        </p:nvSpPr>
        <p:spPr>
          <a:xfrm>
            <a:off x="99060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2024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EA845A-2166-49C8-913E-0F50FFB8AB8F}"/>
              </a:ext>
            </a:extLst>
          </p:cNvPr>
          <p:cNvSpPr>
            <a:spLocks noGrp="1"/>
          </p:cNvSpPr>
          <p:nvPr/>
        </p:nvSpPr>
        <p:spPr>
          <a:xfrm>
            <a:off x="99060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先降低單點影響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F1316A-4D6E-4352-BCF1-149BF696F493}"/>
              </a:ext>
            </a:extLst>
          </p:cNvPr>
          <p:cNvSpPr>
            <a:spLocks noGrp="1"/>
          </p:cNvSpPr>
          <p:nvPr/>
        </p:nvSpPr>
        <p:spPr>
          <a:xfrm>
            <a:off x="99060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Service Mesh 與 AC 雲地部署</a:t>
            </a:r>
          </a:p>
          <a:p>
            <a:pPr algn="l"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資料一寫多讀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E4B4B0-AEE4-4FFF-A808-410E48ADF371}"/>
              </a:ext>
            </a:extLst>
          </p:cNvPr>
          <p:cNvSpPr>
            <a:spLocks noGrp="1"/>
          </p:cNvSpPr>
          <p:nvPr/>
        </p:nvSpPr>
        <p:spPr>
          <a:xfrm>
            <a:off x="3714750" y="3219450"/>
            <a:ext cx="171450" cy="1714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6FDE6A-82E4-43C0-AA09-097F8E986FC6}"/>
              </a:ext>
            </a:extLst>
          </p:cNvPr>
          <p:cNvSpPr>
            <a:spLocks noGrp="1"/>
          </p:cNvSpPr>
          <p:nvPr/>
        </p:nvSpPr>
        <p:spPr>
          <a:xfrm>
            <a:off x="356235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Y25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9B446F-E819-46CF-A13D-A90EFCE22C8A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驗證跨雲組件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A24354-F16E-4755-A429-C78165D8B708}"/>
              </a:ext>
            </a:extLst>
          </p:cNvPr>
          <p:cNvSpPr>
            <a:spLocks noGrp="1"/>
          </p:cNvSpPr>
          <p:nvPr/>
        </p:nvSpPr>
        <p:spPr>
          <a:xfrm>
            <a:off x="356235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Cloudflare LB 通過</a:t>
            </a:r>
          </a:p>
          <a:p>
            <a:pPr algn="l"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ac-api 測至 STG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7F37E0-06DC-4C86-81C1-A993B67B85C1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171450" cy="1714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F18B8D-18D8-44AB-A5A9-9B847736631C}"/>
              </a:ext>
            </a:extLst>
          </p:cNvPr>
          <p:cNvSpPr>
            <a:spLocks noGrp="1"/>
          </p:cNvSpPr>
          <p:nvPr/>
        </p:nvSpPr>
        <p:spPr>
          <a:xfrm>
            <a:off x="613410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Y26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A6C3D6-F227-48EA-8C32-DA0A6D7D8AF1}"/>
              </a:ext>
            </a:extLst>
          </p:cNvPr>
          <p:cNvSpPr>
            <a:spLocks noGrp="1"/>
          </p:cNvSpPr>
          <p:nvPr/>
        </p:nvSpPr>
        <p:spPr>
          <a:xfrm>
            <a:off x="613410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四家資料庫實測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F5AAD6C-FD8C-4E9A-8811-FBC4271F9A8C}"/>
              </a:ext>
            </a:extLst>
          </p:cNvPr>
          <p:cNvSpPr>
            <a:spLocks noGrp="1"/>
          </p:cNvSpPr>
          <p:nvPr/>
        </p:nvSpPr>
        <p:spPr>
          <a:xfrm>
            <a:off x="613410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S-BASE、K8s、X-CROSS</a:t>
            </a:r>
          </a:p>
          <a:p>
            <a:pPr algn="l"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Chaos／Failover／Galera 對照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F8FD85-AE91-46D4-87DA-0FF79649F13C}"/>
              </a:ext>
            </a:extLst>
          </p:cNvPr>
          <p:cNvSpPr>
            <a:spLocks noGrp="1"/>
          </p:cNvSpPr>
          <p:nvPr/>
        </p:nvSpPr>
        <p:spPr>
          <a:xfrm>
            <a:off x="8858250" y="3219450"/>
            <a:ext cx="171450" cy="1714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FEA3E62-A410-4E3C-A6D7-34EFE5C13A5F}"/>
              </a:ext>
            </a:extLst>
          </p:cNvPr>
          <p:cNvSpPr>
            <a:spLocks noGrp="1"/>
          </p:cNvSpPr>
          <p:nvPr/>
        </p:nvSpPr>
        <p:spPr>
          <a:xfrm>
            <a:off x="870585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NEXT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03FFC4-3C2C-4FD3-87F4-E0A0450DBC38}"/>
              </a:ext>
            </a:extLst>
          </p:cNvPr>
          <p:cNvSpPr>
            <a:spLocks noGrp="1"/>
          </p:cNvSpPr>
          <p:nvPr/>
        </p:nvSpPr>
        <p:spPr>
          <a:xfrm>
            <a:off x="870585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分階段交付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1EFFA0A-29FB-4056-8C20-C46CD013C177}"/>
              </a:ext>
            </a:extLst>
          </p:cNvPr>
          <p:cNvSpPr>
            <a:spLocks noGrp="1"/>
          </p:cNvSpPr>
          <p:nvPr/>
        </p:nvSpPr>
        <p:spPr>
          <a:xfrm>
            <a:off x="870585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Phase 0 → S0 Pilot</a:t>
            </a:r>
          </a:p>
          <a:p>
            <a:pPr algn="l"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→ S1 A/S → S2 A/A-RO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1AB56ED-5F5D-4536-985A-119E3ED4163C}"/>
              </a:ext>
            </a:extLst>
          </p:cNvPr>
          <p:cNvSpPr>
            <a:spLocks noGrp="1"/>
          </p:cNvSpPr>
          <p:nvPr/>
        </p:nvSpPr>
        <p:spPr>
          <a:xfrm>
            <a:off x="857250" y="5324475"/>
            <a:ext cx="10287000" cy="6286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7BF43C3-814F-49B6-B1F3-CC3ED237FD17}"/>
              </a:ext>
            </a:extLst>
          </p:cNvPr>
          <p:cNvSpPr>
            <a:spLocks noGrp="1"/>
          </p:cNvSpPr>
          <p:nvPr/>
        </p:nvSpPr>
        <p:spPr>
          <a:xfrm>
            <a:off x="1104900" y="5514975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關鍵轉折：Y25 證明應用改造與流量導向可行；Y26 證明資料庫主線與端到端限制。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F5D32FF-5A84-4C22-86EC-AFC6C0E56E18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來源：Y25_多寫多讀POC_摘要、MILESTONES、SLIDE-BRIEF-2026 §1</a:t>
            </a:r>
          </a:p>
        </p:txBody>
      </p:sp>
    </p:spTree>
    <p:extLst>
      <p:ext uri="{BB962C8B-B14F-4D97-AF65-F5344CB8AC3E}">
        <p14:creationId xmlns:p14="http://schemas.microsoft.com/office/powerpoint/2010/main" val="131456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51A6A52-D5C4-481F-AC5F-C60673C7351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CANDIDATE ROLES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926B52-2145-4A4C-8DAD-C5BCBB464925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四家不是同一賽道：先按協定與使用情境定位</a:t>
            </a:r>
          </a:p>
        </p:txBody>
      </p:sp>
      <p:cxnSp>
        <p:nvCxnSpPr>
          <p:cNvPr id="33" name="直線箭頭接點 32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D8DFED0-847B-4D03-B329-094C4CFE6ABB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86FFD7-E5F1-4537-8E0E-0152CD3E8EAD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10744200" cy="80010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0C0080-9151-46FD-A4EC-3507F6AA4354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76200" cy="800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CE742A-6926-4EB7-BF44-08AC5699FCAD}"/>
              </a:ext>
            </a:extLst>
          </p:cNvPr>
          <p:cNvSpPr>
            <a:spLocks noGrp="1"/>
          </p:cNvSpPr>
          <p:nvPr/>
        </p:nvSpPr>
        <p:spPr>
          <a:xfrm>
            <a:off x="781050" y="182880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TiDB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AEE7BC-469F-42BF-8C6C-8254DC458E53}"/>
              </a:ext>
            </a:extLst>
          </p:cNvPr>
          <p:cNvSpPr>
            <a:spLocks noGrp="1"/>
          </p:cNvSpPr>
          <p:nvPr/>
        </p:nvSpPr>
        <p:spPr>
          <a:xfrm>
            <a:off x="3143250" y="185737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MySQL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74C533-EE1E-43C2-80C4-87668887FD7B}"/>
              </a:ext>
            </a:extLst>
          </p:cNvPr>
          <p:cNvSpPr>
            <a:spLocks noGrp="1"/>
          </p:cNvSpPr>
          <p:nvPr/>
        </p:nvSpPr>
        <p:spPr>
          <a:xfrm>
            <a:off x="5048250" y="185737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主線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B64DC7-53BF-4FAE-8E6C-96740615069F}"/>
              </a:ext>
            </a:extLst>
          </p:cNvPr>
          <p:cNvSpPr>
            <a:spLocks noGrp="1"/>
          </p:cNvSpPr>
          <p:nvPr/>
        </p:nvSpPr>
        <p:spPr>
          <a:xfrm>
            <a:off x="6381750" y="18288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水平擴展、跨區 A/S／就近讀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2CCC4B-9E03-4058-8039-8EA7370EF977}"/>
              </a:ext>
            </a:extLst>
          </p:cNvPr>
          <p:cNvSpPr>
            <a:spLocks noGrp="1"/>
          </p:cNvSpPr>
          <p:nvPr/>
        </p:nvSpPr>
        <p:spPr>
          <a:xfrm>
            <a:off x="495300" y="2619375"/>
            <a:ext cx="10744200" cy="80010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B7B6E9-DB35-478D-BF03-079B2024A1A9}"/>
              </a:ext>
            </a:extLst>
          </p:cNvPr>
          <p:cNvSpPr>
            <a:spLocks noGrp="1"/>
          </p:cNvSpPr>
          <p:nvPr/>
        </p:nvSpPr>
        <p:spPr>
          <a:xfrm>
            <a:off x="495300" y="2619375"/>
            <a:ext cx="76200" cy="80010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AF272F-2F51-4A1A-880F-21E393F44491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PXC / Galera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67A5F8-113C-4E5D-94FD-6B01DE57CCC8}"/>
              </a:ext>
            </a:extLst>
          </p:cNvPr>
          <p:cNvSpPr>
            <a:spLocks noGrp="1"/>
          </p:cNvSpPr>
          <p:nvPr/>
        </p:nvSpPr>
        <p:spPr>
          <a:xfrm>
            <a:off x="3143250" y="2857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MySQL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F60F12-1B31-4531-A247-59837DC171FC}"/>
              </a:ext>
            </a:extLst>
          </p:cNvPr>
          <p:cNvSpPr>
            <a:spLocks noGrp="1"/>
          </p:cNvSpPr>
          <p:nvPr/>
        </p:nvSpPr>
        <p:spPr>
          <a:xfrm>
            <a:off x="5048250" y="285750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對照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64BFEF-0EF0-473C-8A53-C2872DF6551F}"/>
              </a:ext>
            </a:extLst>
          </p:cNvPr>
          <p:cNvSpPr>
            <a:spLocks noGrp="1"/>
          </p:cNvSpPr>
          <p:nvPr/>
        </p:nvSpPr>
        <p:spPr>
          <a:xfrm>
            <a:off x="6381750" y="282892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單寫、單機房、低延遲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9EF077-B582-4F05-9D4A-D05FA83B1A60}"/>
              </a:ext>
            </a:extLst>
          </p:cNvPr>
          <p:cNvSpPr>
            <a:spLocks noGrp="1"/>
          </p:cNvSpPr>
          <p:nvPr/>
        </p:nvSpPr>
        <p:spPr>
          <a:xfrm>
            <a:off x="495300" y="3619500"/>
            <a:ext cx="10744200" cy="80010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B4603A0-BA64-41F4-B8C6-544AAB78672E}"/>
              </a:ext>
            </a:extLst>
          </p:cNvPr>
          <p:cNvSpPr>
            <a:spLocks noGrp="1"/>
          </p:cNvSpPr>
          <p:nvPr/>
        </p:nvSpPr>
        <p:spPr>
          <a:xfrm>
            <a:off x="495300" y="3619500"/>
            <a:ext cx="76200" cy="800100"/>
          </a:xfrm>
          <a:prstGeom prst="rect">
            <a:avLst/>
          </a:prstGeom>
          <a:solidFill>
            <a:srgbClr val="66708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FD4B07A-3A53-420E-A274-645D4DB51BED}"/>
              </a:ext>
            </a:extLst>
          </p:cNvPr>
          <p:cNvSpPr>
            <a:spLocks noGrp="1"/>
          </p:cNvSpPr>
          <p:nvPr/>
        </p:nvSpPr>
        <p:spPr>
          <a:xfrm>
            <a:off x="781050" y="38290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YugabyteDB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CADC85-9918-4798-B994-FB0300B5DF7F}"/>
              </a:ext>
            </a:extLst>
          </p:cNvPr>
          <p:cNvSpPr>
            <a:spLocks noGrp="1"/>
          </p:cNvSpPr>
          <p:nvPr/>
        </p:nvSpPr>
        <p:spPr>
          <a:xfrm>
            <a:off x="3143250" y="385762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69717A-E8FF-4381-AEFD-F5D2A918274B}"/>
              </a:ext>
            </a:extLst>
          </p:cNvPr>
          <p:cNvSpPr>
            <a:spLocks noGrp="1"/>
          </p:cNvSpPr>
          <p:nvPr/>
        </p:nvSpPr>
        <p:spPr>
          <a:xfrm>
            <a:off x="5048250" y="385762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備選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12CBB16-AE29-483A-B05D-DFFD1758608C}"/>
              </a:ext>
            </a:extLst>
          </p:cNvPr>
          <p:cNvSpPr>
            <a:spLocks noGrp="1"/>
          </p:cNvSpPr>
          <p:nvPr/>
        </p:nvSpPr>
        <p:spPr>
          <a:xfrm>
            <a:off x="6381750" y="382905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高關鍵度 PostgreSQL／AI 需求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4926BC-9AB7-4A81-A117-E9169F310670}"/>
              </a:ext>
            </a:extLst>
          </p:cNvPr>
          <p:cNvSpPr>
            <a:spLocks noGrp="1"/>
          </p:cNvSpPr>
          <p:nvPr/>
        </p:nvSpPr>
        <p:spPr>
          <a:xfrm>
            <a:off x="495300" y="4619625"/>
            <a:ext cx="10744200" cy="80010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1724A94-8F56-4044-B370-1D94A9841F26}"/>
              </a:ext>
            </a:extLst>
          </p:cNvPr>
          <p:cNvSpPr>
            <a:spLocks noGrp="1"/>
          </p:cNvSpPr>
          <p:nvPr/>
        </p:nvSpPr>
        <p:spPr>
          <a:xfrm>
            <a:off x="495300" y="4619625"/>
            <a:ext cx="76200" cy="800100"/>
          </a:xfrm>
          <a:prstGeom prst="rect">
            <a:avLst/>
          </a:prstGeom>
          <a:solidFill>
            <a:srgbClr val="66708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2E5DFC-DFDC-4D77-A3BE-0E0268B5EB07}"/>
              </a:ext>
            </a:extLst>
          </p:cNvPr>
          <p:cNvSpPr>
            <a:spLocks noGrp="1"/>
          </p:cNvSpPr>
          <p:nvPr/>
        </p:nvSpPr>
        <p:spPr>
          <a:xfrm>
            <a:off x="781050" y="4829175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CockroachDB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2B53268-202C-48F7-A43B-33B5E064DC40}"/>
              </a:ext>
            </a:extLst>
          </p:cNvPr>
          <p:cNvSpPr>
            <a:spLocks noGrp="1"/>
          </p:cNvSpPr>
          <p:nvPr/>
        </p:nvSpPr>
        <p:spPr>
          <a:xfrm>
            <a:off x="3143250" y="4857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FCCC6A-B13A-4342-8F7C-49C166ACEACC}"/>
              </a:ext>
            </a:extLst>
          </p:cNvPr>
          <p:cNvSpPr>
            <a:spLocks noGrp="1"/>
          </p:cNvSpPr>
          <p:nvPr/>
        </p:nvSpPr>
        <p:spPr>
          <a:xfrm>
            <a:off x="5048250" y="485775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備選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500D6BC-EFC4-48E3-9294-6774AD8E0CE3}"/>
              </a:ext>
            </a:extLst>
          </p:cNvPr>
          <p:cNvSpPr>
            <a:spLocks noGrp="1"/>
          </p:cNvSpPr>
          <p:nvPr/>
        </p:nvSpPr>
        <p:spPr>
          <a:xfrm>
            <a:off x="6381750" y="48291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同上；待需求觸發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F9ABFC4-194D-4912-A357-AB75C52BAC47}"/>
              </a:ext>
            </a:extLst>
          </p:cNvPr>
          <p:cNvSpPr>
            <a:spLocks noGrp="1"/>
          </p:cNvSpPr>
          <p:nvPr/>
        </p:nvSpPr>
        <p:spPr>
          <a:xfrm>
            <a:off x="495300" y="58293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公司目前 MySQL 業務占比約 95%；PostgreSQL 路線不與 TiDB 同時展開完整矩陣。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7F60239-76FE-4808-8C41-CFCC2624C39E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§2.1；D3 拍板紀錄</a:t>
            </a:r>
          </a:p>
        </p:txBody>
      </p:sp>
    </p:spTree>
    <p:extLst>
      <p:ext uri="{BB962C8B-B14F-4D97-AF65-F5344CB8AC3E}">
        <p14:creationId xmlns:p14="http://schemas.microsoft.com/office/powerpoint/2010/main" val="1357835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418A933-9491-4C34-AD61-8FF81673C70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SCALE EVIDENCE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921A3B-A108-4BED-AF0F-218080B3CA43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水平擴展不是單一分數：比較單節點到三節點的變化</a:t>
            </a:r>
          </a:p>
        </p:txBody>
      </p:sp>
      <p:cxnSp>
        <p:nvCxnSpPr>
          <p:cNvPr id="62" name="直線箭頭接點 61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1500430-7E12-4EF9-9544-9B4CC5B8DEDA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788BF2-12EC-458C-B807-1D860EAC050C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1074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水平擴展倍率 = 三節點 HAProxy tpmC ÷ 單節點 tpmC；&gt;1× 代表本次配置吞吐增加，&lt;1× 代表下降。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D7AABA-166A-4544-8BA3-FA7B1E883A9B}"/>
              </a:ext>
            </a:extLst>
          </p:cNvPr>
          <p:cNvSpPr>
            <a:spLocks noGrp="1"/>
          </p:cNvSpPr>
          <p:nvPr/>
        </p:nvSpPr>
        <p:spPr>
          <a:xfrm>
            <a:off x="495300" y="1943100"/>
            <a:ext cx="18097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4DA30F-9C30-4FAD-B348-9A9396415E83}"/>
              </a:ext>
            </a:extLst>
          </p:cNvPr>
          <p:cNvSpPr>
            <a:spLocks noGrp="1"/>
          </p:cNvSpPr>
          <p:nvPr/>
        </p:nvSpPr>
        <p:spPr>
          <a:xfrm>
            <a:off x="590550" y="204787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資料庫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B6BB4F-DDF1-4230-BD4C-F09B0689D25F}"/>
              </a:ext>
            </a:extLst>
          </p:cNvPr>
          <p:cNvSpPr>
            <a:spLocks noGrp="1"/>
          </p:cNvSpPr>
          <p:nvPr/>
        </p:nvSpPr>
        <p:spPr>
          <a:xfrm>
            <a:off x="2400300" y="1943100"/>
            <a:ext cx="20002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4DE8CE-22AA-464F-83E8-74BD7C6BAB63}"/>
              </a:ext>
            </a:extLst>
          </p:cNvPr>
          <p:cNvSpPr>
            <a:spLocks noGrp="1"/>
          </p:cNvSpPr>
          <p:nvPr/>
        </p:nvSpPr>
        <p:spPr>
          <a:xfrm>
            <a:off x="2495550" y="2047875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單節點 tpmC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9452B4-12C2-4A16-A12F-D0FC1FA9B60A}"/>
              </a:ext>
            </a:extLst>
          </p:cNvPr>
          <p:cNvSpPr>
            <a:spLocks noGrp="1"/>
          </p:cNvSpPr>
          <p:nvPr/>
        </p:nvSpPr>
        <p:spPr>
          <a:xfrm>
            <a:off x="4495800" y="1943100"/>
            <a:ext cx="20002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FD1948-9B68-4D27-B42A-EAE7E1E5C828}"/>
              </a:ext>
            </a:extLst>
          </p:cNvPr>
          <p:cNvSpPr>
            <a:spLocks noGrp="1"/>
          </p:cNvSpPr>
          <p:nvPr/>
        </p:nvSpPr>
        <p:spPr>
          <a:xfrm>
            <a:off x="4591050" y="2047875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三節點 tpmC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4EB85F-D2AD-4150-9303-582FCC0D06F3}"/>
              </a:ext>
            </a:extLst>
          </p:cNvPr>
          <p:cNvSpPr>
            <a:spLocks noGrp="1"/>
          </p:cNvSpPr>
          <p:nvPr/>
        </p:nvSpPr>
        <p:spPr>
          <a:xfrm>
            <a:off x="6591300" y="1943100"/>
            <a:ext cx="14287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18BCF3-783F-45C5-B09A-E386BE0F791B}"/>
              </a:ext>
            </a:extLst>
          </p:cNvPr>
          <p:cNvSpPr>
            <a:spLocks noGrp="1"/>
          </p:cNvSpPr>
          <p:nvPr/>
        </p:nvSpPr>
        <p:spPr>
          <a:xfrm>
            <a:off x="6686550" y="20478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增減幅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EDAE45-20F3-42A5-824B-A59D92E4C726}"/>
              </a:ext>
            </a:extLst>
          </p:cNvPr>
          <p:cNvSpPr>
            <a:spLocks noGrp="1"/>
          </p:cNvSpPr>
          <p:nvPr/>
        </p:nvSpPr>
        <p:spPr>
          <a:xfrm>
            <a:off x="8115300" y="1943100"/>
            <a:ext cx="31242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032FB3-AA95-4660-A8A4-CF437DB435EB}"/>
              </a:ext>
            </a:extLst>
          </p:cNvPr>
          <p:cNvSpPr>
            <a:spLocks noGrp="1"/>
          </p:cNvSpPr>
          <p:nvPr/>
        </p:nvSpPr>
        <p:spPr>
          <a:xfrm>
            <a:off x="8210550" y="2047875"/>
            <a:ext cx="2933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擴展倍率／判讀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B83F6E-34AB-49FE-A5D5-F8BE92820CE3}"/>
              </a:ext>
            </a:extLst>
          </p:cNvPr>
          <p:cNvSpPr>
            <a:spLocks noGrp="1"/>
          </p:cNvSpPr>
          <p:nvPr/>
        </p:nvSpPr>
        <p:spPr>
          <a:xfrm>
            <a:off x="495300" y="2343150"/>
            <a:ext cx="1809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62869A-ABC8-4F70-9EE8-F302E61C25F5}"/>
              </a:ext>
            </a:extLst>
          </p:cNvPr>
          <p:cNvSpPr>
            <a:spLocks noGrp="1"/>
          </p:cNvSpPr>
          <p:nvPr/>
        </p:nvSpPr>
        <p:spPr>
          <a:xfrm>
            <a:off x="590550" y="25146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Galera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869A896-932A-4295-BC0D-A1EB83522682}"/>
              </a:ext>
            </a:extLst>
          </p:cNvPr>
          <p:cNvSpPr>
            <a:spLocks noGrp="1"/>
          </p:cNvSpPr>
          <p:nvPr/>
        </p:nvSpPr>
        <p:spPr>
          <a:xfrm>
            <a:off x="2400300" y="23431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550EAFB-B971-4139-9FD2-FEAC8BE372C0}"/>
              </a:ext>
            </a:extLst>
          </p:cNvPr>
          <p:cNvSpPr>
            <a:spLocks noGrp="1"/>
          </p:cNvSpPr>
          <p:nvPr/>
        </p:nvSpPr>
        <p:spPr>
          <a:xfrm>
            <a:off x="2495550" y="25146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53,791.9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F37E2BF-E3D1-48F2-AF9D-01822B99E85C}"/>
              </a:ext>
            </a:extLst>
          </p:cNvPr>
          <p:cNvSpPr>
            <a:spLocks noGrp="1"/>
          </p:cNvSpPr>
          <p:nvPr/>
        </p:nvSpPr>
        <p:spPr>
          <a:xfrm>
            <a:off x="4495800" y="23431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F62C72-19C2-470E-830D-00DA36030D75}"/>
              </a:ext>
            </a:extLst>
          </p:cNvPr>
          <p:cNvSpPr>
            <a:spLocks noGrp="1"/>
          </p:cNvSpPr>
          <p:nvPr/>
        </p:nvSpPr>
        <p:spPr>
          <a:xfrm>
            <a:off x="4591050" y="25146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26,166.2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643D77-9ECF-47A7-964B-B33AA70B33BB}"/>
              </a:ext>
            </a:extLst>
          </p:cNvPr>
          <p:cNvSpPr>
            <a:spLocks noGrp="1"/>
          </p:cNvSpPr>
          <p:nvPr/>
        </p:nvSpPr>
        <p:spPr>
          <a:xfrm>
            <a:off x="6591300" y="2343150"/>
            <a:ext cx="1428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5D98A3-0F11-4FD3-94C2-4D7BE8D34EA7}"/>
              </a:ext>
            </a:extLst>
          </p:cNvPr>
          <p:cNvSpPr>
            <a:spLocks noGrp="1"/>
          </p:cNvSpPr>
          <p:nvPr/>
        </p:nvSpPr>
        <p:spPr>
          <a:xfrm>
            <a:off x="6686550" y="251460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−51%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D91C20-46E8-4E48-94EF-ADE74005D312}"/>
              </a:ext>
            </a:extLst>
          </p:cNvPr>
          <p:cNvSpPr>
            <a:spLocks noGrp="1"/>
          </p:cNvSpPr>
          <p:nvPr/>
        </p:nvSpPr>
        <p:spPr>
          <a:xfrm>
            <a:off x="8115300" y="2343150"/>
            <a:ext cx="312420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C768912-28B2-4E75-A7A0-3CCC0555BF0C}"/>
              </a:ext>
            </a:extLst>
          </p:cNvPr>
          <p:cNvSpPr>
            <a:spLocks noGrp="1"/>
          </p:cNvSpPr>
          <p:nvPr/>
        </p:nvSpPr>
        <p:spPr>
          <a:xfrm>
            <a:off x="8210550" y="25146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0.49×　吞吐下降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5E70A85-0707-4130-A529-E67395A6D339}"/>
              </a:ext>
            </a:extLst>
          </p:cNvPr>
          <p:cNvSpPr>
            <a:spLocks noGrp="1"/>
          </p:cNvSpPr>
          <p:nvPr/>
        </p:nvSpPr>
        <p:spPr>
          <a:xfrm>
            <a:off x="495300" y="2933700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0F3BB7E-1D15-4CB9-9279-E1ADDFFA251D}"/>
              </a:ext>
            </a:extLst>
          </p:cNvPr>
          <p:cNvSpPr>
            <a:spLocks noGrp="1"/>
          </p:cNvSpPr>
          <p:nvPr/>
        </p:nvSpPr>
        <p:spPr>
          <a:xfrm>
            <a:off x="590550" y="3105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TiDB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817D756-0B9E-4FF8-B3BF-A08E22B980C5}"/>
              </a:ext>
            </a:extLst>
          </p:cNvPr>
          <p:cNvSpPr>
            <a:spLocks noGrp="1"/>
          </p:cNvSpPr>
          <p:nvPr/>
        </p:nvSpPr>
        <p:spPr>
          <a:xfrm>
            <a:off x="2400300" y="29337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8E079AD-6213-48DB-A1ED-D37EADC988B8}"/>
              </a:ext>
            </a:extLst>
          </p:cNvPr>
          <p:cNvSpPr>
            <a:spLocks noGrp="1"/>
          </p:cNvSpPr>
          <p:nvPr/>
        </p:nvSpPr>
        <p:spPr>
          <a:xfrm>
            <a:off x="2495550" y="3105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13,064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2250426-61E6-4117-BD79-7EAB0917F37E}"/>
              </a:ext>
            </a:extLst>
          </p:cNvPr>
          <p:cNvSpPr>
            <a:spLocks noGrp="1"/>
          </p:cNvSpPr>
          <p:nvPr/>
        </p:nvSpPr>
        <p:spPr>
          <a:xfrm>
            <a:off x="4495800" y="29337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7499361-23DF-442E-9064-44195F61FB7E}"/>
              </a:ext>
            </a:extLst>
          </p:cNvPr>
          <p:cNvSpPr>
            <a:spLocks noGrp="1"/>
          </p:cNvSpPr>
          <p:nvPr/>
        </p:nvSpPr>
        <p:spPr>
          <a:xfrm>
            <a:off x="4591050" y="3105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26,947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0E9DC26-5EF4-49D8-9A2B-4EE9A0299CAF}"/>
              </a:ext>
            </a:extLst>
          </p:cNvPr>
          <p:cNvSpPr>
            <a:spLocks noGrp="1"/>
          </p:cNvSpPr>
          <p:nvPr/>
        </p:nvSpPr>
        <p:spPr>
          <a:xfrm>
            <a:off x="6591300" y="293370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1A92736-D0C1-4F94-8A43-B3669680312D}"/>
              </a:ext>
            </a:extLst>
          </p:cNvPr>
          <p:cNvSpPr>
            <a:spLocks noGrp="1"/>
          </p:cNvSpPr>
          <p:nvPr/>
        </p:nvSpPr>
        <p:spPr>
          <a:xfrm>
            <a:off x="6686550" y="31051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+106%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0E15665-5419-4B6E-8ED6-0B0933D47C4E}"/>
              </a:ext>
            </a:extLst>
          </p:cNvPr>
          <p:cNvSpPr>
            <a:spLocks noGrp="1"/>
          </p:cNvSpPr>
          <p:nvPr/>
        </p:nvSpPr>
        <p:spPr>
          <a:xfrm>
            <a:off x="8115300" y="2933700"/>
            <a:ext cx="31242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E6E5011-8E97-4358-BA72-65E53B5B3DB3}"/>
              </a:ext>
            </a:extLst>
          </p:cNvPr>
          <p:cNvSpPr>
            <a:spLocks noGrp="1"/>
          </p:cNvSpPr>
          <p:nvPr/>
        </p:nvSpPr>
        <p:spPr>
          <a:xfrm>
            <a:off x="8210550" y="310515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2.06×　擴展倍率最高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12707CA-1427-4580-A63E-D782C01B1899}"/>
              </a:ext>
            </a:extLst>
          </p:cNvPr>
          <p:cNvSpPr>
            <a:spLocks noGrp="1"/>
          </p:cNvSpPr>
          <p:nvPr/>
        </p:nvSpPr>
        <p:spPr>
          <a:xfrm>
            <a:off x="495300" y="3524250"/>
            <a:ext cx="1809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9706036-2E65-424D-88A3-E450FE37375F}"/>
              </a:ext>
            </a:extLst>
          </p:cNvPr>
          <p:cNvSpPr>
            <a:spLocks noGrp="1"/>
          </p:cNvSpPr>
          <p:nvPr/>
        </p:nvSpPr>
        <p:spPr>
          <a:xfrm>
            <a:off x="590550" y="36957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YugabyteDB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35A460F-116B-4EDE-9E6E-F492C0B71A0C}"/>
              </a:ext>
            </a:extLst>
          </p:cNvPr>
          <p:cNvSpPr>
            <a:spLocks noGrp="1"/>
          </p:cNvSpPr>
          <p:nvPr/>
        </p:nvSpPr>
        <p:spPr>
          <a:xfrm>
            <a:off x="2400300" y="35242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6150DD6-8DEE-4B21-BBEF-8765F811AE0C}"/>
              </a:ext>
            </a:extLst>
          </p:cNvPr>
          <p:cNvSpPr>
            <a:spLocks noGrp="1"/>
          </p:cNvSpPr>
          <p:nvPr/>
        </p:nvSpPr>
        <p:spPr>
          <a:xfrm>
            <a:off x="2495550" y="36957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11,436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4887EFF-B0F2-461A-9559-43AF16B0E506}"/>
              </a:ext>
            </a:extLst>
          </p:cNvPr>
          <p:cNvSpPr>
            <a:spLocks noGrp="1"/>
          </p:cNvSpPr>
          <p:nvPr/>
        </p:nvSpPr>
        <p:spPr>
          <a:xfrm>
            <a:off x="4495800" y="35242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8B1B33A-0554-4109-A491-0EDCBD9A10CC}"/>
              </a:ext>
            </a:extLst>
          </p:cNvPr>
          <p:cNvSpPr>
            <a:spLocks noGrp="1"/>
          </p:cNvSpPr>
          <p:nvPr/>
        </p:nvSpPr>
        <p:spPr>
          <a:xfrm>
            <a:off x="4591050" y="36957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15,632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6D06BA4-BA95-4351-BF06-6144E0A881A4}"/>
              </a:ext>
            </a:extLst>
          </p:cNvPr>
          <p:cNvSpPr>
            <a:spLocks noGrp="1"/>
          </p:cNvSpPr>
          <p:nvPr/>
        </p:nvSpPr>
        <p:spPr>
          <a:xfrm>
            <a:off x="6591300" y="3524250"/>
            <a:ext cx="1428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C345E99-B153-4BFB-B5EE-10A05DD10CD0}"/>
              </a:ext>
            </a:extLst>
          </p:cNvPr>
          <p:cNvSpPr>
            <a:spLocks noGrp="1"/>
          </p:cNvSpPr>
          <p:nvPr/>
        </p:nvSpPr>
        <p:spPr>
          <a:xfrm>
            <a:off x="6686550" y="369570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+37%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6A9C34D-F733-4C81-B14F-7DD185651AC6}"/>
              </a:ext>
            </a:extLst>
          </p:cNvPr>
          <p:cNvSpPr>
            <a:spLocks noGrp="1"/>
          </p:cNvSpPr>
          <p:nvPr/>
        </p:nvSpPr>
        <p:spPr>
          <a:xfrm>
            <a:off x="8115300" y="3524250"/>
            <a:ext cx="312420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FA65705-D4BD-4F12-8077-52BD7B037CDE}"/>
              </a:ext>
            </a:extLst>
          </p:cNvPr>
          <p:cNvSpPr>
            <a:spLocks noGrp="1"/>
          </p:cNvSpPr>
          <p:nvPr/>
        </p:nvSpPr>
        <p:spPr>
          <a:xfrm>
            <a:off x="8210550" y="36957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1.37×　正向擴展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1C24673-2336-48C7-A282-113A2B72020C}"/>
              </a:ext>
            </a:extLst>
          </p:cNvPr>
          <p:cNvSpPr>
            <a:spLocks noGrp="1"/>
          </p:cNvSpPr>
          <p:nvPr/>
        </p:nvSpPr>
        <p:spPr>
          <a:xfrm>
            <a:off x="495300" y="4114800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3FDDA03-D6A9-4D92-8326-B47EAF3AE786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CockroachDB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73C1D5F-A90F-40DB-A171-41B11F6E4B11}"/>
              </a:ext>
            </a:extLst>
          </p:cNvPr>
          <p:cNvSpPr>
            <a:spLocks noGrp="1"/>
          </p:cNvSpPr>
          <p:nvPr/>
        </p:nvSpPr>
        <p:spPr>
          <a:xfrm>
            <a:off x="2400300" y="41148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C9A13E4-F926-43E3-B8BF-DF8AD1B0D414}"/>
              </a:ext>
            </a:extLst>
          </p:cNvPr>
          <p:cNvSpPr>
            <a:spLocks noGrp="1"/>
          </p:cNvSpPr>
          <p:nvPr/>
        </p:nvSpPr>
        <p:spPr>
          <a:xfrm>
            <a:off x="2495550" y="4286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9,134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604C67C-23B2-4997-AC88-548C1E2B02A0}"/>
              </a:ext>
            </a:extLst>
          </p:cNvPr>
          <p:cNvSpPr>
            <a:spLocks noGrp="1"/>
          </p:cNvSpPr>
          <p:nvPr/>
        </p:nvSpPr>
        <p:spPr>
          <a:xfrm>
            <a:off x="4495800" y="41148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4759917-ADD8-4D16-8508-F2CC847B0F2E}"/>
              </a:ext>
            </a:extLst>
          </p:cNvPr>
          <p:cNvSpPr>
            <a:spLocks noGrp="1"/>
          </p:cNvSpPr>
          <p:nvPr/>
        </p:nvSpPr>
        <p:spPr>
          <a:xfrm>
            <a:off x="4591050" y="4286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15,033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38F2FAB-54A8-4019-BA02-FC990065A827}"/>
              </a:ext>
            </a:extLst>
          </p:cNvPr>
          <p:cNvSpPr>
            <a:spLocks noGrp="1"/>
          </p:cNvSpPr>
          <p:nvPr/>
        </p:nvSpPr>
        <p:spPr>
          <a:xfrm>
            <a:off x="6591300" y="411480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8AAA363-D764-4C37-A9AE-D1B32478AC10}"/>
              </a:ext>
            </a:extLst>
          </p:cNvPr>
          <p:cNvSpPr>
            <a:spLocks noGrp="1"/>
          </p:cNvSpPr>
          <p:nvPr/>
        </p:nvSpPr>
        <p:spPr>
          <a:xfrm>
            <a:off x="6686550" y="42862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+65%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E10DE6C-89C9-4786-BEFD-121CCA2D6081}"/>
              </a:ext>
            </a:extLst>
          </p:cNvPr>
          <p:cNvSpPr>
            <a:spLocks noGrp="1"/>
          </p:cNvSpPr>
          <p:nvPr/>
        </p:nvSpPr>
        <p:spPr>
          <a:xfrm>
            <a:off x="8115300" y="4114800"/>
            <a:ext cx="31242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A1B5EFD-6DB9-43E4-ADA8-A0FADA2F6D3B}"/>
              </a:ext>
            </a:extLst>
          </p:cNvPr>
          <p:cNvSpPr>
            <a:spLocks noGrp="1"/>
          </p:cNvSpPr>
          <p:nvPr/>
        </p:nvSpPr>
        <p:spPr>
          <a:xfrm>
            <a:off x="8210550" y="428625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1.65×　正向擴展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166FECA-5E6D-400A-A42C-5A3600CE2836}"/>
              </a:ext>
            </a:extLst>
          </p:cNvPr>
          <p:cNvSpPr>
            <a:spLocks noGrp="1"/>
          </p:cNvSpPr>
          <p:nvPr/>
        </p:nvSpPr>
        <p:spPr>
          <a:xfrm>
            <a:off x="495300" y="4953000"/>
            <a:ext cx="10744200" cy="8572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6D0A3C1-998B-487F-BB9E-61DCD890CFC6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023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怎麼讀：倍率只回答「增加節點後吞吐如何變化」，不等於產品排名。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5CD4B46-981A-4BA1-AF66-CADCFE5D445A}"/>
              </a:ext>
            </a:extLst>
          </p:cNvPr>
          <p:cNvSpPr>
            <a:spLocks noGrp="1"/>
          </p:cNvSpPr>
          <p:nvPr/>
        </p:nvSpPr>
        <p:spPr>
          <a:xfrm>
            <a:off x="723900" y="5476875"/>
            <a:ext cx="10239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本輪觀察：Galera 低延遲仍有優勢；TiDB 在三節點配置的擴展倍率最高。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68CF052-941E-4F0E-8186-6597127C6459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來源：DISTRIBUTED-DB-SCORING §3.2；數據僅作方向性判讀</a:t>
            </a:r>
          </a:p>
        </p:txBody>
      </p:sp>
    </p:spTree>
    <p:extLst>
      <p:ext uri="{BB962C8B-B14F-4D97-AF65-F5344CB8AC3E}">
        <p14:creationId xmlns:p14="http://schemas.microsoft.com/office/powerpoint/2010/main" val="1722240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81B8965-53A9-4394-84DF-B6B8D1650A3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CROSS-REGION EVIDENCE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F8F89A-B8AB-465F-A155-268A34EB0198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跨區結果：Placement</a:t>
            </a:r>
            <a:r>
              <a:rPr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lang="en-US" sz="3000" b="1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策略</a:t>
            </a:r>
            <a:r>
              <a:rPr sz="3000" b="1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會改變資料路徑與效能</a:t>
            </a:r>
            <a:endParaRPr sz="3000" b="1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cxnSp>
        <p:nvCxnSpPr>
          <p:cNvPr id="41" name="直線箭頭接點 40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2F9AD44F-C2A4-4D37-91C8-C5FD246E65FF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320A6B-BA60-44C5-8198-35262817ED1A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335280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705CA8-9BCB-4F4F-BFAD-B36015ED0D0A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2933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1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12,526.5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90E323-5CDE-4DDF-AC60-0EC5D4C25C45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2933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P-A × A/S · TiDB tpmC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17CAAC-98E8-4F50-9C42-5FB2D3093EB0}"/>
              </a:ext>
            </a:extLst>
          </p:cNvPr>
          <p:cNvSpPr>
            <a:spLocks noGrp="1"/>
          </p:cNvSpPr>
          <p:nvPr/>
        </p:nvSpPr>
        <p:spPr>
          <a:xfrm>
            <a:off x="704850" y="2971800"/>
            <a:ext cx="2933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IDC 單邊讀寫；threads=128；0 error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7CEA98-9DB8-48DC-AA1E-21ED558DBD94}"/>
              </a:ext>
            </a:extLst>
          </p:cNvPr>
          <p:cNvSpPr>
            <a:spLocks noGrp="1"/>
          </p:cNvSpPr>
          <p:nvPr/>
        </p:nvSpPr>
        <p:spPr>
          <a:xfrm>
            <a:off x="4076700" y="1695450"/>
            <a:ext cx="335280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69D101-B0F8-4F2F-83DD-0D673A352986}"/>
              </a:ext>
            </a:extLst>
          </p:cNvPr>
          <p:cNvSpPr>
            <a:spLocks noGrp="1"/>
          </p:cNvSpPr>
          <p:nvPr/>
        </p:nvSpPr>
        <p:spPr>
          <a:xfrm>
            <a:off x="4286250" y="1885950"/>
            <a:ext cx="2933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1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31,571.3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9886AB-BEAB-45D7-A39D-5D955996AD75}"/>
              </a:ext>
            </a:extLst>
          </p:cNvPr>
          <p:cNvSpPr>
            <a:spLocks noGrp="1"/>
          </p:cNvSpPr>
          <p:nvPr/>
        </p:nvSpPr>
        <p:spPr>
          <a:xfrm>
            <a:off x="4286250" y="2571750"/>
            <a:ext cx="2933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P-A × A/A</a:t>
            </a:r>
            <a:r>
              <a:rPr lang="en-US" sz="1425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(</a:t>
            </a:r>
            <a:r>
              <a:rPr lang="en" altLang="zh-TW" sz="1425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RO</a:t>
            </a:r>
            <a:r>
              <a:rPr lang="en-US" sz="1425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)</a:t>
            </a:r>
            <a:r>
              <a:rPr sz="1425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· GCP </a:t>
            </a:r>
            <a:r>
              <a:rPr sz="1425" b="1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就近讀</a:t>
            </a:r>
            <a:endParaRPr sz="1425" b="1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801628-35A2-41C1-9F4E-634A123ED540}"/>
              </a:ext>
            </a:extLst>
          </p:cNvPr>
          <p:cNvSpPr>
            <a:spLocks noGrp="1"/>
          </p:cNvSpPr>
          <p:nvPr/>
        </p:nvSpPr>
        <p:spPr>
          <a:xfrm>
            <a:off x="4286250" y="2971800"/>
            <a:ext cx="2933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read_tpmTotal；全程 0 error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7D2012-B25F-4133-8920-F9843C501ABC}"/>
              </a:ext>
            </a:extLst>
          </p:cNvPr>
          <p:cNvSpPr>
            <a:spLocks noGrp="1"/>
          </p:cNvSpPr>
          <p:nvPr/>
        </p:nvSpPr>
        <p:spPr>
          <a:xfrm>
            <a:off x="7658100" y="1695450"/>
            <a:ext cx="358140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CB1637-2E64-4359-BD34-687D3A17A717}"/>
              </a:ext>
            </a:extLst>
          </p:cNvPr>
          <p:cNvSpPr>
            <a:spLocks noGrp="1"/>
          </p:cNvSpPr>
          <p:nvPr/>
        </p:nvSpPr>
        <p:spPr>
          <a:xfrm>
            <a:off x="7867650" y="1885950"/>
            <a:ext cx="3162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1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0.158%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7153EE-4664-4337-B030-53A90B6EC1A8}"/>
              </a:ext>
            </a:extLst>
          </p:cNvPr>
          <p:cNvSpPr>
            <a:spLocks noGrp="1"/>
          </p:cNvSpPr>
          <p:nvPr/>
        </p:nvSpPr>
        <p:spPr>
          <a:xfrm>
            <a:off x="7867650" y="2571750"/>
            <a:ext cx="3162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P-B × A/A · GCP 錯誤率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BF48D3-D529-497D-B5AE-94EAB24971A4}"/>
              </a:ext>
            </a:extLst>
          </p:cNvPr>
          <p:cNvSpPr>
            <a:spLocks noGrp="1"/>
          </p:cNvSpPr>
          <p:nvPr/>
        </p:nvSpPr>
        <p:spPr>
          <a:xfrm>
            <a:off x="7867650" y="2971800"/>
            <a:ext cx="3162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雙區寫入；屬不同 workload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12C89A-66C8-4FCE-A0B8-099095A100AD}"/>
              </a:ext>
            </a:extLst>
          </p:cNvPr>
          <p:cNvSpPr>
            <a:spLocks noGrp="1"/>
          </p:cNvSpPr>
          <p:nvPr/>
        </p:nvSpPr>
        <p:spPr>
          <a:xfrm>
            <a:off x="495300" y="3829050"/>
            <a:ext cx="10744200" cy="19240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22375BB-8BB6-4F19-BBB1-023B786742A1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TiDB A/S placement 對照 · threads=128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C6017B-892C-479C-9FE0-E1F3DCACED30}"/>
              </a:ext>
            </a:extLst>
          </p:cNvPr>
          <p:cNvSpPr>
            <a:spLocks noGrp="1"/>
          </p:cNvSpPr>
          <p:nvPr/>
        </p:nvSpPr>
        <p:spPr>
          <a:xfrm>
            <a:off x="742950" y="4514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指標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2010BD9-3DB1-4FA6-9AE1-80885D625929}"/>
              </a:ext>
            </a:extLst>
          </p:cNvPr>
          <p:cNvSpPr>
            <a:spLocks noGrp="1"/>
          </p:cNvSpPr>
          <p:nvPr/>
        </p:nvSpPr>
        <p:spPr>
          <a:xfrm>
            <a:off x="3905250" y="45148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P-A × A/S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5E00838-7B89-46C3-85D6-830CCFEBABB9}"/>
              </a:ext>
            </a:extLst>
          </p:cNvPr>
          <p:cNvSpPr>
            <a:spLocks noGrp="1"/>
          </p:cNvSpPr>
          <p:nvPr/>
        </p:nvSpPr>
        <p:spPr>
          <a:xfrm>
            <a:off x="5905500" y="45148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P-B × A/S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6359C8-D95E-4036-AC0C-360E01472BD9}"/>
              </a:ext>
            </a:extLst>
          </p:cNvPr>
          <p:cNvSpPr>
            <a:spLocks noGrp="1"/>
          </p:cNvSpPr>
          <p:nvPr/>
        </p:nvSpPr>
        <p:spPr>
          <a:xfrm>
            <a:off x="7905750" y="45148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差異</a:t>
            </a:r>
          </a:p>
        </p:txBody>
      </p:sp>
      <p:cxnSp>
        <p:nvCxnSpPr>
          <p:cNvPr id="61" name="直線箭頭接點 60"/>
          <p:cNvCxnSpPr/>
          <p:nvPr/>
        </p:nvCxnSpPr>
        <p:spPr>
          <a:xfrm>
            <a:off x="742950" y="4857750"/>
            <a:ext cx="962025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890F36F2-FA0B-4C6D-A2FF-2D499B3EA49B}"/>
              </a:ext>
            </a:extLst>
          </p:cNvPr>
          <p:cNvSpPr>
            <a:spLocks noGrp="1"/>
          </p:cNvSpPr>
          <p:nvPr/>
        </p:nvSpPr>
        <p:spPr>
          <a:xfrm>
            <a:off x="742950" y="49720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tpmC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A76E53E-E4F6-4C5E-B106-CFB6B409337E}"/>
              </a:ext>
            </a:extLst>
          </p:cNvPr>
          <p:cNvSpPr>
            <a:spLocks noGrp="1"/>
          </p:cNvSpPr>
          <p:nvPr/>
        </p:nvSpPr>
        <p:spPr>
          <a:xfrm>
            <a:off x="3905250" y="49720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12,526.5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76C96EE-86F4-4C1E-AA3A-7F9D87E7AD37}"/>
              </a:ext>
            </a:extLst>
          </p:cNvPr>
          <p:cNvSpPr>
            <a:spLocks noGrp="1"/>
          </p:cNvSpPr>
          <p:nvPr/>
        </p:nvSpPr>
        <p:spPr>
          <a:xfrm>
            <a:off x="5905500" y="49720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15,107.4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D51A95D-FB3E-4701-B8D8-0B71461CBC6B}"/>
              </a:ext>
            </a:extLst>
          </p:cNvPr>
          <p:cNvSpPr>
            <a:spLocks noGrp="1"/>
          </p:cNvSpPr>
          <p:nvPr/>
        </p:nvSpPr>
        <p:spPr>
          <a:xfrm>
            <a:off x="7905750" y="49720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P-B +20.6%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7B27B51-5A5B-422D-859A-2207A8FD8777}"/>
              </a:ext>
            </a:extLst>
          </p:cNvPr>
          <p:cNvSpPr>
            <a:spLocks noGrp="1"/>
          </p:cNvSpPr>
          <p:nvPr/>
        </p:nvSpPr>
        <p:spPr>
          <a:xfrm>
            <a:off x="742950" y="52768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NEW_ORDER p99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917D457-F002-4401-80F8-302503A75F11}"/>
              </a:ext>
            </a:extLst>
          </p:cNvPr>
          <p:cNvSpPr>
            <a:spLocks noGrp="1"/>
          </p:cNvSpPr>
          <p:nvPr/>
        </p:nvSpPr>
        <p:spPr>
          <a:xfrm>
            <a:off x="3905250" y="52768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677.8 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D1D0C3E-2DA5-4BDA-9272-31995DDB3933}"/>
              </a:ext>
            </a:extLst>
          </p:cNvPr>
          <p:cNvSpPr>
            <a:spLocks noGrp="1"/>
          </p:cNvSpPr>
          <p:nvPr/>
        </p:nvSpPr>
        <p:spPr>
          <a:xfrm>
            <a:off x="5905500" y="52768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664.4 ms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1188C89-7119-4BE9-981B-6E0765DEB6DB}"/>
              </a:ext>
            </a:extLst>
          </p:cNvPr>
          <p:cNvSpPr>
            <a:spLocks noGrp="1"/>
          </p:cNvSpPr>
          <p:nvPr/>
        </p:nvSpPr>
        <p:spPr>
          <a:xfrm>
            <a:off x="7905750" y="52768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P-B -2.0%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4CCEB22-748E-4E60-9C3D-12C4720A9052}"/>
              </a:ext>
            </a:extLst>
          </p:cNvPr>
          <p:cNvSpPr>
            <a:spLocks noGrp="1"/>
          </p:cNvSpPr>
          <p:nvPr/>
        </p:nvSpPr>
        <p:spPr>
          <a:xfrm>
            <a:off x="742950" y="55816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all-txn error rate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5ECF544-D5EC-47A7-862B-33F5534DD0A0}"/>
              </a:ext>
            </a:extLst>
          </p:cNvPr>
          <p:cNvSpPr>
            <a:spLocks noGrp="1"/>
          </p:cNvSpPr>
          <p:nvPr/>
        </p:nvSpPr>
        <p:spPr>
          <a:xfrm>
            <a:off x="3905250" y="5581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0%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BE65A9B-325B-40EB-86E4-5827271D4590}"/>
              </a:ext>
            </a:extLst>
          </p:cNvPr>
          <p:cNvSpPr>
            <a:spLocks noGrp="1"/>
          </p:cNvSpPr>
          <p:nvPr/>
        </p:nvSpPr>
        <p:spPr>
          <a:xfrm>
            <a:off x="5905500" y="5581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0%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5061277-D880-4645-AAE3-F56FF03C8740}"/>
              </a:ext>
            </a:extLst>
          </p:cNvPr>
          <p:cNvSpPr>
            <a:spLocks noGrp="1"/>
          </p:cNvSpPr>
          <p:nvPr/>
        </p:nvSpPr>
        <p:spPr>
          <a:xfrm>
            <a:off x="7905750" y="5581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相同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FC48793-DA7F-4C1A-BB61-3226DF81738B}"/>
              </a:ext>
            </a:extLst>
          </p:cNvPr>
          <p:cNvSpPr>
            <a:spLocks noGrp="1"/>
          </p:cNvSpPr>
          <p:nvPr/>
        </p:nvSpPr>
        <p:spPr>
          <a:xfrm>
            <a:off x="495300" y="5905500"/>
            <a:ext cx="10744200" cy="2857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5B376B3-1C5C-4B1B-AEEF-D169E60074FC}"/>
              </a:ext>
            </a:extLst>
          </p:cNvPr>
          <p:cNvSpPr>
            <a:spLocks noGrp="1"/>
          </p:cNvSpPr>
          <p:nvPr/>
        </p:nvSpPr>
        <p:spPr>
          <a:xfrm>
            <a:off x="742950" y="5953125"/>
            <a:ext cx="10239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A/S </a:t>
            </a:r>
            <a:r>
              <a:rPr sz="1200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是目前</a:t>
            </a:r>
            <a:r>
              <a:rPr sz="12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 workload </a:t>
            </a:r>
            <a:r>
              <a:rPr sz="1200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定義相同、最適合觀察</a:t>
            </a:r>
            <a:r>
              <a:rPr sz="12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 placement </a:t>
            </a:r>
            <a:r>
              <a:rPr sz="1200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差異的對照軸</a:t>
            </a:r>
            <a:r>
              <a:rPr sz="12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53D2F8D-85E6-4705-A8CC-812689BD5D57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§2.2、§2.4；X-CROSS P-A／P-B 結案報告</a:t>
            </a:r>
          </a:p>
        </p:txBody>
      </p:sp>
    </p:spTree>
    <p:extLst>
      <p:ext uri="{BB962C8B-B14F-4D97-AF65-F5344CB8AC3E}">
        <p14:creationId xmlns:p14="http://schemas.microsoft.com/office/powerpoint/2010/main" val="1483406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0F97943-2BC5-4527-A994-E4012F6D57E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TARGET ROUTE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A76EE3-F0DE-4A0D-907B-9567B79E013B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主線按風險遞進：S0 → S1 → S2；A/A 延後</a:t>
            </a:r>
          </a:p>
        </p:txBody>
      </p:sp>
      <p:cxnSp>
        <p:nvCxnSpPr>
          <p:cNvPr id="34" name="直線箭頭接點 33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72F4001-2112-4B37-A303-EFBB146CE364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cxnSp>
        <p:nvCxnSpPr>
          <p:cNvPr id="36" name="直線箭頭接點 35"/>
          <p:cNvCxnSpPr/>
          <p:nvPr/>
        </p:nvCxnSpPr>
        <p:spPr>
          <a:xfrm>
            <a:off x="2381250" y="3352800"/>
            <a:ext cx="1285875" cy="0"/>
          </a:xfrm>
          <a:prstGeom prst="straightConnector1">
            <a:avLst/>
          </a:prstGeom>
          <a:ln w="38100">
            <a:solidFill>
              <a:srgbClr val="2563EB"/>
            </a:solidFill>
            <a:prstDash val="solid"/>
          </a:ln>
        </p:spPr>
      </p:cxnSp>
      <p:cxnSp>
        <p:nvCxnSpPr>
          <p:cNvPr id="37" name="直線箭頭接點 36"/>
          <p:cNvCxnSpPr/>
          <p:nvPr/>
        </p:nvCxnSpPr>
        <p:spPr>
          <a:xfrm>
            <a:off x="5095875" y="3352800"/>
            <a:ext cx="1285875" cy="0"/>
          </a:xfrm>
          <a:prstGeom prst="straightConnector1">
            <a:avLst/>
          </a:prstGeom>
          <a:ln w="38100">
            <a:solidFill>
              <a:srgbClr val="2563EB"/>
            </a:solidFill>
            <a:prstDash val="solid"/>
          </a:ln>
        </p:spPr>
      </p:cxnSp>
      <p:cxnSp>
        <p:nvCxnSpPr>
          <p:cNvPr id="38" name="直線箭頭接點 37"/>
          <p:cNvCxnSpPr/>
          <p:nvPr/>
        </p:nvCxnSpPr>
        <p:spPr>
          <a:xfrm>
            <a:off x="7810500" y="3352800"/>
            <a:ext cx="1285875" cy="0"/>
          </a:xfrm>
          <a:prstGeom prst="straightConnector1">
            <a:avLst/>
          </a:prstGeom>
          <a:ln w="38100">
            <a:solidFill>
              <a:srgbClr val="D0D5DD"/>
            </a:solidFill>
            <a:prstDash val="solid"/>
          </a:ln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81631554-4E11-4F6E-8BFB-E6ECD74EE6D7}"/>
              </a:ext>
            </a:extLst>
          </p:cNvPr>
          <p:cNvSpPr>
            <a:spLocks noGrp="1"/>
          </p:cNvSpPr>
          <p:nvPr/>
        </p:nvSpPr>
        <p:spPr>
          <a:xfrm>
            <a:off x="3429000" y="3114675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0721C6-3BC7-48DD-B0D2-AE3FF40FC208}"/>
              </a:ext>
            </a:extLst>
          </p:cNvPr>
          <p:cNvSpPr>
            <a:spLocks noGrp="1"/>
          </p:cNvSpPr>
          <p:nvPr/>
        </p:nvSpPr>
        <p:spPr>
          <a:xfrm>
            <a:off x="6143625" y="3114675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F0E1C8-D6FF-42FE-8365-0672E0D2C348}"/>
              </a:ext>
            </a:extLst>
          </p:cNvPr>
          <p:cNvSpPr>
            <a:spLocks noGrp="1"/>
          </p:cNvSpPr>
          <p:nvPr/>
        </p:nvSpPr>
        <p:spPr>
          <a:xfrm>
            <a:off x="8858250" y="3114675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45560384-46E3-446B-9636-F3939F1AFD4A}"/>
              </a:ext>
            </a:extLst>
          </p:cNvPr>
          <p:cNvSpPr>
            <a:spLocks noGrp="1"/>
          </p:cNvSpPr>
          <p:nvPr/>
        </p:nvSpPr>
        <p:spPr>
          <a:xfrm>
            <a:off x="495300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E9F2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3B2B7D-4E87-4F3C-87AC-104B951EDB87}"/>
              </a:ext>
            </a:extLst>
          </p:cNvPr>
          <p:cNvSpPr>
            <a:spLocks noGrp="1"/>
          </p:cNvSpPr>
          <p:nvPr/>
        </p:nvSpPr>
        <p:spPr>
          <a:xfrm>
            <a:off x="723900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6AE551-B43C-4074-84E4-537C57E27E37}"/>
              </a:ext>
            </a:extLst>
          </p:cNvPr>
          <p:cNvSpPr>
            <a:spLocks noGrp="1"/>
          </p:cNvSpPr>
          <p:nvPr/>
        </p:nvSpPr>
        <p:spPr>
          <a:xfrm>
            <a:off x="723900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IDC Only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580F64-A684-4351-B6C2-3599F82A4C21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19240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維運、備份、監控</a:t>
            </a:r>
          </a:p>
          <a:p>
            <a:pPr algn="l"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代表性應用 Pilot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2E85A7F5-8D35-48DE-A27A-72FC9955D5E7}"/>
              </a:ext>
            </a:extLst>
          </p:cNvPr>
          <p:cNvSpPr>
            <a:spLocks noGrp="1"/>
          </p:cNvSpPr>
          <p:nvPr/>
        </p:nvSpPr>
        <p:spPr>
          <a:xfrm>
            <a:off x="3209925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E9F2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46BA9E-CF13-4DFC-B493-ED2A08871EAF}"/>
              </a:ext>
            </a:extLst>
          </p:cNvPr>
          <p:cNvSpPr>
            <a:spLocks noGrp="1"/>
          </p:cNvSpPr>
          <p:nvPr/>
        </p:nvSpPr>
        <p:spPr>
          <a:xfrm>
            <a:off x="3438525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C8A65-E55F-42B8-BBCF-1FFD34F02D7B}"/>
              </a:ext>
            </a:extLst>
          </p:cNvPr>
          <p:cNvSpPr>
            <a:spLocks noGrp="1"/>
          </p:cNvSpPr>
          <p:nvPr/>
        </p:nvSpPr>
        <p:spPr>
          <a:xfrm>
            <a:off x="3438525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IDC + EDC A/S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1C2E02-99C4-4E19-BEBA-92AAA407BF03}"/>
              </a:ext>
            </a:extLst>
          </p:cNvPr>
          <p:cNvSpPr>
            <a:spLocks noGrp="1"/>
          </p:cNvSpPr>
          <p:nvPr/>
        </p:nvSpPr>
        <p:spPr>
          <a:xfrm>
            <a:off x="3438525" y="3524250"/>
            <a:ext cx="19240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IDC 主寫</a:t>
            </a:r>
          </a:p>
          <a:p>
            <a:pPr algn="l"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EDC 副本＋切換演練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3EAB6AFD-580F-492B-B5C3-C3EE7930F843}"/>
              </a:ext>
            </a:extLst>
          </p:cNvPr>
          <p:cNvSpPr>
            <a:spLocks noGrp="1"/>
          </p:cNvSpPr>
          <p:nvPr/>
        </p:nvSpPr>
        <p:spPr>
          <a:xfrm>
            <a:off x="5924550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E9F2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398ECBA-D75C-4B5C-9A08-7422EF23F0C5}"/>
              </a:ext>
            </a:extLst>
          </p:cNvPr>
          <p:cNvSpPr>
            <a:spLocks noGrp="1"/>
          </p:cNvSpPr>
          <p:nvPr/>
        </p:nvSpPr>
        <p:spPr>
          <a:xfrm>
            <a:off x="6153150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CA2709-59C4-426E-9457-9CC377B73D39}"/>
              </a:ext>
            </a:extLst>
          </p:cNvPr>
          <p:cNvSpPr>
            <a:spLocks noGrp="1"/>
          </p:cNvSpPr>
          <p:nvPr/>
        </p:nvSpPr>
        <p:spPr>
          <a:xfrm>
            <a:off x="6153150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A/A-RO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47163D-BE11-4329-A49F-01FC42BAF540}"/>
              </a:ext>
            </a:extLst>
          </p:cNvPr>
          <p:cNvSpPr>
            <a:spLocks noGrp="1"/>
          </p:cNvSpPr>
          <p:nvPr/>
        </p:nvSpPr>
        <p:spPr>
          <a:xfrm>
            <a:off x="6153150" y="3524250"/>
            <a:ext cx="19240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EDC 就近讀</a:t>
            </a:r>
          </a:p>
          <a:p>
            <a:pPr algn="l"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staleness＋fallback</a:t>
            </a: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EF592D52-A4D4-4A32-84A0-00C5E71D3D81}"/>
              </a:ext>
            </a:extLst>
          </p:cNvPr>
          <p:cNvSpPr>
            <a:spLocks noGrp="1"/>
          </p:cNvSpPr>
          <p:nvPr/>
        </p:nvSpPr>
        <p:spPr>
          <a:xfrm>
            <a:off x="8639175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F2F4F7"/>
          </a:solidFill>
          <a:ln w="9525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88D4DC-C80A-4FE3-B9C3-A452ED7AC7A3}"/>
              </a:ext>
            </a:extLst>
          </p:cNvPr>
          <p:cNvSpPr>
            <a:spLocks noGrp="1"/>
          </p:cNvSpPr>
          <p:nvPr/>
        </p:nvSpPr>
        <p:spPr>
          <a:xfrm>
            <a:off x="8867775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S3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D44CC6E-56B2-4BA7-AC16-BE128D4508C0}"/>
              </a:ext>
            </a:extLst>
          </p:cNvPr>
          <p:cNvSpPr>
            <a:spLocks noGrp="1"/>
          </p:cNvSpPr>
          <p:nvPr/>
        </p:nvSpPr>
        <p:spPr>
          <a:xfrm>
            <a:off x="8867775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A/A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142CF39-C506-4ADE-BEEB-4938ABD35E5B}"/>
              </a:ext>
            </a:extLst>
          </p:cNvPr>
          <p:cNvSpPr>
            <a:spLocks noGrp="1"/>
          </p:cNvSpPr>
          <p:nvPr/>
        </p:nvSpPr>
        <p:spPr>
          <a:xfrm>
            <a:off x="8867775" y="3524250"/>
            <a:ext cx="19240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非 DB 阻礙解除</a:t>
            </a:r>
          </a:p>
          <a:p>
            <a:pPr algn="l"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且有雙寫需求才評估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EBFC78D-6DEC-46A3-911A-423396D7B2C1}"/>
              </a:ext>
            </a:extLst>
          </p:cNvPr>
          <p:cNvSpPr>
            <a:spLocks noGrp="1"/>
          </p:cNvSpPr>
          <p:nvPr/>
        </p:nvSpPr>
        <p:spPr>
          <a:xfrm>
            <a:off x="495300" y="4972050"/>
            <a:ext cx="7810500" cy="876300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5976A02-2AEA-4924-BBDD-674CB5B39F47}"/>
              </a:ext>
            </a:extLst>
          </p:cNvPr>
          <p:cNvSpPr>
            <a:spLocks noGrp="1"/>
          </p:cNvSpPr>
          <p:nvPr/>
        </p:nvSpPr>
        <p:spPr>
          <a:xfrm>
            <a:off x="723900" y="5229225"/>
            <a:ext cx="733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遞進原則：前一階段驗收，是下一階段的進入條件；失敗時能清楚歸因與退場。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0BAB6D-007A-497D-9975-231698B03F01}"/>
              </a:ext>
            </a:extLst>
          </p:cNvPr>
          <p:cNvSpPr>
            <a:spLocks noGrp="1"/>
          </p:cNvSpPr>
          <p:nvPr/>
        </p:nvSpPr>
        <p:spPr>
          <a:xfrm>
            <a:off x="8524875" y="4972050"/>
            <a:ext cx="2714625" cy="87630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0FB926B-B8CE-46FC-99AC-8B11DAE0D85E}"/>
              </a:ext>
            </a:extLst>
          </p:cNvPr>
          <p:cNvSpPr>
            <a:spLocks noGrp="1"/>
          </p:cNvSpPr>
          <p:nvPr/>
        </p:nvSpPr>
        <p:spPr>
          <a:xfrm>
            <a:off x="8763000" y="5210175"/>
            <a:ext cx="223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 dirty="0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S3 </a:t>
            </a:r>
            <a:r>
              <a:rPr lang="zh-TW" altLang="en-US" sz="1650" b="1" dirty="0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不納入規劃</a:t>
            </a:r>
            <a:endParaRPr sz="1650" b="1" dirty="0">
              <a:solidFill>
                <a:srgbClr val="C2413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30C542B-F04A-4FE6-B69C-D41E6A6881ED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§3.1–§3.2</a:t>
            </a:r>
          </a:p>
        </p:txBody>
      </p:sp>
    </p:spTree>
    <p:extLst>
      <p:ext uri="{BB962C8B-B14F-4D97-AF65-F5344CB8AC3E}">
        <p14:creationId xmlns:p14="http://schemas.microsoft.com/office/powerpoint/2010/main" val="2073780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4FB2CF1-5FC2-4A81-B09B-011769219EB7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S1 → S2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9BB213-74AD-42BD-B144-DB30F0E7E30E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跨區先證明副本與切換，再開放就近讀</a:t>
            </a:r>
          </a:p>
        </p:txBody>
      </p:sp>
      <p:cxnSp>
        <p:nvCxnSpPr>
          <p:cNvPr id="31" name="直線箭頭接點 30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318F542-CDEF-41D0-9181-B98D3B836F37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C60E1B-00C1-4221-8029-D9921DDA7E9F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5048250" cy="3857625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273DDC-7C89-4EE4-9A81-7BE74D0F00E6}"/>
              </a:ext>
            </a:extLst>
          </p:cNvPr>
          <p:cNvSpPr>
            <a:spLocks noGrp="1"/>
          </p:cNvSpPr>
          <p:nvPr/>
        </p:nvSpPr>
        <p:spPr>
          <a:xfrm>
            <a:off x="742950" y="1905000"/>
            <a:ext cx="438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S1｜A/S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3635CC-CE5A-4E37-A267-2375C1B3DFBD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IDC 主寫；EDC 持副本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7E20C2-2C7D-4F84-B511-AA1247133C8A}"/>
              </a:ext>
            </a:extLst>
          </p:cNvPr>
          <p:cNvSpPr>
            <a:spLocks noGrp="1"/>
          </p:cNvSpPr>
          <p:nvPr/>
        </p:nvSpPr>
        <p:spPr>
          <a:xfrm>
            <a:off x="742950" y="30003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BCA4C3-7056-4CE6-A512-F2012A8697D5}"/>
              </a:ext>
            </a:extLst>
          </p:cNvPr>
          <p:cNvSpPr>
            <a:spLocks noGrp="1"/>
          </p:cNvSpPr>
          <p:nvPr/>
        </p:nvSpPr>
        <p:spPr>
          <a:xfrm>
            <a:off x="1028700" y="30003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placement 設定與 readback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DE999B-C551-40FF-8928-9DDC7C694E10}"/>
              </a:ext>
            </a:extLst>
          </p:cNvPr>
          <p:cNvSpPr>
            <a:spLocks noGrp="1"/>
          </p:cNvSpPr>
          <p:nvPr/>
        </p:nvSpPr>
        <p:spPr>
          <a:xfrm>
            <a:off x="742950" y="34575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41ADC0-B1C6-4EA5-8EA3-47C9ACF58409}"/>
              </a:ext>
            </a:extLst>
          </p:cNvPr>
          <p:cNvSpPr>
            <a:spLocks noGrp="1"/>
          </p:cNvSpPr>
          <p:nvPr/>
        </p:nvSpPr>
        <p:spPr>
          <a:xfrm>
            <a:off x="1028700" y="34575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逐 region 副本存在門檻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54B1EB-861C-4FCD-B65E-B209AC348328}"/>
              </a:ext>
            </a:extLst>
          </p:cNvPr>
          <p:cNvSpPr>
            <a:spLocks noGrp="1"/>
          </p:cNvSpPr>
          <p:nvPr/>
        </p:nvSpPr>
        <p:spPr>
          <a:xfrm>
            <a:off x="742950" y="39147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02A034-B35B-4F97-AC1E-0A90B43E6A2B}"/>
              </a:ext>
            </a:extLst>
          </p:cNvPr>
          <p:cNvSpPr>
            <a:spLocks noGrp="1"/>
          </p:cNvSpPr>
          <p:nvPr/>
        </p:nvSpPr>
        <p:spPr>
          <a:xfrm>
            <a:off x="1028700" y="39147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切換、回切與資料對帳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1340B9-516F-4D2C-AC1B-8A9887E5247A}"/>
              </a:ext>
            </a:extLst>
          </p:cNvPr>
          <p:cNvSpPr>
            <a:spLocks noGrp="1"/>
          </p:cNvSpPr>
          <p:nvPr/>
        </p:nvSpPr>
        <p:spPr>
          <a:xfrm>
            <a:off x="742950" y="43719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8079C0-37E1-462A-8E9C-12D9EE47E5D8}"/>
              </a:ext>
            </a:extLst>
          </p:cNvPr>
          <p:cNvSpPr>
            <a:spLocks noGrp="1"/>
          </p:cNvSpPr>
          <p:nvPr/>
        </p:nvSpPr>
        <p:spPr>
          <a:xfrm>
            <a:off x="1028700" y="43719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B3：EDC 讀取型工作負載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1EC801-C736-4A73-A9BF-0477C6588343}"/>
              </a:ext>
            </a:extLst>
          </p:cNvPr>
          <p:cNvSpPr>
            <a:spLocks noGrp="1"/>
          </p:cNvSpPr>
          <p:nvPr/>
        </p:nvSpPr>
        <p:spPr>
          <a:xfrm>
            <a:off x="6191250" y="1657350"/>
            <a:ext cx="5048250" cy="3857625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A8E70D-F106-4390-94D8-60854CF375C5}"/>
              </a:ext>
            </a:extLst>
          </p:cNvPr>
          <p:cNvSpPr>
            <a:spLocks noGrp="1"/>
          </p:cNvSpPr>
          <p:nvPr/>
        </p:nvSpPr>
        <p:spPr>
          <a:xfrm>
            <a:off x="6438900" y="1905000"/>
            <a:ext cx="438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S2｜A/A-RO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33E72A4-636B-4321-B4DB-0D76B9861DF6}"/>
              </a:ext>
            </a:extLst>
          </p:cNvPr>
          <p:cNvSpPr>
            <a:spLocks noGrp="1"/>
          </p:cNvSpPr>
          <p:nvPr/>
        </p:nvSpPr>
        <p:spPr>
          <a:xfrm>
            <a:off x="6438900" y="2428875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寫入仍在 IDC；EDC 就近讀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15E458-7D36-4E02-8F8A-7CB534403DF7}"/>
              </a:ext>
            </a:extLst>
          </p:cNvPr>
          <p:cNvSpPr>
            <a:spLocks noGrp="1"/>
          </p:cNvSpPr>
          <p:nvPr/>
        </p:nvSpPr>
        <p:spPr>
          <a:xfrm>
            <a:off x="6438900" y="30003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1F1DCC5-3711-4FFB-AC76-25BB4A65EEEF}"/>
              </a:ext>
            </a:extLst>
          </p:cNvPr>
          <p:cNvSpPr>
            <a:spLocks noGrp="1"/>
          </p:cNvSpPr>
          <p:nvPr/>
        </p:nvSpPr>
        <p:spPr>
          <a:xfrm>
            <a:off x="6724650" y="30003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near-read probe 必須命中 EDC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74DE07-0C55-4224-B23F-A610FDB4C6B8}"/>
              </a:ext>
            </a:extLst>
          </p:cNvPr>
          <p:cNvSpPr>
            <a:spLocks noGrp="1"/>
          </p:cNvSpPr>
          <p:nvPr/>
        </p:nvSpPr>
        <p:spPr>
          <a:xfrm>
            <a:off x="6438900" y="34575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2C4E2CB-2180-4266-91FA-F908F3155173}"/>
              </a:ext>
            </a:extLst>
          </p:cNvPr>
          <p:cNvSpPr>
            <a:spLocks noGrp="1"/>
          </p:cNvSpPr>
          <p:nvPr/>
        </p:nvSpPr>
        <p:spPr>
          <a:xfrm>
            <a:off x="6724650" y="34575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staleness 上限由產品定義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76725B-B894-4635-8393-7CA84920C8E7}"/>
              </a:ext>
            </a:extLst>
          </p:cNvPr>
          <p:cNvSpPr>
            <a:spLocks noGrp="1"/>
          </p:cNvSpPr>
          <p:nvPr/>
        </p:nvSpPr>
        <p:spPr>
          <a:xfrm>
            <a:off x="6438900" y="39147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3D87C9E-81F6-4CE4-AC47-ADC83D7938BD}"/>
              </a:ext>
            </a:extLst>
          </p:cNvPr>
          <p:cNvSpPr>
            <a:spLocks noGrp="1"/>
          </p:cNvSpPr>
          <p:nvPr/>
        </p:nvSpPr>
        <p:spPr>
          <a:xfrm>
            <a:off x="6724650" y="39147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read-your-write 與 fallback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82C131F-0873-4260-B479-F7728B14190A}"/>
              </a:ext>
            </a:extLst>
          </p:cNvPr>
          <p:cNvSpPr>
            <a:spLocks noGrp="1"/>
          </p:cNvSpPr>
          <p:nvPr/>
        </p:nvSpPr>
        <p:spPr>
          <a:xfrm>
            <a:off x="6438900" y="43719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A95C57-E5CB-4B0A-AD05-84A6DE7FE10D}"/>
              </a:ext>
            </a:extLst>
          </p:cNvPr>
          <p:cNvSpPr>
            <a:spLocks noGrp="1"/>
          </p:cNvSpPr>
          <p:nvPr/>
        </p:nvSpPr>
        <p:spPr>
          <a:xfrm>
            <a:off x="6724650" y="43719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跨區分斷與恢復演練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BE5C748-B59F-4586-B942-A87AC85BD260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§4.3–§4.4</a:t>
            </a:r>
          </a:p>
        </p:txBody>
      </p:sp>
    </p:spTree>
    <p:extLst>
      <p:ext uri="{BB962C8B-B14F-4D97-AF65-F5344CB8AC3E}">
        <p14:creationId xmlns:p14="http://schemas.microsoft.com/office/powerpoint/2010/main" val="29481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FD01FF5-EFEA-4F12-B7EC-BA2EB9E00545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DECISION MATRIX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91FA4E-23E9-4E6A-9AF7-47A6A8E9C53F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決策表 ①｜業務適配與應用改造</a:t>
            </a:r>
          </a:p>
        </p:txBody>
      </p:sp>
      <p:cxnSp>
        <p:nvCxnSpPr>
          <p:cNvPr id="137" name="直線箭頭接點 136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7B6A8733-9661-4133-A7F2-12C195161D93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CA9C81-5D53-43E0-9880-04D6F9A437D2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O 可行　X 不適用或不建議　△ 有條件可行　待測 尚未排入測試矩陣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F8E5A5-E837-4C0E-B8FC-0D397D877A5C}"/>
              </a:ext>
            </a:extLst>
          </p:cNvPr>
          <p:cNvSpPr>
            <a:spLocks noGrp="1"/>
          </p:cNvSpPr>
          <p:nvPr/>
        </p:nvSpPr>
        <p:spPr>
          <a:xfrm>
            <a:off x="495300" y="1943100"/>
            <a:ext cx="24765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BBB196-256A-4709-B1D5-164478E16920}"/>
              </a:ext>
            </a:extLst>
          </p:cNvPr>
          <p:cNvSpPr>
            <a:spLocks noGrp="1"/>
          </p:cNvSpPr>
          <p:nvPr/>
        </p:nvSpPr>
        <p:spPr>
          <a:xfrm>
            <a:off x="571500" y="2047875"/>
            <a:ext cx="2324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大類／細項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9FC340-EBB6-4DA3-BFE3-88518A6F190B}"/>
              </a:ext>
            </a:extLst>
          </p:cNvPr>
          <p:cNvSpPr>
            <a:spLocks noGrp="1"/>
          </p:cNvSpPr>
          <p:nvPr/>
        </p:nvSpPr>
        <p:spPr>
          <a:xfrm>
            <a:off x="2971800" y="1943100"/>
            <a:ext cx="25717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6D4571-03BF-44F3-93BB-289F71896FF3}"/>
              </a:ext>
            </a:extLst>
          </p:cNvPr>
          <p:cNvSpPr>
            <a:spLocks noGrp="1"/>
          </p:cNvSpPr>
          <p:nvPr/>
        </p:nvSpPr>
        <p:spPr>
          <a:xfrm>
            <a:off x="3048000" y="2047875"/>
            <a:ext cx="2419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判讀重點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E5C96B-3863-4664-9C5C-F9379CDB7A8E}"/>
              </a:ext>
            </a:extLst>
          </p:cNvPr>
          <p:cNvSpPr>
            <a:spLocks noGrp="1"/>
          </p:cNvSpPr>
          <p:nvPr/>
        </p:nvSpPr>
        <p:spPr>
          <a:xfrm>
            <a:off x="5543550" y="1943100"/>
            <a:ext cx="1000125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A690C8-E895-4092-8797-AC77D0ABD6A4}"/>
              </a:ext>
            </a:extLst>
          </p:cNvPr>
          <p:cNvSpPr>
            <a:spLocks noGrp="1"/>
          </p:cNvSpPr>
          <p:nvPr/>
        </p:nvSpPr>
        <p:spPr>
          <a:xfrm>
            <a:off x="5619750" y="2047875"/>
            <a:ext cx="847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 MySQL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10391C-A889-4E8A-96BA-837C2480F42C}"/>
              </a:ext>
            </a:extLst>
          </p:cNvPr>
          <p:cNvSpPr>
            <a:spLocks noGrp="1"/>
          </p:cNvSpPr>
          <p:nvPr/>
        </p:nvSpPr>
        <p:spPr>
          <a:xfrm>
            <a:off x="6543675" y="1943100"/>
            <a:ext cx="1000125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3ED6C3-41DE-4C67-A6DB-4B6F0192A3F7}"/>
              </a:ext>
            </a:extLst>
          </p:cNvPr>
          <p:cNvSpPr>
            <a:spLocks noGrp="1"/>
          </p:cNvSpPr>
          <p:nvPr/>
        </p:nvSpPr>
        <p:spPr>
          <a:xfrm>
            <a:off x="6619875" y="2047875"/>
            <a:ext cx="847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B TiDB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954523A-D5E5-473A-88C2-CEEA038D4C72}"/>
              </a:ext>
            </a:extLst>
          </p:cNvPr>
          <p:cNvSpPr>
            <a:spLocks noGrp="1"/>
          </p:cNvSpPr>
          <p:nvPr/>
        </p:nvSpPr>
        <p:spPr>
          <a:xfrm>
            <a:off x="7543800" y="1943100"/>
            <a:ext cx="1000125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62982B-DE8B-4636-9A6E-9B06A0A8BAFE}"/>
              </a:ext>
            </a:extLst>
          </p:cNvPr>
          <p:cNvSpPr>
            <a:spLocks noGrp="1"/>
          </p:cNvSpPr>
          <p:nvPr/>
        </p:nvSpPr>
        <p:spPr>
          <a:xfrm>
            <a:off x="7620000" y="2047875"/>
            <a:ext cx="847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073"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 YugabyteDB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EF0F20-BDA3-41AE-8A65-182EC1D0F379}"/>
              </a:ext>
            </a:extLst>
          </p:cNvPr>
          <p:cNvSpPr>
            <a:spLocks noGrp="1"/>
          </p:cNvSpPr>
          <p:nvPr/>
        </p:nvSpPr>
        <p:spPr>
          <a:xfrm>
            <a:off x="8543925" y="1943100"/>
            <a:ext cx="1000125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DAC02DD-8E46-4C3B-9CF6-1AD28D29AEA3}"/>
              </a:ext>
            </a:extLst>
          </p:cNvPr>
          <p:cNvSpPr>
            <a:spLocks noGrp="1"/>
          </p:cNvSpPr>
          <p:nvPr/>
        </p:nvSpPr>
        <p:spPr>
          <a:xfrm>
            <a:off x="8620125" y="2047875"/>
            <a:ext cx="847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981"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D CockroachDB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3AE4284-4634-48F2-AC16-199976BFF4BD}"/>
              </a:ext>
            </a:extLst>
          </p:cNvPr>
          <p:cNvSpPr>
            <a:spLocks noGrp="1"/>
          </p:cNvSpPr>
          <p:nvPr/>
        </p:nvSpPr>
        <p:spPr>
          <a:xfrm>
            <a:off x="9544050" y="1943100"/>
            <a:ext cx="16954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35FC9C4-EB3F-4125-8E9A-873B3757BD01}"/>
              </a:ext>
            </a:extLst>
          </p:cNvPr>
          <p:cNvSpPr>
            <a:spLocks noGrp="1"/>
          </p:cNvSpPr>
          <p:nvPr/>
        </p:nvSpPr>
        <p:spPr>
          <a:xfrm>
            <a:off x="9620250" y="2047875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備註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A44CCB-5480-4A97-B287-379ACF4509F4}"/>
              </a:ext>
            </a:extLst>
          </p:cNvPr>
          <p:cNvSpPr>
            <a:spLocks noGrp="1"/>
          </p:cNvSpPr>
          <p:nvPr/>
        </p:nvSpPr>
        <p:spPr>
          <a:xfrm>
            <a:off x="495300" y="2343150"/>
            <a:ext cx="247650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73BD9F-AE11-4DA2-85F5-E7ADFBF6D83F}"/>
              </a:ext>
            </a:extLst>
          </p:cNvPr>
          <p:cNvSpPr>
            <a:spLocks noGrp="1"/>
          </p:cNvSpPr>
          <p:nvPr/>
        </p:nvSpPr>
        <p:spPr>
          <a:xfrm>
            <a:off x="561975" y="2447925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業務｜多寫多讀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C53B2F3-4658-45F3-B33A-D17AAB5E8A8E}"/>
              </a:ext>
            </a:extLst>
          </p:cNvPr>
          <p:cNvSpPr>
            <a:spLocks noGrp="1"/>
          </p:cNvSpPr>
          <p:nvPr/>
        </p:nvSpPr>
        <p:spPr>
          <a:xfrm>
            <a:off x="2971800" y="2343150"/>
            <a:ext cx="257175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09E3368-A520-4E30-9ED6-5D0C0B72593A}"/>
              </a:ext>
            </a:extLst>
          </p:cNvPr>
          <p:cNvSpPr>
            <a:spLocks noGrp="1"/>
          </p:cNvSpPr>
          <p:nvPr/>
        </p:nvSpPr>
        <p:spPr>
          <a:xfrm>
            <a:off x="3038475" y="2447925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雙區同時寫入的適用性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40D1D6-997B-4A6D-8160-4C54E548F79E}"/>
              </a:ext>
            </a:extLst>
          </p:cNvPr>
          <p:cNvSpPr>
            <a:spLocks noGrp="1"/>
          </p:cNvSpPr>
          <p:nvPr/>
        </p:nvSpPr>
        <p:spPr>
          <a:xfrm>
            <a:off x="5543550" y="234315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4E59933-D12B-4DD8-99FD-5FBBF21AB927}"/>
              </a:ext>
            </a:extLst>
          </p:cNvPr>
          <p:cNvSpPr>
            <a:spLocks noGrp="1"/>
          </p:cNvSpPr>
          <p:nvPr/>
        </p:nvSpPr>
        <p:spPr>
          <a:xfrm>
            <a:off x="5610225" y="244792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X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2A6F0CB-9EB5-4CA9-BEDA-F7AF6EEA65D4}"/>
              </a:ext>
            </a:extLst>
          </p:cNvPr>
          <p:cNvSpPr>
            <a:spLocks noGrp="1"/>
          </p:cNvSpPr>
          <p:nvPr/>
        </p:nvSpPr>
        <p:spPr>
          <a:xfrm>
            <a:off x="6543675" y="234315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4222290-BFDD-400C-81A8-86E4D3AE3245}"/>
              </a:ext>
            </a:extLst>
          </p:cNvPr>
          <p:cNvSpPr>
            <a:spLocks noGrp="1"/>
          </p:cNvSpPr>
          <p:nvPr/>
        </p:nvSpPr>
        <p:spPr>
          <a:xfrm>
            <a:off x="6610350" y="244792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9FF94E7-3455-4A91-BF47-081C4B4BD34D}"/>
              </a:ext>
            </a:extLst>
          </p:cNvPr>
          <p:cNvSpPr>
            <a:spLocks noGrp="1"/>
          </p:cNvSpPr>
          <p:nvPr/>
        </p:nvSpPr>
        <p:spPr>
          <a:xfrm>
            <a:off x="7543800" y="234315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BEDDB0E-E05D-49A4-9345-3078F063964A}"/>
              </a:ext>
            </a:extLst>
          </p:cNvPr>
          <p:cNvSpPr>
            <a:spLocks noGrp="1"/>
          </p:cNvSpPr>
          <p:nvPr/>
        </p:nvSpPr>
        <p:spPr>
          <a:xfrm>
            <a:off x="7610475" y="244792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△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4F53ABA-9436-467C-BBBA-9CA65C72ED06}"/>
              </a:ext>
            </a:extLst>
          </p:cNvPr>
          <p:cNvSpPr>
            <a:spLocks noGrp="1"/>
          </p:cNvSpPr>
          <p:nvPr/>
        </p:nvSpPr>
        <p:spPr>
          <a:xfrm>
            <a:off x="8543925" y="234315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94935E2-DD67-4EED-B110-8243C842F1A5}"/>
              </a:ext>
            </a:extLst>
          </p:cNvPr>
          <p:cNvSpPr>
            <a:spLocks noGrp="1"/>
          </p:cNvSpPr>
          <p:nvPr/>
        </p:nvSpPr>
        <p:spPr>
          <a:xfrm>
            <a:off x="8610600" y="244792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△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D0705D3-56FE-40D7-BE0A-CA9DCEC4ADE8}"/>
              </a:ext>
            </a:extLst>
          </p:cNvPr>
          <p:cNvSpPr>
            <a:spLocks noGrp="1"/>
          </p:cNvSpPr>
          <p:nvPr/>
        </p:nvSpPr>
        <p:spPr>
          <a:xfrm>
            <a:off x="9544050" y="2343150"/>
            <a:ext cx="169545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D1E48F2-0C02-4D55-9CF6-38D685D604D5}"/>
              </a:ext>
            </a:extLst>
          </p:cNvPr>
          <p:cNvSpPr>
            <a:spLocks noGrp="1"/>
          </p:cNvSpPr>
          <p:nvPr/>
        </p:nvSpPr>
        <p:spPr>
          <a:xfrm>
            <a:off x="9610725" y="2447925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需依一致性與重試策略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1AB2CE8-E1AB-4A06-8DA6-436972DA654C}"/>
              </a:ext>
            </a:extLst>
          </p:cNvPr>
          <p:cNvSpPr>
            <a:spLocks noGrp="1"/>
          </p:cNvSpPr>
          <p:nvPr/>
        </p:nvSpPr>
        <p:spPr>
          <a:xfrm>
            <a:off x="495300" y="2771775"/>
            <a:ext cx="24765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0C40C6E-497A-4E42-B956-EA16ED83DAB0}"/>
              </a:ext>
            </a:extLst>
          </p:cNvPr>
          <p:cNvSpPr>
            <a:spLocks noGrp="1"/>
          </p:cNvSpPr>
          <p:nvPr/>
        </p:nvSpPr>
        <p:spPr>
          <a:xfrm>
            <a:off x="561975" y="2876550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業務｜跨區 placement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07C5A49-BEE9-4AAB-8CA5-9DCEC26500FC}"/>
              </a:ext>
            </a:extLst>
          </p:cNvPr>
          <p:cNvSpPr>
            <a:spLocks noGrp="1"/>
          </p:cNvSpPr>
          <p:nvPr/>
        </p:nvSpPr>
        <p:spPr>
          <a:xfrm>
            <a:off x="2971800" y="2771775"/>
            <a:ext cx="25717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2F2D235-B769-4D9B-9876-2BD2C6E95F27}"/>
              </a:ext>
            </a:extLst>
          </p:cNvPr>
          <p:cNvSpPr>
            <a:spLocks noGrp="1"/>
          </p:cNvSpPr>
          <p:nvPr/>
        </p:nvSpPr>
        <p:spPr>
          <a:xfrm>
            <a:off x="3038475" y="287655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資料可依位置分布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777AFC2-522A-44FD-A322-9337103A6FE9}"/>
              </a:ext>
            </a:extLst>
          </p:cNvPr>
          <p:cNvSpPr>
            <a:spLocks noGrp="1"/>
          </p:cNvSpPr>
          <p:nvPr/>
        </p:nvSpPr>
        <p:spPr>
          <a:xfrm>
            <a:off x="5543550" y="277177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8CA008D-18C2-491F-BAAE-670B5B381182}"/>
              </a:ext>
            </a:extLst>
          </p:cNvPr>
          <p:cNvSpPr>
            <a:spLocks noGrp="1"/>
          </p:cNvSpPr>
          <p:nvPr/>
        </p:nvSpPr>
        <p:spPr>
          <a:xfrm>
            <a:off x="5610225" y="287655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X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6191C15-978B-41F8-B620-8426C11E823E}"/>
              </a:ext>
            </a:extLst>
          </p:cNvPr>
          <p:cNvSpPr>
            <a:spLocks noGrp="1"/>
          </p:cNvSpPr>
          <p:nvPr/>
        </p:nvSpPr>
        <p:spPr>
          <a:xfrm>
            <a:off x="6543675" y="277177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4700657-23D9-41A9-8E87-7BEE99B21488}"/>
              </a:ext>
            </a:extLst>
          </p:cNvPr>
          <p:cNvSpPr>
            <a:spLocks noGrp="1"/>
          </p:cNvSpPr>
          <p:nvPr/>
        </p:nvSpPr>
        <p:spPr>
          <a:xfrm>
            <a:off x="6610350" y="287655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918D1BE-3683-4757-B719-B9C137BD8124}"/>
              </a:ext>
            </a:extLst>
          </p:cNvPr>
          <p:cNvSpPr>
            <a:spLocks noGrp="1"/>
          </p:cNvSpPr>
          <p:nvPr/>
        </p:nvSpPr>
        <p:spPr>
          <a:xfrm>
            <a:off x="7543800" y="277177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DF975AC-2139-4FAB-A3A5-0812C1BF73C9}"/>
              </a:ext>
            </a:extLst>
          </p:cNvPr>
          <p:cNvSpPr>
            <a:spLocks noGrp="1"/>
          </p:cNvSpPr>
          <p:nvPr/>
        </p:nvSpPr>
        <p:spPr>
          <a:xfrm>
            <a:off x="7610475" y="287655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74971D4-46DB-4E95-8D90-FB0176340E55}"/>
              </a:ext>
            </a:extLst>
          </p:cNvPr>
          <p:cNvSpPr>
            <a:spLocks noGrp="1"/>
          </p:cNvSpPr>
          <p:nvPr/>
        </p:nvSpPr>
        <p:spPr>
          <a:xfrm>
            <a:off x="8543925" y="277177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E9CD807-FF54-41AA-87BE-62DB1798393A}"/>
              </a:ext>
            </a:extLst>
          </p:cNvPr>
          <p:cNvSpPr>
            <a:spLocks noGrp="1"/>
          </p:cNvSpPr>
          <p:nvPr/>
        </p:nvSpPr>
        <p:spPr>
          <a:xfrm>
            <a:off x="8610600" y="287655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E0478D0-2504-4341-8561-0143EB5B47A1}"/>
              </a:ext>
            </a:extLst>
          </p:cNvPr>
          <p:cNvSpPr>
            <a:spLocks noGrp="1"/>
          </p:cNvSpPr>
          <p:nvPr/>
        </p:nvSpPr>
        <p:spPr>
          <a:xfrm>
            <a:off x="9544050" y="2771775"/>
            <a:ext cx="16954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D6098A1-5571-4959-8A24-F2A5367AA819}"/>
              </a:ext>
            </a:extLst>
          </p:cNvPr>
          <p:cNvSpPr>
            <a:spLocks noGrp="1"/>
          </p:cNvSpPr>
          <p:nvPr/>
        </p:nvSpPr>
        <p:spPr>
          <a:xfrm>
            <a:off x="9610725" y="287655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Galera 原生受限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C441DF7-F43B-44DB-837A-BEF289B689AF}"/>
              </a:ext>
            </a:extLst>
          </p:cNvPr>
          <p:cNvSpPr>
            <a:spLocks noGrp="1"/>
          </p:cNvSpPr>
          <p:nvPr/>
        </p:nvSpPr>
        <p:spPr>
          <a:xfrm>
            <a:off x="495300" y="3200400"/>
            <a:ext cx="247650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16F213E-64DA-4B36-B69A-AC228231F09C}"/>
              </a:ext>
            </a:extLst>
          </p:cNvPr>
          <p:cNvSpPr>
            <a:spLocks noGrp="1"/>
          </p:cNvSpPr>
          <p:nvPr/>
        </p:nvSpPr>
        <p:spPr>
          <a:xfrm>
            <a:off x="561975" y="3305175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業務｜跨區 A/S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6FB72AB-F183-43A1-A834-6CBFF133D28B}"/>
              </a:ext>
            </a:extLst>
          </p:cNvPr>
          <p:cNvSpPr>
            <a:spLocks noGrp="1"/>
          </p:cNvSpPr>
          <p:nvPr/>
        </p:nvSpPr>
        <p:spPr>
          <a:xfrm>
            <a:off x="2971800" y="3200400"/>
            <a:ext cx="257175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4B6322D-281A-483B-8E26-57B7308EE1B0}"/>
              </a:ext>
            </a:extLst>
          </p:cNvPr>
          <p:cNvSpPr>
            <a:spLocks noGrp="1"/>
          </p:cNvSpPr>
          <p:nvPr/>
        </p:nvSpPr>
        <p:spPr>
          <a:xfrm>
            <a:off x="3038475" y="3305175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單寫加跨區副本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AEDBD8A-F8F6-466C-BE52-8C561308B97A}"/>
              </a:ext>
            </a:extLst>
          </p:cNvPr>
          <p:cNvSpPr>
            <a:spLocks noGrp="1"/>
          </p:cNvSpPr>
          <p:nvPr/>
        </p:nvSpPr>
        <p:spPr>
          <a:xfrm>
            <a:off x="5543550" y="320040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447392F-AF52-482B-9662-61DA8BC41680}"/>
              </a:ext>
            </a:extLst>
          </p:cNvPr>
          <p:cNvSpPr>
            <a:spLocks noGrp="1"/>
          </p:cNvSpPr>
          <p:nvPr/>
        </p:nvSpPr>
        <p:spPr>
          <a:xfrm>
            <a:off x="5610225" y="330517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△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6C08ED0-6BCD-48F8-ADB0-D4D72E456141}"/>
              </a:ext>
            </a:extLst>
          </p:cNvPr>
          <p:cNvSpPr>
            <a:spLocks noGrp="1"/>
          </p:cNvSpPr>
          <p:nvPr/>
        </p:nvSpPr>
        <p:spPr>
          <a:xfrm>
            <a:off x="6543675" y="320040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243E1D1-55F7-49A3-A415-994144C86DFB}"/>
              </a:ext>
            </a:extLst>
          </p:cNvPr>
          <p:cNvSpPr>
            <a:spLocks noGrp="1"/>
          </p:cNvSpPr>
          <p:nvPr/>
        </p:nvSpPr>
        <p:spPr>
          <a:xfrm>
            <a:off x="6610350" y="330517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1D15E80-755D-4718-A96F-3F766FEC6A6F}"/>
              </a:ext>
            </a:extLst>
          </p:cNvPr>
          <p:cNvSpPr>
            <a:spLocks noGrp="1"/>
          </p:cNvSpPr>
          <p:nvPr/>
        </p:nvSpPr>
        <p:spPr>
          <a:xfrm>
            <a:off x="7543800" y="320040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66730C1-9D44-4BDD-92F9-855B25191F3F}"/>
              </a:ext>
            </a:extLst>
          </p:cNvPr>
          <p:cNvSpPr>
            <a:spLocks noGrp="1"/>
          </p:cNvSpPr>
          <p:nvPr/>
        </p:nvSpPr>
        <p:spPr>
          <a:xfrm>
            <a:off x="7610475" y="330517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BD578B1-0C12-488C-AEB4-482B08A8569D}"/>
              </a:ext>
            </a:extLst>
          </p:cNvPr>
          <p:cNvSpPr>
            <a:spLocks noGrp="1"/>
          </p:cNvSpPr>
          <p:nvPr/>
        </p:nvSpPr>
        <p:spPr>
          <a:xfrm>
            <a:off x="8543925" y="320040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4BB4CB1-566B-4C61-B203-922814D19F02}"/>
              </a:ext>
            </a:extLst>
          </p:cNvPr>
          <p:cNvSpPr>
            <a:spLocks noGrp="1"/>
          </p:cNvSpPr>
          <p:nvPr/>
        </p:nvSpPr>
        <p:spPr>
          <a:xfrm>
            <a:off x="8610600" y="330517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7B0A971-9B36-498C-8A70-8F39DACD8E45}"/>
              </a:ext>
            </a:extLst>
          </p:cNvPr>
          <p:cNvSpPr>
            <a:spLocks noGrp="1"/>
          </p:cNvSpPr>
          <p:nvPr/>
        </p:nvSpPr>
        <p:spPr>
          <a:xfrm>
            <a:off x="9544050" y="3200400"/>
            <a:ext cx="169545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2FD40CC-4E2F-4400-AA45-61E6349DB2C4}"/>
              </a:ext>
            </a:extLst>
          </p:cNvPr>
          <p:cNvSpPr>
            <a:spLocks noGrp="1"/>
          </p:cNvSpPr>
          <p:nvPr/>
        </p:nvSpPr>
        <p:spPr>
          <a:xfrm>
            <a:off x="9610725" y="3305175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需量測切換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1BCF862-8D7F-4C48-8C46-3DFD919C8835}"/>
              </a:ext>
            </a:extLst>
          </p:cNvPr>
          <p:cNvSpPr>
            <a:spLocks noGrp="1"/>
          </p:cNvSpPr>
          <p:nvPr/>
        </p:nvSpPr>
        <p:spPr>
          <a:xfrm>
            <a:off x="495300" y="3629025"/>
            <a:ext cx="24765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2C59702-E4DA-4264-A399-F7B9A1A5EB22}"/>
              </a:ext>
            </a:extLst>
          </p:cNvPr>
          <p:cNvSpPr>
            <a:spLocks noGrp="1"/>
          </p:cNvSpPr>
          <p:nvPr/>
        </p:nvSpPr>
        <p:spPr>
          <a:xfrm>
            <a:off x="561975" y="3733800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業務｜跨區 A/A-RO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6CF5AB6-9FE0-4F9D-BF4D-8BFAA0423FDF}"/>
              </a:ext>
            </a:extLst>
          </p:cNvPr>
          <p:cNvSpPr>
            <a:spLocks noGrp="1"/>
          </p:cNvSpPr>
          <p:nvPr/>
        </p:nvSpPr>
        <p:spPr>
          <a:xfrm>
            <a:off x="2971800" y="3629025"/>
            <a:ext cx="25717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E3F35E0-FC95-4CEE-93E1-3C9B21B5548D}"/>
              </a:ext>
            </a:extLst>
          </p:cNvPr>
          <p:cNvSpPr>
            <a:spLocks noGrp="1"/>
          </p:cNvSpPr>
          <p:nvPr/>
        </p:nvSpPr>
        <p:spPr>
          <a:xfrm>
            <a:off x="3038475" y="37338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跨區就近讀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69B02ED-4DBE-4A6C-9787-F28E5DC7BA0B}"/>
              </a:ext>
            </a:extLst>
          </p:cNvPr>
          <p:cNvSpPr>
            <a:spLocks noGrp="1"/>
          </p:cNvSpPr>
          <p:nvPr/>
        </p:nvSpPr>
        <p:spPr>
          <a:xfrm>
            <a:off x="5543550" y="362902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D8419D8-73A4-4DB5-9763-C5252FAA27D6}"/>
              </a:ext>
            </a:extLst>
          </p:cNvPr>
          <p:cNvSpPr>
            <a:spLocks noGrp="1"/>
          </p:cNvSpPr>
          <p:nvPr/>
        </p:nvSpPr>
        <p:spPr>
          <a:xfrm>
            <a:off x="5610225" y="373380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X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2F244D2-E354-4E94-A2ED-C1106840C9AA}"/>
              </a:ext>
            </a:extLst>
          </p:cNvPr>
          <p:cNvSpPr>
            <a:spLocks noGrp="1"/>
          </p:cNvSpPr>
          <p:nvPr/>
        </p:nvSpPr>
        <p:spPr>
          <a:xfrm>
            <a:off x="6543675" y="362902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A931F45-A256-48C6-BC04-13FEABC96F17}"/>
              </a:ext>
            </a:extLst>
          </p:cNvPr>
          <p:cNvSpPr>
            <a:spLocks noGrp="1"/>
          </p:cNvSpPr>
          <p:nvPr/>
        </p:nvSpPr>
        <p:spPr>
          <a:xfrm>
            <a:off x="6610350" y="373380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B103B11-3DDD-4B8D-87F4-9399291F3212}"/>
              </a:ext>
            </a:extLst>
          </p:cNvPr>
          <p:cNvSpPr>
            <a:spLocks noGrp="1"/>
          </p:cNvSpPr>
          <p:nvPr/>
        </p:nvSpPr>
        <p:spPr>
          <a:xfrm>
            <a:off x="7543800" y="362902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A28738FE-EF94-4C7F-A588-DDD8AF346C32}"/>
              </a:ext>
            </a:extLst>
          </p:cNvPr>
          <p:cNvSpPr>
            <a:spLocks noGrp="1"/>
          </p:cNvSpPr>
          <p:nvPr/>
        </p:nvSpPr>
        <p:spPr>
          <a:xfrm>
            <a:off x="7610475" y="373380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D3BF982-F298-465B-B250-4E9F63F074B3}"/>
              </a:ext>
            </a:extLst>
          </p:cNvPr>
          <p:cNvSpPr>
            <a:spLocks noGrp="1"/>
          </p:cNvSpPr>
          <p:nvPr/>
        </p:nvSpPr>
        <p:spPr>
          <a:xfrm>
            <a:off x="8543925" y="362902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A513823-B736-4451-B863-ECEB4D262103}"/>
              </a:ext>
            </a:extLst>
          </p:cNvPr>
          <p:cNvSpPr>
            <a:spLocks noGrp="1"/>
          </p:cNvSpPr>
          <p:nvPr/>
        </p:nvSpPr>
        <p:spPr>
          <a:xfrm>
            <a:off x="8610600" y="373380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0D592DE-6BA2-477D-A62E-F93BDEFEFF92}"/>
              </a:ext>
            </a:extLst>
          </p:cNvPr>
          <p:cNvSpPr>
            <a:spLocks noGrp="1"/>
          </p:cNvSpPr>
          <p:nvPr/>
        </p:nvSpPr>
        <p:spPr>
          <a:xfrm>
            <a:off x="9544050" y="3629025"/>
            <a:ext cx="16954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79441E7-7DB4-46A3-82EA-5B670B7236F2}"/>
              </a:ext>
            </a:extLst>
          </p:cNvPr>
          <p:cNvSpPr>
            <a:spLocks noGrp="1"/>
          </p:cNvSpPr>
          <p:nvPr/>
        </p:nvSpPr>
        <p:spPr>
          <a:xfrm>
            <a:off x="9610725" y="373380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需驗 near-read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43328C9-BB8F-4286-99AE-214FC902812A}"/>
              </a:ext>
            </a:extLst>
          </p:cNvPr>
          <p:cNvSpPr>
            <a:spLocks noGrp="1"/>
          </p:cNvSpPr>
          <p:nvPr/>
        </p:nvSpPr>
        <p:spPr>
          <a:xfrm>
            <a:off x="495300" y="4057650"/>
            <a:ext cx="247650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522C599-364E-4BFB-B914-99589E9E1C3A}"/>
              </a:ext>
            </a:extLst>
          </p:cNvPr>
          <p:cNvSpPr>
            <a:spLocks noGrp="1"/>
          </p:cNvSpPr>
          <p:nvPr/>
        </p:nvSpPr>
        <p:spPr>
          <a:xfrm>
            <a:off x="561975" y="4162425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業務｜單機房多寫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01F1742-7235-4A11-8E6D-70C6EECFAA59}"/>
              </a:ext>
            </a:extLst>
          </p:cNvPr>
          <p:cNvSpPr>
            <a:spLocks noGrp="1"/>
          </p:cNvSpPr>
          <p:nvPr/>
        </p:nvSpPr>
        <p:spPr>
          <a:xfrm>
            <a:off x="2971800" y="4057650"/>
            <a:ext cx="257175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E2617CEE-BAE9-4CE0-ACA6-2727CB365EA8}"/>
              </a:ext>
            </a:extLst>
          </p:cNvPr>
          <p:cNvSpPr>
            <a:spLocks noGrp="1"/>
          </p:cNvSpPr>
          <p:nvPr/>
        </p:nvSpPr>
        <p:spPr>
          <a:xfrm>
            <a:off x="3038475" y="4162425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同城多節點寫入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16718CD0-AA67-4495-91E3-A3BB612AED9E}"/>
              </a:ext>
            </a:extLst>
          </p:cNvPr>
          <p:cNvSpPr>
            <a:spLocks noGrp="1"/>
          </p:cNvSpPr>
          <p:nvPr/>
        </p:nvSpPr>
        <p:spPr>
          <a:xfrm>
            <a:off x="5543550" y="405765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43C7C8D-FF64-427A-B766-54C1A6BD1A03}"/>
              </a:ext>
            </a:extLst>
          </p:cNvPr>
          <p:cNvSpPr>
            <a:spLocks noGrp="1"/>
          </p:cNvSpPr>
          <p:nvPr/>
        </p:nvSpPr>
        <p:spPr>
          <a:xfrm>
            <a:off x="5610225" y="416242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△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A980FC34-FFDC-4501-BF5F-0B51C195F98E}"/>
              </a:ext>
            </a:extLst>
          </p:cNvPr>
          <p:cNvSpPr>
            <a:spLocks noGrp="1"/>
          </p:cNvSpPr>
          <p:nvPr/>
        </p:nvSpPr>
        <p:spPr>
          <a:xfrm>
            <a:off x="6543675" y="405765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C099D97-D18C-470E-ADEF-EAEF34BF1D82}"/>
              </a:ext>
            </a:extLst>
          </p:cNvPr>
          <p:cNvSpPr>
            <a:spLocks noGrp="1"/>
          </p:cNvSpPr>
          <p:nvPr/>
        </p:nvSpPr>
        <p:spPr>
          <a:xfrm>
            <a:off x="6610350" y="416242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4E0DD919-AE20-46C5-A439-657628EB3115}"/>
              </a:ext>
            </a:extLst>
          </p:cNvPr>
          <p:cNvSpPr>
            <a:spLocks noGrp="1"/>
          </p:cNvSpPr>
          <p:nvPr/>
        </p:nvSpPr>
        <p:spPr>
          <a:xfrm>
            <a:off x="7543800" y="405765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0827427-F9FF-4107-90CE-49D33CFBB64B}"/>
              </a:ext>
            </a:extLst>
          </p:cNvPr>
          <p:cNvSpPr>
            <a:spLocks noGrp="1"/>
          </p:cNvSpPr>
          <p:nvPr/>
        </p:nvSpPr>
        <p:spPr>
          <a:xfrm>
            <a:off x="7610475" y="416242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95645518-1711-46ED-8A67-1EC0A1D28668}"/>
              </a:ext>
            </a:extLst>
          </p:cNvPr>
          <p:cNvSpPr>
            <a:spLocks noGrp="1"/>
          </p:cNvSpPr>
          <p:nvPr/>
        </p:nvSpPr>
        <p:spPr>
          <a:xfrm>
            <a:off x="8543925" y="405765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65A7A70-2729-4251-938C-321E610A8BE6}"/>
              </a:ext>
            </a:extLst>
          </p:cNvPr>
          <p:cNvSpPr>
            <a:spLocks noGrp="1"/>
          </p:cNvSpPr>
          <p:nvPr/>
        </p:nvSpPr>
        <p:spPr>
          <a:xfrm>
            <a:off x="8610600" y="416242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255F655C-7D2E-42F3-AC78-85D6C3E624FA}"/>
              </a:ext>
            </a:extLst>
          </p:cNvPr>
          <p:cNvSpPr>
            <a:spLocks noGrp="1"/>
          </p:cNvSpPr>
          <p:nvPr/>
        </p:nvSpPr>
        <p:spPr>
          <a:xfrm>
            <a:off x="9544050" y="4057650"/>
            <a:ext cx="169545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1340E83-BF96-4A8D-B8D3-03CDB50FAA39}"/>
              </a:ext>
            </a:extLst>
          </p:cNvPr>
          <p:cNvSpPr>
            <a:spLocks noGrp="1"/>
          </p:cNvSpPr>
          <p:nvPr/>
        </p:nvSpPr>
        <p:spPr>
          <a:xfrm>
            <a:off x="9610725" y="4162425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需控制衝突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465F4B27-1502-4565-9658-3E44FF4839DD}"/>
              </a:ext>
            </a:extLst>
          </p:cNvPr>
          <p:cNvSpPr>
            <a:spLocks noGrp="1"/>
          </p:cNvSpPr>
          <p:nvPr/>
        </p:nvSpPr>
        <p:spPr>
          <a:xfrm>
            <a:off x="495300" y="4486275"/>
            <a:ext cx="24765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6948DBFE-D6A5-4D71-8933-939DB3FC9668}"/>
              </a:ext>
            </a:extLst>
          </p:cNvPr>
          <p:cNvSpPr>
            <a:spLocks noGrp="1"/>
          </p:cNvSpPr>
          <p:nvPr/>
        </p:nvSpPr>
        <p:spPr>
          <a:xfrm>
            <a:off x="561975" y="4591050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應用｜協定不變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AB3404E-BEA9-44E1-A704-7D3E3C8D2560}"/>
              </a:ext>
            </a:extLst>
          </p:cNvPr>
          <p:cNvSpPr>
            <a:spLocks noGrp="1"/>
          </p:cNvSpPr>
          <p:nvPr/>
        </p:nvSpPr>
        <p:spPr>
          <a:xfrm>
            <a:off x="2971800" y="4486275"/>
            <a:ext cx="25717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B471A31B-52F6-4D3D-8F42-B76A0318FE30}"/>
              </a:ext>
            </a:extLst>
          </p:cNvPr>
          <p:cNvSpPr>
            <a:spLocks noGrp="1"/>
          </p:cNvSpPr>
          <p:nvPr/>
        </p:nvSpPr>
        <p:spPr>
          <a:xfrm>
            <a:off x="3038475" y="459105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免改 driver／ORM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EDDC6BC-A873-4EE0-8247-77824BB711DA}"/>
              </a:ext>
            </a:extLst>
          </p:cNvPr>
          <p:cNvSpPr>
            <a:spLocks noGrp="1"/>
          </p:cNvSpPr>
          <p:nvPr/>
        </p:nvSpPr>
        <p:spPr>
          <a:xfrm>
            <a:off x="5543550" y="448627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4D8A1709-C9BC-43D9-98A3-C8073238FCC3}"/>
              </a:ext>
            </a:extLst>
          </p:cNvPr>
          <p:cNvSpPr>
            <a:spLocks noGrp="1"/>
          </p:cNvSpPr>
          <p:nvPr/>
        </p:nvSpPr>
        <p:spPr>
          <a:xfrm>
            <a:off x="5610225" y="459105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A8F04EB1-8913-405B-9AD1-E5FB6899ECFB}"/>
              </a:ext>
            </a:extLst>
          </p:cNvPr>
          <p:cNvSpPr>
            <a:spLocks noGrp="1"/>
          </p:cNvSpPr>
          <p:nvPr/>
        </p:nvSpPr>
        <p:spPr>
          <a:xfrm>
            <a:off x="6543675" y="448627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3D4875CB-8FEF-43D5-866E-09F257DA6DEB}"/>
              </a:ext>
            </a:extLst>
          </p:cNvPr>
          <p:cNvSpPr>
            <a:spLocks noGrp="1"/>
          </p:cNvSpPr>
          <p:nvPr/>
        </p:nvSpPr>
        <p:spPr>
          <a:xfrm>
            <a:off x="6610350" y="459105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E6A42E6-99F5-4239-A068-FB79DBBE25CF}"/>
              </a:ext>
            </a:extLst>
          </p:cNvPr>
          <p:cNvSpPr>
            <a:spLocks noGrp="1"/>
          </p:cNvSpPr>
          <p:nvPr/>
        </p:nvSpPr>
        <p:spPr>
          <a:xfrm>
            <a:off x="7543800" y="448627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F4CF3B8-3A98-4D64-B1DF-0E39F717A39E}"/>
              </a:ext>
            </a:extLst>
          </p:cNvPr>
          <p:cNvSpPr>
            <a:spLocks noGrp="1"/>
          </p:cNvSpPr>
          <p:nvPr/>
        </p:nvSpPr>
        <p:spPr>
          <a:xfrm>
            <a:off x="7610475" y="459105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D85E4359-EBCC-491E-9013-CB52ED0B4D61}"/>
              </a:ext>
            </a:extLst>
          </p:cNvPr>
          <p:cNvSpPr>
            <a:spLocks noGrp="1"/>
          </p:cNvSpPr>
          <p:nvPr/>
        </p:nvSpPr>
        <p:spPr>
          <a:xfrm>
            <a:off x="8543925" y="448627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DB8A1894-43C4-4EFA-AE9F-7A05ECF4DF22}"/>
              </a:ext>
            </a:extLst>
          </p:cNvPr>
          <p:cNvSpPr>
            <a:spLocks noGrp="1"/>
          </p:cNvSpPr>
          <p:nvPr/>
        </p:nvSpPr>
        <p:spPr>
          <a:xfrm>
            <a:off x="8610600" y="459105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72A04AD2-F9C9-4668-9660-8F6E73C63332}"/>
              </a:ext>
            </a:extLst>
          </p:cNvPr>
          <p:cNvSpPr>
            <a:spLocks noGrp="1"/>
          </p:cNvSpPr>
          <p:nvPr/>
        </p:nvSpPr>
        <p:spPr>
          <a:xfrm>
            <a:off x="9544050" y="4486275"/>
            <a:ext cx="16954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403082C0-783A-410E-92C5-5D1407B47B36}"/>
              </a:ext>
            </a:extLst>
          </p:cNvPr>
          <p:cNvSpPr>
            <a:spLocks noGrp="1"/>
          </p:cNvSpPr>
          <p:nvPr/>
        </p:nvSpPr>
        <p:spPr>
          <a:xfrm>
            <a:off x="9610725" y="459105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仍需相容性測試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C5A34C1-E6D8-4C2F-A205-A950C6B3828F}"/>
              </a:ext>
            </a:extLst>
          </p:cNvPr>
          <p:cNvSpPr>
            <a:spLocks noGrp="1"/>
          </p:cNvSpPr>
          <p:nvPr/>
        </p:nvSpPr>
        <p:spPr>
          <a:xfrm>
            <a:off x="495300" y="4914900"/>
            <a:ext cx="247650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08597E1-9EAA-4972-8E30-2B78A4CF2ED7}"/>
              </a:ext>
            </a:extLst>
          </p:cNvPr>
          <p:cNvSpPr>
            <a:spLocks noGrp="1"/>
          </p:cNvSpPr>
          <p:nvPr/>
        </p:nvSpPr>
        <p:spPr>
          <a:xfrm>
            <a:off x="561975" y="5019675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應用｜SQL／ORM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63CBE4AA-4446-4D97-97D7-462E354F510F}"/>
              </a:ext>
            </a:extLst>
          </p:cNvPr>
          <p:cNvSpPr>
            <a:spLocks noGrp="1"/>
          </p:cNvSpPr>
          <p:nvPr/>
        </p:nvSpPr>
        <p:spPr>
          <a:xfrm>
            <a:off x="2971800" y="4914900"/>
            <a:ext cx="257175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908B5E10-BC61-4AA6-B54A-4D503C7F9877}"/>
              </a:ext>
            </a:extLst>
          </p:cNvPr>
          <p:cNvSpPr>
            <a:spLocks noGrp="1"/>
          </p:cNvSpPr>
          <p:nvPr/>
        </p:nvSpPr>
        <p:spPr>
          <a:xfrm>
            <a:off x="3038475" y="5019675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現行應用語法矩陣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7451B68A-F77D-423A-8624-F2EC4750E1D8}"/>
              </a:ext>
            </a:extLst>
          </p:cNvPr>
          <p:cNvSpPr>
            <a:spLocks noGrp="1"/>
          </p:cNvSpPr>
          <p:nvPr/>
        </p:nvSpPr>
        <p:spPr>
          <a:xfrm>
            <a:off x="5543550" y="491490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6AE63E3A-7A99-46B5-906E-7553E06BB9E3}"/>
              </a:ext>
            </a:extLst>
          </p:cNvPr>
          <p:cNvSpPr>
            <a:spLocks noGrp="1"/>
          </p:cNvSpPr>
          <p:nvPr/>
        </p:nvSpPr>
        <p:spPr>
          <a:xfrm>
            <a:off x="5610225" y="501967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待測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4E173648-4394-4B18-901E-298CDB084CE4}"/>
              </a:ext>
            </a:extLst>
          </p:cNvPr>
          <p:cNvSpPr>
            <a:spLocks noGrp="1"/>
          </p:cNvSpPr>
          <p:nvPr/>
        </p:nvSpPr>
        <p:spPr>
          <a:xfrm>
            <a:off x="6543675" y="491490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69CB859-004C-4674-B55C-1155D95FDFF1}"/>
              </a:ext>
            </a:extLst>
          </p:cNvPr>
          <p:cNvSpPr>
            <a:spLocks noGrp="1"/>
          </p:cNvSpPr>
          <p:nvPr/>
        </p:nvSpPr>
        <p:spPr>
          <a:xfrm>
            <a:off x="6610350" y="501967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待測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DA104A72-3ADE-4B78-BF99-5D5E5A33BD55}"/>
              </a:ext>
            </a:extLst>
          </p:cNvPr>
          <p:cNvSpPr>
            <a:spLocks noGrp="1"/>
          </p:cNvSpPr>
          <p:nvPr/>
        </p:nvSpPr>
        <p:spPr>
          <a:xfrm>
            <a:off x="7543800" y="491490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53A20D01-382F-446E-9182-2A7B01DE0C06}"/>
              </a:ext>
            </a:extLst>
          </p:cNvPr>
          <p:cNvSpPr>
            <a:spLocks noGrp="1"/>
          </p:cNvSpPr>
          <p:nvPr/>
        </p:nvSpPr>
        <p:spPr>
          <a:xfrm>
            <a:off x="7610475" y="501967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待測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DFBADB3B-2C54-4EA8-BCC0-EC9F80AFA737}"/>
              </a:ext>
            </a:extLst>
          </p:cNvPr>
          <p:cNvSpPr>
            <a:spLocks noGrp="1"/>
          </p:cNvSpPr>
          <p:nvPr/>
        </p:nvSpPr>
        <p:spPr>
          <a:xfrm>
            <a:off x="8543925" y="491490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A2A6B04-36F6-4418-A5DF-8CD13D99AC99}"/>
              </a:ext>
            </a:extLst>
          </p:cNvPr>
          <p:cNvSpPr>
            <a:spLocks noGrp="1"/>
          </p:cNvSpPr>
          <p:nvPr/>
        </p:nvSpPr>
        <p:spPr>
          <a:xfrm>
            <a:off x="8610600" y="501967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待測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66D6E828-BDFB-4934-9C23-8255537E9F13}"/>
              </a:ext>
            </a:extLst>
          </p:cNvPr>
          <p:cNvSpPr>
            <a:spLocks noGrp="1"/>
          </p:cNvSpPr>
          <p:nvPr/>
        </p:nvSpPr>
        <p:spPr>
          <a:xfrm>
            <a:off x="9544050" y="4914900"/>
            <a:ext cx="169545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A7931623-3EFA-4485-B3CC-FDB2C1C31B43}"/>
              </a:ext>
            </a:extLst>
          </p:cNvPr>
          <p:cNvSpPr>
            <a:spLocks noGrp="1"/>
          </p:cNvSpPr>
          <p:nvPr/>
        </p:nvSpPr>
        <p:spPr>
          <a:xfrm>
            <a:off x="9610725" y="5019675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需真實案例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3024EF5F-74AD-4CE1-9B5C-25F3396F523E}"/>
              </a:ext>
            </a:extLst>
          </p:cNvPr>
          <p:cNvSpPr>
            <a:spLocks noGrp="1"/>
          </p:cNvSpPr>
          <p:nvPr/>
        </p:nvSpPr>
        <p:spPr>
          <a:xfrm>
            <a:off x="495300" y="5343525"/>
            <a:ext cx="24765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4D99BC7-C352-46D4-90D2-4CA5C0182920}"/>
              </a:ext>
            </a:extLst>
          </p:cNvPr>
          <p:cNvSpPr>
            <a:spLocks noGrp="1"/>
          </p:cNvSpPr>
          <p:nvPr/>
        </p:nvSpPr>
        <p:spPr>
          <a:xfrm>
            <a:off x="561975" y="5448300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應用｜重試成本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1130C48-365E-4EE1-8B78-69753C15A45F}"/>
              </a:ext>
            </a:extLst>
          </p:cNvPr>
          <p:cNvSpPr>
            <a:spLocks noGrp="1"/>
          </p:cNvSpPr>
          <p:nvPr/>
        </p:nvSpPr>
        <p:spPr>
          <a:xfrm>
            <a:off x="2971800" y="5343525"/>
            <a:ext cx="25717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DAB7BC38-BE95-4179-9BAB-3F9A885C9576}"/>
              </a:ext>
            </a:extLst>
          </p:cNvPr>
          <p:cNvSpPr>
            <a:spLocks noGrp="1"/>
          </p:cNvSpPr>
          <p:nvPr/>
        </p:nvSpPr>
        <p:spPr>
          <a:xfrm>
            <a:off x="3038475" y="5448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錯誤與重試改造量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EE73285A-85BD-4B2E-BF11-ECF801FA8B7B}"/>
              </a:ext>
            </a:extLst>
          </p:cNvPr>
          <p:cNvSpPr>
            <a:spLocks noGrp="1"/>
          </p:cNvSpPr>
          <p:nvPr/>
        </p:nvSpPr>
        <p:spPr>
          <a:xfrm>
            <a:off x="5543550" y="534352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59C0C1D9-0609-40EE-A861-7DA7EA9C2DFF}"/>
              </a:ext>
            </a:extLst>
          </p:cNvPr>
          <p:cNvSpPr>
            <a:spLocks noGrp="1"/>
          </p:cNvSpPr>
          <p:nvPr/>
        </p:nvSpPr>
        <p:spPr>
          <a:xfrm>
            <a:off x="5610225" y="544830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高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3BF3556E-FD46-4360-990C-7CB5BD07A0C3}"/>
              </a:ext>
            </a:extLst>
          </p:cNvPr>
          <p:cNvSpPr>
            <a:spLocks noGrp="1"/>
          </p:cNvSpPr>
          <p:nvPr/>
        </p:nvSpPr>
        <p:spPr>
          <a:xfrm>
            <a:off x="6543675" y="534352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377AC9B6-A0A2-4DEA-A48F-98DBCF726FFE}"/>
              </a:ext>
            </a:extLst>
          </p:cNvPr>
          <p:cNvSpPr>
            <a:spLocks noGrp="1"/>
          </p:cNvSpPr>
          <p:nvPr/>
        </p:nvSpPr>
        <p:spPr>
          <a:xfrm>
            <a:off x="6610350" y="544830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低</a:t>
            </a: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FC595980-858C-408A-A9BB-734120EC076B}"/>
              </a:ext>
            </a:extLst>
          </p:cNvPr>
          <p:cNvSpPr>
            <a:spLocks noGrp="1"/>
          </p:cNvSpPr>
          <p:nvPr/>
        </p:nvSpPr>
        <p:spPr>
          <a:xfrm>
            <a:off x="7543800" y="534352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F8343283-C67B-4DD0-9B8B-FB5F4FBB043A}"/>
              </a:ext>
            </a:extLst>
          </p:cNvPr>
          <p:cNvSpPr>
            <a:spLocks noGrp="1"/>
          </p:cNvSpPr>
          <p:nvPr/>
        </p:nvSpPr>
        <p:spPr>
          <a:xfrm>
            <a:off x="7610475" y="544830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中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2F4EDAD4-893B-45DC-86FC-03AFA7C0A116}"/>
              </a:ext>
            </a:extLst>
          </p:cNvPr>
          <p:cNvSpPr>
            <a:spLocks noGrp="1"/>
          </p:cNvSpPr>
          <p:nvPr/>
        </p:nvSpPr>
        <p:spPr>
          <a:xfrm>
            <a:off x="8543925" y="534352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5F15EF53-D72F-44A7-B54C-FA5020075230}"/>
              </a:ext>
            </a:extLst>
          </p:cNvPr>
          <p:cNvSpPr>
            <a:spLocks noGrp="1"/>
          </p:cNvSpPr>
          <p:nvPr/>
        </p:nvSpPr>
        <p:spPr>
          <a:xfrm>
            <a:off x="8610600" y="544830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中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8F79A87D-F9F7-4204-98C9-9B82DB837495}"/>
              </a:ext>
            </a:extLst>
          </p:cNvPr>
          <p:cNvSpPr>
            <a:spLocks noGrp="1"/>
          </p:cNvSpPr>
          <p:nvPr/>
        </p:nvSpPr>
        <p:spPr>
          <a:xfrm>
            <a:off x="9544050" y="5343525"/>
            <a:ext cx="16954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36331FA2-6149-43EB-8548-D3B992DD2E72}"/>
              </a:ext>
            </a:extLst>
          </p:cNvPr>
          <p:cNvSpPr>
            <a:spLocks noGrp="1"/>
          </p:cNvSpPr>
          <p:nvPr/>
        </p:nvSpPr>
        <p:spPr>
          <a:xfrm>
            <a:off x="9610725" y="544830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需依應用驗證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0B86C0FC-4D11-4A4C-91A5-06B7E896DBD5}"/>
              </a:ext>
            </a:extLst>
          </p:cNvPr>
          <p:cNvSpPr>
            <a:spLocks noGrp="1"/>
          </p:cNvSpPr>
          <p:nvPr/>
        </p:nvSpPr>
        <p:spPr>
          <a:xfrm>
            <a:off x="495300" y="5857875"/>
            <a:ext cx="10744200" cy="3238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01C3EA04-2CD6-4C50-A3AE-CE87472867FF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38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重點：先用業務情境定位候選，再用實際應用相容性決定是否進入 Pilot。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AEF60EA3-1EB3-4C91-8134-74E3ED11F545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 Y26｜決策表；完整權重與證據見 DISTRIBUTED-DB-SCORING.md</a:t>
            </a:r>
          </a:p>
        </p:txBody>
      </p:sp>
    </p:spTree>
    <p:extLst>
      <p:ext uri="{BB962C8B-B14F-4D97-AF65-F5344CB8AC3E}">
        <p14:creationId xmlns:p14="http://schemas.microsoft.com/office/powerpoint/2010/main" val="497029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A7F59AF-1397-4F8F-B694-65206EF57F7C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DECISION MATRIX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0AD15C-8667-45C6-B136-4B60232EC4D5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決策表 ②｜效能與可用性</a:t>
            </a:r>
          </a:p>
        </p:txBody>
      </p:sp>
      <p:cxnSp>
        <p:nvCxnSpPr>
          <p:cNvPr id="137" name="直線箭頭接點 136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C061B77-8491-494C-9565-B7F9378F0537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A143A6D-31B9-420A-B16A-C6FC22A9CCDC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數值是已測觀察，不等於跨產品總排名；Failover 時間須先統一量測口徑。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A85D3A-A593-4489-B5F7-64F21825B822}"/>
              </a:ext>
            </a:extLst>
          </p:cNvPr>
          <p:cNvSpPr>
            <a:spLocks noGrp="1"/>
          </p:cNvSpPr>
          <p:nvPr/>
        </p:nvSpPr>
        <p:spPr>
          <a:xfrm>
            <a:off x="495300" y="1943100"/>
            <a:ext cx="24765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69FA8C-892F-41CB-9170-EFCD57E30FFA}"/>
              </a:ext>
            </a:extLst>
          </p:cNvPr>
          <p:cNvSpPr>
            <a:spLocks noGrp="1"/>
          </p:cNvSpPr>
          <p:nvPr/>
        </p:nvSpPr>
        <p:spPr>
          <a:xfrm>
            <a:off x="571500" y="2047875"/>
            <a:ext cx="2324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大類／細項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DBDD4C-6C28-4720-A3D7-760E6266745F}"/>
              </a:ext>
            </a:extLst>
          </p:cNvPr>
          <p:cNvSpPr>
            <a:spLocks noGrp="1"/>
          </p:cNvSpPr>
          <p:nvPr/>
        </p:nvSpPr>
        <p:spPr>
          <a:xfrm>
            <a:off x="2971800" y="1943100"/>
            <a:ext cx="25717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F929A8-E952-4EF2-AB26-2DE5B4D399F1}"/>
              </a:ext>
            </a:extLst>
          </p:cNvPr>
          <p:cNvSpPr>
            <a:spLocks noGrp="1"/>
          </p:cNvSpPr>
          <p:nvPr/>
        </p:nvSpPr>
        <p:spPr>
          <a:xfrm>
            <a:off x="3048000" y="2047875"/>
            <a:ext cx="2419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判讀重點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BDE45A-47F7-47C4-AE13-DA09C2CFEBF8}"/>
              </a:ext>
            </a:extLst>
          </p:cNvPr>
          <p:cNvSpPr>
            <a:spLocks noGrp="1"/>
          </p:cNvSpPr>
          <p:nvPr/>
        </p:nvSpPr>
        <p:spPr>
          <a:xfrm>
            <a:off x="5543550" y="1943100"/>
            <a:ext cx="1000125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69FDA0-ADE2-4C54-8381-BCBFBDF6DC5D}"/>
              </a:ext>
            </a:extLst>
          </p:cNvPr>
          <p:cNvSpPr>
            <a:spLocks noGrp="1"/>
          </p:cNvSpPr>
          <p:nvPr/>
        </p:nvSpPr>
        <p:spPr>
          <a:xfrm>
            <a:off x="5619750" y="2047875"/>
            <a:ext cx="847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 MySQL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67B5E95-1383-4DC3-9F84-1DA3A100E808}"/>
              </a:ext>
            </a:extLst>
          </p:cNvPr>
          <p:cNvSpPr>
            <a:spLocks noGrp="1"/>
          </p:cNvSpPr>
          <p:nvPr/>
        </p:nvSpPr>
        <p:spPr>
          <a:xfrm>
            <a:off x="6543675" y="1943100"/>
            <a:ext cx="1000125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693CE5-5DAE-4A17-972D-3CF55A1E1E06}"/>
              </a:ext>
            </a:extLst>
          </p:cNvPr>
          <p:cNvSpPr>
            <a:spLocks noGrp="1"/>
          </p:cNvSpPr>
          <p:nvPr/>
        </p:nvSpPr>
        <p:spPr>
          <a:xfrm>
            <a:off x="6619875" y="2047875"/>
            <a:ext cx="847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B TiDB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C79ED3-0A89-46C8-B546-2835A6694322}"/>
              </a:ext>
            </a:extLst>
          </p:cNvPr>
          <p:cNvSpPr>
            <a:spLocks noGrp="1"/>
          </p:cNvSpPr>
          <p:nvPr/>
        </p:nvSpPr>
        <p:spPr>
          <a:xfrm>
            <a:off x="7543800" y="1943100"/>
            <a:ext cx="1000125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CA23E2-143D-475B-8F63-38B2F31584B8}"/>
              </a:ext>
            </a:extLst>
          </p:cNvPr>
          <p:cNvSpPr>
            <a:spLocks noGrp="1"/>
          </p:cNvSpPr>
          <p:nvPr/>
        </p:nvSpPr>
        <p:spPr>
          <a:xfrm>
            <a:off x="7620000" y="2047875"/>
            <a:ext cx="847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073"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 YugabyteDB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EB5F6AF-785F-4865-BCB9-997DA317FE31}"/>
              </a:ext>
            </a:extLst>
          </p:cNvPr>
          <p:cNvSpPr>
            <a:spLocks noGrp="1"/>
          </p:cNvSpPr>
          <p:nvPr/>
        </p:nvSpPr>
        <p:spPr>
          <a:xfrm>
            <a:off x="8543925" y="1943100"/>
            <a:ext cx="1000125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3952D6-FCA3-4721-87AC-F5E99C00E16B}"/>
              </a:ext>
            </a:extLst>
          </p:cNvPr>
          <p:cNvSpPr>
            <a:spLocks noGrp="1"/>
          </p:cNvSpPr>
          <p:nvPr/>
        </p:nvSpPr>
        <p:spPr>
          <a:xfrm>
            <a:off x="8620125" y="2047875"/>
            <a:ext cx="847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981"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D CockroachDB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981DE8-372A-4EDB-8A21-F7B016580F42}"/>
              </a:ext>
            </a:extLst>
          </p:cNvPr>
          <p:cNvSpPr>
            <a:spLocks noGrp="1"/>
          </p:cNvSpPr>
          <p:nvPr/>
        </p:nvSpPr>
        <p:spPr>
          <a:xfrm>
            <a:off x="9544050" y="1943100"/>
            <a:ext cx="16954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30C26A-77AB-4149-9B9F-1308929E56E9}"/>
              </a:ext>
            </a:extLst>
          </p:cNvPr>
          <p:cNvSpPr>
            <a:spLocks noGrp="1"/>
          </p:cNvSpPr>
          <p:nvPr/>
        </p:nvSpPr>
        <p:spPr>
          <a:xfrm>
            <a:off x="9620250" y="2047875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備註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523392-6F75-4A89-93BD-3F24431579D0}"/>
              </a:ext>
            </a:extLst>
          </p:cNvPr>
          <p:cNvSpPr>
            <a:spLocks noGrp="1"/>
          </p:cNvSpPr>
          <p:nvPr/>
        </p:nvSpPr>
        <p:spPr>
          <a:xfrm>
            <a:off x="495300" y="2343150"/>
            <a:ext cx="247650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00C3920-2C6D-40D6-835F-22AA6261689C}"/>
              </a:ext>
            </a:extLst>
          </p:cNvPr>
          <p:cNvSpPr>
            <a:spLocks noGrp="1"/>
          </p:cNvSpPr>
          <p:nvPr/>
        </p:nvSpPr>
        <p:spPr>
          <a:xfrm>
            <a:off x="561975" y="2447925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效能｜單節點 p99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C971D85-35B8-4330-9C9A-B3EEF582AF91}"/>
              </a:ext>
            </a:extLst>
          </p:cNvPr>
          <p:cNvSpPr>
            <a:spLocks noGrp="1"/>
          </p:cNvSpPr>
          <p:nvPr/>
        </p:nvSpPr>
        <p:spPr>
          <a:xfrm>
            <a:off x="2971800" y="2343150"/>
            <a:ext cx="257175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67F3775-290E-44FB-9B1A-83DC70361A2E}"/>
              </a:ext>
            </a:extLst>
          </p:cNvPr>
          <p:cNvSpPr>
            <a:spLocks noGrp="1"/>
          </p:cNvSpPr>
          <p:nvPr/>
        </p:nvSpPr>
        <p:spPr>
          <a:xfrm>
            <a:off x="3038475" y="2447925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低併發延遲代表點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B0DB24-0DE3-43BB-9AAF-32C8E732B73B}"/>
              </a:ext>
            </a:extLst>
          </p:cNvPr>
          <p:cNvSpPr>
            <a:spLocks noGrp="1"/>
          </p:cNvSpPr>
          <p:nvPr/>
        </p:nvSpPr>
        <p:spPr>
          <a:xfrm>
            <a:off x="5543550" y="234315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5D3BDC4-1DA9-454C-8292-232AEB66BAFC}"/>
              </a:ext>
            </a:extLst>
          </p:cNvPr>
          <p:cNvSpPr>
            <a:spLocks noGrp="1"/>
          </p:cNvSpPr>
          <p:nvPr/>
        </p:nvSpPr>
        <p:spPr>
          <a:xfrm>
            <a:off x="5610225" y="244792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37.7ms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1A82804-7214-4F1A-99BC-A8F236671598}"/>
              </a:ext>
            </a:extLst>
          </p:cNvPr>
          <p:cNvSpPr>
            <a:spLocks noGrp="1"/>
          </p:cNvSpPr>
          <p:nvPr/>
        </p:nvSpPr>
        <p:spPr>
          <a:xfrm>
            <a:off x="6543675" y="234315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BB00E1C-F65F-48C6-BEEA-8125FEED9A19}"/>
              </a:ext>
            </a:extLst>
          </p:cNvPr>
          <p:cNvSpPr>
            <a:spLocks noGrp="1"/>
          </p:cNvSpPr>
          <p:nvPr/>
        </p:nvSpPr>
        <p:spPr>
          <a:xfrm>
            <a:off x="6610350" y="244792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597ms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B5462DD-11F2-4087-A1AA-E3EF2F099E20}"/>
              </a:ext>
            </a:extLst>
          </p:cNvPr>
          <p:cNvSpPr>
            <a:spLocks noGrp="1"/>
          </p:cNvSpPr>
          <p:nvPr/>
        </p:nvSpPr>
        <p:spPr>
          <a:xfrm>
            <a:off x="7543800" y="234315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361BF10-8129-4ED6-86F0-AB9936135AF9}"/>
              </a:ext>
            </a:extLst>
          </p:cNvPr>
          <p:cNvSpPr>
            <a:spLocks noGrp="1"/>
          </p:cNvSpPr>
          <p:nvPr/>
        </p:nvSpPr>
        <p:spPr>
          <a:xfrm>
            <a:off x="7610475" y="244792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216ms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A8C4CCE-82E2-4DF6-BF9E-C7134E678AC4}"/>
              </a:ext>
            </a:extLst>
          </p:cNvPr>
          <p:cNvSpPr>
            <a:spLocks noGrp="1"/>
          </p:cNvSpPr>
          <p:nvPr/>
        </p:nvSpPr>
        <p:spPr>
          <a:xfrm>
            <a:off x="8543925" y="234315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DEF2743-6AD6-4D91-97A1-3525B58473A5}"/>
              </a:ext>
            </a:extLst>
          </p:cNvPr>
          <p:cNvSpPr>
            <a:spLocks noGrp="1"/>
          </p:cNvSpPr>
          <p:nvPr/>
        </p:nvSpPr>
        <p:spPr>
          <a:xfrm>
            <a:off x="8610600" y="244792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440ms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7AEECC6-A100-416A-BF6E-BEDE9E033DF5}"/>
              </a:ext>
            </a:extLst>
          </p:cNvPr>
          <p:cNvSpPr>
            <a:spLocks noGrp="1"/>
          </p:cNvSpPr>
          <p:nvPr/>
        </p:nvSpPr>
        <p:spPr>
          <a:xfrm>
            <a:off x="9544050" y="2343150"/>
            <a:ext cx="169545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69AC641-CCDC-43F9-AD8A-C3613483C864}"/>
              </a:ext>
            </a:extLst>
          </p:cNvPr>
          <p:cNvSpPr>
            <a:spLocks noGrp="1"/>
          </p:cNvSpPr>
          <p:nvPr/>
        </p:nvSpPr>
        <p:spPr>
          <a:xfrm>
            <a:off x="9610725" y="2447925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同條件代表點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80C5863-856B-42B3-8DE8-8942391AD021}"/>
              </a:ext>
            </a:extLst>
          </p:cNvPr>
          <p:cNvSpPr>
            <a:spLocks noGrp="1"/>
          </p:cNvSpPr>
          <p:nvPr/>
        </p:nvSpPr>
        <p:spPr>
          <a:xfrm>
            <a:off x="495300" y="2771775"/>
            <a:ext cx="24765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1BC822F-C31B-4307-8805-2B87F9742FA5}"/>
              </a:ext>
            </a:extLst>
          </p:cNvPr>
          <p:cNvSpPr>
            <a:spLocks noGrp="1"/>
          </p:cNvSpPr>
          <p:nvPr/>
        </p:nvSpPr>
        <p:spPr>
          <a:xfrm>
            <a:off x="561975" y="2876550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效能｜水平擴展倍率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08692A6-31FE-4696-B261-B48322B59768}"/>
              </a:ext>
            </a:extLst>
          </p:cNvPr>
          <p:cNvSpPr>
            <a:spLocks noGrp="1"/>
          </p:cNvSpPr>
          <p:nvPr/>
        </p:nvSpPr>
        <p:spPr>
          <a:xfrm>
            <a:off x="2971800" y="2771775"/>
            <a:ext cx="25717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259A232-C6A0-4C84-9EC5-42E6CE9EACA2}"/>
              </a:ext>
            </a:extLst>
          </p:cNvPr>
          <p:cNvSpPr>
            <a:spLocks noGrp="1"/>
          </p:cNvSpPr>
          <p:nvPr/>
        </p:nvSpPr>
        <p:spPr>
          <a:xfrm>
            <a:off x="3038475" y="287655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 node → 3 node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3DCF490-79DE-4456-8092-86E3DB88F7F1}"/>
              </a:ext>
            </a:extLst>
          </p:cNvPr>
          <p:cNvSpPr>
            <a:spLocks noGrp="1"/>
          </p:cNvSpPr>
          <p:nvPr/>
        </p:nvSpPr>
        <p:spPr>
          <a:xfrm>
            <a:off x="5543550" y="277177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3E0026E-85B0-4905-B163-A6691568830A}"/>
              </a:ext>
            </a:extLst>
          </p:cNvPr>
          <p:cNvSpPr>
            <a:spLocks noGrp="1"/>
          </p:cNvSpPr>
          <p:nvPr/>
        </p:nvSpPr>
        <p:spPr>
          <a:xfrm>
            <a:off x="5610225" y="287655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0.49×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650A4E8-E218-4AD7-BB13-401768E82888}"/>
              </a:ext>
            </a:extLst>
          </p:cNvPr>
          <p:cNvSpPr>
            <a:spLocks noGrp="1"/>
          </p:cNvSpPr>
          <p:nvPr/>
        </p:nvSpPr>
        <p:spPr>
          <a:xfrm>
            <a:off x="6543675" y="277177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B6B2DF0-088A-45F7-AEAA-9E7C3611B67A}"/>
              </a:ext>
            </a:extLst>
          </p:cNvPr>
          <p:cNvSpPr>
            <a:spLocks noGrp="1"/>
          </p:cNvSpPr>
          <p:nvPr/>
        </p:nvSpPr>
        <p:spPr>
          <a:xfrm>
            <a:off x="6610350" y="287655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2.06×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63DA2AD-61F4-44DD-8574-E9577D641819}"/>
              </a:ext>
            </a:extLst>
          </p:cNvPr>
          <p:cNvSpPr>
            <a:spLocks noGrp="1"/>
          </p:cNvSpPr>
          <p:nvPr/>
        </p:nvSpPr>
        <p:spPr>
          <a:xfrm>
            <a:off x="7543800" y="277177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1361184-6166-4EB2-8E52-D4F5382BACF8}"/>
              </a:ext>
            </a:extLst>
          </p:cNvPr>
          <p:cNvSpPr>
            <a:spLocks noGrp="1"/>
          </p:cNvSpPr>
          <p:nvPr/>
        </p:nvSpPr>
        <p:spPr>
          <a:xfrm>
            <a:off x="7610475" y="287655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1.37×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20F39AF-21ED-451E-A404-81263A9B1F06}"/>
              </a:ext>
            </a:extLst>
          </p:cNvPr>
          <p:cNvSpPr>
            <a:spLocks noGrp="1"/>
          </p:cNvSpPr>
          <p:nvPr/>
        </p:nvSpPr>
        <p:spPr>
          <a:xfrm>
            <a:off x="8543925" y="277177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3F616C5-826A-41A9-A603-67A7CD64B418}"/>
              </a:ext>
            </a:extLst>
          </p:cNvPr>
          <p:cNvSpPr>
            <a:spLocks noGrp="1"/>
          </p:cNvSpPr>
          <p:nvPr/>
        </p:nvSpPr>
        <p:spPr>
          <a:xfrm>
            <a:off x="8610600" y="287655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1.65×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5578CB-AC2C-4D46-B355-3F8A41EC591A}"/>
              </a:ext>
            </a:extLst>
          </p:cNvPr>
          <p:cNvSpPr>
            <a:spLocks noGrp="1"/>
          </p:cNvSpPr>
          <p:nvPr/>
        </p:nvSpPr>
        <p:spPr>
          <a:xfrm>
            <a:off x="9544050" y="2771775"/>
            <a:ext cx="16954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BE5818D-7570-453D-8082-19147CEABAA7}"/>
              </a:ext>
            </a:extLst>
          </p:cNvPr>
          <p:cNvSpPr>
            <a:spLocks noGrp="1"/>
          </p:cNvSpPr>
          <p:nvPr/>
        </p:nvSpPr>
        <p:spPr>
          <a:xfrm>
            <a:off x="9610725" y="287655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僅作方向判讀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DE51FBF-45CE-48B3-974D-12F69A024C15}"/>
              </a:ext>
            </a:extLst>
          </p:cNvPr>
          <p:cNvSpPr>
            <a:spLocks noGrp="1"/>
          </p:cNvSpPr>
          <p:nvPr/>
        </p:nvSpPr>
        <p:spPr>
          <a:xfrm>
            <a:off x="495300" y="3200400"/>
            <a:ext cx="247650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325B914-845D-4099-AEF3-44B89EA67055}"/>
              </a:ext>
            </a:extLst>
          </p:cNvPr>
          <p:cNvSpPr>
            <a:spLocks noGrp="1"/>
          </p:cNvSpPr>
          <p:nvPr/>
        </p:nvSpPr>
        <p:spPr>
          <a:xfrm>
            <a:off x="561975" y="3305175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效能｜高併發穩定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C093E86-A46B-4BB9-8189-849C3B009E04}"/>
              </a:ext>
            </a:extLst>
          </p:cNvPr>
          <p:cNvSpPr>
            <a:spLocks noGrp="1"/>
          </p:cNvSpPr>
          <p:nvPr/>
        </p:nvSpPr>
        <p:spPr>
          <a:xfrm>
            <a:off x="2971800" y="3200400"/>
            <a:ext cx="257175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589F9B6-4261-41C5-91EF-E6C22584BED2}"/>
              </a:ext>
            </a:extLst>
          </p:cNvPr>
          <p:cNvSpPr>
            <a:spLocks noGrp="1"/>
          </p:cNvSpPr>
          <p:nvPr/>
        </p:nvSpPr>
        <p:spPr>
          <a:xfrm>
            <a:off x="3038475" y="3305175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t=128 五輪變異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2A905D1-3867-4F1C-9E8B-2F14714D4F78}"/>
              </a:ext>
            </a:extLst>
          </p:cNvPr>
          <p:cNvSpPr>
            <a:spLocks noGrp="1"/>
          </p:cNvSpPr>
          <p:nvPr/>
        </p:nvSpPr>
        <p:spPr>
          <a:xfrm>
            <a:off x="5543550" y="320040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2762D0F-AB81-427A-8B5A-CBBCF92CB95C}"/>
              </a:ext>
            </a:extLst>
          </p:cNvPr>
          <p:cNvSpPr>
            <a:spLocks noGrp="1"/>
          </p:cNvSpPr>
          <p:nvPr/>
        </p:nvSpPr>
        <p:spPr>
          <a:xfrm>
            <a:off x="5610225" y="330517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43.2%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C519790-50D0-414E-A351-5E0723203523}"/>
              </a:ext>
            </a:extLst>
          </p:cNvPr>
          <p:cNvSpPr>
            <a:spLocks noGrp="1"/>
          </p:cNvSpPr>
          <p:nvPr/>
        </p:nvSpPr>
        <p:spPr>
          <a:xfrm>
            <a:off x="6543675" y="320040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74DD07B-9D89-48AD-B41F-966246CAAD2E}"/>
              </a:ext>
            </a:extLst>
          </p:cNvPr>
          <p:cNvSpPr>
            <a:spLocks noGrp="1"/>
          </p:cNvSpPr>
          <p:nvPr/>
        </p:nvSpPr>
        <p:spPr>
          <a:xfrm>
            <a:off x="6610350" y="330517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7.4%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23725EF-7349-4723-8BC6-FC68763F9AD9}"/>
              </a:ext>
            </a:extLst>
          </p:cNvPr>
          <p:cNvSpPr>
            <a:spLocks noGrp="1"/>
          </p:cNvSpPr>
          <p:nvPr/>
        </p:nvSpPr>
        <p:spPr>
          <a:xfrm>
            <a:off x="7543800" y="320040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95C295F-A50D-4CDD-BEF3-0BEC5D6393B0}"/>
              </a:ext>
            </a:extLst>
          </p:cNvPr>
          <p:cNvSpPr>
            <a:spLocks noGrp="1"/>
          </p:cNvSpPr>
          <p:nvPr/>
        </p:nvSpPr>
        <p:spPr>
          <a:xfrm>
            <a:off x="7610475" y="330517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待補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53FC022-90D7-4CDC-9962-3EAE3D4F09E0}"/>
              </a:ext>
            </a:extLst>
          </p:cNvPr>
          <p:cNvSpPr>
            <a:spLocks noGrp="1"/>
          </p:cNvSpPr>
          <p:nvPr/>
        </p:nvSpPr>
        <p:spPr>
          <a:xfrm>
            <a:off x="8543925" y="320040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F073148-8095-442B-895B-784D489B428B}"/>
              </a:ext>
            </a:extLst>
          </p:cNvPr>
          <p:cNvSpPr>
            <a:spLocks noGrp="1"/>
          </p:cNvSpPr>
          <p:nvPr/>
        </p:nvSpPr>
        <p:spPr>
          <a:xfrm>
            <a:off x="8610600" y="330517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待補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9437289-120A-4189-8D40-127630DD3C22}"/>
              </a:ext>
            </a:extLst>
          </p:cNvPr>
          <p:cNvSpPr>
            <a:spLocks noGrp="1"/>
          </p:cNvSpPr>
          <p:nvPr/>
        </p:nvSpPr>
        <p:spPr>
          <a:xfrm>
            <a:off x="9544050" y="3200400"/>
            <a:ext cx="169545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D82F887-5DDA-46AD-BC49-7EA08DA1620D}"/>
              </a:ext>
            </a:extLst>
          </p:cNvPr>
          <p:cNvSpPr>
            <a:spLocks noGrp="1"/>
          </p:cNvSpPr>
          <p:nvPr/>
        </p:nvSpPr>
        <p:spPr>
          <a:xfrm>
            <a:off x="9610725" y="3305175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越低越穩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28A150B-7EF7-4FD3-B931-5AE08F0C31FE}"/>
              </a:ext>
            </a:extLst>
          </p:cNvPr>
          <p:cNvSpPr>
            <a:spLocks noGrp="1"/>
          </p:cNvSpPr>
          <p:nvPr/>
        </p:nvSpPr>
        <p:spPr>
          <a:xfrm>
            <a:off x="495300" y="3629025"/>
            <a:ext cx="24765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0E86B74-3D87-461B-A81C-EA32EB174221}"/>
              </a:ext>
            </a:extLst>
          </p:cNvPr>
          <p:cNvSpPr>
            <a:spLocks noGrp="1"/>
          </p:cNvSpPr>
          <p:nvPr/>
        </p:nvSpPr>
        <p:spPr>
          <a:xfrm>
            <a:off x="561975" y="3733800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效能｜錯誤率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EA417F9-3B8F-4181-BFBF-D53E280D0B41}"/>
              </a:ext>
            </a:extLst>
          </p:cNvPr>
          <p:cNvSpPr>
            <a:spLocks noGrp="1"/>
          </p:cNvSpPr>
          <p:nvPr/>
        </p:nvSpPr>
        <p:spPr>
          <a:xfrm>
            <a:off x="2971800" y="3629025"/>
            <a:ext cx="25717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12E6459E-53C3-4717-BDD6-10984E87FD7E}"/>
              </a:ext>
            </a:extLst>
          </p:cNvPr>
          <p:cNvSpPr>
            <a:spLocks noGrp="1"/>
          </p:cNvSpPr>
          <p:nvPr/>
        </p:nvSpPr>
        <p:spPr>
          <a:xfrm>
            <a:off x="3038475" y="37338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all-txn error rate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6EFE8885-8766-42FC-9E5F-CA538D99E2CD}"/>
              </a:ext>
            </a:extLst>
          </p:cNvPr>
          <p:cNvSpPr>
            <a:spLocks noGrp="1"/>
          </p:cNvSpPr>
          <p:nvPr/>
        </p:nvSpPr>
        <p:spPr>
          <a:xfrm>
            <a:off x="5543550" y="362902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F132225-DC4A-4B93-A891-6F2902FD6496}"/>
              </a:ext>
            </a:extLst>
          </p:cNvPr>
          <p:cNvSpPr>
            <a:spLocks noGrp="1"/>
          </p:cNvSpPr>
          <p:nvPr/>
        </p:nvSpPr>
        <p:spPr>
          <a:xfrm>
            <a:off x="5610225" y="373380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0.037%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1120F64-39B6-449B-90E3-A94C1D3966F2}"/>
              </a:ext>
            </a:extLst>
          </p:cNvPr>
          <p:cNvSpPr>
            <a:spLocks noGrp="1"/>
          </p:cNvSpPr>
          <p:nvPr/>
        </p:nvSpPr>
        <p:spPr>
          <a:xfrm>
            <a:off x="6543675" y="362902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517C2F1-8804-40E5-9AB8-ED59F9FCBA01}"/>
              </a:ext>
            </a:extLst>
          </p:cNvPr>
          <p:cNvSpPr>
            <a:spLocks noGrp="1"/>
          </p:cNvSpPr>
          <p:nvPr/>
        </p:nvSpPr>
        <p:spPr>
          <a:xfrm>
            <a:off x="6610350" y="373380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0.000%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82988E4-E338-4A54-AB62-777A21366D66}"/>
              </a:ext>
            </a:extLst>
          </p:cNvPr>
          <p:cNvSpPr>
            <a:spLocks noGrp="1"/>
          </p:cNvSpPr>
          <p:nvPr/>
        </p:nvSpPr>
        <p:spPr>
          <a:xfrm>
            <a:off x="7543800" y="362902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885D3EF-F36D-4CDF-A667-CDFAFF14C493}"/>
              </a:ext>
            </a:extLst>
          </p:cNvPr>
          <p:cNvSpPr>
            <a:spLocks noGrp="1"/>
          </p:cNvSpPr>
          <p:nvPr/>
        </p:nvSpPr>
        <p:spPr>
          <a:xfrm>
            <a:off x="7610475" y="373380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待補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4D72C63-D5EE-4BDE-AEA9-D26D7BC03C6B}"/>
              </a:ext>
            </a:extLst>
          </p:cNvPr>
          <p:cNvSpPr>
            <a:spLocks noGrp="1"/>
          </p:cNvSpPr>
          <p:nvPr/>
        </p:nvSpPr>
        <p:spPr>
          <a:xfrm>
            <a:off x="8543925" y="362902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06FDD63-132B-4903-9D32-EA6AA1FFD80B}"/>
              </a:ext>
            </a:extLst>
          </p:cNvPr>
          <p:cNvSpPr>
            <a:spLocks noGrp="1"/>
          </p:cNvSpPr>
          <p:nvPr/>
        </p:nvSpPr>
        <p:spPr>
          <a:xfrm>
            <a:off x="8610600" y="373380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待補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6E6C07C-63EA-4486-B383-114F313BE787}"/>
              </a:ext>
            </a:extLst>
          </p:cNvPr>
          <p:cNvSpPr>
            <a:spLocks noGrp="1"/>
          </p:cNvSpPr>
          <p:nvPr/>
        </p:nvSpPr>
        <p:spPr>
          <a:xfrm>
            <a:off x="9544050" y="3629025"/>
            <a:ext cx="16954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CC3929E-FDDC-4842-8E78-7756F34CDEAA}"/>
              </a:ext>
            </a:extLst>
          </p:cNvPr>
          <p:cNvSpPr>
            <a:spLocks noGrp="1"/>
          </p:cNvSpPr>
          <p:nvPr/>
        </p:nvSpPr>
        <p:spPr>
          <a:xfrm>
            <a:off x="9610725" y="373380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須保留來源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40F9783-6289-4826-83D3-95CF284B80AC}"/>
              </a:ext>
            </a:extLst>
          </p:cNvPr>
          <p:cNvSpPr>
            <a:spLocks noGrp="1"/>
          </p:cNvSpPr>
          <p:nvPr/>
        </p:nvSpPr>
        <p:spPr>
          <a:xfrm>
            <a:off x="495300" y="4057650"/>
            <a:ext cx="247650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A17F8D2A-1DB1-4D12-B28A-8C62B8ECAE8D}"/>
              </a:ext>
            </a:extLst>
          </p:cNvPr>
          <p:cNvSpPr>
            <a:spLocks noGrp="1"/>
          </p:cNvSpPr>
          <p:nvPr/>
        </p:nvSpPr>
        <p:spPr>
          <a:xfrm>
            <a:off x="561975" y="4162425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跨區｜A/S 吞吐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3DBA508-934E-425E-885E-D78E2422EA95}"/>
              </a:ext>
            </a:extLst>
          </p:cNvPr>
          <p:cNvSpPr>
            <a:spLocks noGrp="1"/>
          </p:cNvSpPr>
          <p:nvPr/>
        </p:nvSpPr>
        <p:spPr>
          <a:xfrm>
            <a:off x="2971800" y="4057650"/>
            <a:ext cx="257175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75601E4-A2BD-460F-9117-0A7A5E842D85}"/>
              </a:ext>
            </a:extLst>
          </p:cNvPr>
          <p:cNvSpPr>
            <a:spLocks noGrp="1"/>
          </p:cNvSpPr>
          <p:nvPr/>
        </p:nvSpPr>
        <p:spPr>
          <a:xfrm>
            <a:off x="3038475" y="4162425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P-A × A/S，t=128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2138AE1-6755-4A40-BC9F-CB8F16C530AB}"/>
              </a:ext>
            </a:extLst>
          </p:cNvPr>
          <p:cNvSpPr>
            <a:spLocks noGrp="1"/>
          </p:cNvSpPr>
          <p:nvPr/>
        </p:nvSpPr>
        <p:spPr>
          <a:xfrm>
            <a:off x="5543550" y="405765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4BDF67E-D80C-426C-89DC-FB189F4DBBF9}"/>
              </a:ext>
            </a:extLst>
          </p:cNvPr>
          <p:cNvSpPr>
            <a:spLocks noGrp="1"/>
          </p:cNvSpPr>
          <p:nvPr/>
        </p:nvSpPr>
        <p:spPr>
          <a:xfrm>
            <a:off x="5610225" y="416242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298.8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E0BD930C-D223-48BA-92B5-5A6D38D9810C}"/>
              </a:ext>
            </a:extLst>
          </p:cNvPr>
          <p:cNvSpPr>
            <a:spLocks noGrp="1"/>
          </p:cNvSpPr>
          <p:nvPr/>
        </p:nvSpPr>
        <p:spPr>
          <a:xfrm>
            <a:off x="6543675" y="405765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0231AF1-6E43-4EC6-86D4-DFB01EEEC94D}"/>
              </a:ext>
            </a:extLst>
          </p:cNvPr>
          <p:cNvSpPr>
            <a:spLocks noGrp="1"/>
          </p:cNvSpPr>
          <p:nvPr/>
        </p:nvSpPr>
        <p:spPr>
          <a:xfrm>
            <a:off x="6610350" y="416242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12,526.5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17639275-1F35-4FB3-9702-36F9AD4D264E}"/>
              </a:ext>
            </a:extLst>
          </p:cNvPr>
          <p:cNvSpPr>
            <a:spLocks noGrp="1"/>
          </p:cNvSpPr>
          <p:nvPr/>
        </p:nvSpPr>
        <p:spPr>
          <a:xfrm>
            <a:off x="7543800" y="405765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A6253D1-6B23-4213-A5E4-0025C35DE592}"/>
              </a:ext>
            </a:extLst>
          </p:cNvPr>
          <p:cNvSpPr>
            <a:spLocks noGrp="1"/>
          </p:cNvSpPr>
          <p:nvPr/>
        </p:nvSpPr>
        <p:spPr>
          <a:xfrm>
            <a:off x="7610475" y="416242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12,769.5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FD387557-D001-4002-ACFE-20DBFC6A0DC8}"/>
              </a:ext>
            </a:extLst>
          </p:cNvPr>
          <p:cNvSpPr>
            <a:spLocks noGrp="1"/>
          </p:cNvSpPr>
          <p:nvPr/>
        </p:nvSpPr>
        <p:spPr>
          <a:xfrm>
            <a:off x="8543925" y="405765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6F660D9-D733-4CF5-9740-C441F96B2034}"/>
              </a:ext>
            </a:extLst>
          </p:cNvPr>
          <p:cNvSpPr>
            <a:spLocks noGrp="1"/>
          </p:cNvSpPr>
          <p:nvPr/>
        </p:nvSpPr>
        <p:spPr>
          <a:xfrm>
            <a:off x="8610600" y="416242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10,163.4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9167944F-F7F7-4CB4-B26A-29D6D42403B7}"/>
              </a:ext>
            </a:extLst>
          </p:cNvPr>
          <p:cNvSpPr>
            <a:spLocks noGrp="1"/>
          </p:cNvSpPr>
          <p:nvPr/>
        </p:nvSpPr>
        <p:spPr>
          <a:xfrm>
            <a:off x="9544050" y="4057650"/>
            <a:ext cx="169545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AA192690-5733-4DC6-B615-A88371010027}"/>
              </a:ext>
            </a:extLst>
          </p:cNvPr>
          <p:cNvSpPr>
            <a:spLocks noGrp="1"/>
          </p:cNvSpPr>
          <p:nvPr/>
        </p:nvSpPr>
        <p:spPr>
          <a:xfrm>
            <a:off x="9610725" y="4162425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tpmC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6868E06-E942-4024-AEAD-756686DBB9A9}"/>
              </a:ext>
            </a:extLst>
          </p:cNvPr>
          <p:cNvSpPr>
            <a:spLocks noGrp="1"/>
          </p:cNvSpPr>
          <p:nvPr/>
        </p:nvSpPr>
        <p:spPr>
          <a:xfrm>
            <a:off x="495300" y="4486275"/>
            <a:ext cx="24765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6C9218E0-652E-4806-B2E0-6C7E7D47400A}"/>
              </a:ext>
            </a:extLst>
          </p:cNvPr>
          <p:cNvSpPr>
            <a:spLocks noGrp="1"/>
          </p:cNvSpPr>
          <p:nvPr/>
        </p:nvSpPr>
        <p:spPr>
          <a:xfrm>
            <a:off x="561975" y="4591050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跨區｜A/A-RO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3A41951C-1DFC-47B6-A323-370900AEEDC6}"/>
              </a:ext>
            </a:extLst>
          </p:cNvPr>
          <p:cNvSpPr>
            <a:spLocks noGrp="1"/>
          </p:cNvSpPr>
          <p:nvPr/>
        </p:nvSpPr>
        <p:spPr>
          <a:xfrm>
            <a:off x="2971800" y="4486275"/>
            <a:ext cx="25717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C1909A4D-1B8E-47CE-86D5-74F33618EAE3}"/>
              </a:ext>
            </a:extLst>
          </p:cNvPr>
          <p:cNvSpPr>
            <a:spLocks noGrp="1"/>
          </p:cNvSpPr>
          <p:nvPr/>
        </p:nvSpPr>
        <p:spPr>
          <a:xfrm>
            <a:off x="3038475" y="459105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GCP read_tpmTotal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4795F7C0-0BA7-428E-9BCD-135D5514A390}"/>
              </a:ext>
            </a:extLst>
          </p:cNvPr>
          <p:cNvSpPr>
            <a:spLocks noGrp="1"/>
          </p:cNvSpPr>
          <p:nvPr/>
        </p:nvSpPr>
        <p:spPr>
          <a:xfrm>
            <a:off x="5543550" y="448627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636811D6-1606-4AF0-A70B-52D8DEF622B5}"/>
              </a:ext>
            </a:extLst>
          </p:cNvPr>
          <p:cNvSpPr>
            <a:spLocks noGrp="1"/>
          </p:cNvSpPr>
          <p:nvPr/>
        </p:nvSpPr>
        <p:spPr>
          <a:xfrm>
            <a:off x="5610225" y="459105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n/a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07F81AA1-5B29-4930-B36A-1D6A15645053}"/>
              </a:ext>
            </a:extLst>
          </p:cNvPr>
          <p:cNvSpPr>
            <a:spLocks noGrp="1"/>
          </p:cNvSpPr>
          <p:nvPr/>
        </p:nvSpPr>
        <p:spPr>
          <a:xfrm>
            <a:off x="6543675" y="448627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D9236920-DBE2-4178-A58D-7A6D43EDB602}"/>
              </a:ext>
            </a:extLst>
          </p:cNvPr>
          <p:cNvSpPr>
            <a:spLocks noGrp="1"/>
          </p:cNvSpPr>
          <p:nvPr/>
        </p:nvSpPr>
        <p:spPr>
          <a:xfrm>
            <a:off x="6610350" y="459105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31,571.3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D9DC9077-5664-49AF-8EE9-ACF7081F91CD}"/>
              </a:ext>
            </a:extLst>
          </p:cNvPr>
          <p:cNvSpPr>
            <a:spLocks noGrp="1"/>
          </p:cNvSpPr>
          <p:nvPr/>
        </p:nvSpPr>
        <p:spPr>
          <a:xfrm>
            <a:off x="7543800" y="448627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51CAB557-9120-41B5-BD79-441FC05969B3}"/>
              </a:ext>
            </a:extLst>
          </p:cNvPr>
          <p:cNvSpPr>
            <a:spLocks noGrp="1"/>
          </p:cNvSpPr>
          <p:nvPr/>
        </p:nvSpPr>
        <p:spPr>
          <a:xfrm>
            <a:off x="7610475" y="459105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56,787.9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22C9A04D-AB22-4263-80B2-AFA5AA66E32F}"/>
              </a:ext>
            </a:extLst>
          </p:cNvPr>
          <p:cNvSpPr>
            <a:spLocks noGrp="1"/>
          </p:cNvSpPr>
          <p:nvPr/>
        </p:nvSpPr>
        <p:spPr>
          <a:xfrm>
            <a:off x="8543925" y="448627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C0268A8B-E048-4023-BF6C-ACFAEDEBCF3C}"/>
              </a:ext>
            </a:extLst>
          </p:cNvPr>
          <p:cNvSpPr>
            <a:spLocks noGrp="1"/>
          </p:cNvSpPr>
          <p:nvPr/>
        </p:nvSpPr>
        <p:spPr>
          <a:xfrm>
            <a:off x="8610600" y="459105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41,056.3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267F5FB0-0A6B-48FF-9F1F-E108863433B3}"/>
              </a:ext>
            </a:extLst>
          </p:cNvPr>
          <p:cNvSpPr>
            <a:spLocks noGrp="1"/>
          </p:cNvSpPr>
          <p:nvPr/>
        </p:nvSpPr>
        <p:spPr>
          <a:xfrm>
            <a:off x="9544050" y="4486275"/>
            <a:ext cx="16954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07E31389-1816-46FB-9F4B-314B785AD77B}"/>
              </a:ext>
            </a:extLst>
          </p:cNvPr>
          <p:cNvSpPr>
            <a:spLocks noGrp="1"/>
          </p:cNvSpPr>
          <p:nvPr/>
        </p:nvSpPr>
        <p:spPr>
          <a:xfrm>
            <a:off x="9610725" y="459105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P-A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7CA8D739-738C-4CC5-8F87-2ECDB2011351}"/>
              </a:ext>
            </a:extLst>
          </p:cNvPr>
          <p:cNvSpPr>
            <a:spLocks noGrp="1"/>
          </p:cNvSpPr>
          <p:nvPr/>
        </p:nvSpPr>
        <p:spPr>
          <a:xfrm>
            <a:off x="495300" y="4914900"/>
            <a:ext cx="247650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F9EDF47-EECE-4131-86DA-463BF3378BFA}"/>
              </a:ext>
            </a:extLst>
          </p:cNvPr>
          <p:cNvSpPr>
            <a:spLocks noGrp="1"/>
          </p:cNvSpPr>
          <p:nvPr/>
        </p:nvSpPr>
        <p:spPr>
          <a:xfrm>
            <a:off x="561975" y="5019675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可用｜區域停止復原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986F7636-7B82-4E27-8FFF-CE4526A8C696}"/>
              </a:ext>
            </a:extLst>
          </p:cNvPr>
          <p:cNvSpPr>
            <a:spLocks noGrp="1"/>
          </p:cNvSpPr>
          <p:nvPr/>
        </p:nvSpPr>
        <p:spPr>
          <a:xfrm>
            <a:off x="2971800" y="4914900"/>
            <a:ext cx="257175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45088A38-03FB-4CF7-BEB4-DC9A0A13D114}"/>
              </a:ext>
            </a:extLst>
          </p:cNvPr>
          <p:cNvSpPr>
            <a:spLocks noGrp="1"/>
          </p:cNvSpPr>
          <p:nvPr/>
        </p:nvSpPr>
        <p:spPr>
          <a:xfrm>
            <a:off x="3038475" y="5019675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現有測試結果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28F150AD-7E82-4C96-98EE-D0F15A3C7173}"/>
              </a:ext>
            </a:extLst>
          </p:cNvPr>
          <p:cNvSpPr>
            <a:spLocks noGrp="1"/>
          </p:cNvSpPr>
          <p:nvPr/>
        </p:nvSpPr>
        <p:spPr>
          <a:xfrm>
            <a:off x="5543550" y="491490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B8E48403-7937-472D-884A-43F2001E4668}"/>
              </a:ext>
            </a:extLst>
          </p:cNvPr>
          <p:cNvSpPr>
            <a:spLocks noGrp="1"/>
          </p:cNvSpPr>
          <p:nvPr/>
        </p:nvSpPr>
        <p:spPr>
          <a:xfrm>
            <a:off x="5610225" y="501967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22.2s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1F6D5739-9F1B-405D-8032-846E4E90C1AF}"/>
              </a:ext>
            </a:extLst>
          </p:cNvPr>
          <p:cNvSpPr>
            <a:spLocks noGrp="1"/>
          </p:cNvSpPr>
          <p:nvPr/>
        </p:nvSpPr>
        <p:spPr>
          <a:xfrm>
            <a:off x="6543675" y="491490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C7AB90C2-5D10-43EE-A7DF-CEA790782D20}"/>
              </a:ext>
            </a:extLst>
          </p:cNvPr>
          <p:cNvSpPr>
            <a:spLocks noGrp="1"/>
          </p:cNvSpPr>
          <p:nvPr/>
        </p:nvSpPr>
        <p:spPr>
          <a:xfrm>
            <a:off x="6610350" y="501967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39–44s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278618F5-0C87-4E63-AC5B-608A246B0E7D}"/>
              </a:ext>
            </a:extLst>
          </p:cNvPr>
          <p:cNvSpPr>
            <a:spLocks noGrp="1"/>
          </p:cNvSpPr>
          <p:nvPr/>
        </p:nvSpPr>
        <p:spPr>
          <a:xfrm>
            <a:off x="7543800" y="491490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665D3D75-D015-4340-B1C8-BA03E4BB4BA8}"/>
              </a:ext>
            </a:extLst>
          </p:cNvPr>
          <p:cNvSpPr>
            <a:spLocks noGrp="1"/>
          </p:cNvSpPr>
          <p:nvPr/>
        </p:nvSpPr>
        <p:spPr>
          <a:xfrm>
            <a:off x="7610475" y="501967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3.0s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220543AC-D53C-4D86-9DA6-6F73B9CBD429}"/>
              </a:ext>
            </a:extLst>
          </p:cNvPr>
          <p:cNvSpPr>
            <a:spLocks noGrp="1"/>
          </p:cNvSpPr>
          <p:nvPr/>
        </p:nvSpPr>
        <p:spPr>
          <a:xfrm>
            <a:off x="8543925" y="4914900"/>
            <a:ext cx="1000125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94340F1-ABDB-459A-9218-64BE2C5ED1C3}"/>
              </a:ext>
            </a:extLst>
          </p:cNvPr>
          <p:cNvSpPr>
            <a:spLocks noGrp="1"/>
          </p:cNvSpPr>
          <p:nvPr/>
        </p:nvSpPr>
        <p:spPr>
          <a:xfrm>
            <a:off x="8610600" y="5019675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7.0s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83F07067-3F0A-4137-8C05-584D3729939A}"/>
              </a:ext>
            </a:extLst>
          </p:cNvPr>
          <p:cNvSpPr>
            <a:spLocks noGrp="1"/>
          </p:cNvSpPr>
          <p:nvPr/>
        </p:nvSpPr>
        <p:spPr>
          <a:xfrm>
            <a:off x="9544050" y="4914900"/>
            <a:ext cx="1695450" cy="42862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BF16260F-C8FB-4BBB-99BB-59C77700AB35}"/>
              </a:ext>
            </a:extLst>
          </p:cNvPr>
          <p:cNvSpPr>
            <a:spLocks noGrp="1"/>
          </p:cNvSpPr>
          <p:nvPr/>
        </p:nvSpPr>
        <p:spPr>
          <a:xfrm>
            <a:off x="9610725" y="5019675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口徑仍需統一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437357DD-0EDB-40C6-853D-60093F281942}"/>
              </a:ext>
            </a:extLst>
          </p:cNvPr>
          <p:cNvSpPr>
            <a:spLocks noGrp="1"/>
          </p:cNvSpPr>
          <p:nvPr/>
        </p:nvSpPr>
        <p:spPr>
          <a:xfrm>
            <a:off x="495300" y="5343525"/>
            <a:ext cx="24765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FC5EF0CC-A832-498F-BD35-207FD9183228}"/>
              </a:ext>
            </a:extLst>
          </p:cNvPr>
          <p:cNvSpPr>
            <a:spLocks noGrp="1"/>
          </p:cNvSpPr>
          <p:nvPr/>
        </p:nvSpPr>
        <p:spPr>
          <a:xfrm>
            <a:off x="561975" y="5448300"/>
            <a:ext cx="2343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可用｜雙寫錯誤率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EC4ABC90-6CE0-44FB-AA3D-57728CD5B658}"/>
              </a:ext>
            </a:extLst>
          </p:cNvPr>
          <p:cNvSpPr>
            <a:spLocks noGrp="1"/>
          </p:cNvSpPr>
          <p:nvPr/>
        </p:nvSpPr>
        <p:spPr>
          <a:xfrm>
            <a:off x="2971800" y="5343525"/>
            <a:ext cx="25717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B0D46A42-68A1-4A3F-B783-FC75C49B892E}"/>
              </a:ext>
            </a:extLst>
          </p:cNvPr>
          <p:cNvSpPr>
            <a:spLocks noGrp="1"/>
          </p:cNvSpPr>
          <p:nvPr/>
        </p:nvSpPr>
        <p:spPr>
          <a:xfrm>
            <a:off x="3038475" y="54483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P-B × A-A，GCP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139095EB-C858-4566-A5F4-A8DFE42805B6}"/>
              </a:ext>
            </a:extLst>
          </p:cNvPr>
          <p:cNvSpPr>
            <a:spLocks noGrp="1"/>
          </p:cNvSpPr>
          <p:nvPr/>
        </p:nvSpPr>
        <p:spPr>
          <a:xfrm>
            <a:off x="5543550" y="534352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EA65C0EE-EFEF-4F0C-BEBA-EFCD45BB64BD}"/>
              </a:ext>
            </a:extLst>
          </p:cNvPr>
          <p:cNvSpPr>
            <a:spLocks noGrp="1"/>
          </p:cNvSpPr>
          <p:nvPr/>
        </p:nvSpPr>
        <p:spPr>
          <a:xfrm>
            <a:off x="5610225" y="544830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47.0%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2DCA08F6-D441-47C6-B012-C2D19486F6BC}"/>
              </a:ext>
            </a:extLst>
          </p:cNvPr>
          <p:cNvSpPr>
            <a:spLocks noGrp="1"/>
          </p:cNvSpPr>
          <p:nvPr/>
        </p:nvSpPr>
        <p:spPr>
          <a:xfrm>
            <a:off x="6543675" y="534352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ED79819C-9737-4438-AAC8-27AEE856B217}"/>
              </a:ext>
            </a:extLst>
          </p:cNvPr>
          <p:cNvSpPr>
            <a:spLocks noGrp="1"/>
          </p:cNvSpPr>
          <p:nvPr/>
        </p:nvSpPr>
        <p:spPr>
          <a:xfrm>
            <a:off x="6610350" y="544830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0.158%</a:t>
            </a: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52D5BA18-41B6-4309-8867-900CD149A3A1}"/>
              </a:ext>
            </a:extLst>
          </p:cNvPr>
          <p:cNvSpPr>
            <a:spLocks noGrp="1"/>
          </p:cNvSpPr>
          <p:nvPr/>
        </p:nvSpPr>
        <p:spPr>
          <a:xfrm>
            <a:off x="7543800" y="534352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E018DB4A-3634-46F2-ABF6-78D59D5642A2}"/>
              </a:ext>
            </a:extLst>
          </p:cNvPr>
          <p:cNvSpPr>
            <a:spLocks noGrp="1"/>
          </p:cNvSpPr>
          <p:nvPr/>
        </p:nvSpPr>
        <p:spPr>
          <a:xfrm>
            <a:off x="7610475" y="544830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0.134%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DE40BBB9-2932-4614-9EE7-5D739EC95FF3}"/>
              </a:ext>
            </a:extLst>
          </p:cNvPr>
          <p:cNvSpPr>
            <a:spLocks noGrp="1"/>
          </p:cNvSpPr>
          <p:nvPr/>
        </p:nvSpPr>
        <p:spPr>
          <a:xfrm>
            <a:off x="8543925" y="5343525"/>
            <a:ext cx="100012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0CBEBFB4-B837-468D-B707-C211CA427D0C}"/>
              </a:ext>
            </a:extLst>
          </p:cNvPr>
          <p:cNvSpPr>
            <a:spLocks noGrp="1"/>
          </p:cNvSpPr>
          <p:nvPr/>
        </p:nvSpPr>
        <p:spPr>
          <a:xfrm>
            <a:off x="8610600" y="5448300"/>
            <a:ext cx="866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0.111%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D7DEA4F9-48F5-4CD3-A158-390E2612A5DD}"/>
              </a:ext>
            </a:extLst>
          </p:cNvPr>
          <p:cNvSpPr>
            <a:spLocks noGrp="1"/>
          </p:cNvSpPr>
          <p:nvPr/>
        </p:nvSpPr>
        <p:spPr>
          <a:xfrm>
            <a:off x="9544050" y="5343525"/>
            <a:ext cx="16954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641FFC8D-BA61-45B4-9B28-001867F7EF81}"/>
              </a:ext>
            </a:extLst>
          </p:cNvPr>
          <p:cNvSpPr>
            <a:spLocks noGrp="1"/>
          </p:cNvSpPr>
          <p:nvPr/>
        </p:nvSpPr>
        <p:spPr>
          <a:xfrm>
            <a:off x="9610725" y="544830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情境不同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BD66C83C-B810-4E57-A4B4-5FA420FBB78B}"/>
              </a:ext>
            </a:extLst>
          </p:cNvPr>
          <p:cNvSpPr>
            <a:spLocks noGrp="1"/>
          </p:cNvSpPr>
          <p:nvPr/>
        </p:nvSpPr>
        <p:spPr>
          <a:xfrm>
            <a:off x="495300" y="5857875"/>
            <a:ext cx="10744200" cy="3238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349B3ABD-324D-4F45-B627-AEAB9BBBA7B2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38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重點：TiDB 的擴展與跨區能力較符合主線；低延遲與 failover 仍須依服務情境判讀。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E76F8723-7C83-43FB-948B-D1153321695A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 Y26｜決策表；完整權重與證據見 DISTRIBUTED-DB-SCORING.md</a:t>
            </a:r>
          </a:p>
        </p:txBody>
      </p:sp>
    </p:spTree>
    <p:extLst>
      <p:ext uri="{BB962C8B-B14F-4D97-AF65-F5344CB8AC3E}">
        <p14:creationId xmlns:p14="http://schemas.microsoft.com/office/powerpoint/2010/main" val="1435645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4A2FC06-450E-4253-AB3F-3B16716880B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OPERATING MODEL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99B607-DDCF-4212-89EB-E2381385F4A6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技術主線、產品服務化、維運後勤可以並行</a:t>
            </a:r>
          </a:p>
        </p:txBody>
      </p:sp>
      <p:cxnSp>
        <p:nvCxnSpPr>
          <p:cNvPr id="21" name="直線箭頭接點 20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95A3F048-88A2-45A9-8057-B871F1DF4665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7A8A4B-84C4-48E4-AA88-C3378F0139E4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3333750" cy="37147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941BEF-5C97-4A25-A327-361372EF2EEA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66675" cy="3714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10BCDF-0605-4CCE-84E8-9916B9BA0A88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技術主線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985C52-90FC-4CF9-A834-0F9CC2C71EC5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2876550" cy="289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S0 IDC Only</a:t>
            </a:r>
          </a:p>
          <a:p>
            <a:pPr algn="l">
              <a:def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→ S1 A/S</a:t>
            </a:r>
          </a:p>
          <a:p>
            <a:pPr algn="l">
              <a:def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→ S2 A/A-RO</a:t>
            </a:r>
          </a:p>
          <a:p>
            <a:endParaRPr sz="1575" b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  <a:p>
            <a:pPr algn="l">
              <a:def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每一步有進入條件、驗收與退場。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92ABD9-FD68-4253-8C17-DBAFEAF88EB1}"/>
              </a:ext>
            </a:extLst>
          </p:cNvPr>
          <p:cNvSpPr>
            <a:spLocks noGrp="1"/>
          </p:cNvSpPr>
          <p:nvPr/>
        </p:nvSpPr>
        <p:spPr>
          <a:xfrm>
            <a:off x="4048125" y="1657350"/>
            <a:ext cx="3333750" cy="3714750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149B693-A121-413E-BE44-323A03510573}"/>
              </a:ext>
            </a:extLst>
          </p:cNvPr>
          <p:cNvSpPr>
            <a:spLocks noGrp="1"/>
          </p:cNvSpPr>
          <p:nvPr/>
        </p:nvSpPr>
        <p:spPr>
          <a:xfrm>
            <a:off x="4048125" y="1657350"/>
            <a:ext cx="66675" cy="3714750"/>
          </a:xfrm>
          <a:prstGeom prst="rect">
            <a:avLst/>
          </a:prstGeom>
          <a:solidFill>
            <a:srgbClr val="16803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36BEC3-68A3-467C-B97D-7A5774872029}"/>
              </a:ext>
            </a:extLst>
          </p:cNvPr>
          <p:cNvSpPr>
            <a:spLocks noGrp="1"/>
          </p:cNvSpPr>
          <p:nvPr/>
        </p:nvSpPr>
        <p:spPr>
          <a:xfrm>
            <a:off x="4276725" y="186690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產品期待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1FAD88-68DA-466A-AD80-232D611C1853}"/>
              </a:ext>
            </a:extLst>
          </p:cNvPr>
          <p:cNvSpPr>
            <a:spLocks noGrp="1"/>
          </p:cNvSpPr>
          <p:nvPr/>
        </p:nvSpPr>
        <p:spPr>
          <a:xfrm>
            <a:off x="4276725" y="2305050"/>
            <a:ext cx="2876550" cy="289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B1 Database Self-Service</a:t>
            </a:r>
          </a:p>
          <a:p>
            <a:pPr algn="l"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B2 DB 申請 CI/CD</a:t>
            </a:r>
          </a:p>
          <a:p>
            <a:pPr algn="l"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B3 EDC 資源活化</a:t>
            </a:r>
          </a:p>
          <a:p>
            <a:pPr algn="l"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B4 Observability</a:t>
            </a:r>
          </a:p>
          <a:p>
            <a:endParaRPr sz="1500" b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  <a:p>
            <a:pPr algn="l"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從 S0 起逐步交付。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0ABBF8B-4AF3-4C70-B5B5-95A9250B515D}"/>
              </a:ext>
            </a:extLst>
          </p:cNvPr>
          <p:cNvSpPr>
            <a:spLocks noGrp="1"/>
          </p:cNvSpPr>
          <p:nvPr/>
        </p:nvSpPr>
        <p:spPr>
          <a:xfrm>
            <a:off x="7600950" y="1657350"/>
            <a:ext cx="3638550" cy="371475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1D8B7C-1F9B-473F-9829-643838A221B9}"/>
              </a:ext>
            </a:extLst>
          </p:cNvPr>
          <p:cNvSpPr>
            <a:spLocks noGrp="1"/>
          </p:cNvSpPr>
          <p:nvPr/>
        </p:nvSpPr>
        <p:spPr>
          <a:xfrm>
            <a:off x="7600950" y="1657350"/>
            <a:ext cx="66675" cy="37147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301831-B083-40D1-B0E3-E840EAA0A21E}"/>
              </a:ext>
            </a:extLst>
          </p:cNvPr>
          <p:cNvSpPr>
            <a:spLocks noGrp="1"/>
          </p:cNvSpPr>
          <p:nvPr/>
        </p:nvSpPr>
        <p:spPr>
          <a:xfrm>
            <a:off x="7829550" y="186690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維運後勤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C0BE5D-A8FA-47AA-AD83-B56A66AEE79F}"/>
              </a:ext>
            </a:extLst>
          </p:cNvPr>
          <p:cNvSpPr>
            <a:spLocks noGrp="1"/>
          </p:cNvSpPr>
          <p:nvPr/>
        </p:nvSpPr>
        <p:spPr>
          <a:xfrm>
            <a:off x="7829550" y="2305050"/>
            <a:ext cx="3181350" cy="289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自控：PITR、Online</a:t>
            </a:r>
            <a:r>
              <a:rPr sz="150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DDL</a:t>
            </a:r>
          </a:p>
          <a:p>
            <a:pPr algn="l"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協作：相容性與隔離級</a:t>
            </a:r>
            <a:endParaRPr sz="1500" b="0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  <a:p>
            <a:pPr algn="l"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原廠：方案、SLA、升級</a:t>
            </a:r>
            <a:endParaRPr sz="1500" b="0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  <a:p>
            <a:endParaRPr sz="1500" b="0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  <a:p>
            <a:pPr algn="l"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先建立能力，不預設採購</a:t>
            </a:r>
            <a:r>
              <a:rPr sz="150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EC38EF6-F9A3-4C59-BA64-5B3ECCAA91A4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§3.1、§3.3、§3.4</a:t>
            </a:r>
          </a:p>
        </p:txBody>
      </p:sp>
    </p:spTree>
    <p:extLst>
      <p:ext uri="{BB962C8B-B14F-4D97-AF65-F5344CB8AC3E}">
        <p14:creationId xmlns:p14="http://schemas.microsoft.com/office/powerpoint/2010/main" val="87926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8E1B998-439D-C24C-BE48-7A087B91295D}"/>
              </a:ext>
            </a:extLst>
          </p:cNvPr>
          <p:cNvSpPr>
            <a:spLocks noGrp="1"/>
          </p:cNvSpPr>
          <p:nvPr/>
        </p:nvSpPr>
        <p:spPr>
          <a:xfrm>
            <a:off x="1137557" y="4759778"/>
            <a:ext cx="6381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lang="en-US" sz="51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Thanks.</a:t>
            </a:r>
            <a:endParaRPr sz="5100" b="1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3017248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286207A-589D-4DC4-BA59-37E7A0DB8C67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DECISION MATRIX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BC6157-8172-41B2-9266-1FB0B65AD015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決策表</a:t>
            </a:r>
            <a:r>
              <a:rPr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③｜</a:t>
            </a:r>
            <a:r>
              <a:rPr sz="3000" b="1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維運後勤與證據缺口</a:t>
            </a:r>
            <a:endParaRPr sz="3000" b="1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cxnSp>
        <p:nvCxnSpPr>
          <p:cNvPr id="53" name="直線箭頭接點 52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0BD19B2-5D38-4237-BC16-D1639BD7C984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A902E6-CD3C-4632-ADA6-B01F13E51CFE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這一頁是導入前的必要檢查清單，不把尚未測試寫成已具備能力。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76D7F2-E424-45A4-9EBF-C5FFD506D54C}"/>
              </a:ext>
            </a:extLst>
          </p:cNvPr>
          <p:cNvSpPr>
            <a:spLocks noGrp="1"/>
          </p:cNvSpPr>
          <p:nvPr/>
        </p:nvSpPr>
        <p:spPr>
          <a:xfrm>
            <a:off x="495300" y="1943100"/>
            <a:ext cx="30480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6ABFB9-ADA1-43DF-B720-D542BC0E7AD0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2819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項目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844F0B-D1D4-4A8E-BBF1-2BCC140C625F}"/>
              </a:ext>
            </a:extLst>
          </p:cNvPr>
          <p:cNvSpPr>
            <a:spLocks noGrp="1"/>
          </p:cNvSpPr>
          <p:nvPr/>
        </p:nvSpPr>
        <p:spPr>
          <a:xfrm>
            <a:off x="3733800" y="1943100"/>
            <a:ext cx="19050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83FC33-5379-40EA-AB64-F13A9E623478}"/>
              </a:ext>
            </a:extLst>
          </p:cNvPr>
          <p:cNvSpPr>
            <a:spLocks noGrp="1"/>
          </p:cNvSpPr>
          <p:nvPr/>
        </p:nvSpPr>
        <p:spPr>
          <a:xfrm>
            <a:off x="3848100" y="2047875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目前狀態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FBD4C9-3588-42DC-BE06-022B3202E638}"/>
              </a:ext>
            </a:extLst>
          </p:cNvPr>
          <p:cNvSpPr>
            <a:spLocks noGrp="1"/>
          </p:cNvSpPr>
          <p:nvPr/>
        </p:nvSpPr>
        <p:spPr>
          <a:xfrm>
            <a:off x="5829300" y="1943100"/>
            <a:ext cx="54102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EBD999-8946-4CD1-B688-9E503E983D43}"/>
              </a:ext>
            </a:extLst>
          </p:cNvPr>
          <p:cNvSpPr>
            <a:spLocks noGrp="1"/>
          </p:cNvSpPr>
          <p:nvPr/>
        </p:nvSpPr>
        <p:spPr>
          <a:xfrm>
            <a:off x="5943600" y="2047875"/>
            <a:ext cx="5181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需要補的證據／判讀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2922AF-1EA6-41DE-B3B0-31472C65F377}"/>
              </a:ext>
            </a:extLst>
          </p:cNvPr>
          <p:cNvSpPr>
            <a:spLocks noGrp="1"/>
          </p:cNvSpPr>
          <p:nvPr/>
        </p:nvSpPr>
        <p:spPr>
          <a:xfrm>
            <a:off x="495300" y="2343150"/>
            <a:ext cx="3048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84EC65-9751-4B2B-A9B2-51C552D498D8}"/>
              </a:ext>
            </a:extLst>
          </p:cNvPr>
          <p:cNvSpPr>
            <a:spLocks noGrp="1"/>
          </p:cNvSpPr>
          <p:nvPr/>
        </p:nvSpPr>
        <p:spPr>
          <a:xfrm>
            <a:off x="609600" y="2466975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PITR／備份還原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F64C6D-BFAA-4F83-8144-9AE483F25B03}"/>
              </a:ext>
            </a:extLst>
          </p:cNvPr>
          <p:cNvSpPr>
            <a:spLocks noGrp="1"/>
          </p:cNvSpPr>
          <p:nvPr/>
        </p:nvSpPr>
        <p:spPr>
          <a:xfrm>
            <a:off x="3733800" y="2343150"/>
            <a:ext cx="1905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BE2E7C-038E-4CC8-9B2F-A675B904743E}"/>
              </a:ext>
            </a:extLst>
          </p:cNvPr>
          <p:cNvSpPr>
            <a:spLocks noGrp="1"/>
          </p:cNvSpPr>
          <p:nvPr/>
        </p:nvSpPr>
        <p:spPr>
          <a:xfrm>
            <a:off x="3848100" y="2466975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349EA8E-47DA-4F3A-8A13-76109107F246}"/>
              </a:ext>
            </a:extLst>
          </p:cNvPr>
          <p:cNvSpPr>
            <a:spLocks noGrp="1"/>
          </p:cNvSpPr>
          <p:nvPr/>
        </p:nvSpPr>
        <p:spPr>
          <a:xfrm>
            <a:off x="5829300" y="2343150"/>
            <a:ext cx="54102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BF9E25-0773-4591-A3DD-0216F412A7F1}"/>
              </a:ext>
            </a:extLst>
          </p:cNvPr>
          <p:cNvSpPr>
            <a:spLocks noGrp="1"/>
          </p:cNvSpPr>
          <p:nvPr/>
        </p:nvSpPr>
        <p:spPr>
          <a:xfrm>
            <a:off x="5943600" y="2466975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需全量、增量、資料對帳與可重複 runbook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C25478B-8EF1-4CD6-A074-2A2822C35008}"/>
              </a:ext>
            </a:extLst>
          </p:cNvPr>
          <p:cNvSpPr>
            <a:spLocks noGrp="1"/>
          </p:cNvSpPr>
          <p:nvPr/>
        </p:nvSpPr>
        <p:spPr>
          <a:xfrm>
            <a:off x="495300" y="2867025"/>
            <a:ext cx="3048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674635A-1F58-4038-B93E-1D8A6FC1CE8B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Online DDL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D93C33-7D0F-4392-A850-74D270D42CCE}"/>
              </a:ext>
            </a:extLst>
          </p:cNvPr>
          <p:cNvSpPr>
            <a:spLocks noGrp="1"/>
          </p:cNvSpPr>
          <p:nvPr/>
        </p:nvSpPr>
        <p:spPr>
          <a:xfrm>
            <a:off x="3733800" y="2867025"/>
            <a:ext cx="1905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4072E0F-E4A2-4A52-80C0-C094086CE180}"/>
              </a:ext>
            </a:extLst>
          </p:cNvPr>
          <p:cNvSpPr>
            <a:spLocks noGrp="1"/>
          </p:cNvSpPr>
          <p:nvPr/>
        </p:nvSpPr>
        <p:spPr>
          <a:xfrm>
            <a:off x="3848100" y="299085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待測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6762554-8B92-4BC9-8FF9-B26FE2C38F35}"/>
              </a:ext>
            </a:extLst>
          </p:cNvPr>
          <p:cNvSpPr>
            <a:spLocks noGrp="1"/>
          </p:cNvSpPr>
          <p:nvPr/>
        </p:nvSpPr>
        <p:spPr>
          <a:xfrm>
            <a:off x="5829300" y="2867025"/>
            <a:ext cx="54102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88CAA54-0093-4E33-BA6A-2FEFA6B90FF5}"/>
              </a:ext>
            </a:extLst>
          </p:cNvPr>
          <p:cNvSpPr>
            <a:spLocks noGrp="1"/>
          </p:cNvSpPr>
          <p:nvPr/>
        </p:nvSpPr>
        <p:spPr>
          <a:xfrm>
            <a:off x="5943600" y="2990850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量測 tpmC、p99 與影響持續時間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7BA8C9-5495-4EC8-96D7-9399536DE139}"/>
              </a:ext>
            </a:extLst>
          </p:cNvPr>
          <p:cNvSpPr>
            <a:spLocks noGrp="1"/>
          </p:cNvSpPr>
          <p:nvPr/>
        </p:nvSpPr>
        <p:spPr>
          <a:xfrm>
            <a:off x="495300" y="3390900"/>
            <a:ext cx="3048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AA7E139-A181-4083-BF41-F84708DC9FCC}"/>
              </a:ext>
            </a:extLst>
          </p:cNvPr>
          <p:cNvSpPr>
            <a:spLocks noGrp="1"/>
          </p:cNvSpPr>
          <p:nvPr/>
        </p:nvSpPr>
        <p:spPr>
          <a:xfrm>
            <a:off x="609600" y="3514725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HTAP／分析型負載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EBFDB18-3788-41AC-B8FC-036A0F196734}"/>
              </a:ext>
            </a:extLst>
          </p:cNvPr>
          <p:cNvSpPr>
            <a:spLocks noGrp="1"/>
          </p:cNvSpPr>
          <p:nvPr/>
        </p:nvSpPr>
        <p:spPr>
          <a:xfrm>
            <a:off x="3733800" y="3390900"/>
            <a:ext cx="1905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ED7E9D-EEAF-47BC-A239-99FA7926E025}"/>
              </a:ext>
            </a:extLst>
          </p:cNvPr>
          <p:cNvSpPr>
            <a:spLocks noGrp="1"/>
          </p:cNvSpPr>
          <p:nvPr/>
        </p:nvSpPr>
        <p:spPr>
          <a:xfrm>
            <a:off x="3848100" y="3514725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TiDB 待測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EF8432-F269-40F0-A54B-AF849502A96E}"/>
              </a:ext>
            </a:extLst>
          </p:cNvPr>
          <p:cNvSpPr>
            <a:spLocks noGrp="1"/>
          </p:cNvSpPr>
          <p:nvPr/>
        </p:nvSpPr>
        <p:spPr>
          <a:xfrm>
            <a:off x="5829300" y="3390900"/>
            <a:ext cx="54102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55E4EA0-AD37-4E8B-9018-77C84668E95E}"/>
              </a:ext>
            </a:extLst>
          </p:cNvPr>
          <p:cNvSpPr>
            <a:spLocks noGrp="1"/>
          </p:cNvSpPr>
          <p:nvPr/>
        </p:nvSpPr>
        <p:spPr>
          <a:xfrm>
            <a:off x="5943600" y="3514725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Galera／YBDB／CRDB 不列入本輪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FC49431-9EC8-4D37-9B7F-6D947FA2B23C}"/>
              </a:ext>
            </a:extLst>
          </p:cNvPr>
          <p:cNvSpPr>
            <a:spLocks noGrp="1"/>
          </p:cNvSpPr>
          <p:nvPr/>
        </p:nvSpPr>
        <p:spPr>
          <a:xfrm>
            <a:off x="495300" y="3914775"/>
            <a:ext cx="3048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96B0C04-B32E-4C30-BD15-4E6A8A5A3445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原廠在地支援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77847AE-60A2-4474-B430-BBAD43A4B7B9}"/>
              </a:ext>
            </a:extLst>
          </p:cNvPr>
          <p:cNvSpPr>
            <a:spLocks noGrp="1"/>
          </p:cNvSpPr>
          <p:nvPr/>
        </p:nvSpPr>
        <p:spPr>
          <a:xfrm>
            <a:off x="3733800" y="3914775"/>
            <a:ext cx="1905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81FBB22-840A-47BD-8FE7-B83FF09A101A}"/>
              </a:ext>
            </a:extLst>
          </p:cNvPr>
          <p:cNvSpPr>
            <a:spLocks noGrp="1"/>
          </p:cNvSpPr>
          <p:nvPr/>
        </p:nvSpPr>
        <p:spPr>
          <a:xfrm>
            <a:off x="3848100" y="4038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741"/>
          </a:bodyPr>
          <a:lstStyle/>
          <a:p>
            <a:pPr algn="l"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TiDB：24×7 中文 + 台灣 SA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46D7AD4-A682-4696-8D78-8E47EFA38587}"/>
              </a:ext>
            </a:extLst>
          </p:cNvPr>
          <p:cNvSpPr>
            <a:spLocks noGrp="1"/>
          </p:cNvSpPr>
          <p:nvPr/>
        </p:nvSpPr>
        <p:spPr>
          <a:xfrm>
            <a:off x="5829300" y="3914775"/>
            <a:ext cx="54102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A4367F4-CD74-46C1-9604-510A9874F48B}"/>
              </a:ext>
            </a:extLst>
          </p:cNvPr>
          <p:cNvSpPr>
            <a:spLocks noGrp="1"/>
          </p:cNvSpPr>
          <p:nvPr/>
        </p:nvSpPr>
        <p:spPr>
          <a:xfrm>
            <a:off x="5943600" y="4038600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其他方案依需求觸發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99C15E2-054C-4F1B-BD54-77068254CD99}"/>
              </a:ext>
            </a:extLst>
          </p:cNvPr>
          <p:cNvSpPr>
            <a:spLocks noGrp="1"/>
          </p:cNvSpPr>
          <p:nvPr/>
        </p:nvSpPr>
        <p:spPr>
          <a:xfrm>
            <a:off x="495300" y="4438650"/>
            <a:ext cx="3048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2DCCB23-7D57-417D-B914-439BE148CBBD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既有 DBA 技能承接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347535D-C857-485B-BC6D-2F6A9879165D}"/>
              </a:ext>
            </a:extLst>
          </p:cNvPr>
          <p:cNvSpPr>
            <a:spLocks noGrp="1"/>
          </p:cNvSpPr>
          <p:nvPr/>
        </p:nvSpPr>
        <p:spPr>
          <a:xfrm>
            <a:off x="3733800" y="4438650"/>
            <a:ext cx="1905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9195B15-69F9-4359-BC76-D428E2207875}"/>
              </a:ext>
            </a:extLst>
          </p:cNvPr>
          <p:cNvSpPr>
            <a:spLocks noGrp="1"/>
          </p:cNvSpPr>
          <p:nvPr/>
        </p:nvSpPr>
        <p:spPr>
          <a:xfrm>
            <a:off x="3848100" y="4562475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MySQL：O／TiDB：△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B065069-772F-4C75-998C-FA7B1713CE1B}"/>
              </a:ext>
            </a:extLst>
          </p:cNvPr>
          <p:cNvSpPr>
            <a:spLocks noGrp="1"/>
          </p:cNvSpPr>
          <p:nvPr/>
        </p:nvSpPr>
        <p:spPr>
          <a:xfrm>
            <a:off x="5829300" y="4438650"/>
            <a:ext cx="54102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4C0A8F2-6F26-4949-9962-D53EB4AFFAD5}"/>
              </a:ext>
            </a:extLst>
          </p:cNvPr>
          <p:cNvSpPr>
            <a:spLocks noGrp="1"/>
          </p:cNvSpPr>
          <p:nvPr/>
        </p:nvSpPr>
        <p:spPr>
          <a:xfrm>
            <a:off x="5943600" y="4562475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 路線需另建能力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5450309-5724-4370-9757-468FA3B8BB7C}"/>
              </a:ext>
            </a:extLst>
          </p:cNvPr>
          <p:cNvSpPr>
            <a:spLocks noGrp="1"/>
          </p:cNvSpPr>
          <p:nvPr/>
        </p:nvSpPr>
        <p:spPr>
          <a:xfrm>
            <a:off x="495300" y="4962525"/>
            <a:ext cx="3048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796F007-72F4-489B-9BC3-AE7ED29430D5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SQL／ORM 相容性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7B3BC58-8285-40F5-ADEC-1F924B32B850}"/>
              </a:ext>
            </a:extLst>
          </p:cNvPr>
          <p:cNvSpPr>
            <a:spLocks noGrp="1"/>
          </p:cNvSpPr>
          <p:nvPr/>
        </p:nvSpPr>
        <p:spPr>
          <a:xfrm>
            <a:off x="3733800" y="4962525"/>
            <a:ext cx="1905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59A1385-77D7-491C-A17E-BAD5FF748BAA}"/>
              </a:ext>
            </a:extLst>
          </p:cNvPr>
          <p:cNvSpPr>
            <a:spLocks noGrp="1"/>
          </p:cNvSpPr>
          <p:nvPr/>
        </p:nvSpPr>
        <p:spPr>
          <a:xfrm>
            <a:off x="3848100" y="508635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四家待測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1FFF33C-C257-431B-BE3E-8547CD34945E}"/>
              </a:ext>
            </a:extLst>
          </p:cNvPr>
          <p:cNvSpPr>
            <a:spLocks noGrp="1"/>
          </p:cNvSpPr>
          <p:nvPr/>
        </p:nvSpPr>
        <p:spPr>
          <a:xfrm>
            <a:off x="5829300" y="4962525"/>
            <a:ext cx="54102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0A02ACB-E897-404D-8F9E-01392A62DA53}"/>
              </a:ext>
            </a:extLst>
          </p:cNvPr>
          <p:cNvSpPr>
            <a:spLocks noGrp="1"/>
          </p:cNvSpPr>
          <p:nvPr/>
        </p:nvSpPr>
        <p:spPr>
          <a:xfrm>
            <a:off x="5943600" y="5086350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Phase 0 必須補件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6084949-0443-4632-924B-AE1E8B3D4E2D}"/>
              </a:ext>
            </a:extLst>
          </p:cNvPr>
          <p:cNvSpPr>
            <a:spLocks noGrp="1"/>
          </p:cNvSpPr>
          <p:nvPr/>
        </p:nvSpPr>
        <p:spPr>
          <a:xfrm>
            <a:off x="495300" y="5476875"/>
            <a:ext cx="10744200" cy="68580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6864D28-4C81-4890-84E1-28CB2EF27710}"/>
              </a:ext>
            </a:extLst>
          </p:cNvPr>
          <p:cNvSpPr>
            <a:spLocks noGrp="1"/>
          </p:cNvSpPr>
          <p:nvPr/>
        </p:nvSpPr>
        <p:spPr>
          <a:xfrm>
            <a:off x="723900" y="5667375"/>
            <a:ext cx="10239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E 大類是目前最大的證據缺口：相容性、PITR／備份還原、Online DDL 完成前，不應提出正式導入承諾。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E451D9C-641F-4896-9C26-F68A2CDECF4B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 Y26｜決策表 ③；DISTRIBUTED-DB-SCORING.md §2–§5</a:t>
            </a:r>
          </a:p>
        </p:txBody>
      </p:sp>
    </p:spTree>
    <p:extLst>
      <p:ext uri="{BB962C8B-B14F-4D97-AF65-F5344CB8AC3E}">
        <p14:creationId xmlns:p14="http://schemas.microsoft.com/office/powerpoint/2010/main" val="506118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441A755-2914-4015-A697-007776D999F7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Y25 EVIDENCE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CB5871-01DA-47FC-95DE-2A827FA931DB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Y25 已解兩個前提，也留下明確邊界</a:t>
            </a:r>
          </a:p>
        </p:txBody>
      </p:sp>
      <p:cxnSp>
        <p:nvCxnSpPr>
          <p:cNvPr id="26" name="直線箭頭接點 25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50067DDD-0758-45F9-807F-79AF6A59D4EC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C0D983-95CB-455F-978C-66CD9F7B00B4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3429000" cy="20002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9D42F6-1D42-4AC2-9BEE-D799C3E5AE66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66675" cy="2000250"/>
          </a:xfrm>
          <a:prstGeom prst="rect">
            <a:avLst/>
          </a:prstGeom>
          <a:solidFill>
            <a:srgbClr val="16803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F8D191-B96F-4DD5-80B6-0F2BC1D24D9B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應用改造可行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E2A3EA-FDE0-4E6C-A902-766BEDF8025A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29718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ac-api 完成 ULID／Snowflake 改造；deadlock 與連線錯誤已處理。2026-08-26 TiDB 複測通過。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FFCD89-3F55-4F1D-9F68-9BF83E8B0AE5}"/>
              </a:ext>
            </a:extLst>
          </p:cNvPr>
          <p:cNvSpPr>
            <a:spLocks noGrp="1"/>
          </p:cNvSpPr>
          <p:nvPr/>
        </p:nvSpPr>
        <p:spPr>
          <a:xfrm>
            <a:off x="4152900" y="1657350"/>
            <a:ext cx="3429000" cy="20002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489551-A206-4E6A-94A8-99CC047E1FCE}"/>
              </a:ext>
            </a:extLst>
          </p:cNvPr>
          <p:cNvSpPr>
            <a:spLocks noGrp="1"/>
          </p:cNvSpPr>
          <p:nvPr/>
        </p:nvSpPr>
        <p:spPr>
          <a:xfrm>
            <a:off x="4152900" y="1657350"/>
            <a:ext cx="66675" cy="20002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80820F-ADD9-4E4E-8BBC-6077D30DFE82}"/>
              </a:ext>
            </a:extLst>
          </p:cNvPr>
          <p:cNvSpPr>
            <a:spLocks noGrp="1"/>
          </p:cNvSpPr>
          <p:nvPr/>
        </p:nvSpPr>
        <p:spPr>
          <a:xfrm>
            <a:off x="4381500" y="18669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跨機房分流可行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0D7BA8-FD6D-480B-B6C5-4B63C55E85B6}"/>
              </a:ext>
            </a:extLst>
          </p:cNvPr>
          <p:cNvSpPr>
            <a:spLocks noGrp="1"/>
          </p:cNvSpPr>
          <p:nvPr/>
        </p:nvSpPr>
        <p:spPr>
          <a:xfrm>
            <a:off x="4381500" y="2305050"/>
            <a:ext cx="29718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Cloudflare LB 通過分流與 IP sticky；F5 不符合需求，A/S 流量導向前提已成立。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8316B15-A94C-4601-A7C7-F1FC57C4DA4C}"/>
              </a:ext>
            </a:extLst>
          </p:cNvPr>
          <p:cNvSpPr>
            <a:spLocks noGrp="1"/>
          </p:cNvSpPr>
          <p:nvPr/>
        </p:nvSpPr>
        <p:spPr>
          <a:xfrm>
            <a:off x="7810500" y="1657350"/>
            <a:ext cx="3429000" cy="20002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0144D0-D749-4966-9DFC-A80F53F0E186}"/>
              </a:ext>
            </a:extLst>
          </p:cNvPr>
          <p:cNvSpPr>
            <a:spLocks noGrp="1"/>
          </p:cNvSpPr>
          <p:nvPr/>
        </p:nvSpPr>
        <p:spPr>
          <a:xfrm>
            <a:off x="7810500" y="1657350"/>
            <a:ext cx="66675" cy="20002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C0D7CF-61E2-4E5F-94A5-AA0929E5FD60}"/>
              </a:ext>
            </a:extLst>
          </p:cNvPr>
          <p:cNvSpPr>
            <a:spLocks noGrp="1"/>
          </p:cNvSpPr>
          <p:nvPr/>
        </p:nvSpPr>
        <p:spPr>
          <a:xfrm>
            <a:off x="8039100" y="18669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單寫可以先上線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36DC1B-CB44-40D6-8131-6F4C5C545865}"/>
              </a:ext>
            </a:extLst>
          </p:cNvPr>
          <p:cNvSpPr>
            <a:spLocks noGrp="1"/>
          </p:cNvSpPr>
          <p:nvPr/>
        </p:nvSpPr>
        <p:spPr>
          <a:xfrm>
            <a:off x="8039100" y="2305050"/>
            <a:ext cx="29718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ATS Pro 因 multi-write deadlock 回到 single write；產品不必等待 A/A 才推進。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DFF3E1-8B6B-4839-9728-45A8A7505A68}"/>
              </a:ext>
            </a:extLst>
          </p:cNvPr>
          <p:cNvSpPr>
            <a:spLocks noGrp="1"/>
          </p:cNvSpPr>
          <p:nvPr/>
        </p:nvSpPr>
        <p:spPr>
          <a:xfrm>
            <a:off x="495300" y="4095750"/>
            <a:ext cx="10744200" cy="148590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EB0FCB-9042-4CF1-9C14-5EBFC1E4460C}"/>
              </a:ext>
            </a:extLst>
          </p:cNvPr>
          <p:cNvSpPr>
            <a:spLocks noGrp="1"/>
          </p:cNvSpPr>
          <p:nvPr/>
        </p:nvSpPr>
        <p:spPr>
          <a:xfrm>
            <a:off x="742950" y="4343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代表性邊界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EC0CE8-6D9A-4C82-BB3B-E35928D3B6A8}"/>
              </a:ext>
            </a:extLst>
          </p:cNvPr>
          <p:cNvSpPr>
            <a:spLocks noGrp="1"/>
          </p:cNvSpPr>
          <p:nvPr/>
        </p:nvSpPr>
        <p:spPr>
          <a:xfrm>
            <a:off x="2647950" y="42862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2A4B411-6C17-4460-8E60-B9475A47A831}"/>
              </a:ext>
            </a:extLst>
          </p:cNvPr>
          <p:cNvSpPr>
            <a:spLocks noGrp="1"/>
          </p:cNvSpPr>
          <p:nvPr/>
        </p:nvSpPr>
        <p:spPr>
          <a:xfrm>
            <a:off x="2933700" y="4286250"/>
            <a:ext cx="781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僅涵蓋</a:t>
            </a: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4 </a:t>
            </a: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支特定</a:t>
            </a: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lang="en-US"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AC </a:t>
            </a: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API；流量鏡像到</a:t>
            </a: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TiDB</a:t>
            </a: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後只剩</a:t>
            </a: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113 QPS。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87E499-0AE9-4B32-863F-6590311CD25A}"/>
              </a:ext>
            </a:extLst>
          </p:cNvPr>
          <p:cNvSpPr>
            <a:spLocks noGrp="1"/>
          </p:cNvSpPr>
          <p:nvPr/>
        </p:nvSpPr>
        <p:spPr>
          <a:xfrm>
            <a:off x="2647950" y="47625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D9DEF75-A377-490D-8B1D-0E99A4BBD4BD}"/>
              </a:ext>
            </a:extLst>
          </p:cNvPr>
          <p:cNvSpPr>
            <a:spLocks noGrp="1"/>
          </p:cNvSpPr>
          <p:nvPr/>
        </p:nvSpPr>
        <p:spPr>
          <a:xfrm>
            <a:off x="2933700" y="4762500"/>
            <a:ext cx="781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「</a:t>
            </a: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灌入</a:t>
            </a: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AC API </a:t>
            </a: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總量」因資源調整未執行，不能把</a:t>
            </a: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Y25 </a:t>
            </a: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結果外推為正式容量</a:t>
            </a: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B18008-3A88-4449-9494-9551150AE391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§1.1、§1.5</a:t>
            </a:r>
          </a:p>
        </p:txBody>
      </p:sp>
    </p:spTree>
    <p:extLst>
      <p:ext uri="{BB962C8B-B14F-4D97-AF65-F5344CB8AC3E}">
        <p14:creationId xmlns:p14="http://schemas.microsoft.com/office/powerpoint/2010/main" val="186593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A1B61C9-BBB5-4929-95B2-C3EE77197A9B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DELIVERY BOUNDARY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9748B5-F515-48E3-9FE0-C158CE509ED7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可以交付的能力，與進入導入前仍需補證的結果分開</a:t>
            </a:r>
          </a:p>
        </p:txBody>
      </p:sp>
      <p:cxnSp>
        <p:nvCxnSpPr>
          <p:cNvPr id="36" name="直線箭頭接點 35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84E1517-DE6A-42AB-AB6B-E07BB3EBEB55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19E4-A8A0-4AC1-AB58-0358967E7E6E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5181600" cy="4238625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9B32C3-0140-40FE-A5F4-9C8AB2E6170C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目前可交付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1E636F-E5D3-4AD9-BDB2-36A01E04786F}"/>
              </a:ext>
            </a:extLst>
          </p:cNvPr>
          <p:cNvSpPr>
            <a:spLocks noGrp="1"/>
          </p:cNvSpPr>
          <p:nvPr/>
        </p:nvSpPr>
        <p:spPr>
          <a:xfrm>
            <a:off x="742950" y="2457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C16139-D162-4E84-9223-78F34A1F53A3}"/>
              </a:ext>
            </a:extLst>
          </p:cNvPr>
          <p:cNvSpPr>
            <a:spLocks noGrp="1"/>
          </p:cNvSpPr>
          <p:nvPr/>
        </p:nvSpPr>
        <p:spPr>
          <a:xfrm>
            <a:off x="1028700" y="245745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MySQL </a:t>
            </a: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協定路線與</a:t>
            </a:r>
            <a:r>
              <a:rPr lang="en-US" sz="135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分散式資料庫架構</a:t>
            </a: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改造方法</a:t>
            </a:r>
            <a:endParaRPr sz="1350" b="0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778FA5-61F8-4E6E-B86A-EB9C78B7FE3F}"/>
              </a:ext>
            </a:extLst>
          </p:cNvPr>
          <p:cNvSpPr>
            <a:spLocks noGrp="1"/>
          </p:cNvSpPr>
          <p:nvPr/>
        </p:nvSpPr>
        <p:spPr>
          <a:xfrm>
            <a:off x="742950" y="29241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327A83-79EF-4031-B162-B464DDB2EC31}"/>
              </a:ext>
            </a:extLst>
          </p:cNvPr>
          <p:cNvSpPr>
            <a:spLocks noGrp="1"/>
          </p:cNvSpPr>
          <p:nvPr/>
        </p:nvSpPr>
        <p:spPr>
          <a:xfrm>
            <a:off x="1028700" y="29241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水平擴展與高併發穩定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01DF63-A041-4DC4-A56C-48534C2867F1}"/>
              </a:ext>
            </a:extLst>
          </p:cNvPr>
          <p:cNvSpPr>
            <a:spLocks noGrp="1"/>
          </p:cNvSpPr>
          <p:nvPr/>
        </p:nvSpPr>
        <p:spPr>
          <a:xfrm>
            <a:off x="742950" y="33909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B6FAAD-F808-4A7F-A81C-93B797D325C3}"/>
              </a:ext>
            </a:extLst>
          </p:cNvPr>
          <p:cNvSpPr>
            <a:spLocks noGrp="1"/>
          </p:cNvSpPr>
          <p:nvPr/>
        </p:nvSpPr>
        <p:spPr>
          <a:xfrm>
            <a:off x="1028700" y="339090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</a:t>
            </a: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A/</a:t>
            </a: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S、placement</a:t>
            </a: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與副本存在驗證</a:t>
            </a:r>
            <a:endParaRPr sz="1350" b="0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D4D3E7-D3E5-49D8-A09F-3532EC8EE885}"/>
              </a:ext>
            </a:extLst>
          </p:cNvPr>
          <p:cNvSpPr>
            <a:spLocks noGrp="1"/>
          </p:cNvSpPr>
          <p:nvPr/>
        </p:nvSpPr>
        <p:spPr>
          <a:xfrm>
            <a:off x="742950" y="385762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6B5DB23-957B-4506-9F93-2014CA53AAD9}"/>
              </a:ext>
            </a:extLst>
          </p:cNvPr>
          <p:cNvSpPr>
            <a:spLocks noGrp="1"/>
          </p:cNvSpPr>
          <p:nvPr/>
        </p:nvSpPr>
        <p:spPr>
          <a:xfrm>
            <a:off x="1028700" y="385762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跨區就近讀的測試路徑</a:t>
            </a:r>
            <a:endParaRPr sz="1350" b="0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88683F-4AC0-4E62-AD8B-410537502FAD}"/>
              </a:ext>
            </a:extLst>
          </p:cNvPr>
          <p:cNvSpPr>
            <a:spLocks noGrp="1"/>
          </p:cNvSpPr>
          <p:nvPr/>
        </p:nvSpPr>
        <p:spPr>
          <a:xfrm>
            <a:off x="742950" y="43243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2B88D0-DAA4-4DF4-8F44-87E795711FDA}"/>
              </a:ext>
            </a:extLst>
          </p:cNvPr>
          <p:cNvSpPr>
            <a:spLocks noGrp="1"/>
          </p:cNvSpPr>
          <p:nvPr/>
        </p:nvSpPr>
        <p:spPr>
          <a:xfrm>
            <a:off x="1028700" y="432435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Kubernetes </a:t>
            </a: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部署與資源配額控制</a:t>
            </a:r>
            <a:endParaRPr sz="1350" b="0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8F66EB-C37A-4A5F-BEAC-DFF9783338E1}"/>
              </a:ext>
            </a:extLst>
          </p:cNvPr>
          <p:cNvSpPr>
            <a:spLocks noGrp="1"/>
          </p:cNvSpPr>
          <p:nvPr/>
        </p:nvSpPr>
        <p:spPr>
          <a:xfrm>
            <a:off x="742950" y="47910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629FE9-0F45-4005-BA89-BC29854C001F}"/>
              </a:ext>
            </a:extLst>
          </p:cNvPr>
          <p:cNvSpPr>
            <a:spLocks noGrp="1"/>
          </p:cNvSpPr>
          <p:nvPr/>
        </p:nvSpPr>
        <p:spPr>
          <a:xfrm>
            <a:off x="1028700" y="47910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原廠在地技術協作入口</a:t>
            </a:r>
            <a:endParaRPr sz="1350" b="0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34FD534-3332-4BBA-B9AB-85E278EB97DA}"/>
              </a:ext>
            </a:extLst>
          </p:cNvPr>
          <p:cNvSpPr>
            <a:spLocks noGrp="1"/>
          </p:cNvSpPr>
          <p:nvPr/>
        </p:nvSpPr>
        <p:spPr>
          <a:xfrm>
            <a:off x="6057900" y="1619250"/>
            <a:ext cx="5181600" cy="4238625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E3CC5C2-89F0-4C2A-9A43-012A4464FFE7}"/>
              </a:ext>
            </a:extLst>
          </p:cNvPr>
          <p:cNvSpPr>
            <a:spLocks noGrp="1"/>
          </p:cNvSpPr>
          <p:nvPr/>
        </p:nvSpPr>
        <p:spPr>
          <a:xfrm>
            <a:off x="6305550" y="18669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進入正式導入前仍需補證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894811-19A3-46C6-B935-152FB73BA5D6}"/>
              </a:ext>
            </a:extLst>
          </p:cNvPr>
          <p:cNvSpPr>
            <a:spLocks noGrp="1"/>
          </p:cNvSpPr>
          <p:nvPr/>
        </p:nvSpPr>
        <p:spPr>
          <a:xfrm>
            <a:off x="6305550" y="2457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890BD0-A88D-4110-B11D-0062E2DDB48F}"/>
              </a:ext>
            </a:extLst>
          </p:cNvPr>
          <p:cNvSpPr>
            <a:spLocks noGrp="1"/>
          </p:cNvSpPr>
          <p:nvPr/>
        </p:nvSpPr>
        <p:spPr>
          <a:xfrm>
            <a:off x="6591300" y="245745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端到端</a:t>
            </a: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A/A </a:t>
            </a: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或整區秒級自動接手</a:t>
            </a:r>
            <a:endParaRPr sz="1350" b="0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C27D9D0-1FE0-47F2-A770-72B32F002FA6}"/>
              </a:ext>
            </a:extLst>
          </p:cNvPr>
          <p:cNvSpPr>
            <a:spLocks noGrp="1"/>
          </p:cNvSpPr>
          <p:nvPr/>
        </p:nvSpPr>
        <p:spPr>
          <a:xfrm>
            <a:off x="6305550" y="29241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45B164A-C886-4161-BA46-51A4E6980A2B}"/>
              </a:ext>
            </a:extLst>
          </p:cNvPr>
          <p:cNvSpPr>
            <a:spLocks noGrp="1"/>
          </p:cNvSpPr>
          <p:nvPr/>
        </p:nvSpPr>
        <p:spPr>
          <a:xfrm>
            <a:off x="6591300" y="29241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SQL／ORM </a:t>
            </a: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已全面相容</a:t>
            </a:r>
            <a:endParaRPr sz="1350" b="0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C471507-C62D-43CD-BA5B-3B6D48EBC5DA}"/>
              </a:ext>
            </a:extLst>
          </p:cNvPr>
          <p:cNvSpPr>
            <a:spLocks noGrp="1"/>
          </p:cNvSpPr>
          <p:nvPr/>
        </p:nvSpPr>
        <p:spPr>
          <a:xfrm>
            <a:off x="6305550" y="33909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E14C160-4E9B-4F7B-98CC-ACE57BD98AA6}"/>
              </a:ext>
            </a:extLst>
          </p:cNvPr>
          <p:cNvSpPr>
            <a:spLocks noGrp="1"/>
          </p:cNvSpPr>
          <p:nvPr/>
        </p:nvSpPr>
        <p:spPr>
          <a:xfrm>
            <a:off x="6591300" y="339090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PITR </a:t>
            </a: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已可還原、Online</a:t>
            </a: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DDL </a:t>
            </a: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無影響</a:t>
            </a:r>
            <a:endParaRPr sz="1350" b="0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5D228A-BF57-429D-9D99-39415C2EB5F7}"/>
              </a:ext>
            </a:extLst>
          </p:cNvPr>
          <p:cNvSpPr>
            <a:spLocks noGrp="1"/>
          </p:cNvSpPr>
          <p:nvPr/>
        </p:nvSpPr>
        <p:spPr>
          <a:xfrm>
            <a:off x="6305550" y="385762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9201768-72A3-4985-BADC-01ABBF149F88}"/>
              </a:ext>
            </a:extLst>
          </p:cNvPr>
          <p:cNvSpPr>
            <a:spLocks noGrp="1"/>
          </p:cNvSpPr>
          <p:nvPr/>
        </p:nvSpPr>
        <p:spPr>
          <a:xfrm>
            <a:off x="6591300" y="385762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跨區網路成本已用同條件對照單獨量出</a:t>
            </a:r>
            <a:endParaRPr sz="1350" b="0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86E7555-2C89-4BEE-811D-124662FC1AA8}"/>
              </a:ext>
            </a:extLst>
          </p:cNvPr>
          <p:cNvSpPr>
            <a:spLocks noGrp="1"/>
          </p:cNvSpPr>
          <p:nvPr/>
        </p:nvSpPr>
        <p:spPr>
          <a:xfrm>
            <a:off x="6305550" y="43243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8D218F5-E6A2-4D28-9C46-FDDCBAFFE750}"/>
              </a:ext>
            </a:extLst>
          </p:cNvPr>
          <p:cNvSpPr>
            <a:spLocks noGrp="1"/>
          </p:cNvSpPr>
          <p:nvPr/>
        </p:nvSpPr>
        <p:spPr>
          <a:xfrm>
            <a:off x="6591300" y="432435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P-B </a:t>
            </a: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高併發下降原因已完成控制實驗確認</a:t>
            </a:r>
            <a:endParaRPr sz="1350" b="0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74076CF-606D-4294-B491-575964FB5A53}"/>
              </a:ext>
            </a:extLst>
          </p:cNvPr>
          <p:cNvSpPr>
            <a:spLocks noGrp="1"/>
          </p:cNvSpPr>
          <p:nvPr/>
        </p:nvSpPr>
        <p:spPr>
          <a:xfrm>
            <a:off x="6305550" y="47910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4AF68DD-8C66-4702-B54F-910565B2D0BF}"/>
              </a:ext>
            </a:extLst>
          </p:cNvPr>
          <p:cNvSpPr>
            <a:spLocks noGrp="1"/>
          </p:cNvSpPr>
          <p:nvPr/>
        </p:nvSpPr>
        <p:spPr>
          <a:xfrm>
            <a:off x="6591300" y="47910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Failover </a:t>
            </a:r>
            <a:r>
              <a:rPr sz="135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數字可跨產品直接排名</a:t>
            </a:r>
            <a:endParaRPr sz="1350" b="0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680A42C-1547-40B6-AEFB-D92A4F3D3264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§2.4.1–§2.4.2</a:t>
            </a:r>
          </a:p>
        </p:txBody>
      </p:sp>
    </p:spTree>
    <p:extLst>
      <p:ext uri="{BB962C8B-B14F-4D97-AF65-F5344CB8AC3E}">
        <p14:creationId xmlns:p14="http://schemas.microsoft.com/office/powerpoint/2010/main" val="1946811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7E9E7B4-518B-4A9E-84DF-65D5D27BE5E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CAPABILITY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19D890-829F-4F03-B930-52DED19DEE89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根據目前 TiDB 評估，可以先完成的事</a:t>
            </a:r>
          </a:p>
        </p:txBody>
      </p:sp>
      <p:cxnSp>
        <p:nvCxnSpPr>
          <p:cNvPr id="21" name="直線箭頭接點 20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828937A5-9E21-430C-924E-A3D4187CA23A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6421C0-CCB1-4873-AC42-A073D3BE76B8}"/>
              </a:ext>
            </a:extLst>
          </p:cNvPr>
          <p:cNvSpPr>
            <a:spLocks noGrp="1"/>
          </p:cNvSpPr>
          <p:nvPr/>
        </p:nvSpPr>
        <p:spPr>
          <a:xfrm>
            <a:off x="495300" y="1676400"/>
            <a:ext cx="10744200" cy="3905250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6CFBB4-E56D-4DF2-95BB-FB452E31A545}"/>
              </a:ext>
            </a:extLst>
          </p:cNvPr>
          <p:cNvSpPr>
            <a:spLocks noGrp="1"/>
          </p:cNvSpPr>
          <p:nvPr/>
        </p:nvSpPr>
        <p:spPr>
          <a:xfrm>
            <a:off x="781050" y="21336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410D5A-2D16-40AC-8FE0-F6D383C02CA1}"/>
              </a:ext>
            </a:extLst>
          </p:cNvPr>
          <p:cNvSpPr>
            <a:spLocks noGrp="1"/>
          </p:cNvSpPr>
          <p:nvPr/>
        </p:nvSpPr>
        <p:spPr>
          <a:xfrm>
            <a:off x="1066800" y="2133600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跨區資料同步不漏寫、不寫錯：Y25 AC API 複雜寫入場景已完成鏡像驗證。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8ED5A0-021F-4704-BFF5-2EA38BACFA6A}"/>
              </a:ext>
            </a:extLst>
          </p:cNvPr>
          <p:cNvSpPr>
            <a:spLocks noGrp="1"/>
          </p:cNvSpPr>
          <p:nvPr/>
        </p:nvSpPr>
        <p:spPr>
          <a:xfrm>
            <a:off x="781050" y="260032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894CE8-7CC3-4D2E-8512-93E931F25DE2}"/>
              </a:ext>
            </a:extLst>
          </p:cNvPr>
          <p:cNvSpPr>
            <a:spLocks noGrp="1"/>
          </p:cNvSpPr>
          <p:nvPr/>
        </p:nvSpPr>
        <p:spPr>
          <a:xfrm>
            <a:off x="1066800" y="2600325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應用不改協定即可接上：MySQL wire；AC API 完成 ID 改造後 TiDB 複測通過。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390CD6-9C46-469A-BF95-BA77D185024C}"/>
              </a:ext>
            </a:extLst>
          </p:cNvPr>
          <p:cNvSpPr>
            <a:spLocks noGrp="1"/>
          </p:cNvSpPr>
          <p:nvPr/>
        </p:nvSpPr>
        <p:spPr>
          <a:xfrm>
            <a:off x="781050" y="30670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45C711-C549-4131-8250-96E3D33AEEAC}"/>
              </a:ext>
            </a:extLst>
          </p:cNvPr>
          <p:cNvSpPr>
            <a:spLocks noGrp="1"/>
          </p:cNvSpPr>
          <p:nvPr/>
        </p:nvSpPr>
        <p:spPr>
          <a:xfrm>
            <a:off x="1066800" y="3067050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水平擴展與高併發穩定：1 node → 3 node 擴展倍率 2.06×，t=128 錯誤率 0%。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D0338B-BC7B-4A02-90EB-2F1C325C7397}"/>
              </a:ext>
            </a:extLst>
          </p:cNvPr>
          <p:cNvSpPr>
            <a:spLocks noGrp="1"/>
          </p:cNvSpPr>
          <p:nvPr/>
        </p:nvSpPr>
        <p:spPr>
          <a:xfrm>
            <a:off x="781050" y="35337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9818D01-6CD2-4E05-AF64-03A9937310B3}"/>
              </a:ext>
            </a:extLst>
          </p:cNvPr>
          <p:cNvSpPr>
            <a:spLocks noGrp="1"/>
          </p:cNvSpPr>
          <p:nvPr/>
        </p:nvSpPr>
        <p:spPr>
          <a:xfrm>
            <a:off x="1066800" y="3533775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 A/S：P-A × A/S 完成，副本存在、placement 與就近讀探測門檻通過。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F12CF9-80CA-45B7-B41D-FD3101D32B62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E55A89D-5C14-4D49-B2AB-7CCBB3F77ECD}"/>
              </a:ext>
            </a:extLst>
          </p:cNvPr>
          <p:cNvSpPr>
            <a:spLocks noGrp="1"/>
          </p:cNvSpPr>
          <p:nvPr/>
        </p:nvSpPr>
        <p:spPr>
          <a:xfrm>
            <a:off x="1066800" y="4000500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跨區就近讀：P-A × A/A-RO 修正後，GCP read_tpmTotal 31,571.3，全程 0 錯誤。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956B40-EDB0-4E51-A648-BB1CC6F59F40}"/>
              </a:ext>
            </a:extLst>
          </p:cNvPr>
          <p:cNvSpPr>
            <a:spLocks noGrp="1"/>
          </p:cNvSpPr>
          <p:nvPr/>
        </p:nvSpPr>
        <p:spPr>
          <a:xfrm>
            <a:off x="781050" y="446722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FBF6C3-4AF8-408A-81CE-84B93A74DC48}"/>
              </a:ext>
            </a:extLst>
          </p:cNvPr>
          <p:cNvSpPr>
            <a:spLocks noGrp="1"/>
          </p:cNvSpPr>
          <p:nvPr/>
        </p:nvSpPr>
        <p:spPr>
          <a:xfrm>
            <a:off x="1066800" y="4467225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把 EDC 副本轉成讀取型工作負載，逐步建立服務化與原廠協作能力。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DDCAA06-6FAE-4296-B79C-CE65472DACC5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來源：refresh/0827_slide.md「根據目前 TiDB 的評估，我們可以完成的事」</a:t>
            </a:r>
          </a:p>
        </p:txBody>
      </p:sp>
    </p:spTree>
    <p:extLst>
      <p:ext uri="{BB962C8B-B14F-4D97-AF65-F5344CB8AC3E}">
        <p14:creationId xmlns:p14="http://schemas.microsoft.com/office/powerpoint/2010/main" val="674317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C0F4375-1005-445F-84AC-889F87DBD1F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LIMITS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EE2282-D6F9-4144-9F26-CFC1AC1745F9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根據現有架構，仍不能直接宣稱的事</a:t>
            </a:r>
          </a:p>
        </p:txBody>
      </p:sp>
      <p:cxnSp>
        <p:nvCxnSpPr>
          <p:cNvPr id="22" name="直線箭頭接點 21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63C07EF0-D842-4E84-8B8A-433B8336E426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D3B0CD-2517-487D-B7DC-3C38F7EF77F5}"/>
              </a:ext>
            </a:extLst>
          </p:cNvPr>
          <p:cNvSpPr>
            <a:spLocks noGrp="1"/>
          </p:cNvSpPr>
          <p:nvPr/>
        </p:nvSpPr>
        <p:spPr>
          <a:xfrm>
            <a:off x="495300" y="1676400"/>
            <a:ext cx="10744200" cy="78105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B21E51-2AA6-4279-9E8A-2816B512CF88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架構限制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05445D-C630-447E-BDCB-E2BBBD619BA6}"/>
              </a:ext>
            </a:extLst>
          </p:cNvPr>
          <p:cNvSpPr>
            <a:spLocks noGrp="1"/>
          </p:cNvSpPr>
          <p:nvPr/>
        </p:nvSpPr>
        <p:spPr>
          <a:xfrm>
            <a:off x="2857500" y="1847850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端到端 A/A、整區秒級自動接手、低延遲場景取代 Galera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7A6844-E7FE-4E24-A192-D3672678170E}"/>
              </a:ext>
            </a:extLst>
          </p:cNvPr>
          <p:cNvSpPr>
            <a:spLocks noGrp="1"/>
          </p:cNvSpPr>
          <p:nvPr/>
        </p:nvSpPr>
        <p:spPr>
          <a:xfrm>
            <a:off x="495300" y="2676525"/>
            <a:ext cx="10744200" cy="78105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8D27E8-DCA0-405D-9E75-18936ED69127}"/>
              </a:ext>
            </a:extLst>
          </p:cNvPr>
          <p:cNvSpPr>
            <a:spLocks noGrp="1"/>
          </p:cNvSpPr>
          <p:nvPr/>
        </p:nvSpPr>
        <p:spPr>
          <a:xfrm>
            <a:off x="742950" y="286702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證據缺口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587712-2765-4AB5-84C0-B1E2820581B0}"/>
              </a:ext>
            </a:extLst>
          </p:cNvPr>
          <p:cNvSpPr>
            <a:spLocks noGrp="1"/>
          </p:cNvSpPr>
          <p:nvPr/>
        </p:nvSpPr>
        <p:spPr>
          <a:xfrm>
            <a:off x="2857500" y="2847975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SQL／ORM 相容性、PITR、Online DDL、WAN 成本與 failover 跨產品比較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06A8A0-F2F8-4071-8BA9-3488EEE18EAD}"/>
              </a:ext>
            </a:extLst>
          </p:cNvPr>
          <p:cNvSpPr>
            <a:spLocks noGrp="1"/>
          </p:cNvSpPr>
          <p:nvPr/>
        </p:nvSpPr>
        <p:spPr>
          <a:xfrm>
            <a:off x="495300" y="3676650"/>
            <a:ext cx="10744200" cy="7810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76C6AC-B928-4D9C-8F4E-04E052FA24FF}"/>
              </a:ext>
            </a:extLst>
          </p:cNvPr>
          <p:cNvSpPr>
            <a:spLocks noGrp="1"/>
          </p:cNvSpPr>
          <p:nvPr/>
        </p:nvSpPr>
        <p:spPr>
          <a:xfrm>
            <a:off x="742950" y="3867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待確認假說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FAD6E0-D379-4505-AFE4-25FAE6879D1D}"/>
              </a:ext>
            </a:extLst>
          </p:cNvPr>
          <p:cNvSpPr>
            <a:spLocks noGrp="1"/>
          </p:cNvSpPr>
          <p:nvPr/>
        </p:nvSpPr>
        <p:spPr>
          <a:xfrm>
            <a:off x="2857500" y="3848100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P-B 高併發下降與鎖錯誤相容於跨區鎖競爭，但尚未完成控制實驗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2E89F7-CB66-4B54-BC63-44218608195A}"/>
              </a:ext>
            </a:extLst>
          </p:cNvPr>
          <p:cNvSpPr>
            <a:spLocks noGrp="1"/>
          </p:cNvSpPr>
          <p:nvPr/>
        </p:nvSpPr>
        <p:spPr>
          <a:xfrm>
            <a:off x="495300" y="4676775"/>
            <a:ext cx="10744200" cy="7810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205493-E44F-4276-BDBC-3361880471D0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本輪不做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7F17DA3-DA94-4053-B151-13212EA02CC0}"/>
              </a:ext>
            </a:extLst>
          </p:cNvPr>
          <p:cNvSpPr>
            <a:spLocks noGrp="1"/>
          </p:cNvSpPr>
          <p:nvPr/>
        </p:nvSpPr>
        <p:spPr>
          <a:xfrm>
            <a:off x="2857500" y="4848225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 路線與 Redis 多寫多讀，待業務需求明確後再排程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6EEA0AD-BFFD-4B1D-9739-15188692F8EB}"/>
              </a:ext>
            </a:extLst>
          </p:cNvPr>
          <p:cNvSpPr>
            <a:spLocks noGrp="1"/>
          </p:cNvSpPr>
          <p:nvPr/>
        </p:nvSpPr>
        <p:spPr>
          <a:xfrm>
            <a:off x="495300" y="5810250"/>
            <a:ext cx="10744200" cy="34290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EB2F0E-0EA5-400A-AC60-3173E43373B0}"/>
              </a:ext>
            </a:extLst>
          </p:cNvPr>
          <p:cNvSpPr>
            <a:spLocks noGrp="1"/>
          </p:cNvSpPr>
          <p:nvPr/>
        </p:nvSpPr>
        <p:spPr>
          <a:xfrm>
            <a:off x="742950" y="5886450"/>
            <a:ext cx="10239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結論強度必須與證據等級一致；待測不等於不可行，已測也不等於可直接導入。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C3A9C6B-DE91-4D27-A13A-413CF2CC1EE2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來源：refresh/0827_slide.md「根據現有架構，我們不能完成的事」</a:t>
            </a:r>
          </a:p>
        </p:txBody>
      </p:sp>
    </p:spTree>
    <p:extLst>
      <p:ext uri="{BB962C8B-B14F-4D97-AF65-F5344CB8AC3E}">
        <p14:creationId xmlns:p14="http://schemas.microsoft.com/office/powerpoint/2010/main" val="3348196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1625</Words>
  <Application>Microsoft Macintosh PowerPoint</Application>
  <DocSecurity>0</DocSecurity>
  <PresentationFormat>寬螢幕</PresentationFormat>
  <Paragraphs>467</Paragraphs>
  <Slides>19</Slides>
  <Notes>19</Notes>
  <HiddenSlides>5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2" baseType="lpstr">
      <vt:lpstr>PingFang TC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Wn Lin 林武男</cp:lastModifiedBy>
  <cp:revision>9</cp:revision>
  <dcterms:created xsi:type="dcterms:W3CDTF">2026-08-27T08:47:04Z</dcterms:created>
  <dcterms:modified xsi:type="dcterms:W3CDTF">2026-08-28T00:42:56Z</dcterms:modified>
</cp:coreProperties>
</file>