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629107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8A96A3"/>
                </a:solidFill>
                <a:latin typeface="Microsoft JhengHei"/>
              </a:rPr>
              <a:t>2026-08-27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1036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8A96A3"/>
                </a:solidFill>
                <a:latin typeface="Microsoft JhengHe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468880"/>
            <a:ext cx="11057839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1A2B3C"/>
                </a:solidFill>
                <a:latin typeface="Microsoft JhengHei"/>
              </a:rPr>
              <a:t>多寫多讀混合雲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611880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8A96A3"/>
                </a:solidFill>
                <a:latin typeface="Microsoft JhengHei"/>
              </a:rPr>
              <a:t>## Y25 結案 × Y26 PoC 決策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032504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8A96A3"/>
                </a:solidFill>
                <a:latin typeface="Microsoft JhengHei"/>
              </a:rPr>
              <a:t>2026-08-27 ・ SSD 技術審查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8A96A3"/>
                </a:solidFill>
                <a:latin typeface="Microsoft JhengHei"/>
              </a:rPr>
              <a:t>多寫多讀混合雲：Y25 結案 × Y26 PoC 決策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9107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8A96A3"/>
                </a:solidFill>
                <a:latin typeface="Microsoft JhengHei"/>
              </a:rPr>
              <a:t>2026-08-27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8A96A3"/>
                </a:solidFill>
                <a:latin typeface="Microsoft JhengHe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>
                <a:solidFill>
                  <a:srgbClr val="1A2B3C"/>
                </a:solidFill>
                <a:latin typeface="Microsoft JhengHei"/>
              </a:rPr>
              <a:t>導覽｜本次五個段落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709928"/>
          <a:ext cx="11057839" cy="19309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3451"/>
                <a:gridCol w="9344388"/>
              </a:tblGrid>
              <a:tr h="321818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A2B3C"/>
                          </a:solidFill>
                          <a:latin typeface="Microsoft JhengHei"/>
                        </a:rPr>
                        <a:t>段落</a:t>
                      </a:r>
                    </a:p>
                  </a:txBody>
                  <a:tcPr marL="64008" marR="64008" marT="32004" marB="32004" anchor="ctr">
                    <a:solidFill>
                      <a:srgbClr val="EC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A2B3C"/>
                          </a:solidFill>
                          <a:latin typeface="Microsoft JhengHei"/>
                        </a:rPr>
                        <a:t>這一段回答什麼</a:t>
                      </a:r>
                    </a:p>
                  </a:txBody>
                  <a:tcPr marL="64008" marR="64008" marT="32004" marB="32004" anchor="ctr">
                    <a:solidFill>
                      <a:srgbClr val="ECEFF2"/>
                    </a:solidFill>
                  </a:tcPr>
                </a:tc>
              </a:tr>
              <a:tr h="321818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北極星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目標沒變，但實務終點被 Y26 的驗證結果修正到哪裡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321818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Y25 結論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驗了什麼、明確不驗什麼、留下哪些既成事實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</a:tr>
              <a:tr h="321818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Y26 結論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四家候選怎麼定位、能做什麼、不能做什麼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321818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推進路線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技術主線、產品期待、維運後勤三條軌怎麼並行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</a:tr>
              <a:tr h="321818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實施辦法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採用 TiDB 的 Phase 0–3 與各階段驗收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94944" y="3860292"/>
            <a:ext cx="10929823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8A96A3"/>
                </a:solidFill>
                <a:latin typeface="Microsoft JhengHei"/>
              </a:rPr>
              <a:t>全篇數字皆可回溯至 </a:t>
            </a:r>
            <a:r>
              <a:rPr sz="1600" b="0">
                <a:solidFill>
                  <a:srgbClr val="8A96A3"/>
                </a:solidFill>
                <a:latin typeface="Consolas"/>
              </a:rPr>
              <a:t>poc/results/</a:t>
            </a:r>
            <a:r>
              <a:rPr sz="1600" b="0">
                <a:solidFill>
                  <a:srgbClr val="8A96A3"/>
                </a:solidFill>
                <a:latin typeface="Microsoft JhengHei"/>
              </a:rPr>
              <a:t>、</a:t>
            </a:r>
            <a:r>
              <a:rPr sz="1600" b="0">
                <a:solidFill>
                  <a:srgbClr val="8A96A3"/>
                </a:solidFill>
                <a:latin typeface="Consolas"/>
              </a:rPr>
              <a:t>poc/phase-crossregion/</a:t>
            </a:r>
            <a:r>
              <a:rPr sz="1600" b="0">
                <a:solidFill>
                  <a:srgbClr val="8A96A3"/>
                </a:solidFill>
                <a:latin typeface="Microsoft JhengHei"/>
              </a:rPr>
              <a:t> 的原始測試證據。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3860292"/>
            <a:ext cx="26000" cy="279400"/>
          </a:xfrm>
          <a:prstGeom prst="rect">
            <a:avLst/>
          </a:prstGeom>
          <a:solidFill>
            <a:srgbClr val="D6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8A96A3"/>
                </a:solidFill>
                <a:latin typeface="Microsoft JhengHei"/>
              </a:rPr>
              <a:t>多寫多讀混合雲：Y25 結案 × Y26 PoC 決策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9107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8A96A3"/>
                </a:solidFill>
                <a:latin typeface="Microsoft JhengHei"/>
              </a:rPr>
              <a:t>2026-08-27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8A96A3"/>
                </a:solidFill>
                <a:latin typeface="Microsoft JhengHe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468880"/>
            <a:ext cx="11057839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1A2B3C"/>
                </a:solidFill>
                <a:latin typeface="Microsoft JhengHei"/>
              </a:rPr>
              <a:t>北極星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8A96A3"/>
                </a:solidFill>
                <a:latin typeface="Microsoft JhengHei"/>
              </a:rPr>
              <a:t>多寫多讀混合雲：Y25 結案 × Y26 PoC 決策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9107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8A96A3"/>
                </a:solidFill>
                <a:latin typeface="Microsoft JhengHei"/>
              </a:rPr>
              <a:t>2026-08-27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8A96A3"/>
                </a:solidFill>
                <a:latin typeface="Microsoft JhengHe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>
                <a:solidFill>
                  <a:srgbClr val="1A2B3C"/>
                </a:solidFill>
                <a:latin typeface="Microsoft JhengHei"/>
              </a:rPr>
              <a:t>北極星｜同一個目標的三個高度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709928"/>
          <a:ext cx="11057839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1639"/>
                <a:gridCol w="10316200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A2B3C"/>
                          </a:solidFill>
                          <a:latin typeface="Microsoft JhengHei"/>
                        </a:rPr>
                        <a:t>高度</a:t>
                      </a:r>
                    </a:p>
                  </a:txBody>
                  <a:tcPr marL="64008" marR="64008" marT="32004" marB="32004" anchor="ctr">
                    <a:solidFill>
                      <a:srgbClr val="EC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A2B3C"/>
                          </a:solidFill>
                          <a:latin typeface="Microsoft JhengHei"/>
                        </a:rPr>
                        <a:t>表述</a:t>
                      </a:r>
                    </a:p>
                  </a:txBody>
                  <a:tcPr marL="64008" marR="64008" marT="32004" marB="32004" anchor="ctr">
                    <a:solidFill>
                      <a:srgbClr val="ECEFF2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Microsoft JhengHei"/>
                        </a:rPr>
                        <a:t>策略層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填補 </a:t>
                      </a:r>
                      <a:r>
                        <a:rPr sz="1300" b="1">
                          <a:solidFill>
                            <a:srgbClr val="C0392B"/>
                          </a:solidFill>
                          <a:latin typeface="Microsoft JhengHei"/>
                        </a:rPr>
                        <a:t>Cloud Foundation Layer</a:t>
                      </a:r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 技術缺口 —— 隔離「應用程式」與「基礎建設」的直接關連，讓應用程式具有可攜性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Microsoft JhengHei"/>
                        </a:rPr>
                        <a:t>業務層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期待未來達到 </a:t>
                      </a:r>
                      <a:r>
                        <a:rPr sz="1300" b="1">
                          <a:solidFill>
                            <a:srgbClr val="C0392B"/>
                          </a:solidFill>
                          <a:latin typeface="Microsoft JhengHei"/>
                        </a:rPr>
                        <a:t>104 封站時，使用關鍵服務的客戶不受影響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Microsoft JhengHei"/>
                        </a:rPr>
                        <a:t>維運層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「</a:t>
                      </a:r>
                      <a:r>
                        <a:rPr sz="1300" b="1">
                          <a:solidFill>
                            <a:srgbClr val="C0392B"/>
                          </a:solidFill>
                          <a:latin typeface="Microsoft JhengHei"/>
                        </a:rPr>
                        <a:t>停機維護是 104 的事，不影響到客戶使用權益</a:t>
                      </a:r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」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3136392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C0392B"/>
                </a:solidFill>
                <a:latin typeface="Microsoft JhengHei"/>
              </a:rPr>
              <a:t>Y25 訂下的七條原則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538728"/>
            <a:ext cx="1105783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8A96A3"/>
                </a:solidFill>
                <a:latin typeface="Microsoft JhengHei"/>
              </a:rPr>
              <a:t>1. </a:t>
            </a:r>
            <a:r>
              <a:rPr sz="1800" b="0">
                <a:solidFill>
                  <a:srgbClr val="22303F"/>
                </a:solidFill>
                <a:latin typeface="Microsoft JhengHei"/>
              </a:rPr>
              <a:t>不因任何一 Region or DC 維護或作業而封站　2. 多地多機房可解析、引導流量就近存取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8A96A3"/>
                </a:solidFill>
                <a:latin typeface="Microsoft JhengHei"/>
              </a:rPr>
              <a:t>2. </a:t>
            </a:r>
            <a:r>
              <a:rPr sz="1800" b="0">
                <a:solidFill>
                  <a:srgbClr val="22303F"/>
                </a:solidFill>
                <a:latin typeface="Microsoft JhengHei"/>
              </a:rPr>
              <a:t>不因 DC 間 Latency / Delay 產生影響　4. 減少 RD 重構工程完成資料庫架構重構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372356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C0392B"/>
                </a:solidFill>
                <a:latin typeface="Microsoft JhengHei"/>
              </a:rPr>
              <a:t>5. 如果能 Multi Write 就不考慮 Major Write + Multi Read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77469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8A96A3"/>
                </a:solidFill>
                <a:latin typeface="Microsoft JhengHei"/>
              </a:rPr>
              <a:t>1. </a:t>
            </a:r>
            <a:r>
              <a:rPr sz="1800" b="0">
                <a:solidFill>
                  <a:srgbClr val="22303F"/>
                </a:solidFill>
                <a:latin typeface="Microsoft JhengHei"/>
              </a:rPr>
              <a:t>清楚掌握 Cross DC 的 Latency / 2PC issue　7. 避免過度設計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8A96A3"/>
                </a:solidFill>
                <a:latin typeface="Microsoft JhengHei"/>
              </a:rPr>
              <a:t>多寫多讀混合雲：Y25 結案 × Y26 PoC 決策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9107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8A96A3"/>
                </a:solidFill>
                <a:latin typeface="Microsoft JhengHei"/>
              </a:rPr>
              <a:t>2026-08-27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8A96A3"/>
                </a:solidFill>
                <a:latin typeface="Microsoft JhengHe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>
                <a:solidFill>
                  <a:srgbClr val="1A2B3C"/>
                </a:solidFill>
                <a:latin typeface="Microsoft JhengHei"/>
              </a:rPr>
              <a:t>北極星｜Y26 驗證後的唯一修正：原則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709928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>
                <a:solidFill>
                  <a:srgbClr val="C0392B"/>
                </a:solidFill>
                <a:latin typeface="Microsoft JhengHei"/>
              </a:rPr>
              <a:t>原則 5 保留為目標，實務終點修正為 A/A-RO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112264"/>
            <a:ext cx="11057839" cy="301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0">
                <a:solidFill>
                  <a:srgbClr val="22303F"/>
                </a:solidFill>
                <a:latin typeface="Microsoft JhengHei"/>
              </a:rPr>
              <a:t>Y26 PoC 驗證後確認：</a:t>
            </a:r>
            <a:r>
              <a:rPr sz="1900" b="1">
                <a:solidFill>
                  <a:srgbClr val="C0392B"/>
                </a:solidFill>
                <a:latin typeface="Microsoft JhengHei"/>
              </a:rPr>
              <a:t>Multi Write（雙區同時寫入）受周邊 Infra 架構限制，在可見期內不可達</a:t>
            </a:r>
            <a:r>
              <a:rPr sz="1900" b="0">
                <a:solidFill>
                  <a:srgbClr val="22303F"/>
                </a:solidFill>
                <a:latin typeface="Microsoft JhengHei"/>
              </a:rPr>
              <a:t>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2541905"/>
          <a:ext cx="11057839" cy="1287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7317"/>
                <a:gridCol w="3143079"/>
                <a:gridCol w="5727443"/>
              </a:tblGrid>
              <a:tr h="321818"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64008" marR="64008" marT="32004" marB="32004" anchor="ctr">
                    <a:solidFill>
                      <a:srgbClr val="EC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A2B3C"/>
                          </a:solidFill>
                          <a:latin typeface="Microsoft JhengHei"/>
                        </a:rPr>
                        <a:t>原訂</a:t>
                      </a:r>
                    </a:p>
                  </a:txBody>
                  <a:tcPr marL="64008" marR="64008" marT="32004" marB="32004" anchor="ctr">
                    <a:solidFill>
                      <a:srgbClr val="EC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A2B3C"/>
                          </a:solidFill>
                          <a:latin typeface="Microsoft JhengHei"/>
                        </a:rPr>
                        <a:t>修正後</a:t>
                      </a:r>
                    </a:p>
                  </a:txBody>
                  <a:tcPr marL="64008" marR="64008" marT="32004" marB="32004" anchor="ctr">
                    <a:solidFill>
                      <a:srgbClr val="ECEFF2"/>
                    </a:solidFill>
                  </a:tcPr>
                </a:tc>
              </a:tr>
              <a:tr h="321818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寫入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雙區同時寫（A/A）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單寫，集中 IDC（A/S）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321818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讀取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雙區讀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雙區讀，EDC 就近讀（A/A-RO）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</a:tr>
              <a:tr h="321818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業務目標達成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✅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✅ 同樣達成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4012057"/>
            <a:ext cx="11057839" cy="301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0">
                <a:solidFill>
                  <a:srgbClr val="22303F"/>
                </a:solidFill>
                <a:latin typeface="Microsoft JhengHei"/>
              </a:rPr>
              <a:t>原則 </a:t>
            </a:r>
            <a:r>
              <a:rPr sz="1900" b="1">
                <a:solidFill>
                  <a:srgbClr val="C0392B"/>
                </a:solidFill>
                <a:latin typeface="Microsoft JhengHei"/>
              </a:rPr>
              <a:t>1／2／3／6 完整成立</a:t>
            </a:r>
            <a:r>
              <a:rPr sz="1900" b="0">
                <a:solidFill>
                  <a:srgbClr val="22303F"/>
                </a:solidFill>
                <a:latin typeface="Microsoft JhengHei"/>
              </a:rPr>
              <a:t>；原則 5 降為長期目標，不是本輪交付。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4478274"/>
            <a:ext cx="10929823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8A96A3"/>
                </a:solidFill>
                <a:latin typeface="Microsoft JhengHei"/>
              </a:rPr>
              <a:t>客戶在任一機房維護時仍可讀取；寫入路徑集中且一致性可保證。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4478274"/>
            <a:ext cx="26000" cy="279400"/>
          </a:xfrm>
          <a:prstGeom prst="rect">
            <a:avLst/>
          </a:prstGeom>
          <a:solidFill>
            <a:srgbClr val="D6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8A96A3"/>
                </a:solidFill>
                <a:latin typeface="Microsoft JhengHei"/>
              </a:rPr>
              <a:t>多寫多讀混合雲：Y25 結案 × Y26 PoC 決策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9107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8A96A3"/>
                </a:solidFill>
                <a:latin typeface="Microsoft JhengHei"/>
              </a:rPr>
              <a:t>2026-08-27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8A96A3"/>
                </a:solidFill>
                <a:latin typeface="Microsoft JhengHe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468880"/>
            <a:ext cx="11057839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1A2B3C"/>
                </a:solidFill>
                <a:latin typeface="Microsoft JhengHei"/>
              </a:rPr>
              <a:t>Y25 結論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8A96A3"/>
                </a:solidFill>
                <a:latin typeface="Microsoft JhengHei"/>
              </a:rPr>
              <a:t>多寫多讀混合雲：Y25 結案 × Y26 PoC 決策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9107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8A96A3"/>
                </a:solidFill>
                <a:latin typeface="Microsoft JhengHei"/>
              </a:rPr>
              <a:t>2026-08-27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8A96A3"/>
                </a:solidFill>
                <a:latin typeface="Microsoft JhengHe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>
                <a:solidFill>
                  <a:srgbClr val="1A2B3C"/>
                </a:solidFill>
                <a:latin typeface="Microsoft JhengHei"/>
              </a:rPr>
              <a:t>Y25｜三大範疇驗證小結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709928"/>
          <a:ext cx="11057839" cy="17073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2121"/>
                <a:gridCol w="4515370"/>
                <a:gridCol w="5100348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A2B3C"/>
                          </a:solidFill>
                          <a:latin typeface="Microsoft JhengHei"/>
                        </a:rPr>
                        <a:t>範疇</a:t>
                      </a:r>
                    </a:p>
                  </a:txBody>
                  <a:tcPr marL="64008" marR="64008" marT="32004" marB="32004" anchor="ctr">
                    <a:solidFill>
                      <a:srgbClr val="EC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A2B3C"/>
                          </a:solidFill>
                          <a:latin typeface="Microsoft JhengHei"/>
                        </a:rPr>
                        <a:t>做法</a:t>
                      </a:r>
                    </a:p>
                  </a:txBody>
                  <a:tcPr marL="64008" marR="64008" marT="32004" marB="32004" anchor="ctr">
                    <a:solidFill>
                      <a:srgbClr val="EC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A2B3C"/>
                          </a:solidFill>
                          <a:latin typeface="Microsoft JhengHei"/>
                        </a:rPr>
                        <a:t>小結</a:t>
                      </a:r>
                    </a:p>
                  </a:txBody>
                  <a:tcPr marL="64008" marR="64008" marT="32004" marB="32004" anchor="ctr">
                    <a:solidFill>
                      <a:srgbClr val="ECEFF2"/>
                    </a:solidFill>
                  </a:tcPr>
                </a:tc>
              </a:tr>
              <a:tr h="542797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Microsoft JhengHei"/>
                        </a:rPr>
                        <a:t>分散式資料庫與 MQ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ac-api 流量鏡像整合測試，驗證跨雲資料同步的可靠性與效能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配合新增 AI 專案調整資源配置，</a:t>
                      </a:r>
                      <a:r>
                        <a:rPr sz="1300" b="1">
                          <a:solidFill>
                            <a:srgbClr val="C0392B"/>
                          </a:solidFill>
                          <a:latin typeface="Microsoft JhengHei"/>
                        </a:rPr>
                        <a:t>Y25 測至 STG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542797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Microsoft JhengHei"/>
                        </a:rPr>
                        <a:t>跨機房分流機制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建立測試用對外應用程式 </a:t>
                      </a:r>
                      <a:r>
                        <a:rPr sz="1300" b="0">
                          <a:solidFill>
                            <a:srgbClr val="22303F"/>
                          </a:solidFill>
                          <a:latin typeface="Consolas"/>
                        </a:rPr>
                        <a:t>whereami</a:t>
                      </a:r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，實測多區域流量分配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C0392B"/>
                          </a:solidFill>
                          <a:latin typeface="Microsoft JhengHei"/>
                        </a:rPr>
                        <a:t>8/M Cloudflare LB 通過</a:t>
                      </a:r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，符合分流及 ip sticky 需求；</a:t>
                      </a:r>
                      <a:r>
                        <a:rPr sz="1300" b="1">
                          <a:solidFill>
                            <a:srgbClr val="C0392B"/>
                          </a:solidFill>
                          <a:latin typeface="Microsoft JhengHei"/>
                        </a:rPr>
                        <a:t>F5 未能滿足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Microsoft JhengHei"/>
                        </a:rPr>
                        <a:t>其他 SSD 組件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多雲環境所需基礎設施組件內部驗證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C0392B"/>
                          </a:solidFill>
                          <a:latin typeface="Microsoft JhengHei"/>
                        </a:rPr>
                        <a:t>10/B 完成 PROD 環境內部驗證，無議題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3600194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C0392B"/>
                </a:solidFill>
                <a:latin typeface="Microsoft JhengHei"/>
              </a:rPr>
              <a:t>資料庫觀測結果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4002530"/>
            <a:ext cx="11057839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8A96A3"/>
                </a:solidFill>
                <a:latin typeface="Microsoft JhengHei"/>
              </a:rPr>
              <a:t>1. </a:t>
            </a:r>
            <a:r>
              <a:rPr sz="1800" b="1">
                <a:solidFill>
                  <a:srgbClr val="C0392B"/>
                </a:solidFill>
                <a:latin typeface="Microsoft JhengHei"/>
              </a:rPr>
              <a:t>TiDB 在多寫多讀架構上表現出優勢</a:t>
            </a:r>
            <a:r>
              <a:rPr sz="1800" b="0">
                <a:solidFill>
                  <a:srgbClr val="22303F"/>
                </a:solidFill>
                <a:latin typeface="Microsoft JhengHei"/>
              </a:rPr>
              <a:t> —— 跨區回應速度落差小、無漏寫或寫錯、比 ProxySQL+MariaDB 快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8A96A3"/>
                </a:solidFill>
                <a:latin typeface="Microsoft JhengHei"/>
              </a:rPr>
              <a:t>2. </a:t>
            </a:r>
            <a:r>
              <a:rPr sz="1800" b="1">
                <a:solidFill>
                  <a:srgbClr val="C0392B"/>
                </a:solidFill>
                <a:latin typeface="Microsoft JhengHei"/>
              </a:rPr>
              <a:t>跨機房使用類似 DX 之專線服務是必要投資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8A96A3"/>
                </a:solidFill>
                <a:latin typeface="Microsoft JhengHei"/>
              </a:rPr>
              <a:t>3. </a:t>
            </a:r>
            <a:r>
              <a:rPr sz="1800" b="1">
                <a:solidFill>
                  <a:srgbClr val="C0392B"/>
                </a:solidFill>
                <a:latin typeface="Microsoft JhengHei"/>
              </a:rPr>
              <a:t>具備部分代表性</a:t>
            </a:r>
            <a:r>
              <a:rPr sz="1800" b="0">
                <a:solidFill>
                  <a:srgbClr val="22303F"/>
                </a:solidFill>
                <a:latin typeface="Microsoft JhengHei"/>
              </a:rPr>
              <a:t> —— 能處理 AC 最複雜寫入場景；未擴大流量測試，預期可水平擴展應對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8A96A3"/>
                </a:solidFill>
                <a:latin typeface="Microsoft JhengHei"/>
              </a:rPr>
              <a:t>多寫多讀混合雲：Y25 結案 × Y26 PoC 決策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9107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8A96A3"/>
                </a:solidFill>
                <a:latin typeface="Microsoft JhengHei"/>
              </a:rPr>
              <a:t>2026-08-27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8A96A3"/>
                </a:solidFill>
                <a:latin typeface="Microsoft JhengHe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>
                <a:solidFill>
                  <a:srgbClr val="1A2B3C"/>
                </a:solidFill>
                <a:latin typeface="Microsoft JhengHei"/>
              </a:rPr>
              <a:t>Y25｜SSD 自行驗證組件：盤點原則與排程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709928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C0392B"/>
                </a:solidFill>
                <a:latin typeface="Microsoft JhengHei"/>
              </a:rPr>
              <a:t>盤點原則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112264"/>
            <a:ext cx="11057839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8A96A3"/>
                </a:solidFill>
                <a:latin typeface="Microsoft JhengHei"/>
              </a:rPr>
              <a:t>•  </a:t>
            </a:r>
            <a:r>
              <a:rPr sz="1700" b="0">
                <a:solidFill>
                  <a:srgbClr val="22303F"/>
                </a:solidFill>
                <a:latin typeface="Microsoft JhengHei"/>
              </a:rPr>
              <a:t>確認地端 Infra 組件功能或已知應用情境，雲端是否能滿足；若否則確認解決方案 —— </a:t>
            </a:r>
            <a:r>
              <a:rPr sz="1700" b="1">
                <a:solidFill>
                  <a:srgbClr val="C0392B"/>
                </a:solidFill>
                <a:latin typeface="Microsoft JhengHei"/>
              </a:rPr>
              <a:t>解決方案不一定需滿足多寫多讀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8A96A3"/>
                </a:solidFill>
                <a:latin typeface="Microsoft JhengHei"/>
              </a:rPr>
              <a:t>•  </a:t>
            </a:r>
            <a:r>
              <a:rPr sz="1700" b="0">
                <a:solidFill>
                  <a:srgbClr val="22303F"/>
                </a:solidFill>
                <a:latin typeface="Microsoft JhengHei"/>
              </a:rPr>
              <a:t>考量 POC 搭配少數關鍵產品測試，不會測到所有情境，會盡可能在可測範圍做情境驗證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8A96A3"/>
                </a:solidFill>
                <a:latin typeface="Microsoft JhengHei"/>
              </a:rPr>
              <a:t>•  </a:t>
            </a:r>
            <a:r>
              <a:rPr sz="1700" b="0">
                <a:solidFill>
                  <a:srgbClr val="22303F"/>
                </a:solidFill>
                <a:latin typeface="Microsoft JhengHei"/>
              </a:rPr>
              <a:t>除資料庫預期搭配流量鏡像測試，</a:t>
            </a:r>
            <a:r>
              <a:rPr sz="1700" b="1">
                <a:solidFill>
                  <a:srgbClr val="C0392B"/>
                </a:solidFill>
                <a:latin typeface="Microsoft JhengHei"/>
              </a:rPr>
              <a:t>其他項目由 SSD 自行做功能驗證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606292"/>
            <a:ext cx="11057839" cy="269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C0392B"/>
                </a:solidFill>
                <a:latin typeface="Microsoft JhengHei"/>
              </a:rPr>
              <a:t>驗證排程</a:t>
            </a:r>
            <a:r>
              <a:rPr sz="1700" b="0">
                <a:solidFill>
                  <a:srgbClr val="22303F"/>
                </a:solidFill>
                <a:latin typeface="Microsoft JhengHei"/>
              </a:rPr>
              <a:t> —— 除 MongoDB 排 Y26，其餘皆於 Y25 完成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4004183"/>
          <a:ext cx="11057839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8046"/>
                <a:gridCol w="1699590"/>
                <a:gridCol w="1378046"/>
                <a:gridCol w="1378046"/>
                <a:gridCol w="2109727"/>
                <a:gridCol w="1736338"/>
                <a:gridCol w="1378046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A2B3C"/>
                          </a:solidFill>
                          <a:latin typeface="Microsoft JhengHei"/>
                        </a:rPr>
                        <a:t>單位</a:t>
                      </a:r>
                    </a:p>
                  </a:txBody>
                  <a:tcPr marL="64008" marR="64008" marT="32004" marB="32004" anchor="ctr">
                    <a:solidFill>
                      <a:srgbClr val="EC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A2B3C"/>
                          </a:solidFill>
                          <a:latin typeface="Microsoft JhengHei"/>
                        </a:rPr>
                        <a:t>驗證標的</a:t>
                      </a:r>
                    </a:p>
                  </a:txBody>
                  <a:tcPr marL="64008" marR="64008" marT="32004" marB="32004" anchor="ctr">
                    <a:solidFill>
                      <a:srgbClr val="EC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A2B3C"/>
                          </a:solidFill>
                          <a:latin typeface="Microsoft JhengHei"/>
                        </a:rPr>
                        <a:t>排程</a:t>
                      </a:r>
                    </a:p>
                  </a:txBody>
                  <a:tcPr marL="64008" marR="64008" marT="32004" marB="32004" anchor="ctr">
                    <a:solidFill>
                      <a:srgbClr val="EC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64008" marR="64008" marT="32004" marB="32004" anchor="ctr">
                    <a:solidFill>
                      <a:srgbClr val="EC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A2B3C"/>
                          </a:solidFill>
                          <a:latin typeface="Microsoft JhengHei"/>
                        </a:rPr>
                        <a:t>單位</a:t>
                      </a:r>
                    </a:p>
                  </a:txBody>
                  <a:tcPr marL="64008" marR="64008" marT="32004" marB="32004" anchor="ctr">
                    <a:solidFill>
                      <a:srgbClr val="EC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A2B3C"/>
                          </a:solidFill>
                          <a:latin typeface="Microsoft JhengHei"/>
                        </a:rPr>
                        <a:t>驗證標的</a:t>
                      </a:r>
                    </a:p>
                  </a:txBody>
                  <a:tcPr marL="64008" marR="64008" marT="32004" marB="32004" anchor="ctr">
                    <a:solidFill>
                      <a:srgbClr val="EC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A2B3C"/>
                          </a:solidFill>
                          <a:latin typeface="Microsoft JhengHei"/>
                        </a:rPr>
                        <a:t>排程</a:t>
                      </a:r>
                    </a:p>
                  </a:txBody>
                  <a:tcPr marL="64008" marR="64008" marT="32004" marB="32004" anchor="ctr">
                    <a:solidFill>
                      <a:srgbClr val="ECEFF2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303F"/>
                          </a:solidFill>
                          <a:latin typeface="Microsoft JhengHei"/>
                        </a:rPr>
                        <a:t>HVM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303F"/>
                          </a:solidFill>
                          <a:latin typeface="Microsoft JhengHei"/>
                        </a:rPr>
                        <a:t>外部 DNS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303F"/>
                          </a:solidFill>
                          <a:latin typeface="Microsoft JhengHei"/>
                        </a:rPr>
                        <a:t>Y25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303F"/>
                          </a:solidFill>
                          <a:latin typeface="Microsoft JhengHei"/>
                        </a:rPr>
                        <a:t>NET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303F"/>
                          </a:solidFill>
                          <a:latin typeface="Microsoft JhengHei"/>
                        </a:rPr>
                        <a:t>Firewall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303F"/>
                          </a:solidFill>
                          <a:latin typeface="Microsoft JhengHei"/>
                        </a:rPr>
                        <a:t>Y25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303F"/>
                          </a:solidFill>
                          <a:latin typeface="Microsoft JhengHei"/>
                        </a:rPr>
                        <a:t>HVM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303F"/>
                          </a:solidFill>
                          <a:latin typeface="Microsoft JhengHei"/>
                        </a:rPr>
                        <a:t>內部 DNS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303F"/>
                          </a:solidFill>
                          <a:latin typeface="Microsoft JhengHei"/>
                        </a:rPr>
                        <a:t>Y25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C0392B"/>
                          </a:solidFill>
                          <a:latin typeface="Microsoft JhengHei"/>
                        </a:rPr>
                        <a:t>DBA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C0392B"/>
                          </a:solidFill>
                          <a:latin typeface="Microsoft JhengHei"/>
                        </a:rPr>
                        <a:t>MongoDB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C0392B"/>
                          </a:solidFill>
                          <a:latin typeface="Microsoft JhengHei"/>
                        </a:rPr>
                        <a:t>Y26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303F"/>
                          </a:solidFill>
                          <a:latin typeface="Microsoft JhengHei"/>
                        </a:rPr>
                        <a:t>HVM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303F"/>
                          </a:solidFill>
                          <a:latin typeface="Microsoft JhengHei"/>
                        </a:rPr>
                        <a:t>Proxy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303F"/>
                          </a:solidFill>
                          <a:latin typeface="Microsoft JhengHei"/>
                        </a:rPr>
                        <a:t>Y25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303F"/>
                          </a:solidFill>
                          <a:latin typeface="Microsoft JhengHei"/>
                        </a:rPr>
                        <a:t>SE + Search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303F"/>
                          </a:solidFill>
                          <a:latin typeface="Microsoft JhengHei"/>
                        </a:rPr>
                        <a:t>Search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303F"/>
                          </a:solidFill>
                          <a:latin typeface="Microsoft JhengHei"/>
                        </a:rPr>
                        <a:t>Y25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303F"/>
                          </a:solidFill>
                          <a:latin typeface="Microsoft JhengHei"/>
                        </a:rPr>
                        <a:t>HVM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303F"/>
                          </a:solidFill>
                          <a:latin typeface="Microsoft JhengHei"/>
                        </a:rPr>
                        <a:t>NTP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303F"/>
                          </a:solidFill>
                          <a:latin typeface="Microsoft JhengHei"/>
                        </a:rPr>
                        <a:t>Y25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303F"/>
                          </a:solidFill>
                          <a:latin typeface="Microsoft JhengHei"/>
                        </a:rPr>
                        <a:t>SE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303F"/>
                          </a:solidFill>
                          <a:latin typeface="Microsoft JhengHei"/>
                        </a:rPr>
                        <a:t>OMS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303F"/>
                          </a:solidFill>
                          <a:latin typeface="Microsoft JhengHei"/>
                        </a:rPr>
                        <a:t>Y25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303F"/>
                          </a:solidFill>
                          <a:latin typeface="Microsoft JhengHei"/>
                        </a:rPr>
                        <a:t>NET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303F"/>
                          </a:solidFill>
                          <a:latin typeface="Microsoft JhengHei"/>
                        </a:rPr>
                        <a:t>GSLB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303F"/>
                          </a:solidFill>
                          <a:latin typeface="Microsoft JhengHei"/>
                        </a:rPr>
                        <a:t>Y25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303F"/>
                          </a:solidFill>
                          <a:latin typeface="Microsoft JhengHei"/>
                        </a:rPr>
                        <a:t>SE + TSD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303F"/>
                          </a:solidFill>
                          <a:latin typeface="Microsoft JhengHei"/>
                        </a:rPr>
                        <a:t>Vault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303F"/>
                          </a:solidFill>
                          <a:latin typeface="Microsoft JhengHei"/>
                        </a:rPr>
                        <a:t>Y25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303F"/>
                          </a:solidFill>
                          <a:latin typeface="Microsoft JhengHei"/>
                        </a:rPr>
                        <a:t>NET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303F"/>
                          </a:solidFill>
                          <a:latin typeface="Microsoft JhengHei"/>
                        </a:rPr>
                        <a:t>SLB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303F"/>
                          </a:solidFill>
                          <a:latin typeface="Microsoft JhengHei"/>
                        </a:rPr>
                        <a:t>Y25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8A96A3"/>
                </a:solidFill>
                <a:latin typeface="Microsoft JhengHei"/>
              </a:rPr>
              <a:t>多寫多讀混合雲：Y25 結案 × Y26 PoC 決策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9107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8A96A3"/>
                </a:solidFill>
                <a:latin typeface="Microsoft JhengHei"/>
              </a:rPr>
              <a:t>2026-08-27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8A96A3"/>
                </a:solidFill>
                <a:latin typeface="Microsoft JhengHei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>
                <a:solidFill>
                  <a:srgbClr val="1A2B3C"/>
                </a:solidFill>
                <a:latin typeface="Microsoft JhengHei"/>
              </a:rPr>
              <a:t>Y25｜SSD 不驗證項目（明確排除）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709928"/>
          <a:ext cx="11057839" cy="28963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522"/>
                <a:gridCol w="2020300"/>
                <a:gridCol w="8091017"/>
              </a:tblGrid>
              <a:tr h="321818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A2B3C"/>
                          </a:solidFill>
                          <a:latin typeface="Microsoft JhengHei"/>
                        </a:rPr>
                        <a:t>單位</a:t>
                      </a:r>
                    </a:p>
                  </a:txBody>
                  <a:tcPr marL="64008" marR="64008" marT="32004" marB="32004" anchor="ctr">
                    <a:solidFill>
                      <a:srgbClr val="EC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A2B3C"/>
                          </a:solidFill>
                          <a:latin typeface="Microsoft JhengHei"/>
                        </a:rPr>
                        <a:t>標的 / 應用情境</a:t>
                      </a:r>
                    </a:p>
                  </a:txBody>
                  <a:tcPr marL="64008" marR="64008" marT="32004" marB="32004" anchor="ctr">
                    <a:solidFill>
                      <a:srgbClr val="EC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A2B3C"/>
                          </a:solidFill>
                          <a:latin typeface="Microsoft JhengHei"/>
                        </a:rPr>
                        <a:t>不驗證原因</a:t>
                      </a:r>
                    </a:p>
                  </a:txBody>
                  <a:tcPr marL="64008" marR="64008" marT="32004" marB="32004" anchor="ctr">
                    <a:solidFill>
                      <a:srgbClr val="ECEFF2"/>
                    </a:solidFill>
                  </a:tcPr>
                </a:tc>
              </a:tr>
              <a:tr h="321818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SE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OMS 寫檔寄信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未來都轉 SMTP；SMTP 已在目前驗證範圍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321818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SE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Assessment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網站設計過時、</a:t>
                      </a:r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無法支援 AA mode</a:t>
                      </a:r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、未來不續存；</a:t>
                      </a:r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為產品端需處理問題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</a:tr>
              <a:tr h="321818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SE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Memcache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無法支援 AA mode</a:t>
                      </a:r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、未來不續存，預期轉移至 Redis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321818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SE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AP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未來都轉入 K8s 即享快速遷移部署之機制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</a:tr>
              <a:tr h="321818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HVM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NetApp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檔案規劃以 MVS 作為主要存儲媒介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321818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HVM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VMWare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已確認有對應雲端服務可訂閱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</a:tr>
              <a:tr h="321818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HVM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Pure Storage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已確認有對應雲端服務可訂閱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321818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DBA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Redis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待有實際需求發生時再規劃安排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94944" y="4825746"/>
            <a:ext cx="10929823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8A96A3"/>
                </a:solidFill>
                <a:latin typeface="Microsoft JhengHei"/>
              </a:rPr>
              <a:t>這張表同時是「A/A 為何不可達」的主要依據 —— </a:t>
            </a:r>
            <a:r>
              <a:rPr sz="1600" b="1">
                <a:solidFill>
                  <a:srgbClr val="C0392B"/>
                </a:solidFill>
                <a:latin typeface="Microsoft JhengHei"/>
              </a:rPr>
              <a:t>無法支援 AA mode 的組件都不在資料庫層</a:t>
            </a:r>
            <a:r>
              <a:rPr sz="1600" b="0">
                <a:solidFill>
                  <a:srgbClr val="8A96A3"/>
                </a:solidFill>
                <a:latin typeface="Microsoft JhengHei"/>
              </a:rPr>
              <a:t>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4825746"/>
            <a:ext cx="26000" cy="279400"/>
          </a:xfrm>
          <a:prstGeom prst="rect">
            <a:avLst/>
          </a:prstGeom>
          <a:solidFill>
            <a:srgbClr val="D6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8A96A3"/>
                </a:solidFill>
                <a:latin typeface="Microsoft JhengHei"/>
              </a:rPr>
              <a:t>多寫多讀混合雲：Y25 結案 × Y26 PoC 決策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9107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8A96A3"/>
                </a:solidFill>
                <a:latin typeface="Microsoft JhengHei"/>
              </a:rPr>
              <a:t>2026-08-27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8A96A3"/>
                </a:solidFill>
                <a:latin typeface="Microsoft JhengHe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>
                <a:solidFill>
                  <a:srgbClr val="1A2B3C"/>
                </a:solidFill>
                <a:latin typeface="Microsoft JhengHei"/>
              </a:rPr>
              <a:t>Y25｜預期的混合雲樣貌轉變過程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709928"/>
          <a:ext cx="11057839" cy="20607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9678"/>
                <a:gridCol w="2675051"/>
                <a:gridCol w="3486544"/>
                <a:gridCol w="4156566"/>
              </a:tblGrid>
              <a:tr h="321818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A2B3C"/>
                          </a:solidFill>
                          <a:latin typeface="Microsoft JhengHei"/>
                        </a:rPr>
                        <a:t>期間</a:t>
                      </a:r>
                    </a:p>
                  </a:txBody>
                  <a:tcPr marL="64008" marR="64008" marT="32004" marB="32004" anchor="ctr">
                    <a:solidFill>
                      <a:srgbClr val="EC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A2B3C"/>
                          </a:solidFill>
                          <a:latin typeface="Microsoft JhengHei"/>
                        </a:rPr>
                        <a:t>可觀測性與 API 架構</a:t>
                      </a:r>
                    </a:p>
                  </a:txBody>
                  <a:tcPr marL="64008" marR="64008" marT="32004" marB="32004" anchor="ctr">
                    <a:solidFill>
                      <a:srgbClr val="EC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A2B3C"/>
                          </a:solidFill>
                          <a:latin typeface="Microsoft JhengHei"/>
                        </a:rPr>
                        <a:t>IT 基礎建設</a:t>
                      </a:r>
                    </a:p>
                  </a:txBody>
                  <a:tcPr marL="64008" marR="64008" marT="32004" marB="32004" anchor="ctr">
                    <a:solidFill>
                      <a:srgbClr val="EC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A2B3C"/>
                          </a:solidFill>
                          <a:latin typeface="Microsoft JhengHei"/>
                        </a:rPr>
                        <a:t>預期結果</a:t>
                      </a:r>
                    </a:p>
                  </a:txBody>
                  <a:tcPr marL="64008" marR="64008" marT="32004" marB="32004" anchor="ctr">
                    <a:solidFill>
                      <a:srgbClr val="ECEFF2"/>
                    </a:solidFill>
                  </a:tcPr>
                </a:tc>
              </a:tr>
              <a:tr h="579628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2024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Service Mesh 讓 K8s 應用取得服務拓樸圖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AC 雲地都部署，資料</a:t>
                      </a:r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一寫多讀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IDC 失效時 AC 服務降級，關鍵服務受影響變小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579628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2025–2026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拓樸資料識別潛在弱點；Grafana Loki 投入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多寫多讀技術選型及架構規劃，範圍選定</a:t>
                      </a:r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分散式 RDBMS</a:t>
                      </a:r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、</a:t>
                      </a:r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RabbitMQ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對可行性與功能範圍探索與學習 → 確認技術架構對本司應用程式是否可行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</a:tr>
              <a:tr h="579628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2026–future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因應 AI Agent Task Force 調整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因應 AI Agent Task Force 調整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累積日常維運經驗並進行災難演練 → </a:t>
                      </a:r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IDC 機房失效時 AC 持續運作不降級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8A96A3"/>
                </a:solidFill>
                <a:latin typeface="Microsoft JhengHei"/>
              </a:rPr>
              <a:t>多寫多讀混合雲：Y25 結案 × Y26 PoC 決策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9107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8A96A3"/>
                </a:solidFill>
                <a:latin typeface="Microsoft JhengHei"/>
              </a:rPr>
              <a:t>2026-08-27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8A96A3"/>
                </a:solidFill>
                <a:latin typeface="Microsoft JhengHe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>
                <a:solidFill>
                  <a:srgbClr val="1A2B3C"/>
                </a:solidFill>
                <a:latin typeface="Microsoft JhengHei"/>
              </a:rPr>
              <a:t>Y25｜留給 Y26 的三個既成事實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709928"/>
          <a:ext cx="11057839" cy="20607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531"/>
                <a:gridCol w="8574595"/>
                <a:gridCol w="2126713"/>
              </a:tblGrid>
              <a:tr h="321818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A2B3C"/>
                          </a:solidFill>
                          <a:latin typeface="Microsoft JhengHei"/>
                        </a:rPr>
                        <a:t>#</a:t>
                      </a:r>
                    </a:p>
                  </a:txBody>
                  <a:tcPr marL="64008" marR="64008" marT="32004" marB="32004" anchor="ctr">
                    <a:solidFill>
                      <a:srgbClr val="EC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A2B3C"/>
                          </a:solidFill>
                          <a:latin typeface="Microsoft JhengHei"/>
                        </a:rPr>
                        <a:t>事實</a:t>
                      </a:r>
                    </a:p>
                  </a:txBody>
                  <a:tcPr marL="64008" marR="64008" marT="32004" marB="32004" anchor="ctr">
                    <a:solidFill>
                      <a:srgbClr val="EC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A2B3C"/>
                          </a:solidFill>
                          <a:latin typeface="Microsoft JhengHei"/>
                        </a:rPr>
                        <a:t>對 Y26 的意義</a:t>
                      </a:r>
                    </a:p>
                  </a:txBody>
                  <a:tcPr marL="64008" marR="64008" marT="32004" marB="32004" anchor="ctr">
                    <a:solidFill>
                      <a:srgbClr val="ECEFF2"/>
                    </a:solidFill>
                  </a:tcPr>
                </a:tc>
              </a:tr>
              <a:tr h="579628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1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ac-api 已完成應用層多寫改造並通過測試</a:t>
                      </a:r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&lt;br&gt;AUTO_INCREMENT→ULID 四步驟、pid/idno 改變型 Snowflake、deadlock 與 pdo 連線錯誤已解&lt;br&gt;2026-08-20 MySQL 複測通過、08-26 TiDB 測試通過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應用層改造的方法論</a:t>
                      </a:r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已驗證可行</a:t>
                      </a:r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，不是未知數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579628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2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跨機房分流機制已備妥</a:t>
                      </a:r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&lt;br&gt;Cloudflare LB 通過分流與 ip sticky 驗證（F5 出局）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A/S 的流量導向前提已成立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</a:tr>
              <a:tr h="579628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3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ATS Pro 已回到 Single Write</a:t>
                      </a:r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&lt;br&gt;多寫的 deadlock 影響上線，2025-11-19 定案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產品可在單寫架構下</a:t>
                      </a:r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先上線，不必等主線遞進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8A96A3"/>
                </a:solidFill>
                <a:latin typeface="Microsoft JhengHei"/>
              </a:rPr>
              <a:t>多寫多讀混合雲：Y25 結案 × Y26 PoC 決策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9107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8A96A3"/>
                </a:solidFill>
                <a:latin typeface="Microsoft JhengHei"/>
              </a:rPr>
              <a:t>2026-08-27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8A96A3"/>
                </a:solidFill>
                <a:latin typeface="Microsoft JhengHe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468880"/>
            <a:ext cx="11057839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1A2B3C"/>
                </a:solidFill>
                <a:latin typeface="Microsoft JhengHei"/>
              </a:rPr>
              <a:t>Y26 PoC 結論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8A96A3"/>
                </a:solidFill>
                <a:latin typeface="Microsoft JhengHei"/>
              </a:rPr>
              <a:t>多寫多讀混合雲：Y25 結案 × Y26 PoC 決策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9107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8A96A3"/>
                </a:solidFill>
                <a:latin typeface="Microsoft JhengHei"/>
              </a:rPr>
              <a:t>2026-08-27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8A96A3"/>
                </a:solidFill>
                <a:latin typeface="Microsoft JhengHe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>
                <a:solidFill>
                  <a:srgbClr val="1A2B3C"/>
                </a:solidFill>
                <a:latin typeface="Microsoft JhengHei"/>
              </a:rPr>
              <a:t>Y26｜候選與定位區隔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709928"/>
            <a:ext cx="11057839" cy="603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0">
                <a:solidFill>
                  <a:srgbClr val="22303F"/>
                </a:solidFill>
                <a:latin typeface="Microsoft JhengHei"/>
              </a:rPr>
              <a:t>Y26 PoC 立項時的候選是三家分散式 SQL；</a:t>
            </a:r>
            <a:r>
              <a:rPr sz="1900" b="1">
                <a:solidFill>
                  <a:srgbClr val="C0392B"/>
                </a:solidFill>
                <a:latin typeface="Microsoft JhengHei"/>
              </a:rPr>
              <a:t>MySQL Galera（PXC 8.4）於 2026-08 補測進來作為對照基準</a:t>
            </a:r>
            <a:r>
              <a:rPr sz="1900" b="0">
                <a:solidFill>
                  <a:srgbClr val="22303F"/>
                </a:solidFill>
                <a:latin typeface="Microsoft JhengHei"/>
              </a:rPr>
              <a:t>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2441194"/>
          <a:ext cx="11057839" cy="1609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421"/>
                <a:gridCol w="3690008"/>
                <a:gridCol w="1386872"/>
                <a:gridCol w="5110538"/>
              </a:tblGrid>
              <a:tr h="321818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A2B3C"/>
                          </a:solidFill>
                          <a:latin typeface="Microsoft JhengHei"/>
                        </a:rPr>
                        <a:t>代號</a:t>
                      </a:r>
                    </a:p>
                  </a:txBody>
                  <a:tcPr marL="64008" marR="64008" marT="32004" marB="32004" anchor="ctr">
                    <a:solidFill>
                      <a:srgbClr val="EC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A2B3C"/>
                          </a:solidFill>
                          <a:latin typeface="Microsoft JhengHei"/>
                        </a:rPr>
                        <a:t>候選</a:t>
                      </a:r>
                    </a:p>
                  </a:txBody>
                  <a:tcPr marL="64008" marR="64008" marT="32004" marB="32004" anchor="ctr">
                    <a:solidFill>
                      <a:srgbClr val="EC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A2B3C"/>
                          </a:solidFill>
                          <a:latin typeface="Microsoft JhengHei"/>
                        </a:rPr>
                        <a:t>協定</a:t>
                      </a:r>
                    </a:p>
                  </a:txBody>
                  <a:tcPr marL="64008" marR="64008" marT="32004" marB="32004" anchor="ctr">
                    <a:solidFill>
                      <a:srgbClr val="EC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A2B3C"/>
                          </a:solidFill>
                          <a:latin typeface="Microsoft JhengHei"/>
                        </a:rPr>
                        <a:t>定位</a:t>
                      </a:r>
                    </a:p>
                  </a:txBody>
                  <a:tcPr marL="64008" marR="64008" marT="32004" marB="32004" anchor="ctr">
                    <a:solidFill>
                      <a:srgbClr val="ECEFF2"/>
                    </a:solidFill>
                  </a:tcPr>
                </a:tc>
              </a:tr>
              <a:tr h="321818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A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MySQL Galera Cluster（PXC 8.4）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MySQL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單寫 / 單機房場景的有效選項</a:t>
                      </a:r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，不擔任多寫多讀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321818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B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TiDB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MySQL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多寫多讀路線的主要候選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</a:tr>
              <a:tr h="321818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C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YugabyteDB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PostgreSQL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備選，待業務出現 PostgreSQL／高關鍵度需求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321818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D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CockroachDB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PostgreSQL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同 C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4233164"/>
            <a:ext cx="11057839" cy="301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>
                <a:solidFill>
                  <a:srgbClr val="C0392B"/>
                </a:solidFill>
                <a:latin typeface="Microsoft JhengHei"/>
              </a:rPr>
              <a:t>關於 C／D</a:t>
            </a:r>
            <a:r>
              <a:rPr sz="1900" b="0">
                <a:solidFill>
                  <a:srgbClr val="22303F"/>
                </a:solidFill>
                <a:latin typeface="Microsoft JhengHei"/>
              </a:rPr>
              <a:t>：協定切換是「能不能直接換」的門檻差異，不是「效能差一點」的程度差異。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662805"/>
            <a:ext cx="11057839" cy="603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0">
                <a:solidFill>
                  <a:srgbClr val="22303F"/>
                </a:solidFill>
                <a:latin typeface="Microsoft JhengHei"/>
              </a:rPr>
              <a:t>公司現行業務以 MySQL 為主，</a:t>
            </a:r>
            <a:r>
              <a:rPr sz="1900" b="1">
                <a:solidFill>
                  <a:srgbClr val="C0392B"/>
                </a:solidFill>
                <a:latin typeface="Microsoft JhengHei"/>
              </a:rPr>
              <a:t>PostgreSQL 應用佔比 &lt; 5%</a:t>
            </a:r>
            <a:r>
              <a:rPr sz="1900" b="0">
                <a:solidFill>
                  <a:srgbClr val="22303F"/>
                </a:solidFill>
                <a:latin typeface="Microsoft JhengHei"/>
              </a:rPr>
              <a:t>（2026-06-09 拍板 D3），目前業務量尚無需考量。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8A96A3"/>
                </a:solidFill>
                <a:latin typeface="Microsoft JhengHei"/>
              </a:rPr>
              <a:t>多寫多讀混合雲：Y25 結案 × Y26 PoC 決策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9107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8A96A3"/>
                </a:solidFill>
                <a:latin typeface="Microsoft JhengHei"/>
              </a:rPr>
              <a:t>2026-08-27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8A96A3"/>
                </a:solidFill>
                <a:latin typeface="Microsoft JhengHei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>
                <a:solidFill>
                  <a:srgbClr val="1A2B3C"/>
                </a:solidFill>
                <a:latin typeface="Microsoft JhengHei"/>
              </a:rPr>
              <a:t>Y26｜A 是定位區隔，不是淘汰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709928"/>
            <a:ext cx="11057839" cy="603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>
                <a:solidFill>
                  <a:srgbClr val="C0392B"/>
                </a:solidFill>
                <a:latin typeface="Microsoft JhengHei"/>
              </a:rPr>
              <a:t>Galera 的設計</a:t>
            </a:r>
            <a:r>
              <a:rPr sz="1900" b="0">
                <a:solidFill>
                  <a:srgbClr val="22303F"/>
                </a:solidFill>
                <a:latin typeface="Microsoft JhengHei"/>
              </a:rPr>
              <a:t>：同步複寫 + certification-based 樂觀併發 —— 為維持 cluster-wide 強一致性，</a:t>
            </a:r>
            <a:r>
              <a:rPr sz="1900" b="1">
                <a:solidFill>
                  <a:srgbClr val="C0392B"/>
                </a:solidFill>
                <a:latin typeface="Microsoft JhengHei"/>
              </a:rPr>
              <a:t>每筆寫入都必須跨節點認證</a:t>
            </a:r>
            <a:r>
              <a:rPr sz="1900" b="0">
                <a:solidFill>
                  <a:srgbClr val="22303F"/>
                </a:solidFill>
                <a:latin typeface="Microsoft JhengHei"/>
              </a:rPr>
              <a:t>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2441194"/>
          <a:ext cx="11057839" cy="20607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5671"/>
                <a:gridCol w="2406413"/>
                <a:gridCol w="7845755"/>
              </a:tblGrid>
              <a:tr h="321818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A2B3C"/>
                          </a:solidFill>
                          <a:latin typeface="Microsoft JhengHei"/>
                        </a:rPr>
                        <a:t>情境</a:t>
                      </a:r>
                    </a:p>
                  </a:txBody>
                  <a:tcPr marL="64008" marR="64008" marT="32004" marB="32004" anchor="ctr">
                    <a:solidFill>
                      <a:srgbClr val="EC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A2B3C"/>
                          </a:solidFill>
                          <a:latin typeface="Microsoft JhengHei"/>
                        </a:rPr>
                        <a:t>這個設計的代價</a:t>
                      </a:r>
                    </a:p>
                  </a:txBody>
                  <a:tcPr marL="64008" marR="64008" marT="32004" marB="32004" anchor="ctr">
                    <a:solidFill>
                      <a:srgbClr val="EC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A2B3C"/>
                          </a:solidFill>
                          <a:latin typeface="Microsoft JhengHei"/>
                        </a:rPr>
                        <a:t>實測</a:t>
                      </a:r>
                    </a:p>
                  </a:txBody>
                  <a:tcPr marL="64008" marR="64008" marT="32004" marB="32004" anchor="ctr">
                    <a:solidFill>
                      <a:srgbClr val="ECEFF2"/>
                    </a:solidFill>
                  </a:tcPr>
                </a:tc>
              </a:tr>
              <a:tr h="579628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單寫入點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幾乎為零（wsrep 近乎空轉）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單節點 NEW_ORDER p99 </a:t>
                      </a:r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37.7 ms</a:t>
                      </a:r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，四家最快（TiDB 597 ms）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579628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多寫入點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隨節點數放大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三節點 HAProxy round-robin → 吞吐降到單節點的 </a:t>
                      </a:r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0.49×</a:t>
                      </a:r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（負向擴展）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</a:tr>
              <a:tr h="579628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跨區多寫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再疊加 WAN RTT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跨區單寫 </a:t>
                      </a:r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298.8 tpmC</a:t>
                      </a:r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（TiDB 的 1/41.9）；跨區雙寫 GCP 端失敗率 </a:t>
                      </a:r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47.0%</a:t>
                      </a:r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（PAYMENT 81.5%）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94944" y="4721352"/>
            <a:ext cx="10929823" cy="55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C0392B"/>
                </a:solidFill>
                <a:latin typeface="Microsoft JhengHei"/>
              </a:rPr>
              <a:t>結論</a:t>
            </a:r>
            <a:r>
              <a:rPr sz="1600" b="0">
                <a:solidFill>
                  <a:srgbClr val="8A96A3"/>
                </a:solidFill>
                <a:latin typeface="Microsoft JhengHei"/>
              </a:rPr>
              <a:t>：Galera 繼續作為單寫、單機房、低延遲敏感服務的架構選項；多寫多讀路線由 TiDB 承接。</a:t>
            </a:r>
          </a:p>
          <a:p>
            <a:r>
              <a:rPr sz="1600" b="0">
                <a:solidFill>
                  <a:srgbClr val="8A96A3"/>
                </a:solidFill>
                <a:latin typeface="Microsoft JhengHei"/>
              </a:rPr>
              <a:t>兩者是</a:t>
            </a:r>
            <a:r>
              <a:rPr sz="1600" b="1">
                <a:solidFill>
                  <a:srgbClr val="C0392B"/>
                </a:solidFill>
                <a:latin typeface="Microsoft JhengHei"/>
              </a:rPr>
              <a:t>定位區隔</a:t>
            </a:r>
            <a:r>
              <a:rPr sz="1600" b="0">
                <a:solidFill>
                  <a:srgbClr val="8A96A3"/>
                </a:solidFill>
                <a:latin typeface="Microsoft JhengHei"/>
              </a:rPr>
              <a:t>，不是取代關係。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4721352"/>
            <a:ext cx="26000" cy="558800"/>
          </a:xfrm>
          <a:prstGeom prst="rect">
            <a:avLst/>
          </a:prstGeom>
          <a:solidFill>
            <a:srgbClr val="D6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8A96A3"/>
                </a:solidFill>
                <a:latin typeface="Microsoft JhengHei"/>
              </a:rPr>
              <a:t>多寫多讀混合雲：Y25 結案 × Y26 PoC 決策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9107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8A96A3"/>
                </a:solidFill>
                <a:latin typeface="Microsoft JhengHei"/>
              </a:rPr>
              <a:t>2026-08-27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8A96A3"/>
                </a:solidFill>
                <a:latin typeface="Microsoft JhengHei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>
                <a:solidFill>
                  <a:srgbClr val="1A2B3C"/>
                </a:solidFill>
                <a:latin typeface="Microsoft JhengHei"/>
              </a:rPr>
              <a:t>Y26｜決策表 ①　業務適配 ・ 應用改造成本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709928"/>
            <a:ext cx="11057839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C0392B"/>
                </a:solidFill>
                <a:latin typeface="Microsoft JhengHei"/>
              </a:rPr>
              <a:t>O</a:t>
            </a:r>
            <a:r>
              <a:rPr sz="1800" b="0">
                <a:solidFill>
                  <a:srgbClr val="22303F"/>
                </a:solidFill>
                <a:latin typeface="Microsoft JhengHei"/>
              </a:rPr>
              <a:t> 可行　</a:t>
            </a:r>
            <a:r>
              <a:rPr sz="1800" b="1">
                <a:solidFill>
                  <a:srgbClr val="C0392B"/>
                </a:solidFill>
                <a:latin typeface="Microsoft JhengHei"/>
              </a:rPr>
              <a:t>X</a:t>
            </a:r>
            <a:r>
              <a:rPr sz="1800" b="0">
                <a:solidFill>
                  <a:srgbClr val="22303F"/>
                </a:solidFill>
                <a:latin typeface="Microsoft JhengHei"/>
              </a:rPr>
              <a:t> 不適用或不建議　</a:t>
            </a:r>
            <a:r>
              <a:rPr sz="1800" b="1">
                <a:solidFill>
                  <a:srgbClr val="C0392B"/>
                </a:solidFill>
                <a:latin typeface="Microsoft JhengHei"/>
              </a:rPr>
              <a:t>△</a:t>
            </a:r>
            <a:r>
              <a:rPr sz="1800" b="0">
                <a:solidFill>
                  <a:srgbClr val="22303F"/>
                </a:solidFill>
                <a:latin typeface="Microsoft JhengHei"/>
              </a:rPr>
              <a:t> 有條件可行　</a:t>
            </a:r>
            <a:r>
              <a:rPr sz="1800" b="1">
                <a:solidFill>
                  <a:srgbClr val="C0392B"/>
                </a:solidFill>
                <a:latin typeface="Microsoft JhengHei"/>
              </a:rPr>
              <a:t>待測</a:t>
            </a:r>
            <a:r>
              <a:rPr sz="1800" b="0">
                <a:solidFill>
                  <a:srgbClr val="22303F"/>
                </a:solidFill>
                <a:latin typeface="Microsoft JhengHei"/>
              </a:rPr>
              <a:t> 尚未排入測試矩陣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2123694"/>
          <a:ext cx="11057839" cy="41945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3983"/>
                <a:gridCol w="3318164"/>
                <a:gridCol w="770074"/>
                <a:gridCol w="770074"/>
                <a:gridCol w="770074"/>
                <a:gridCol w="770074"/>
                <a:gridCol w="3675396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A2B3C"/>
                          </a:solidFill>
                          <a:latin typeface="Microsoft JhengHei"/>
                        </a:rPr>
                        <a:t>大類</a:t>
                      </a:r>
                    </a:p>
                  </a:txBody>
                  <a:tcPr marL="64008" marR="64008" marT="32004" marB="32004" anchor="ctr">
                    <a:solidFill>
                      <a:srgbClr val="EC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A2B3C"/>
                          </a:solidFill>
                          <a:latin typeface="Microsoft JhengHei"/>
                        </a:rPr>
                        <a:t>細項</a:t>
                      </a:r>
                    </a:p>
                  </a:txBody>
                  <a:tcPr marL="64008" marR="64008" marT="32004" marB="32004" anchor="ctr">
                    <a:solidFill>
                      <a:srgbClr val="EC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A2B3C"/>
                          </a:solidFill>
                          <a:latin typeface="Microsoft JhengHei"/>
                        </a:rPr>
                        <a:t>A MySQL</a:t>
                      </a:r>
                    </a:p>
                  </a:txBody>
                  <a:tcPr marL="64008" marR="64008" marT="32004" marB="32004" anchor="ctr">
                    <a:solidFill>
                      <a:srgbClr val="EC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A2B3C"/>
                          </a:solidFill>
                          <a:latin typeface="Microsoft JhengHei"/>
                        </a:rPr>
                        <a:t>B TiDB</a:t>
                      </a:r>
                    </a:p>
                  </a:txBody>
                  <a:tcPr marL="64008" marR="64008" marT="32004" marB="32004" anchor="ctr">
                    <a:solidFill>
                      <a:srgbClr val="EC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A2B3C"/>
                          </a:solidFill>
                          <a:latin typeface="Microsoft JhengHei"/>
                        </a:rPr>
                        <a:t>C YBDB</a:t>
                      </a:r>
                    </a:p>
                  </a:txBody>
                  <a:tcPr marL="64008" marR="64008" marT="32004" marB="32004" anchor="ctr">
                    <a:solidFill>
                      <a:srgbClr val="EC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A2B3C"/>
                          </a:solidFill>
                          <a:latin typeface="Microsoft JhengHei"/>
                        </a:rPr>
                        <a:t>D CRDB</a:t>
                      </a:r>
                    </a:p>
                  </a:txBody>
                  <a:tcPr marL="64008" marR="64008" marT="32004" marB="32004" anchor="ctr">
                    <a:solidFill>
                      <a:srgbClr val="EC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A2B3C"/>
                          </a:solidFill>
                          <a:latin typeface="Microsoft JhengHei"/>
                        </a:rPr>
                        <a:t>備註</a:t>
                      </a:r>
                    </a:p>
                  </a:txBody>
                  <a:tcPr marL="64008" marR="64008" marT="32004" marB="32004" anchor="ctr">
                    <a:solidFill>
                      <a:srgbClr val="ECEFF2"/>
                    </a:solidFill>
                  </a:tcPr>
                </a:tc>
              </a:tr>
              <a:tr h="542797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Microsoft JhengHei"/>
                        </a:rPr>
                        <a:t>A. 業務適配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多寫多讀（雙區同時寫）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Microsoft JhengHei"/>
                        </a:rPr>
                        <a:t>X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Microsoft JhengHei"/>
                        </a:rPr>
                        <a:t>O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△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△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C/D 技術可行但需換協定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跨區散置寫入（placement）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X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O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O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O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Galera 原生不支援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跨區單寫 + standby（A/S）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△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O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O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O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A 跨區吞吐僅 298.8 tpmC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跨區就近讀（A/A-RO）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X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O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O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O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A 無 follower/stale read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單機房多寫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△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O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O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O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A 在 naive multi-writer 下 0.49×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單機房單寫（現況）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O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O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O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O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A 延遲最優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</a:tr>
              <a:tr h="542797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Microsoft JhengHei"/>
                        </a:rPr>
                        <a:t>B. 應用改造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協定不變（免改 driver/ORM）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Microsoft JhengHei"/>
                        </a:rPr>
                        <a:t>O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Microsoft JhengHei"/>
                        </a:rPr>
                        <a:t>O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Microsoft JhengHei"/>
                        </a:rPr>
                        <a:t>X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Microsoft JhengHei"/>
                        </a:rPr>
                        <a:t>X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A/B 為 MySQL wire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SQL / ORM 相容性矩陣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待測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待測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待測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待測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四家皆未實測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ID 生成改造（AUTO_INC→ULID）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需要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需要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需要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需要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分散式共通議題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重試 / 錯誤處理量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Microsoft JhengHei"/>
                        </a:rPr>
                        <a:t>高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低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低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中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D quorum 遺失回報 </a:t>
                      </a:r>
                      <a:r>
                        <a:rPr sz="1300" b="0">
                          <a:solidFill>
                            <a:srgbClr val="22303F"/>
                          </a:solidFill>
                          <a:latin typeface="Consolas"/>
                        </a:rPr>
                        <a:t>ambiguous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既有維運工具鏈可沿用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O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待測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X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X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A 為現況（PMM3 等）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8A96A3"/>
                </a:solidFill>
                <a:latin typeface="Microsoft JhengHei"/>
              </a:rPr>
              <a:t>多寫多讀混合雲：Y25 結案 × Y26 PoC 決策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9107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8A96A3"/>
                </a:solidFill>
                <a:latin typeface="Microsoft JhengHei"/>
              </a:rPr>
              <a:t>2026-08-27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8A96A3"/>
                </a:solidFill>
                <a:latin typeface="Microsoft JhengHei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>
                <a:solidFill>
                  <a:srgbClr val="1A2B3C"/>
                </a:solidFill>
                <a:latin typeface="Microsoft JhengHei"/>
              </a:rPr>
              <a:t>Y26｜決策表 ②　效能與擴展 ・ 可用性與正確性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709928"/>
          <a:ext cx="11057839" cy="44264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278"/>
                <a:gridCol w="2816667"/>
                <a:gridCol w="1292454"/>
                <a:gridCol w="1117648"/>
                <a:gridCol w="916740"/>
                <a:gridCol w="1167875"/>
                <a:gridCol w="2754177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A2B3C"/>
                          </a:solidFill>
                          <a:latin typeface="Microsoft JhengHei"/>
                        </a:rPr>
                        <a:t>大類</a:t>
                      </a:r>
                    </a:p>
                  </a:txBody>
                  <a:tcPr marL="64008" marR="64008" marT="32004" marB="32004" anchor="ctr">
                    <a:solidFill>
                      <a:srgbClr val="EC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A2B3C"/>
                          </a:solidFill>
                          <a:latin typeface="Microsoft JhengHei"/>
                        </a:rPr>
                        <a:t>細項</a:t>
                      </a:r>
                    </a:p>
                  </a:txBody>
                  <a:tcPr marL="64008" marR="64008" marT="32004" marB="32004" anchor="ctr">
                    <a:solidFill>
                      <a:srgbClr val="EC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A2B3C"/>
                          </a:solidFill>
                          <a:latin typeface="Microsoft JhengHei"/>
                        </a:rPr>
                        <a:t>A MySQL</a:t>
                      </a:r>
                    </a:p>
                  </a:txBody>
                  <a:tcPr marL="64008" marR="64008" marT="32004" marB="32004" anchor="ctr">
                    <a:solidFill>
                      <a:srgbClr val="EC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A2B3C"/>
                          </a:solidFill>
                          <a:latin typeface="Microsoft JhengHei"/>
                        </a:rPr>
                        <a:t>B TiDB</a:t>
                      </a:r>
                    </a:p>
                  </a:txBody>
                  <a:tcPr marL="64008" marR="64008" marT="32004" marB="32004" anchor="ctr">
                    <a:solidFill>
                      <a:srgbClr val="EC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A2B3C"/>
                          </a:solidFill>
                          <a:latin typeface="Microsoft JhengHei"/>
                        </a:rPr>
                        <a:t>C YBDB</a:t>
                      </a:r>
                    </a:p>
                  </a:txBody>
                  <a:tcPr marL="64008" marR="64008" marT="32004" marB="32004" anchor="ctr">
                    <a:solidFill>
                      <a:srgbClr val="EC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A2B3C"/>
                          </a:solidFill>
                          <a:latin typeface="Microsoft JhengHei"/>
                        </a:rPr>
                        <a:t>D CRDB</a:t>
                      </a:r>
                    </a:p>
                  </a:txBody>
                  <a:tcPr marL="64008" marR="64008" marT="32004" marB="32004" anchor="ctr">
                    <a:solidFill>
                      <a:srgbClr val="EC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A2B3C"/>
                          </a:solidFill>
                          <a:latin typeface="Microsoft JhengHei"/>
                        </a:rPr>
                        <a:t>備註</a:t>
                      </a:r>
                    </a:p>
                  </a:txBody>
                  <a:tcPr marL="64008" marR="64008" marT="32004" marB="32004" anchor="ctr">
                    <a:solidFill>
                      <a:srgbClr val="ECEFF2"/>
                    </a:solidFill>
                  </a:tcPr>
                </a:tc>
              </a:tr>
              <a:tr h="542797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Microsoft JhengHei"/>
                        </a:rPr>
                        <a:t>C. 效能擴展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單節點延遲（p99）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Microsoft JhengHei"/>
                        </a:rPr>
                        <a:t>37.7 ms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597 ms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216 ms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440 ms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A 大幅領先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水平擴展倍率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Microsoft JhengHei"/>
                        </a:rPr>
                        <a:t>0.49×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Microsoft JhengHei"/>
                        </a:rPr>
                        <a:t>2.06×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1.37×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1.65×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1node → 3node-haproxy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高併發穩定性（range/mean）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43.2%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7.4%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7.1%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6.9%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t=128 五輪變異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all-txn error rate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0.037%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0.000%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0.000%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0.000%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A 為四家唯一非零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跨區單寫吞吐（P-A×A-S）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298.8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12,526.5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12,769.5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10,163.4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tpmC, t=128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跨區就近讀吞吐（A/A-RO）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n/a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31,571.3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56,787.9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41,056.3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GCP 側 read_tpmTotal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</a:tr>
              <a:tr h="542797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Microsoft JhengHei"/>
                        </a:rPr>
                        <a:t>D. 可用/正確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單節點 kill 可觀測中斷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無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Microsoft JhengHei"/>
                        </a:rPr>
                        <a:t>6.68–8.4 s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無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無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B 為 SQL/共識層分離的體現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區域級停止後復原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22.2 s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39–44 s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Microsoft JhengHei"/>
                        </a:rPr>
                        <a:t>3.0 s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7.0 s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C0392B"/>
                          </a:solidFill>
                          <a:latin typeface="Microsoft JhengHei"/>
                        </a:rPr>
                        <a:t>口徑不等價</a:t>
                      </a:r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（見備註頁）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</a:tr>
              <a:tr h="542797"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quorum 遺失寫入拒絕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Microsoft JhengHei"/>
                        </a:rPr>
                        <a:t>⚠ 曾非預期成功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乾淨拒絕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乾淨拒絕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Microsoft JhengHei"/>
                        </a:rPr>
                        <a:t>⚠ ambiguous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A/D 需應用層額外處理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跨區分斷後自動恢復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O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待補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待補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待補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A 解除後 20–30 秒 IST/SST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跨區雙寫 GCP 側失敗率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Microsoft JhengHei"/>
                        </a:rPr>
                        <a:t>47.0%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0.158%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0.134%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0.111%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A 高出 B 約 300 倍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94944" y="6355839"/>
            <a:ext cx="10929823" cy="2635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8A96A3"/>
                </a:solidFill>
                <a:latin typeface="Microsoft JhengHei"/>
              </a:rPr>
              <a:t>「區域級停止後復原」口徑不等價：A 從 </a:t>
            </a:r>
            <a:r>
              <a:rPr sz="1500" b="0">
                <a:solidFill>
                  <a:srgbClr val="8A96A3"/>
                </a:solidFill>
                <a:latin typeface="Consolas"/>
              </a:rPr>
              <a:t>t_kill</a:t>
            </a:r>
            <a:r>
              <a:rPr sz="1500" b="0">
                <a:solidFill>
                  <a:srgbClr val="8A96A3"/>
                </a:solidFill>
                <a:latin typeface="Microsoft JhengHei"/>
              </a:rPr>
              <a:t> 起算、B 從 </a:t>
            </a:r>
            <a:r>
              <a:rPr sz="1500" b="0">
                <a:solidFill>
                  <a:srgbClr val="8A96A3"/>
                </a:solidFill>
                <a:latin typeface="Consolas"/>
              </a:rPr>
              <a:t>t_restart</a:t>
            </a:r>
            <a:r>
              <a:rPr sz="1500" b="0">
                <a:solidFill>
                  <a:srgbClr val="8A96A3"/>
                </a:solidFill>
                <a:latin typeface="Microsoft JhengHei"/>
              </a:rPr>
              <a:t> 起算（B 從 </a:t>
            </a:r>
            <a:r>
              <a:rPr sz="1500" b="0">
                <a:solidFill>
                  <a:srgbClr val="8A96A3"/>
                </a:solidFill>
                <a:latin typeface="Consolas"/>
              </a:rPr>
              <a:t>t_kill</a:t>
            </a:r>
            <a:r>
              <a:rPr sz="1500" b="0">
                <a:solidFill>
                  <a:srgbClr val="8A96A3"/>
                </a:solidFill>
                <a:latin typeface="Microsoft JhengHei"/>
              </a:rPr>
              <a:t> 為 198–202 s）。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355839"/>
            <a:ext cx="26000" cy="263525"/>
          </a:xfrm>
          <a:prstGeom prst="rect">
            <a:avLst/>
          </a:prstGeom>
          <a:solidFill>
            <a:srgbClr val="D6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8A96A3"/>
                </a:solidFill>
                <a:latin typeface="Microsoft JhengHei"/>
              </a:rPr>
              <a:t>多寫多讀混合雲：Y25 結案 × Y26 PoC 決策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9107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8A96A3"/>
                </a:solidFill>
                <a:latin typeface="Microsoft JhengHei"/>
              </a:rPr>
              <a:t>2026-08-27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8A96A3"/>
                </a:solidFill>
                <a:latin typeface="Microsoft JhengHei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>
                <a:solidFill>
                  <a:srgbClr val="1A2B3C"/>
                </a:solidFill>
                <a:latin typeface="Microsoft JhengHei"/>
              </a:rPr>
              <a:t>Y26｜決策表 ③　維運後勤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709928"/>
          <a:ext cx="11057839" cy="19309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3276"/>
                <a:gridCol w="3278787"/>
                <a:gridCol w="1923840"/>
                <a:gridCol w="2496128"/>
                <a:gridCol w="1017904"/>
                <a:gridCol w="1017904"/>
              </a:tblGrid>
              <a:tr h="321818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A2B3C"/>
                          </a:solidFill>
                          <a:latin typeface="Microsoft JhengHei"/>
                        </a:rPr>
                        <a:t>大類</a:t>
                      </a:r>
                    </a:p>
                  </a:txBody>
                  <a:tcPr marL="64008" marR="64008" marT="32004" marB="32004" anchor="ctr">
                    <a:solidFill>
                      <a:srgbClr val="EC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A2B3C"/>
                          </a:solidFill>
                          <a:latin typeface="Microsoft JhengHei"/>
                        </a:rPr>
                        <a:t>細項</a:t>
                      </a:r>
                    </a:p>
                  </a:txBody>
                  <a:tcPr marL="64008" marR="64008" marT="32004" marB="32004" anchor="ctr">
                    <a:solidFill>
                      <a:srgbClr val="EC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A2B3C"/>
                          </a:solidFill>
                          <a:latin typeface="Microsoft JhengHei"/>
                        </a:rPr>
                        <a:t>A MySQL</a:t>
                      </a:r>
                    </a:p>
                  </a:txBody>
                  <a:tcPr marL="64008" marR="64008" marT="32004" marB="32004" anchor="ctr">
                    <a:solidFill>
                      <a:srgbClr val="EC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A2B3C"/>
                          </a:solidFill>
                          <a:latin typeface="Microsoft JhengHei"/>
                        </a:rPr>
                        <a:t>B TiDB</a:t>
                      </a:r>
                    </a:p>
                  </a:txBody>
                  <a:tcPr marL="64008" marR="64008" marT="32004" marB="32004" anchor="ctr">
                    <a:solidFill>
                      <a:srgbClr val="EC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A2B3C"/>
                          </a:solidFill>
                          <a:latin typeface="Microsoft JhengHei"/>
                        </a:rPr>
                        <a:t>C YBDB</a:t>
                      </a:r>
                    </a:p>
                  </a:txBody>
                  <a:tcPr marL="64008" marR="64008" marT="32004" marB="32004" anchor="ctr">
                    <a:solidFill>
                      <a:srgbClr val="EC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A2B3C"/>
                          </a:solidFill>
                          <a:latin typeface="Microsoft JhengHei"/>
                        </a:rPr>
                        <a:t>D CRDB</a:t>
                      </a:r>
                    </a:p>
                  </a:txBody>
                  <a:tcPr marL="64008" marR="64008" marT="32004" marB="32004" anchor="ctr">
                    <a:solidFill>
                      <a:srgbClr val="ECEFF2"/>
                    </a:solidFill>
                  </a:tcPr>
                </a:tc>
              </a:tr>
              <a:tr h="321818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E. 維運後勤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PITR / 備份還原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待測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待測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待測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待測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321818"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Online DDL 與維運工具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待測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待測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待測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待測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</a:tr>
              <a:tr h="321818"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HTAP / 分析型負載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n/a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待測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n/a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n/a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321818"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原廠在地支援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社群 / Percona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24×7 中文 + 台灣 SA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無在地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無在地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</a:tr>
              <a:tr h="321818"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現有 DBA 技能可承接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O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△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X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X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3823716"/>
            <a:ext cx="11057839" cy="301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>
                <a:solidFill>
                  <a:srgbClr val="C0392B"/>
                </a:solidFill>
                <a:latin typeface="Microsoft JhengHei"/>
              </a:rPr>
              <a:t>E 大類是本輪最大的證據缺口</a:t>
            </a:r>
            <a:r>
              <a:rPr sz="1900" b="0">
                <a:solidFill>
                  <a:srgbClr val="22303F"/>
                </a:solidFill>
                <a:latin typeface="Microsoft JhengHei"/>
              </a:rPr>
              <a:t> —— PITR、Online DDL、相容性矩陣三項都還沒有測試檔案，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4253357"/>
            <a:ext cx="11057839" cy="301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0">
                <a:solidFill>
                  <a:srgbClr val="22303F"/>
                </a:solidFill>
                <a:latin typeface="Microsoft JhengHei"/>
              </a:rPr>
              <a:t>這三項正是 Phase 0 的全部內容（見實施辦法）。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8A96A3"/>
                </a:solidFill>
                <a:latin typeface="Microsoft JhengHei"/>
              </a:rPr>
              <a:t>多寫多讀混合雲：Y25 結案 × Y26 PoC 決策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9107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8A96A3"/>
                </a:solidFill>
                <a:latin typeface="Microsoft JhengHei"/>
              </a:rPr>
              <a:t>2026-08-27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8A96A3"/>
                </a:solidFill>
                <a:latin typeface="Microsoft JhengHei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>
                <a:solidFill>
                  <a:srgbClr val="1A2B3C"/>
                </a:solidFill>
                <a:latin typeface="Microsoft JhengHei"/>
              </a:rPr>
              <a:t>Y26｜根據目前 TiDB 的評估，我們可以完成的事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709928"/>
          <a:ext cx="11057839" cy="42735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541"/>
                <a:gridCol w="2682169"/>
                <a:gridCol w="7813129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A2B3C"/>
                          </a:solidFill>
                          <a:latin typeface="Microsoft JhengHei"/>
                        </a:rPr>
                        <a:t>#</a:t>
                      </a:r>
                    </a:p>
                  </a:txBody>
                  <a:tcPr marL="64008" marR="64008" marT="32004" marB="32004" anchor="ctr">
                    <a:solidFill>
                      <a:srgbClr val="EC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A2B3C"/>
                          </a:solidFill>
                          <a:latin typeface="Microsoft JhengHei"/>
                        </a:rPr>
                        <a:t>可以完成</a:t>
                      </a:r>
                    </a:p>
                  </a:txBody>
                  <a:tcPr marL="64008" marR="64008" marT="32004" marB="32004" anchor="ctr">
                    <a:solidFill>
                      <a:srgbClr val="EC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A2B3C"/>
                          </a:solidFill>
                          <a:latin typeface="Microsoft JhengHei"/>
                        </a:rPr>
                        <a:t>依據</a:t>
                      </a:r>
                    </a:p>
                  </a:txBody>
                  <a:tcPr marL="64008" marR="64008" marT="32004" marB="32004" anchor="ctr">
                    <a:solidFill>
                      <a:srgbClr val="ECEFF2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1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C0392B"/>
                          </a:solidFill>
                          <a:latin typeface="Microsoft JhengHei"/>
                        </a:rPr>
                        <a:t>跨區資料同步不漏寫、不寫錯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Y25 ac-api 流量鏡像：挑 AC API 最複雜寫入場景，全程無漏寫或寫錯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2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C0392B"/>
                          </a:solidFill>
                          <a:latin typeface="Microsoft JhengHei"/>
                        </a:rPr>
                        <a:t>應用不改協定即可接上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MySQL wire；ac-api 完成 ULID/Snowflake 改造後，2026-08-26 TiDB 測試直接通過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3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C0392B"/>
                          </a:solidFill>
                          <a:latin typeface="Microsoft JhengHei"/>
                        </a:rPr>
                        <a:t>水平擴展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1node→3node 擴展倍率 </a:t>
                      </a:r>
                      <a:r>
                        <a:rPr sz="1300" b="1">
                          <a:solidFill>
                            <a:srgbClr val="C0392B"/>
                          </a:solidFill>
                          <a:latin typeface="Microsoft JhengHei"/>
                        </a:rPr>
                        <a:t>2.06×</a:t>
                      </a:r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，四家最高；跨區單寫吞吐是 Galera 的 41.9 倍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4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C0392B"/>
                          </a:solidFill>
                          <a:latin typeface="Microsoft JhengHei"/>
                        </a:rPr>
                        <a:t>高併發下維持穩定與零錯誤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t=128 五輪變異 </a:t>
                      </a:r>
                      <a:r>
                        <a:rPr sz="1300" b="1">
                          <a:solidFill>
                            <a:srgbClr val="C0392B"/>
                          </a:solidFill>
                          <a:latin typeface="Microsoft JhengHei"/>
                        </a:rPr>
                        <a:t>7.4%</a:t>
                      </a:r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、all-txn error rate </a:t>
                      </a:r>
                      <a:r>
                        <a:rPr sz="1300" b="1">
                          <a:solidFill>
                            <a:srgbClr val="C0392B"/>
                          </a:solidFill>
                          <a:latin typeface="Microsoft JhengHei"/>
                        </a:rPr>
                        <a:t>0.000%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</a:tr>
              <a:tr h="542797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5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C0392B"/>
                          </a:solidFill>
                          <a:latin typeface="Microsoft JhengHei"/>
                        </a:rPr>
                        <a:t>跨區單寫（A/S）並確保副本真的到位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P-A×A-S 跨區 W=128 完成，12,526.5 tpmC、0 error；placement + 副本存在 + 近讀 probe 三重驗證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6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C0392B"/>
                          </a:solidFill>
                          <a:latin typeface="Microsoft JhengHei"/>
                        </a:rPr>
                        <a:t>跨區就近讀（A/A-RO）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IDC 側 15,182.5 tpmC、GCP 側 read_tpmTotal 31,571.3、</a:t>
                      </a:r>
                      <a:r>
                        <a:rPr sz="1300" b="1">
                          <a:solidFill>
                            <a:srgbClr val="C0392B"/>
                          </a:solidFill>
                          <a:latin typeface="Microsoft JhengHei"/>
                        </a:rPr>
                        <a:t>全程 0 錯誤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7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C0392B"/>
                          </a:solidFill>
                          <a:latin typeface="Microsoft JhengHei"/>
                        </a:rPr>
                        <a:t>控制資料放置位置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Placement Rules 實測：P-A（leader 固定 IDC）與 P-B（跨區 30–70% 混合）皆可設定並驗證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8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C0392B"/>
                          </a:solidFill>
                          <a:latin typeface="Microsoft JhengHei"/>
                        </a:rPr>
                        <a:t>quorum 遺失時乾淨拒絕寫入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303F"/>
                          </a:solidFill>
                          <a:latin typeface="Consolas"/>
                        </a:rPr>
                        <a:t>write_correctly_rejected</a:t>
                      </a:r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 —— 不會靜默寫入成功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9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C0392B"/>
                          </a:solidFill>
                          <a:latin typeface="Microsoft JhengHei"/>
                        </a:rPr>
                        <a:t>跨區雙寫時把錯誤率壓在低檔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P-B×A-A GCP 側 </a:t>
                      </a:r>
                      <a:r>
                        <a:rPr sz="1300" b="1">
                          <a:solidFill>
                            <a:srgbClr val="C0392B"/>
                          </a:solidFill>
                          <a:latin typeface="Microsoft JhengHei"/>
                        </a:rPr>
                        <a:t>0.158%</a:t>
                      </a:r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，型態為跨區鎖等待逾時，非衝突拒絕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10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C0392B"/>
                          </a:solidFill>
                          <a:latin typeface="Microsoft JhengHei"/>
                        </a:rPr>
                        <a:t>K8s 部署與資源配額控制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S-K8S limit/unlimit 六組 suite 完成，含 throttling / OOM / storage 證據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11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C0392B"/>
                          </a:solidFill>
                          <a:latin typeface="Microsoft JhengHei"/>
                        </a:rPr>
                        <a:t>取得原廠在地後勤支援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PingCAP 24×7 中文、Premier S1 30 分鐘 SLA、台灣本地 SA 已到職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12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C0392B"/>
                          </a:solidFill>
                          <a:latin typeface="Microsoft JhengHei"/>
                        </a:rPr>
                        <a:t>把 DR 備援資源轉成有產出的資源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A/S 的 standby 資料端置於 EDC，可承載讀取型商務邏輯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8A96A3"/>
                </a:solidFill>
                <a:latin typeface="Microsoft JhengHei"/>
              </a:rPr>
              <a:t>多寫多讀混合雲：Y25 結案 × Y26 PoC 決策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9107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8A96A3"/>
                </a:solidFill>
                <a:latin typeface="Microsoft JhengHei"/>
              </a:rPr>
              <a:t>2026-08-27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8A96A3"/>
                </a:solidFill>
                <a:latin typeface="Microsoft JhengHei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>
                <a:solidFill>
                  <a:srgbClr val="1A2B3C"/>
                </a:solidFill>
                <a:latin typeface="Microsoft JhengHei"/>
              </a:rPr>
              <a:t>Y26｜根據現有架構，我們不能完成的事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709928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>
                <a:solidFill>
                  <a:srgbClr val="C0392B"/>
                </a:solidFill>
                <a:latin typeface="Microsoft JhengHei"/>
              </a:rPr>
              <a:t>（一）架構層面 —— 短期內無法解除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2112264"/>
          <a:ext cx="11057839" cy="37995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2498"/>
                <a:gridCol w="2041629"/>
                <a:gridCol w="8633712"/>
              </a:tblGrid>
              <a:tr h="321818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A2B3C"/>
                          </a:solidFill>
                          <a:latin typeface="Microsoft JhengHei"/>
                        </a:rPr>
                        <a:t>#</a:t>
                      </a:r>
                    </a:p>
                  </a:txBody>
                  <a:tcPr marL="64008" marR="64008" marT="32004" marB="32004" anchor="ctr">
                    <a:solidFill>
                      <a:srgbClr val="EC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A2B3C"/>
                          </a:solidFill>
                          <a:latin typeface="Microsoft JhengHei"/>
                        </a:rPr>
                        <a:t>不能完成</a:t>
                      </a:r>
                    </a:p>
                  </a:txBody>
                  <a:tcPr marL="64008" marR="64008" marT="32004" marB="32004" anchor="ctr">
                    <a:solidFill>
                      <a:srgbClr val="EC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A2B3C"/>
                          </a:solidFill>
                          <a:latin typeface="Microsoft JhengHei"/>
                        </a:rPr>
                        <a:t>原因</a:t>
                      </a:r>
                    </a:p>
                  </a:txBody>
                  <a:tcPr marL="64008" marR="64008" marT="32004" marB="32004" anchor="ctr">
                    <a:solidFill>
                      <a:srgbClr val="ECEFF2"/>
                    </a:solidFill>
                  </a:tcPr>
                </a:tc>
              </a:tr>
              <a:tr h="579628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1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端到端雙區同時寫（A/A）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限制不在資料庫</a:t>
                      </a:r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。Assessment / Memcache 架構上無法支援 AA mode；OMS 雲端無法代理對外寄信；NetApp 部分檔案無法轉入 MVS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579628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2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整區故障秒級自動接手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RF=3、僅 IDC + EDC 兩個 failure domain，</a:t>
                      </a:r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數學上不保證</a:t>
                      </a:r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。F2 是「停 3 台 IDC process 再由 operator 重啟」的恢復力測試，</a:t>
                      </a:r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不是自動區域 failover</a:t>
                      </a:r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；從 </a:t>
                      </a:r>
                      <a:r>
                        <a:rPr sz="1400" b="0">
                          <a:solidFill>
                            <a:srgbClr val="22303F"/>
                          </a:solidFill>
                          <a:latin typeface="Consolas"/>
                        </a:rPr>
                        <a:t>t_kill</a:t>
                      </a:r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 起算 198–202 秒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</a:tr>
              <a:tr h="579628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3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單節點故障對 client 完全零感知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TiDB SQL 層與共識層分離，單節點 kill 有 </a:t>
                      </a:r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6.68–8.4 秒</a:t>
                      </a:r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可觀測中斷。是架構特性不是缺陷，但</a:t>
                      </a:r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設計 SLO 時必須納入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579628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4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在低延遲敏感場景取代 Galera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單節點 p99 </a:t>
                      </a:r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597 ms</a:t>
                      </a:r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 vs Galera </a:t>
                      </a:r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37.7 ms</a:t>
                      </a:r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（15.8 倍）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</a:tr>
              <a:tr h="579628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5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Cloudflare + F5 的 sticky session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來源 IP 到 F5 只看得到 Cloudflare 的 IP；需改用 Cloudflare LB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579628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6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在 GCP 重現 A10 的 Ignore-TCP-MSL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GCP SLB 無此功能；TSD 已評估影響不大，但無法對等移植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8A96A3"/>
                </a:solidFill>
                <a:latin typeface="Microsoft JhengHei"/>
              </a:rPr>
              <a:t>多寫多讀混合雲：Y25 結案 × Y26 PoC 決策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9107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8A96A3"/>
                </a:solidFill>
                <a:latin typeface="Microsoft JhengHei"/>
              </a:rPr>
              <a:t>2026-08-27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8A96A3"/>
                </a:solidFill>
                <a:latin typeface="Microsoft JhengHei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>
                <a:solidFill>
                  <a:srgbClr val="1A2B3C"/>
                </a:solidFill>
                <a:latin typeface="Microsoft JhengHei"/>
              </a:rPr>
              <a:t>Y26｜不能完成的事（續）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709928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C0392B"/>
                </a:solidFill>
                <a:latin typeface="Microsoft JhengHei"/>
              </a:rPr>
              <a:t>（二）證據層面 —— 補測即可解除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2112264"/>
          <a:ext cx="11057839" cy="2487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9149"/>
                <a:gridCol w="2370834"/>
                <a:gridCol w="8097856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A2B3C"/>
                          </a:solidFill>
                          <a:latin typeface="Microsoft JhengHei"/>
                        </a:rPr>
                        <a:t>#</a:t>
                      </a:r>
                    </a:p>
                  </a:txBody>
                  <a:tcPr marL="64008" marR="64008" marT="32004" marB="32004" anchor="ctr">
                    <a:solidFill>
                      <a:srgbClr val="EC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A2B3C"/>
                          </a:solidFill>
                          <a:latin typeface="Microsoft JhengHei"/>
                        </a:rPr>
                        <a:t>尚不能宣稱</a:t>
                      </a:r>
                    </a:p>
                  </a:txBody>
                  <a:tcPr marL="64008" marR="64008" marT="32004" marB="32004" anchor="ctr">
                    <a:solidFill>
                      <a:srgbClr val="EC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A2B3C"/>
                          </a:solidFill>
                          <a:latin typeface="Microsoft JhengHei"/>
                        </a:rPr>
                        <a:t>缺什麼</a:t>
                      </a:r>
                    </a:p>
                  </a:txBody>
                  <a:tcPr marL="64008" marR="64008" marT="32004" marB="32004" anchor="ctr">
                    <a:solidFill>
                      <a:srgbClr val="ECEFF2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303F"/>
                          </a:solidFill>
                          <a:latin typeface="Microsoft JhengHei"/>
                        </a:rPr>
                        <a:t>7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303F"/>
                          </a:solidFill>
                          <a:latin typeface="Microsoft JhengHei"/>
                        </a:rPr>
                        <a:t>SQL / ORM 相容性已驗證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303F"/>
                          </a:solidFill>
                          <a:latin typeface="Microsoft JhengHei"/>
                        </a:rPr>
                        <a:t>相容性矩陣未執行；MariaDB 10.4 / 10.11 待原廠線下評估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303F"/>
                          </a:solidFill>
                          <a:latin typeface="Microsoft JhengHei"/>
                        </a:rPr>
                        <a:t>8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303F"/>
                          </a:solidFill>
                          <a:latin typeface="Microsoft JhengHei"/>
                        </a:rPr>
                        <a:t>備份可還原、PITR 可用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303F"/>
                          </a:solidFill>
                          <a:latin typeface="Microsoft JhengHei"/>
                        </a:rPr>
                        <a:t>完全未排入測試矩陣（無 spec、無 script、無 artifact）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303F"/>
                          </a:solidFill>
                          <a:latin typeface="Microsoft JhengHei"/>
                        </a:rPr>
                        <a:t>9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303F"/>
                          </a:solidFill>
                          <a:latin typeface="Microsoft JhengHei"/>
                        </a:rPr>
                        <a:t>Online DDL 不影響前台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303F"/>
                          </a:solidFill>
                          <a:latin typeface="Microsoft JhengHei"/>
                        </a:rPr>
                        <a:t>未量測 DDL 期間對 tpmC / p99 的影響幅度與持續時間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303F"/>
                          </a:solidFill>
                          <a:latin typeface="Microsoft JhengHei"/>
                        </a:rPr>
                        <a:t>10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303F"/>
                          </a:solidFill>
                          <a:latin typeface="Microsoft JhengHei"/>
                        </a:rPr>
                        <a:t>跨區部署的 WAN 成本是多少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303F"/>
                          </a:solidFill>
                          <a:latin typeface="Microsoft JhengHei"/>
                        </a:rPr>
                        <a:t>缺 IDC-only 六節點 paired control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303F"/>
                          </a:solidFill>
                          <a:latin typeface="Microsoft JhengHei"/>
                        </a:rPr>
                        <a:t>11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303F"/>
                          </a:solidFill>
                          <a:latin typeface="Microsoft JhengHei"/>
                        </a:rPr>
                        <a:t>P-B 高併發吞吐劣化的根因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303F"/>
                          </a:solidFill>
                          <a:latin typeface="Microsoft JhengHei"/>
                        </a:rPr>
                        <a:t>th=128 劣化（9003→14948→2113→954→1480），命中 </a:t>
                      </a:r>
                      <a:r>
                        <a:rPr sz="1200" b="0">
                          <a:solidFill>
                            <a:srgbClr val="22303F"/>
                          </a:solidFill>
                          <a:latin typeface="Consolas"/>
                        </a:rPr>
                        <a:t>PessimisticLockNotFound</a:t>
                      </a:r>
                      <a:r>
                        <a:rPr sz="1200" b="0">
                          <a:solidFill>
                            <a:srgbClr val="22303F"/>
                          </a:solidFill>
                          <a:latin typeface="Microsoft JhengHei"/>
                        </a:rPr>
                        <a:t>／</a:t>
                      </a:r>
                      <a:r>
                        <a:rPr sz="1200" b="0">
                          <a:solidFill>
                            <a:srgbClr val="22303F"/>
                          </a:solidFill>
                          <a:latin typeface="Consolas"/>
                        </a:rPr>
                        <a:t>LockTsMismatch</a:t>
                      </a:r>
                      <a:r>
                        <a:rPr sz="1200" b="0">
                          <a:solidFill>
                            <a:srgbClr val="22303F"/>
                          </a:solidFill>
                          <a:latin typeface="Microsoft JhengHei"/>
                        </a:rPr>
                        <a:t>，</a:t>
                      </a:r>
                      <a:r>
                        <a:rPr sz="1200" b="1">
                          <a:solidFill>
                            <a:srgbClr val="C0392B"/>
                          </a:solidFill>
                          <a:latin typeface="Microsoft JhengHei"/>
                        </a:rPr>
                        <a:t>未定位根因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303F"/>
                          </a:solidFill>
                          <a:latin typeface="Microsoft JhengHei"/>
                        </a:rPr>
                        <a:t>12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303F"/>
                          </a:solidFill>
                          <a:latin typeface="Microsoft JhengHei"/>
                        </a:rPr>
                        <a:t>HTAP / 向量檢索可用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303F"/>
                          </a:solidFill>
                          <a:latin typeface="Microsoft JhengHei"/>
                        </a:rPr>
                        <a:t>TiFlash 未執行分析型查詢；向量檢索僅原廠說明，本 PoC 無實測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303F"/>
                          </a:solidFill>
                          <a:latin typeface="Microsoft JhengHei"/>
                        </a:rPr>
                        <a:t>13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303F"/>
                          </a:solidFill>
                          <a:latin typeface="Microsoft JhengHei"/>
                        </a:rPr>
                        <a:t>Failover 數字可跨產品比較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303F"/>
                          </a:solidFill>
                          <a:latin typeface="Microsoft JhengHei"/>
                        </a:rPr>
                        <a:t>各家計時起點不等價，需先統一口徑重測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4782312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C0392B"/>
                </a:solidFill>
                <a:latin typeface="Microsoft JhengHei"/>
              </a:rPr>
              <a:t>（三）本輪不做 —— 屬決策而非能力限制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5184648"/>
          <a:ext cx="11057839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8995"/>
                <a:gridCol w="3621030"/>
                <a:gridCol w="6657814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A2B3C"/>
                          </a:solidFill>
                          <a:latin typeface="Microsoft JhengHei"/>
                        </a:rPr>
                        <a:t>#</a:t>
                      </a:r>
                    </a:p>
                  </a:txBody>
                  <a:tcPr marL="64008" marR="64008" marT="32004" marB="32004" anchor="ctr">
                    <a:solidFill>
                      <a:srgbClr val="EC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A2B3C"/>
                          </a:solidFill>
                          <a:latin typeface="Microsoft JhengHei"/>
                        </a:rPr>
                        <a:t>不做</a:t>
                      </a:r>
                    </a:p>
                  </a:txBody>
                  <a:tcPr marL="64008" marR="64008" marT="32004" marB="32004" anchor="ctr">
                    <a:solidFill>
                      <a:srgbClr val="EC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A2B3C"/>
                          </a:solidFill>
                          <a:latin typeface="Microsoft JhengHei"/>
                        </a:rPr>
                        <a:t>理由</a:t>
                      </a:r>
                    </a:p>
                  </a:txBody>
                  <a:tcPr marL="64008" marR="64008" marT="32004" marB="32004" anchor="ctr">
                    <a:solidFill>
                      <a:srgbClr val="ECEFF2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303F"/>
                          </a:solidFill>
                          <a:latin typeface="Microsoft JhengHei"/>
                        </a:rPr>
                        <a:t>14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303F"/>
                          </a:solidFill>
                          <a:latin typeface="Microsoft JhengHei"/>
                        </a:rPr>
                        <a:t>PostgreSQL 路線（YBDB / CRDB）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303F"/>
                          </a:solidFill>
                          <a:latin typeface="Microsoft JhengHei"/>
                        </a:rPr>
                        <a:t>PostgreSQL 應用佔比 &lt; 5%；協定切換成本無法由現有效益差距正當化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303F"/>
                          </a:solidFill>
                          <a:latin typeface="Microsoft JhengHei"/>
                        </a:rPr>
                        <a:t>15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303F"/>
                          </a:solidFill>
                          <a:latin typeface="Microsoft JhengHei"/>
                        </a:rPr>
                        <a:t>Redis 多寫多讀驗證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303F"/>
                          </a:solidFill>
                          <a:latin typeface="Microsoft JhengHei"/>
                        </a:rPr>
                        <a:t>待有實際需求發生時再規劃安排（2025-12-19 定案）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303F"/>
                          </a:solidFill>
                          <a:latin typeface="Microsoft JhengHei"/>
                        </a:rPr>
                        <a:t>16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303F"/>
                          </a:solidFill>
                          <a:latin typeface="Microsoft JhengHei"/>
                        </a:rPr>
                        <a:t>ac-api PROD 整合與流量 mirror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303F"/>
                          </a:solidFill>
                          <a:latin typeface="Microsoft JhengHei"/>
                        </a:rPr>
                        <a:t>定案 Y27 再安排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8A96A3"/>
                </a:solidFill>
                <a:latin typeface="Microsoft JhengHei"/>
              </a:rPr>
              <a:t>多寫多讀混合雲：Y25 結案 × Y26 PoC 決策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9107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8A96A3"/>
                </a:solidFill>
                <a:latin typeface="Microsoft JhengHei"/>
              </a:rPr>
              <a:t>2026-08-27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8A96A3"/>
                </a:solidFill>
                <a:latin typeface="Microsoft JhengHei"/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>
                <a:solidFill>
                  <a:srgbClr val="1A2B3C"/>
                </a:solidFill>
                <a:latin typeface="Microsoft JhengHei"/>
              </a:rPr>
              <a:t>Y26｜A/A 卡在哪：限制不在資料庫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709928"/>
            <a:ext cx="11057839" cy="603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0">
                <a:solidFill>
                  <a:srgbClr val="22303F"/>
                </a:solidFill>
                <a:latin typeface="Microsoft JhengHei"/>
              </a:rPr>
              <a:t>資料庫層已證明 TiDB 具備雙區寫入能力（跨區雙寫 GCP 側失敗率 0.158%）。</a:t>
            </a:r>
            <a:r>
              <a:rPr sz="1900" b="1">
                <a:solidFill>
                  <a:srgbClr val="C0392B"/>
                </a:solidFill>
                <a:latin typeface="Microsoft JhengHei"/>
              </a:rPr>
              <a:t>擋住的是周邊 Infra</a:t>
            </a:r>
            <a:r>
              <a:rPr sz="1900" b="0">
                <a:solidFill>
                  <a:srgbClr val="22303F"/>
                </a:solidFill>
                <a:latin typeface="Microsoft JhengHei"/>
              </a:rPr>
              <a:t>：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2441194"/>
          <a:ext cx="11057839" cy="2446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1010"/>
                <a:gridCol w="10516829"/>
              </a:tblGrid>
              <a:tr h="321818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A2B3C"/>
                          </a:solidFill>
                          <a:latin typeface="Microsoft JhengHei"/>
                        </a:rPr>
                        <a:t>層級</a:t>
                      </a:r>
                    </a:p>
                  </a:txBody>
                  <a:tcPr marL="64008" marR="64008" marT="32004" marB="32004" anchor="ctr">
                    <a:solidFill>
                      <a:srgbClr val="EC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A2B3C"/>
                          </a:solidFill>
                          <a:latin typeface="Microsoft JhengHei"/>
                        </a:rPr>
                        <a:t>已知不可行 / 未就緒</a:t>
                      </a:r>
                    </a:p>
                  </a:txBody>
                  <a:tcPr marL="64008" marR="64008" marT="32004" marB="32004" anchor="ctr">
                    <a:solidFill>
                      <a:srgbClr val="ECEFF2"/>
                    </a:solidFill>
                  </a:tcPr>
                </a:tc>
              </a:tr>
              <a:tr h="579628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應用組件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Assessment 無法支援 AA mode</a:t>
                      </a:r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（設計過時、未來不續存，屬產品端議題）&lt;br&gt;</a:t>
                      </a:r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Memcache 無法支援 AA mode</a:t>
                      </a:r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（未來不續存，預期轉 Redis）&lt;br&gt;OMS 寫檔寄信 —— 雲端無法代理對外寄信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321818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儲存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NetApp 檔案規劃以 MVS 為主要存儲媒介，部分檔案無法轉入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</a:tr>
              <a:tr h="321818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網路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GCP SLB </a:t>
                      </a:r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無 Ignore-TCP-MSL</a:t>
                      </a:r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；Cloudflare + F5 架構下 </a:t>
                      </a:r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sticky session 無法生效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579628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故障域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RF=3、僅 IDC + EDC 兩個 failure domain，整區故障秒級接手</a:t>
                      </a:r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數學上不保證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</a:tr>
              <a:tr h="321818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專線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跨區實測 RTT 8.5 ms、頻寬 190–227 Mbps；「類似 DX 之專線是必要投資」但尚未取得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94944" y="5107178"/>
            <a:ext cx="10929823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C0392B"/>
                </a:solidFill>
                <a:latin typeface="Microsoft JhengHei"/>
              </a:rPr>
              <a:t>資料庫層已經準備好做 A/S 與就近讀；擋住 A/A 的是資料庫以外的組件與故障域數量。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107178"/>
            <a:ext cx="26000" cy="279400"/>
          </a:xfrm>
          <a:prstGeom prst="rect">
            <a:avLst/>
          </a:prstGeom>
          <a:solidFill>
            <a:srgbClr val="D6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8A96A3"/>
                </a:solidFill>
                <a:latin typeface="Microsoft JhengHei"/>
              </a:rPr>
              <a:t>多寫多讀混合雲：Y25 結案 × Y26 PoC 決策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9107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8A96A3"/>
                </a:solidFill>
                <a:latin typeface="Microsoft JhengHei"/>
              </a:rPr>
              <a:t>2026-08-27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8A96A3"/>
                </a:solidFill>
                <a:latin typeface="Microsoft JhengHei"/>
              </a:rP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468880"/>
            <a:ext cx="11057839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1A2B3C"/>
                </a:solidFill>
                <a:latin typeface="Microsoft JhengHei"/>
              </a:rPr>
              <a:t>推進路線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8A96A3"/>
                </a:solidFill>
                <a:latin typeface="Microsoft JhengHei"/>
              </a:rPr>
              <a:t>多寫多讀混合雲：Y25 結案 × Y26 PoC 決策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9107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8A96A3"/>
                </a:solidFill>
                <a:latin typeface="Microsoft JhengHei"/>
              </a:rPr>
              <a:t>2026-08-27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8A96A3"/>
                </a:solidFill>
                <a:latin typeface="Microsoft JhengHei"/>
              </a:rP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>
                <a:solidFill>
                  <a:srgbClr val="1A2B3C"/>
                </a:solidFill>
                <a:latin typeface="Microsoft JhengHei"/>
              </a:rPr>
              <a:t>路線｜三軌並行全景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09928"/>
            <a:ext cx="11057839" cy="3785616"/>
          </a:xfrm>
          <a:prstGeom prst="rect">
            <a:avLst/>
          </a:prstGeom>
          <a:solidFill>
            <a:srgbClr val="F7F9FA"/>
          </a:solidFill>
          <a:ln>
            <a:solidFill>
              <a:srgbClr val="D6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1819656"/>
            <a:ext cx="10801807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>
                <a:solidFill>
                  <a:srgbClr val="22303F"/>
                </a:solidFill>
                <a:latin typeface="Consolas"/>
              </a:rPr>
              <a:t>                 【進入條件】                【進入條件】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22303F"/>
                </a:solidFill>
                <a:latin typeface="Consolas"/>
              </a:rPr>
              <a:t>                 相容性矩陣                  Failover 等價口徑重測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22303F"/>
                </a:solidFill>
                <a:latin typeface="Consolas"/>
              </a:rPr>
              <a:t>                 PITR / 備份還原             跨區分斷演練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22303F"/>
                </a:solidFill>
                <a:latin typeface="Consolas"/>
              </a:rPr>
              <a:t>                 Online DDL                  就近讀 staleness 驗證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22303F"/>
                </a:solidFill>
                <a:latin typeface="Consolas"/>
              </a:rPr>
              <a:t>                      │                           │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22303F"/>
                </a:solidFill>
                <a:latin typeface="Consolas"/>
              </a:rPr>
              <a:t>主線  S0 IDC Only ────┼──▶ S1 IDC+EDC P-A×A/S ────┼──▶ S2 IDC+EDC P-A×A/A-RO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22303F"/>
                </a:solidFill>
                <a:latin typeface="Consolas"/>
              </a:rPr>
              <a:t>（技術）  現行         │                           │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22303F"/>
                </a:solidFill>
                <a:latin typeface="Consolas"/>
              </a:rPr>
              <a:t>                      │                           │        ⛔ S3 P-B×A/A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22303F"/>
                </a:solidFill>
                <a:latin typeface="Consolas"/>
              </a:rPr>
              <a:t>                      │                           │        不列入本輪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22303F"/>
                </a:solidFill>
                <a:latin typeface="Consolas"/>
              </a:rPr>
              <a:t>                      ▼                           ▼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22303F"/>
                </a:solidFill>
                <a:latin typeface="Consolas"/>
              </a:rPr>
              <a:t>branch   B1 Self-Service          B2 DB 申請 CI/CD 平台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22303F"/>
                </a:solidFill>
                <a:latin typeface="Consolas"/>
              </a:rPr>
              <a:t>（產品）  B4 Observability          B3 EDC 資源活化（A/S 資料端）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22303F"/>
                </a:solidFill>
                <a:latin typeface="Consolas"/>
              </a:rPr>
              <a:t>                      │                           │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22303F"/>
                </a:solidFill>
                <a:latin typeface="Consolas"/>
              </a:rPr>
              <a:t>                      ▼                           ▼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22303F"/>
                </a:solidFill>
                <a:latin typeface="Consolas"/>
              </a:rPr>
              <a:t>後勤     能力缺口盤點 ──▶ 自控驗證項 ──▶ 原廠協作項（不採購）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8A96A3"/>
                </a:solidFill>
                <a:latin typeface="Microsoft JhengHei"/>
              </a:rPr>
              <a:t>多寫多讀混合雲：Y25 結案 × Y26 PoC 決策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9107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8A96A3"/>
                </a:solidFill>
                <a:latin typeface="Microsoft JhengHei"/>
              </a:rPr>
              <a:t>2026-08-27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8A96A3"/>
                </a:solidFill>
                <a:latin typeface="Microsoft JhengHei"/>
              </a:rP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>
                <a:solidFill>
                  <a:srgbClr val="1A2B3C"/>
                </a:solidFill>
                <a:latin typeface="Microsoft JhengHei"/>
              </a:rPr>
              <a:t>路線｜技術主線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709928"/>
          <a:ext cx="11057839" cy="2898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8790"/>
                <a:gridCol w="2378816"/>
                <a:gridCol w="3234218"/>
                <a:gridCol w="3866015"/>
              </a:tblGrid>
              <a:tr h="321818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A2B3C"/>
                          </a:solidFill>
                          <a:latin typeface="Microsoft JhengHei"/>
                        </a:rPr>
                        <a:t>階段</a:t>
                      </a:r>
                    </a:p>
                  </a:txBody>
                  <a:tcPr marL="64008" marR="64008" marT="32004" marB="32004" anchor="ctr">
                    <a:solidFill>
                      <a:srgbClr val="EC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A2B3C"/>
                          </a:solidFill>
                          <a:latin typeface="Microsoft JhengHei"/>
                        </a:rPr>
                        <a:t>內容</a:t>
                      </a:r>
                    </a:p>
                  </a:txBody>
                  <a:tcPr marL="64008" marR="64008" marT="32004" marB="32004" anchor="ctr">
                    <a:solidFill>
                      <a:srgbClr val="EC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A2B3C"/>
                          </a:solidFill>
                          <a:latin typeface="Microsoft JhengHei"/>
                        </a:rPr>
                        <a:t>進入條件</a:t>
                      </a:r>
                    </a:p>
                  </a:txBody>
                  <a:tcPr marL="64008" marR="64008" marT="32004" marB="32004" anchor="ctr">
                    <a:solidFill>
                      <a:srgbClr val="EC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A2B3C"/>
                          </a:solidFill>
                          <a:latin typeface="Microsoft JhengHei"/>
                        </a:rPr>
                        <a:t>驗收</a:t>
                      </a:r>
                    </a:p>
                  </a:txBody>
                  <a:tcPr marL="64008" marR="64008" marT="32004" marB="32004" anchor="ctr">
                    <a:solidFill>
                      <a:srgbClr val="ECEFF2"/>
                    </a:solidFill>
                  </a:tcPr>
                </a:tc>
              </a:tr>
              <a:tr h="57962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S0</a:t>
                      </a:r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&lt;br&gt;IDC Only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TiDB 單區叢集營運，累積維運經驗與架構穩定性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—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叢集穩態營運、監控與告警上線、備份可還原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57962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S1</a:t>
                      </a:r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&lt;br&gt;IDC+EDC&lt;br&gt;</a:t>
                      </a:r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P-A × A/S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leader/lease 固定 IDC，EDC 持副本；流量只打 IDC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相容性矩陣、PITR／備份還原、Online DDL </a:t>
                      </a:r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三項補測通過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EDC 端確實持有資料副本（</a:t>
                      </a:r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副本存在 gate</a:t>
                      </a:r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）、placement gate 通過、切換演練可回退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</a:tr>
              <a:tr h="83743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S2</a:t>
                      </a:r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&lt;br&gt;IDC+EDC&lt;br&gt;</a:t>
                      </a:r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P-A × A/A-RO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EDC 端就近讀，寫入仍集中 IDC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Failover 等價口徑重測、跨區分斷演練、就近讀 staleness 與 fallback 驗證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near-read probe 全數通過、staleness 在業務可接受範圍、fallback 有效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57962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⛔ </a:t>
                      </a:r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S3</a:t>
                      </a:r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&lt;br&gt;P-B × A/A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雙區同時寫入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不列入本輪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業務提出雙區寫入需求，且非 DB 層阻礙解除後再議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94944" y="4827524"/>
            <a:ext cx="10929823" cy="55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C0392B"/>
                </a:solidFill>
                <a:latin typeface="Microsoft JhengHei"/>
              </a:rPr>
              <a:t>為何先 A/S 再 A/A-RO</a:t>
            </a:r>
            <a:r>
              <a:rPr sz="1600" b="0">
                <a:solidFill>
                  <a:srgbClr val="8A96A3"/>
                </a:solidFill>
                <a:latin typeface="Microsoft JhengHei"/>
              </a:rPr>
              <a:t>：A/S 只需驗「副本真的到 EDC」與「切得回來」；A/A-RO 才要處理就近讀路由、staleness 語意與 fallback。前者是後者的前置，</a:t>
            </a:r>
            <a:r>
              <a:rPr sz="1600" b="1">
                <a:solidFill>
                  <a:srgbClr val="C0392B"/>
                </a:solidFill>
                <a:latin typeface="Microsoft JhengHei"/>
              </a:rPr>
              <a:t>兩階段失敗模式完全不同，合併會讓問題無法歸因</a:t>
            </a:r>
            <a:r>
              <a:rPr sz="1600" b="0">
                <a:solidFill>
                  <a:srgbClr val="8A96A3"/>
                </a:solidFill>
                <a:latin typeface="Microsoft JhengHei"/>
              </a:rPr>
              <a:t>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4827524"/>
            <a:ext cx="26000" cy="558800"/>
          </a:xfrm>
          <a:prstGeom prst="rect">
            <a:avLst/>
          </a:prstGeom>
          <a:solidFill>
            <a:srgbClr val="D6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8A96A3"/>
                </a:solidFill>
                <a:latin typeface="Microsoft JhengHei"/>
              </a:rPr>
              <a:t>多寫多讀混合雲：Y25 結案 × Y26 PoC 決策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9107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8A96A3"/>
                </a:solidFill>
                <a:latin typeface="Microsoft JhengHei"/>
              </a:rPr>
              <a:t>2026-08-27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8A96A3"/>
                </a:solidFill>
                <a:latin typeface="Microsoft JhengHei"/>
              </a:rP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>
                <a:solidFill>
                  <a:srgbClr val="1A2B3C"/>
                </a:solidFill>
                <a:latin typeface="Microsoft JhengHei"/>
              </a:rPr>
              <a:t>路線｜產品期待 branch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709928"/>
            <a:ext cx="11057839" cy="301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0">
                <a:solidFill>
                  <a:srgbClr val="22303F"/>
                </a:solidFill>
                <a:latin typeface="Microsoft JhengHei"/>
              </a:rPr>
              <a:t>四條乘載在同一套 TiDB 上，</a:t>
            </a:r>
            <a:r>
              <a:rPr sz="1900" b="1">
                <a:solidFill>
                  <a:srgbClr val="C0392B"/>
                </a:solidFill>
                <a:latin typeface="Microsoft JhengHei"/>
              </a:rPr>
              <a:t>不卡主線遞進</a:t>
            </a:r>
            <a:r>
              <a:rPr sz="1900" b="0">
                <a:solidFill>
                  <a:srgbClr val="22303F"/>
                </a:solidFill>
                <a:latin typeface="Microsoft JhengHei"/>
              </a:rPr>
              <a:t>，可與 S0／S1 並行。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2139569"/>
          <a:ext cx="11057839" cy="2898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470"/>
                <a:gridCol w="4357782"/>
                <a:gridCol w="411888"/>
                <a:gridCol w="4398699"/>
              </a:tblGrid>
              <a:tr h="579628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A2B3C"/>
                          </a:solidFill>
                          <a:latin typeface="Microsoft JhengHei"/>
                        </a:rPr>
                        <a:t>Branch</a:t>
                      </a:r>
                    </a:p>
                  </a:txBody>
                  <a:tcPr marL="64008" marR="64008" marT="32004" marB="32004" anchor="ctr">
                    <a:solidFill>
                      <a:srgbClr val="EC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A2B3C"/>
                          </a:solidFill>
                          <a:latin typeface="Microsoft JhengHei"/>
                        </a:rPr>
                        <a:t>內容</a:t>
                      </a:r>
                    </a:p>
                  </a:txBody>
                  <a:tcPr marL="64008" marR="64008" marT="32004" marB="32004" anchor="ctr">
                    <a:solidFill>
                      <a:srgbClr val="EC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A2B3C"/>
                          </a:solidFill>
                          <a:latin typeface="Microsoft JhengHei"/>
                        </a:rPr>
                        <a:t>依附</a:t>
                      </a:r>
                    </a:p>
                  </a:txBody>
                  <a:tcPr marL="64008" marR="64008" marT="32004" marB="32004" anchor="ctr">
                    <a:solidFill>
                      <a:srgbClr val="EC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A2B3C"/>
                          </a:solidFill>
                          <a:latin typeface="Microsoft JhengHei"/>
                        </a:rPr>
                        <a:t>產品側可感知的價值</a:t>
                      </a:r>
                    </a:p>
                  </a:txBody>
                  <a:tcPr marL="64008" marR="64008" marT="32004" marB="32004" anchor="ctr">
                    <a:solidFill>
                      <a:srgbClr val="ECEFF2"/>
                    </a:solidFill>
                  </a:tcPr>
                </a:tc>
              </a:tr>
              <a:tr h="57962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B1</a:t>
                      </a:r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 Database Self-Service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申請 / 權限 / 配額 / 備份 / 監控 / 退場的完整生命週期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S0 起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把一次性 PoC 轉為</a:t>
                      </a:r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長期平台能力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57962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B2</a:t>
                      </a:r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 DB 服務申請 CI/CD 平台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RD Self-Managed 流程串接（</a:t>
                      </a:r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不填 Jira 單</a:t>
                      </a:r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即可滿足需求）+ Deploy on K8s 流程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S0 起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縮短交付週期，降低重複申請與維運成本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</a:tr>
              <a:tr h="57962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B3</a:t>
                      </a:r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 EDC 資源活化（A/S 資料端）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A/S 的 standby 資料端置於 EDC，供商務邏輯讀取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S1 起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把 </a:t>
                      </a:r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DR 備援資源轉成有產出的資源</a:t>
                      </a:r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；先挑可移至 EDC 持續運作的定期批次或低風險服務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57962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B4</a:t>
                      </a:r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 Observability / 效能分析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以 observability data 做效能分析與容量規劃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S0 起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B1 的前置能力；讓</a:t>
                      </a:r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服務恢復時間可量測</a:t>
                      </a:r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而非只有叢集健康燈號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94944" y="5257165"/>
            <a:ext cx="10929823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C0392B"/>
                </a:solidFill>
                <a:latin typeface="Microsoft JhengHei"/>
              </a:rPr>
              <a:t>B3 是 EDC 活化議題的直接出口</a:t>
            </a:r>
            <a:r>
              <a:rPr sz="1600" b="0">
                <a:solidFill>
                  <a:srgbClr val="8A96A3"/>
                </a:solidFill>
                <a:latin typeface="Microsoft JhengHei"/>
              </a:rPr>
              <a:t> —— 不需要等到 A/A，A/S 的資料端就已經可以承載讀取型商務邏輯。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257165"/>
            <a:ext cx="26000" cy="279400"/>
          </a:xfrm>
          <a:prstGeom prst="rect">
            <a:avLst/>
          </a:prstGeom>
          <a:solidFill>
            <a:srgbClr val="D6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8A96A3"/>
                </a:solidFill>
                <a:latin typeface="Microsoft JhengHei"/>
              </a:rPr>
              <a:t>多寫多讀混合雲：Y25 結案 × Y26 PoC 決策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9107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8A96A3"/>
                </a:solidFill>
                <a:latin typeface="Microsoft JhengHei"/>
              </a:rPr>
              <a:t>2026-08-27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8A96A3"/>
                </a:solidFill>
                <a:latin typeface="Microsoft JhengHei"/>
              </a:rP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>
                <a:solidFill>
                  <a:srgbClr val="1A2B3C"/>
                </a:solidFill>
                <a:latin typeface="Microsoft JhengHei"/>
              </a:rPr>
              <a:t>路線｜維運後勤軌：能力缺口 → 協作需求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709928"/>
            <a:ext cx="11057839" cy="301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0">
                <a:solidFill>
                  <a:srgbClr val="22303F"/>
                </a:solidFill>
                <a:latin typeface="Microsoft JhengHei"/>
              </a:rPr>
              <a:t>TiDB 原廠（PingCAP）對接已完成，</a:t>
            </a:r>
            <a:r>
              <a:rPr sz="1900" b="1">
                <a:solidFill>
                  <a:srgbClr val="C0392B"/>
                </a:solidFill>
                <a:latin typeface="Microsoft JhengHei"/>
              </a:rPr>
              <a:t>尚無強需求進行採購</a:t>
            </a:r>
            <a:r>
              <a:rPr sz="1900" b="0">
                <a:solidFill>
                  <a:srgbClr val="22303F"/>
                </a:solidFill>
                <a:latin typeface="Microsoft JhengHei"/>
              </a:rPr>
              <a:t>，但建議先確立維運後勤支援協作方式。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2139569"/>
          <a:ext cx="11057839" cy="39276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5860"/>
                <a:gridCol w="1796784"/>
                <a:gridCol w="6035195"/>
              </a:tblGrid>
              <a:tr h="321818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A2B3C"/>
                          </a:solidFill>
                          <a:latin typeface="Microsoft JhengHei"/>
                        </a:rPr>
                        <a:t>能力缺口</a:t>
                      </a:r>
                    </a:p>
                  </a:txBody>
                  <a:tcPr marL="64008" marR="64008" marT="32004" marB="32004" anchor="ctr">
                    <a:solidFill>
                      <a:srgbClr val="EC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A2B3C"/>
                          </a:solidFill>
                          <a:latin typeface="Microsoft JhengHei"/>
                        </a:rPr>
                        <a:t>自控 / 原廠協作</a:t>
                      </a:r>
                    </a:p>
                  </a:txBody>
                  <a:tcPr marL="64008" marR="64008" marT="32004" marB="32004" anchor="ctr">
                    <a:solidFill>
                      <a:srgbClr val="EC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A2B3C"/>
                          </a:solidFill>
                          <a:latin typeface="Microsoft JhengHei"/>
                        </a:rPr>
                        <a:t>現況</a:t>
                      </a:r>
                    </a:p>
                  </a:txBody>
                  <a:tcPr marL="64008" marR="64008" marT="32004" marB="32004" anchor="ctr">
                    <a:solidFill>
                      <a:srgbClr val="ECEFF2"/>
                    </a:solidFill>
                  </a:tcPr>
                </a:tc>
              </a:tr>
              <a:tr h="32181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PITR / 備份還原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自控驗證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待測，S1 進入條件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32181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Online DDL 對前台負載影響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自控驗證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待測，S1 進入條件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</a:tr>
              <a:tr h="57962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SQL / ORM 相容性矩陣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原廠提供清單 + 自控驗證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原廠已列為 follow-up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32181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Self-Managed 訂閱方案細節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原廠待補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2026-06-11 會議提出，會後補充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</a:tr>
              <a:tr h="57962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隔離級術語對齊（RR / SI / Serializable）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原廠釐清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TiDB 無原生 SERIALIZABLE，設 </a:t>
                      </a:r>
                      <a:r>
                        <a:rPr sz="1400" b="0">
                          <a:solidFill>
                            <a:srgbClr val="22303F"/>
                          </a:solidFill>
                          <a:latin typeface="Consolas"/>
                        </a:rPr>
                        <a:t>tidb_skip_isolation_level_check</a:t>
                      </a:r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 後仍以 RR 行為執行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32181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MariaDB 10.4 / 10.11 相容性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原廠線下評估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已提出，待回覆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</a:tr>
              <a:tr h="57962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SLA / 事件升級管道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先談協作方式，未採購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24×7 中文、Premier S1 30 分鐘、台灣本地 SA 已到職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57962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跨雲連線方式 review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自控 + 原廠確認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PoC 走 GCP IAP tunnel；正式導入需 review VPC Peering / Private Link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8A96A3"/>
                </a:solidFill>
                <a:latin typeface="Microsoft JhengHei"/>
              </a:rPr>
              <a:t>多寫多讀混合雲：Y25 結案 × Y26 PoC 決策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9107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8A96A3"/>
                </a:solidFill>
                <a:latin typeface="Microsoft JhengHei"/>
              </a:rPr>
              <a:t>2026-08-27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8A96A3"/>
                </a:solidFill>
                <a:latin typeface="Microsoft JhengHei"/>
              </a:rPr>
              <a:t>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468880"/>
            <a:ext cx="11057839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1A2B3C"/>
                </a:solidFill>
                <a:latin typeface="Microsoft JhengHei"/>
              </a:rPr>
              <a:t>採用 TiDB 的分階段實施辦法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8A96A3"/>
                </a:solidFill>
                <a:latin typeface="Microsoft JhengHei"/>
              </a:rPr>
              <a:t>多寫多讀混合雲：Y25 結案 × Y26 PoC 決策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9107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8A96A3"/>
                </a:solidFill>
                <a:latin typeface="Microsoft JhengHei"/>
              </a:rPr>
              <a:t>2026-08-27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8A96A3"/>
                </a:solidFill>
                <a:latin typeface="Microsoft JhengHei"/>
              </a:rPr>
              <a:t>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>
                <a:solidFill>
                  <a:srgbClr val="1A2B3C"/>
                </a:solidFill>
                <a:latin typeface="Microsoft JhengHei"/>
              </a:rPr>
              <a:t>實施｜Phase 0：技術門檻補件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709928"/>
          <a:ext cx="11057839" cy="42511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4192"/>
                <a:gridCol w="10663647"/>
              </a:tblGrid>
              <a:tr h="579628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A2B3C"/>
                          </a:solidFill>
                          <a:latin typeface="Microsoft JhengHei"/>
                        </a:rPr>
                        <a:t>項目</a:t>
                      </a:r>
                    </a:p>
                  </a:txBody>
                  <a:tcPr marL="64008" marR="64008" marT="32004" marB="32004" anchor="ctr">
                    <a:solidFill>
                      <a:srgbClr val="EC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A2B3C"/>
                          </a:solidFill>
                          <a:latin typeface="Microsoft JhengHei"/>
                        </a:rPr>
                        <a:t>內容</a:t>
                      </a:r>
                    </a:p>
                  </a:txBody>
                  <a:tcPr marL="64008" marR="64008" marT="32004" marB="32004" anchor="ctr">
                    <a:solidFill>
                      <a:srgbClr val="ECEFF2"/>
                    </a:solidFill>
                  </a:tcPr>
                </a:tc>
              </a:tr>
              <a:tr h="579628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目標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補齊決策表 E 大類的三個「待測」項，讓 TiDB 具備可進入生產的完整技術檔案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837438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工作項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① </a:t>
                      </a:r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相容性矩陣</a:t>
                      </a:r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：以現行應用實際使用的 SQL 語法子集、常用 ORM、既有備份/監控工具鏈跑相容性驗證&lt;br&gt;② </a:t>
                      </a:r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PITR / 備份還原</a:t>
                      </a:r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：定義 RPO 目標，實跑全量+增量還原演練&lt;br&gt;③ </a:t>
                      </a:r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Online DDL</a:t>
                      </a:r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：對含資料大表執行 </a:t>
                      </a:r>
                      <a:r>
                        <a:rPr sz="1400" b="0">
                          <a:solidFill>
                            <a:srgbClr val="22303F"/>
                          </a:solidFill>
                          <a:latin typeface="Consolas"/>
                        </a:rPr>
                        <a:t>ADD COLUMN</a:t>
                      </a:r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 / </a:t>
                      </a:r>
                      <a:r>
                        <a:rPr sz="1400" b="0">
                          <a:solidFill>
                            <a:srgbClr val="22303F"/>
                          </a:solidFill>
                          <a:latin typeface="Consolas"/>
                        </a:rPr>
                        <a:t>ADD INDEX</a:t>
                      </a:r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，量測對前台負載的 tpmC/p99 影響幅度與持續時間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</a:tr>
              <a:tr h="837438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原廠協作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索取 MySQL 相容性清單、Self-Managed 訂閱方案細節、隔離級術語對齊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579628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驗收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三項皆有可追溯的測試結果；相容性矩陣明列不支援的 SQL 特性與 workaround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</a:tr>
              <a:tr h="837438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退場條件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若相容性矩陣顯示現行應用需大幅改寫，</a:t>
                      </a:r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回到決策表重新評估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8A96A3"/>
                </a:solidFill>
                <a:latin typeface="Microsoft JhengHei"/>
              </a:rPr>
              <a:t>多寫多讀混合雲：Y25 結案 × Y26 PoC 決策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9107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8A96A3"/>
                </a:solidFill>
                <a:latin typeface="Microsoft JhengHei"/>
              </a:rPr>
              <a:t>2026-08-27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8A96A3"/>
                </a:solidFill>
                <a:latin typeface="Microsoft JhengHei"/>
              </a:rPr>
              <a:t>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>
                <a:solidFill>
                  <a:srgbClr val="1A2B3C"/>
                </a:solidFill>
                <a:latin typeface="Microsoft JhengHei"/>
              </a:rPr>
              <a:t>實施｜Phase 1：代表性應用 Pilot（S0）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709928"/>
          <a:ext cx="11057839" cy="32839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5914"/>
                <a:gridCol w="10541925"/>
              </a:tblGrid>
              <a:tr h="321818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A2B3C"/>
                          </a:solidFill>
                          <a:latin typeface="Microsoft JhengHei"/>
                        </a:rPr>
                        <a:t>項目</a:t>
                      </a:r>
                    </a:p>
                  </a:txBody>
                  <a:tcPr marL="64008" marR="64008" marT="32004" marB="32004" anchor="ctr">
                    <a:solidFill>
                      <a:srgbClr val="EC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A2B3C"/>
                          </a:solidFill>
                          <a:latin typeface="Microsoft JhengHei"/>
                        </a:rPr>
                        <a:t>內容</a:t>
                      </a:r>
                    </a:p>
                  </a:txBody>
                  <a:tcPr marL="64008" marR="64008" marT="32004" marB="32004" anchor="ctr">
                    <a:solidFill>
                      <a:srgbClr val="ECEFF2"/>
                    </a:solidFill>
                  </a:tcPr>
                </a:tc>
              </a:tr>
              <a:tr h="321818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目標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在 IDC Only 架構下，導入一個代表性 MySQL 應用或定期批次，取得應用、維運與服務生命週期證據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579628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選題原則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可驗證隔離與恢復的代表性服務；或故障影響範圍明確的服務；或可移至 EDC 持續運作的定期批次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</a:tr>
              <a:tr h="321818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協作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由 TSD 指派應用 owner，提供真實 SQL / ORM / Driver / Transaction 與改造限制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579628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同步啟動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B1 Self-Service</a:t>
                      </a:r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、</a:t>
                      </a:r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B2 CI/CD 平台</a:t>
                      </a:r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、</a:t>
                      </a:r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B4 Observability</a:t>
                      </a:r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 三條 branch 的最小可用版本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</a:tr>
              <a:tr h="579628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驗收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① 定義使用者可感知的恢復驗收點（</a:t>
                      </a:r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以服務恢復時間取代單一叢集健康燈號</a:t>
                      </a:r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）&lt;br&gt;② </a:t>
                      </a:r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一致性優先</a:t>
                      </a:r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：先驗證一致性、拒寫與恢復，不以持續寫入為唯一目標&lt;br&gt;③ Self-Service 走完一次完整申請→交付→退場流程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579628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退場條件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Pilot 效益無法量化，或應用改造量超出 owner 可承擔範圍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8A96A3"/>
                </a:solidFill>
                <a:latin typeface="Microsoft JhengHei"/>
              </a:rPr>
              <a:t>多寫多讀混合雲：Y25 結案 × Y26 PoC 決策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9107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8A96A3"/>
                </a:solidFill>
                <a:latin typeface="Microsoft JhengHei"/>
              </a:rPr>
              <a:t>2026-08-27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8A96A3"/>
                </a:solidFill>
                <a:latin typeface="Microsoft JhengHei"/>
              </a:rPr>
              <a:t>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>
                <a:solidFill>
                  <a:srgbClr val="1A2B3C"/>
                </a:solidFill>
                <a:latin typeface="Microsoft JhengHei"/>
              </a:rPr>
              <a:t>實施｜Phase 2：跨區 A/S（S1）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709928"/>
          <a:ext cx="11057839" cy="2446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5687"/>
                <a:gridCol w="10352152"/>
              </a:tblGrid>
              <a:tr h="321818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A2B3C"/>
                          </a:solidFill>
                          <a:latin typeface="Microsoft JhengHei"/>
                        </a:rPr>
                        <a:t>項目</a:t>
                      </a:r>
                    </a:p>
                  </a:txBody>
                  <a:tcPr marL="64008" marR="64008" marT="32004" marB="32004" anchor="ctr">
                    <a:solidFill>
                      <a:srgbClr val="EC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A2B3C"/>
                          </a:solidFill>
                          <a:latin typeface="Microsoft JhengHei"/>
                        </a:rPr>
                        <a:t>內容</a:t>
                      </a:r>
                    </a:p>
                  </a:txBody>
                  <a:tcPr marL="64008" marR="64008" marT="32004" marB="32004" anchor="ctr">
                    <a:solidFill>
                      <a:srgbClr val="ECEFF2"/>
                    </a:solidFill>
                  </a:tcPr>
                </a:tc>
              </a:tr>
              <a:tr h="321818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目標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IDC + EDC，leader/lease 固定 IDC，EDC 持副本，流量只打 IDC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321818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前置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Phase 0 三項補測通過；跨區專線可用性確認（PingCAP 建議副本間延遲 ~10 ms）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</a:tr>
              <a:tr h="579628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工作項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① placement 設定與 gate 驗證&lt;br&gt;② </a:t>
                      </a:r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副本存在 gate</a:t>
                      </a:r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：逐 region 驗證資料確實到達 EDC，</a:t>
                      </a:r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不能只驗設定存在</a:t>
                      </a:r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&lt;br&gt;③ 切換與回滾演練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579628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同步啟動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B3 EDC 資源活化</a:t>
                      </a:r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 —— standby 資料端供商務邏輯讀取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</a:tr>
              <a:tr h="321818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驗收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placement gate + 副本存在 gate 皆通過；切換演練可回退；EDC 端資料可供讀取型商務邏輯使用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94944" y="4375912"/>
            <a:ext cx="10929823" cy="55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C0392B"/>
                </a:solidFill>
                <a:latin typeface="Microsoft JhengHei"/>
              </a:rPr>
              <a:t>關鍵教訓</a:t>
            </a:r>
            <a:r>
              <a:rPr sz="1600" b="0">
                <a:solidFill>
                  <a:srgbClr val="8A96A3"/>
                </a:solidFill>
                <a:latin typeface="Microsoft JhengHei"/>
              </a:rPr>
              <a:t>：Y26 PoC 曾發生「設定存在但副本從未實體化」的效度事件 —— zone config 自相矛盾、read-replica 缺 placement_uuid，且探測因缺 DB client </a:t>
            </a:r>
            <a:r>
              <a:rPr sz="1600" b="1">
                <a:solidFill>
                  <a:srgbClr val="C0392B"/>
                </a:solidFill>
                <a:latin typeface="Microsoft JhengHei"/>
              </a:rPr>
              <a:t>靜默通過</a:t>
            </a:r>
            <a:r>
              <a:rPr sz="1600" b="0">
                <a:solidFill>
                  <a:srgbClr val="8A96A3"/>
                </a:solidFill>
                <a:latin typeface="Microsoft JhengHei"/>
              </a:rPr>
              <a:t>。</a:t>
            </a:r>
            <a:r>
              <a:rPr sz="1600" b="1">
                <a:solidFill>
                  <a:srgbClr val="C0392B"/>
                </a:solidFill>
                <a:latin typeface="Microsoft JhengHei"/>
              </a:rPr>
              <a:t>gate 必須 fail-closed，不可只驗設定。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4375912"/>
            <a:ext cx="26000" cy="558800"/>
          </a:xfrm>
          <a:prstGeom prst="rect">
            <a:avLst/>
          </a:prstGeom>
          <a:solidFill>
            <a:srgbClr val="D6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8A96A3"/>
                </a:solidFill>
                <a:latin typeface="Microsoft JhengHei"/>
              </a:rPr>
              <a:t>多寫多讀混合雲：Y25 結案 × Y26 PoC 決策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9107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8A96A3"/>
                </a:solidFill>
                <a:latin typeface="Microsoft JhengHei"/>
              </a:rPr>
              <a:t>2026-08-27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8A96A3"/>
                </a:solidFill>
                <a:latin typeface="Microsoft JhengHei"/>
              </a:rPr>
              <a:t>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>
                <a:solidFill>
                  <a:srgbClr val="1A2B3C"/>
                </a:solidFill>
                <a:latin typeface="Microsoft JhengHei"/>
              </a:rPr>
              <a:t>實施｜Phase 3：跨區就近讀 A/A-RO（S2）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709928"/>
          <a:ext cx="11057839" cy="1866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5421"/>
                <a:gridCol w="10402418"/>
              </a:tblGrid>
              <a:tr h="321818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A2B3C"/>
                          </a:solidFill>
                          <a:latin typeface="Microsoft JhengHei"/>
                        </a:rPr>
                        <a:t>項目</a:t>
                      </a:r>
                    </a:p>
                  </a:txBody>
                  <a:tcPr marL="64008" marR="64008" marT="32004" marB="32004" anchor="ctr">
                    <a:solidFill>
                      <a:srgbClr val="EC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A2B3C"/>
                          </a:solidFill>
                          <a:latin typeface="Microsoft JhengHei"/>
                        </a:rPr>
                        <a:t>內容</a:t>
                      </a:r>
                    </a:p>
                  </a:txBody>
                  <a:tcPr marL="64008" marR="64008" marT="32004" marB="32004" anchor="ctr">
                    <a:solidFill>
                      <a:srgbClr val="ECEFF2"/>
                    </a:solidFill>
                  </a:tcPr>
                </a:tc>
              </a:tr>
              <a:tr h="321818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目標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EDC 端就近讀，寫入仍集中 IDC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321818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前置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Phase 2 驗收通過；</a:t>
                      </a:r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Failover 等價口徑重測完成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</a:tr>
              <a:tr h="579628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工作項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① 就近讀路由設定與 near-read probe&lt;br&gt;② staleness 量測與業務可接受範圍定義&lt;br&gt;③ fallback 機制驗證&lt;br&gt;④ 跨區分斷演練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321818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驗收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near-read probe 全數通過；staleness 在業務可接受範圍；分斷後可自動恢復或有明確人工程序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94944" y="3796284"/>
            <a:ext cx="10929823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C0392B"/>
                </a:solidFill>
                <a:latin typeface="Microsoft JhengHei"/>
              </a:rPr>
              <a:t>關鍵教訓</a:t>
            </a:r>
            <a:r>
              <a:rPr sz="1600" b="0">
                <a:solidFill>
                  <a:srgbClr val="8A96A3"/>
                </a:solidFill>
                <a:latin typeface="Microsoft JhengHei"/>
              </a:rPr>
              <a:t>：Y26 PoC 首輪 A/A-RO </a:t>
            </a:r>
            <a:r>
              <a:rPr sz="1600" b="1">
                <a:solidFill>
                  <a:srgbClr val="C0392B"/>
                </a:solidFill>
                <a:latin typeface="Microsoft JhengHei"/>
              </a:rPr>
              <a:t>近讀未生效</a:t>
            </a:r>
            <a:r>
              <a:rPr sz="1600" b="0">
                <a:solidFill>
                  <a:srgbClr val="8A96A3"/>
                </a:solidFill>
                <a:latin typeface="Microsoft JhengHei"/>
              </a:rPr>
              <a:t> —— 「設定存在」不足以證明就近讀，</a:t>
            </a:r>
            <a:r>
              <a:rPr sz="1600" b="1">
                <a:solidFill>
                  <a:srgbClr val="C0392B"/>
                </a:solidFill>
                <a:latin typeface="Microsoft JhengHei"/>
              </a:rPr>
              <a:t>必須有執行面證據</a:t>
            </a:r>
            <a:r>
              <a:rPr sz="1600" b="0">
                <a:solidFill>
                  <a:srgbClr val="8A96A3"/>
                </a:solidFill>
                <a:latin typeface="Microsoft JhengHei"/>
              </a:rPr>
              <a:t>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3796284"/>
            <a:ext cx="26000" cy="279400"/>
          </a:xfrm>
          <a:prstGeom prst="rect">
            <a:avLst/>
          </a:prstGeom>
          <a:solidFill>
            <a:srgbClr val="D6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8A96A3"/>
                </a:solidFill>
                <a:latin typeface="Microsoft JhengHei"/>
              </a:rPr>
              <a:t>多寫多讀混合雲：Y25 結案 × Y26 PoC 決策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9107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8A96A3"/>
                </a:solidFill>
                <a:latin typeface="Microsoft JhengHei"/>
              </a:rPr>
              <a:t>2026-08-27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8A96A3"/>
                </a:solidFill>
                <a:latin typeface="Microsoft JhengHei"/>
              </a:rPr>
              <a:t>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>
                <a:solidFill>
                  <a:srgbClr val="1A2B3C"/>
                </a:solidFill>
                <a:latin typeface="Microsoft JhengHei"/>
              </a:rPr>
              <a:t>實施｜Failover 口徑統一（跨 Phase 的方法論前置）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709928"/>
            <a:ext cx="11057839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>
                <a:solidFill>
                  <a:srgbClr val="22303F"/>
                </a:solidFill>
                <a:latin typeface="Microsoft JhengHei"/>
              </a:rPr>
              <a:t>現行各家 Failover 數字口徑不等價，無法互相比較。</a:t>
            </a:r>
            <a:r>
              <a:rPr sz="1800" b="1">
                <a:solidFill>
                  <a:srgbClr val="C0392B"/>
                </a:solidFill>
                <a:latin typeface="Microsoft JhengHei"/>
              </a:rPr>
              <a:t>進入 Phase 2 前需先統一</a:t>
            </a:r>
            <a:r>
              <a:rPr sz="1800" b="0">
                <a:solidFill>
                  <a:srgbClr val="22303F"/>
                </a:solidFill>
                <a:latin typeface="Microsoft JhengHei"/>
              </a:rPr>
              <a:t>：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2123694"/>
          <a:ext cx="11057839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0250"/>
                <a:gridCol w="9197589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A2B3C"/>
                          </a:solidFill>
                          <a:latin typeface="Microsoft JhengHei"/>
                        </a:rPr>
                        <a:t>項目</a:t>
                      </a:r>
                    </a:p>
                  </a:txBody>
                  <a:tcPr marL="64008" marR="64008" marT="32004" marB="32004" anchor="ctr">
                    <a:solidFill>
                      <a:srgbClr val="EC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A2B3C"/>
                          </a:solidFill>
                          <a:latin typeface="Microsoft JhengHei"/>
                        </a:rPr>
                        <a:t>統一口徑</a:t>
                      </a:r>
                    </a:p>
                  </a:txBody>
                  <a:tcPr marL="64008" marR="64008" marT="32004" marB="32004" anchor="ctr">
                    <a:solidFill>
                      <a:srgbClr val="ECEFF2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Microsoft JhengHei"/>
                        </a:rPr>
                        <a:t>RTO 起點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303F"/>
                          </a:solidFill>
                          <a:latin typeface="Consolas"/>
                        </a:rPr>
                        <a:t>t_kill</a:t>
                      </a:r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（故障注入時點）到首次成功寫入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Microsoft JhengHei"/>
                        </a:rPr>
                        <a:t>觀測窗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禁止人工恢復介入的觀測窗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Microsoft JhengHei"/>
                        </a:rPr>
                        <a:t>探測位置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相同探測位置，同時涵蓋 IDC 側與 EDC 側 client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Microsoft JhengHei"/>
                        </a:rPr>
                        <a:t>RPO 驗證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由相同交易序列驗證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3861054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C0392B"/>
                </a:solidFill>
                <a:latin typeface="Microsoft JhengHei"/>
              </a:rPr>
              <a:t>為什麼要先統一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4263390"/>
          <a:ext cx="11057839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69844"/>
                <a:gridCol w="4487995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A2B3C"/>
                          </a:solidFill>
                          <a:latin typeface="Microsoft JhengHei"/>
                        </a:rPr>
                        <a:t>現況</a:t>
                      </a:r>
                    </a:p>
                  </a:txBody>
                  <a:tcPr marL="64008" marR="64008" marT="32004" marB="32004" anchor="ctr">
                    <a:solidFill>
                      <a:srgbClr val="EC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A2B3C"/>
                          </a:solidFill>
                          <a:latin typeface="Microsoft JhengHei"/>
                        </a:rPr>
                        <a:t>問題</a:t>
                      </a:r>
                    </a:p>
                  </a:txBody>
                  <a:tcPr marL="64008" marR="64008" marT="32004" marB="32004" anchor="ctr">
                    <a:solidFill>
                      <a:srgbClr val="ECEFF2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Galera G2 從 </a:t>
                      </a:r>
                      <a:r>
                        <a:rPr sz="1300" b="0">
                          <a:solidFill>
                            <a:srgbClr val="22303F"/>
                          </a:solidFill>
                          <a:latin typeface="Consolas"/>
                        </a:rPr>
                        <a:t>t_kill</a:t>
                      </a:r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 起算 = 22.2 s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兩者的故障注入、恢復流程及計時起點</a:t>
                      </a:r>
                      <a:r>
                        <a:rPr sz="1300" b="1">
                          <a:solidFill>
                            <a:srgbClr val="C0392B"/>
                          </a:solidFill>
                          <a:latin typeface="Microsoft JhengHei"/>
                        </a:rPr>
                        <a:t>都不等價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TiDB F2 從 </a:t>
                      </a:r>
                      <a:r>
                        <a:rPr sz="1300" b="0">
                          <a:solidFill>
                            <a:srgbClr val="22303F"/>
                          </a:solidFill>
                          <a:latin typeface="Consolas"/>
                        </a:rPr>
                        <a:t>t_restart</a:t>
                      </a:r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 起算 = 39–44 s（從 </a:t>
                      </a:r>
                      <a:r>
                        <a:rPr sz="1300" b="0">
                          <a:solidFill>
                            <a:srgbClr val="22303F"/>
                          </a:solidFill>
                          <a:latin typeface="Consolas"/>
                        </a:rPr>
                        <a:t>t_kill</a:t>
                      </a:r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 為 198–202 s）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直接比較秒數會得出錯誤的產品優劣判斷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YBDB 3.0 s / CRDB 7.0 s（另一套方法論）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三套口徑並存，無法形成單一 SLA 依據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8A96A3"/>
                </a:solidFill>
                <a:latin typeface="Microsoft JhengHei"/>
              </a:rPr>
              <a:t>多寫多讀混合雲：Y25 結案 × Y26 PoC 決策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9107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8A96A3"/>
                </a:solidFill>
                <a:latin typeface="Microsoft JhengHei"/>
              </a:rPr>
              <a:t>2026-08-27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8A96A3"/>
                </a:solidFill>
                <a:latin typeface="Microsoft JhengHei"/>
              </a:rPr>
              <a:t>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>
                <a:solidFill>
                  <a:srgbClr val="1A2B3C"/>
                </a:solidFill>
                <a:latin typeface="Microsoft JhengHei"/>
              </a:rPr>
              <a:t>實施｜條件式選項（不列入本輪排程）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709928"/>
          <a:ext cx="11057839" cy="1802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9370"/>
                <a:gridCol w="7448469"/>
              </a:tblGrid>
              <a:tr h="321818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A2B3C"/>
                          </a:solidFill>
                          <a:latin typeface="Microsoft JhengHei"/>
                        </a:rPr>
                        <a:t>選項</a:t>
                      </a:r>
                    </a:p>
                  </a:txBody>
                  <a:tcPr marL="64008" marR="64008" marT="32004" marB="32004" anchor="ctr">
                    <a:solidFill>
                      <a:srgbClr val="EC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A2B3C"/>
                          </a:solidFill>
                          <a:latin typeface="Microsoft JhengHei"/>
                        </a:rPr>
                        <a:t>觸發條件</a:t>
                      </a:r>
                    </a:p>
                  </a:txBody>
                  <a:tcPr marL="64008" marR="64008" marT="32004" marB="32004" anchor="ctr">
                    <a:solidFill>
                      <a:srgbClr val="ECEFF2"/>
                    </a:solidFill>
                  </a:tcPr>
                </a:tc>
              </a:tr>
              <a:tr h="57962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P-B × A/A（雙區同時寫）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業務明確提出雙區寫入需求，</a:t>
                      </a:r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且</a:t>
                      </a:r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非 DB 層阻礙（AA mode 不支援組件、分流 sticky、故障域數量、專線）解除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57962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PostgreSQL 路線</a:t>
                      </a:r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&lt;br&gt;（YugabyteDB / CockroachDB）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出現高關鍵度 PostgreSQL 應用或 AI 應用需求；或 TiDB 在 Phase 0 相容性矩陣中被證明不適配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</a:tr>
              <a:tr h="32181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PXC / Galera 目標式對照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出現極低延遲優先的單寫場景，需要與 TiDB 做針對性比較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3695700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>
                <a:solidFill>
                  <a:srgbClr val="C0392B"/>
                </a:solidFill>
                <a:latin typeface="Microsoft JhengHei"/>
              </a:rPr>
              <a:t>推進順序總結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4098036"/>
            <a:ext cx="11057839" cy="932688"/>
          </a:xfrm>
          <a:prstGeom prst="rect">
            <a:avLst/>
          </a:prstGeom>
          <a:solidFill>
            <a:srgbClr val="F7F9FA"/>
          </a:solidFill>
          <a:ln>
            <a:solidFill>
              <a:srgbClr val="D6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4207764"/>
            <a:ext cx="10801807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500">
                <a:solidFill>
                  <a:srgbClr val="22303F"/>
                </a:solidFill>
                <a:latin typeface="Consolas"/>
              </a:rPr>
              <a:t>Phase 0 補件 ──▶ Phase 1 Pilot（S0）──▶ Phase 2 A/S（S1）──▶ Phase 3 A/A-RO（S2）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22303F"/>
                </a:solidFill>
                <a:latin typeface="Consolas"/>
              </a:rPr>
              <a:t>                      │                        │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22303F"/>
                </a:solidFill>
                <a:latin typeface="Consolas"/>
              </a:rPr>
              <a:t>                 B1 B2 B4 啟動              B3 EDC 活化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8A96A3"/>
                </a:solidFill>
                <a:latin typeface="Microsoft JhengHei"/>
              </a:rPr>
              <a:t>多寫多讀混合雲：Y25 結案 × Y26 PoC 決策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9107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8A96A3"/>
                </a:solidFill>
                <a:latin typeface="Microsoft JhengHei"/>
              </a:rPr>
              <a:t>2026-08-27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8A96A3"/>
                </a:solidFill>
                <a:latin typeface="Microsoft JhengHei"/>
              </a:rPr>
              <a:t>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468880"/>
            <a:ext cx="11057839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1A2B3C"/>
                </a:solidFill>
                <a:latin typeface="Microsoft JhengHei"/>
              </a:rPr>
              <a:t>附錄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8A96A3"/>
                </a:solidFill>
                <a:latin typeface="Microsoft JhengHei"/>
              </a:rPr>
              <a:t>多寫多讀混合雲：Y25 結案 × Y26 PoC 決策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9107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8A96A3"/>
                </a:solidFill>
                <a:latin typeface="Microsoft JhengHei"/>
              </a:rPr>
              <a:t>2026-08-27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8A96A3"/>
                </a:solidFill>
                <a:latin typeface="Microsoft JhengHei"/>
              </a:rPr>
              <a:t>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>
                <a:solidFill>
                  <a:srgbClr val="1A2B3C"/>
                </a:solidFill>
                <a:latin typeface="Microsoft JhengHei"/>
              </a:rPr>
              <a:t>附錄｜實測證據入口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709928"/>
          <a:ext cx="11057839" cy="3419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0623"/>
                <a:gridCol w="5637216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A2B3C"/>
                          </a:solidFill>
                          <a:latin typeface="Microsoft JhengHei"/>
                        </a:rPr>
                        <a:t>文件</a:t>
                      </a:r>
                    </a:p>
                  </a:txBody>
                  <a:tcPr marL="64008" marR="64008" marT="32004" marB="32004" anchor="ctr">
                    <a:solidFill>
                      <a:srgbClr val="EC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A2B3C"/>
                          </a:solidFill>
                          <a:latin typeface="Microsoft JhengHei"/>
                        </a:rPr>
                        <a:t>內容</a:t>
                      </a:r>
                    </a:p>
                  </a:txBody>
                  <a:tcPr marL="64008" marR="64008" marT="32004" marB="32004" anchor="ctr">
                    <a:solidFill>
                      <a:srgbClr val="ECEFF2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303F"/>
                          </a:solidFill>
                          <a:latin typeface="Consolas"/>
                        </a:rPr>
                        <a:t>poc/refresh/SLIDE-BRIEF-2026.md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本簡報底稿（完整版）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303F"/>
                          </a:solidFill>
                          <a:latin typeface="Consolas"/>
                        </a:rPr>
                        <a:t>poc/refresh/Y25_多寫多讀POC_摘要.md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Y25 Jira 42 單 + 2601 專案總結簡報彙整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303F"/>
                          </a:solidFill>
                          <a:latin typeface="Consolas"/>
                        </a:rPr>
                        <a:t>poc/refresh/DECISION-MATRIX.md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Y26 四家候選決策表與終點結論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303F"/>
                          </a:solidFill>
                          <a:latin typeface="Consolas"/>
                        </a:rPr>
                        <a:t>poc/DISTRIBUTED-DB-SCORING.md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四家評分表、加權總分、逐項證據連結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303F"/>
                          </a:solidFill>
                          <a:latin typeface="Consolas"/>
                        </a:rPr>
                        <a:t>poc/MILESTONES.md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專案歷程、可下／不可下結論、下一決策門檻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303F"/>
                          </a:solidFill>
                          <a:latin typeface="Consolas"/>
                        </a:rPr>
                        <a:t>poc/gitbook/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17 章結構化交付文件（09 跨區、16 決策框架）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303F"/>
                          </a:solidFill>
                          <a:latin typeface="Consolas"/>
                        </a:rPr>
                        <a:t>poc/results/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原始 </a:t>
                      </a:r>
                      <a:r>
                        <a:rPr sz="1300" b="0">
                          <a:solidFill>
                            <a:srgbClr val="22303F"/>
                          </a:solidFill>
                          <a:latin typeface="Consolas"/>
                        </a:rPr>
                        <a:t>summary.json</a:t>
                      </a:r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、pipeline-log、gate 證據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303F"/>
                          </a:solidFill>
                          <a:latin typeface="Consolas"/>
                        </a:rPr>
                        <a:t>poc/phase-crossregion/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各 placement × workload 結案報告、chaos/failover 比較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303F"/>
                          </a:solidFill>
                          <a:latin typeface="Consolas"/>
                        </a:rPr>
                        <a:t>poc/1_MeetingMinutes/0611-TiDBx104-summary.md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PingCAP 原廠對接紀錄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303F"/>
                          </a:solidFill>
                          <a:latin typeface="Consolas"/>
                        </a:rPr>
                        <a:t>poc/1_MeetingMinutes/2026-06-09-...-non-technical.md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303F"/>
                          </a:solidFill>
                          <a:latin typeface="Microsoft JhengHei"/>
                        </a:rPr>
                        <a:t>D1–D4 拍板紀錄（跨區階梯、TiDB 為主路線）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8A96A3"/>
                </a:solidFill>
                <a:latin typeface="Microsoft JhengHei"/>
              </a:rPr>
              <a:t>多寫多讀混合雲：Y25 結案 × Y26 PoC 決策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9107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8A96A3"/>
                </a:solidFill>
                <a:latin typeface="Microsoft JhengHei"/>
              </a:rPr>
              <a:t>2026-08-27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8A96A3"/>
                </a:solidFill>
                <a:latin typeface="Microsoft JhengHei"/>
              </a:rPr>
              <a:t>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>
                <a:solidFill>
                  <a:srgbClr val="1A2B3C"/>
                </a:solidFill>
                <a:latin typeface="Microsoft JhengHei"/>
              </a:rPr>
              <a:t>附錄｜數字判讀邊界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709928"/>
          <a:ext cx="11057839" cy="27683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4426"/>
                <a:gridCol w="9563413"/>
              </a:tblGrid>
              <a:tr h="321818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A2B3C"/>
                          </a:solidFill>
                          <a:latin typeface="Microsoft JhengHei"/>
                        </a:rPr>
                        <a:t>項目</a:t>
                      </a:r>
                    </a:p>
                  </a:txBody>
                  <a:tcPr marL="64008" marR="64008" marT="32004" marB="32004" anchor="ctr">
                    <a:solidFill>
                      <a:srgbClr val="ECEF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A2B3C"/>
                          </a:solidFill>
                          <a:latin typeface="Microsoft JhengHei"/>
                        </a:rPr>
                        <a:t>邊界</a:t>
                      </a:r>
                    </a:p>
                  </a:txBody>
                  <a:tcPr marL="64008" marR="64008" marT="32004" marB="32004" anchor="ctr">
                    <a:solidFill>
                      <a:srgbClr val="ECEFF2"/>
                    </a:solidFill>
                  </a:tcPr>
                </a:tc>
              </a:tr>
              <a:tr h="32181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Failover 秒數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各家計時起點不等價：Galera 從 </a:t>
                      </a:r>
                      <a:r>
                        <a:rPr sz="1400" b="0">
                          <a:solidFill>
                            <a:srgbClr val="22303F"/>
                          </a:solidFill>
                          <a:latin typeface="Consolas"/>
                        </a:rPr>
                        <a:t>t_kill</a:t>
                      </a:r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、TiDB 從 </a:t>
                      </a:r>
                      <a:r>
                        <a:rPr sz="1400" b="0">
                          <a:solidFill>
                            <a:srgbClr val="22303F"/>
                          </a:solidFill>
                          <a:latin typeface="Consolas"/>
                        </a:rPr>
                        <a:t>t_restart</a:t>
                      </a:r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。跨產品比較前須統一口徑重測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32181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跨區數據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屬 </a:t>
                      </a:r>
                      <a:r>
                        <a:rPr sz="1400" b="0">
                          <a:solidFill>
                            <a:srgbClr val="22303F"/>
                          </a:solidFill>
                          <a:latin typeface="Consolas"/>
                        </a:rPr>
                        <a:t>X-CROSS</a:t>
                      </a:r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 探索性 scope，與單區 </a:t>
                      </a:r>
                      <a:r>
                        <a:rPr sz="1400" b="0">
                          <a:solidFill>
                            <a:srgbClr val="22303F"/>
                          </a:solidFill>
                          <a:latin typeface="Consolas"/>
                        </a:rPr>
                        <a:t>S-BASE</a:t>
                      </a:r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 拓樸、節點數、quorum 皆不同，</a:t>
                      </a:r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不可互相換算 WAN penalty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</a:tr>
              <a:tr h="32181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Galera 0.49×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本測試刻意用 HAProxy round-robin 製造最大化多寫衝突；改單寫或以 shard key 分流結果可能截然不同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57962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Galera `Error 1213`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型態與「多主複寫衝突」及「InnoDB local deadlock」皆相容；無 wsrep counter delta 佐證無法區分佔比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</a:tr>
              <a:tr h="32181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加權總分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MySQL 組（A/B）與 PostgreSQL 組（C/D）驗證方法與協定皆不同，</a:t>
                      </a:r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兩組總分不可互相比較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57962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P-B TiDB 劣化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303F"/>
                          </a:solidFill>
                          <a:latin typeface="Microsoft JhengHei"/>
                        </a:rPr>
                        <a:t>與跨區鎖競爭假說相容，但各 profile 的 total offered concurrency 與 mix 不同，</a:t>
                      </a:r>
                      <a:r>
                        <a:rPr sz="1400" b="1">
                          <a:solidFill>
                            <a:srgbClr val="C0392B"/>
                          </a:solidFill>
                          <a:latin typeface="Microsoft JhengHei"/>
                        </a:rPr>
                        <a:t>非單變量對照，不可視為已確認根因</a:t>
                      </a:r>
                    </a:p>
                  </a:txBody>
                  <a:tcPr marL="64008" marR="64008" marT="32004" marB="32004" anchor="ctr"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