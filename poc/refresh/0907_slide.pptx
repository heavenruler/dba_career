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5" r:id="rId4"/>
    <p:sldId id="258" r:id="rId5"/>
    <p:sldId id="259" r:id="rId6"/>
    <p:sldId id="260" r:id="rId7"/>
    <p:sldId id="261" r:id="rId8"/>
    <p:sldId id="262" r:id="rId9"/>
    <p:sldId id="263" r:id="rId10"/>
    <p:sldId id="276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70"/>
    <p:restoredTop sz="78139"/>
  </p:normalViewPr>
  <p:slideViewPr>
    <p:cSldViewPr snapToGrid="0">
      <p:cViewPr varScale="1">
        <p:scale>
          <a:sx n="92" d="100"/>
          <a:sy n="92" d="100"/>
        </p:scale>
        <p:origin x="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D8F64-1286-13F4-469C-31C2D1949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0F236-3473-D401-EE98-2639BA348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BDD1B-2E95-C26B-5EF0-B057402D2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11F30-44AB-C40E-E62E-C1528D7B386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8344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624BA-66AE-8FE7-CEEE-AF777A0F0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C0569-F530-999E-44E4-1140A8B70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91363-86D0-13C9-4808-54744DAC1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31AC4-B15E-DFC3-210A-617303B4813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9967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439D8B8-B63C-4071-BE8E-126C92B16256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SSD 技術審查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FEFF06-757C-4EC1-A83F-1550E143A736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95250" cy="31908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F2D98B-55D4-4335-94C3-E3D052EA50CA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6381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多寫多讀</a:t>
            </a:r>
          </a:p>
          <a:p>
            <a:pPr algn="l">
              <a:buNone/>
              <a:def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混合雲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4D89D5-AFC8-4213-9CE7-F78E20D10A05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657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Y25 紀錄 Recap × Y26 PoC 決策彙整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83A587-CC04-494C-B368-E159B1245B15}"/>
              </a:ext>
            </a:extLst>
          </p:cNvPr>
          <p:cNvSpPr>
            <a:spLocks noGrp="1"/>
          </p:cNvSpPr>
          <p:nvPr/>
        </p:nvSpPr>
        <p:spPr>
          <a:xfrm>
            <a:off x="895350" y="4362450"/>
            <a:ext cx="781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  <a:defRPr sz="172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從雙活機房多寫目標，收斂為使用 TiDB 的 A/S → A/A (RO) 路線</a:t>
            </a:r>
          </a:p>
        </p:txBody>
      </p:sp>
    </p:spTree>
    <p:extLst>
      <p:ext uri="{BB962C8B-B14F-4D97-AF65-F5344CB8AC3E}">
        <p14:creationId xmlns:p14="http://schemas.microsoft.com/office/powerpoint/2010/main" val="157941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8BABCF7-8C8A-446D-9FD6-B1491B350024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lang="en-US"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Outline</a:t>
            </a:r>
            <a:endParaRPr sz="3000" b="1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cxnSp>
        <p:nvCxnSpPr>
          <p:cNvPr id="42" name="直線箭頭接點 26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7BF43C3-814F-49B6-B1F3-CC3ED237FD17}"/>
              </a:ext>
            </a:extLst>
          </p:cNvPr>
          <p:cNvSpPr>
            <a:spLocks noGrp="1"/>
          </p:cNvSpPr>
          <p:nvPr/>
        </p:nvSpPr>
        <p:spPr>
          <a:xfrm>
            <a:off x="840987" y="1647825"/>
            <a:ext cx="9810750" cy="38861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buFontTx/>
              <a:buChar char="-"/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400" b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今天要回答的三個問題</a:t>
            </a:r>
            <a:br>
              <a:rPr lang="en-US" altLang="zh-TW" sz="2400" b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</a:br>
            <a:endParaRPr lang="en-US" altLang="zh-TW" b="1" dirty="0">
              <a:solidFill>
                <a:srgbClr val="0F172A"/>
              </a:solidFill>
              <a:latin typeface="PingFang TC"/>
              <a:ea typeface="PingFang TC"/>
              <a:cs typeface="PingFang TC"/>
            </a:endParaRPr>
          </a:p>
          <a:p>
            <a:pPr marL="800100" lvl="1" indent="-342900">
              <a:buFontTx/>
              <a:buChar char="-"/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  <a:t>為什麼目標從 </a:t>
            </a:r>
            <a:r>
              <a:rPr 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  <a:t>A/A </a:t>
            </a:r>
            <a:r>
              <a:rPr lang="zh-TW" alt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  <a:t>調整為 </a:t>
            </a:r>
            <a:r>
              <a:rPr 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  <a:t>A/S → A/A (RO)？</a:t>
            </a:r>
            <a:br>
              <a:rPr 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</a:b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釐清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Y25 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既有成果與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Y26 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實測限制。</a:t>
            </a:r>
            <a:br>
              <a:rPr lang="en-US" altLang="zh-TW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</a:br>
            <a:endParaRPr lang="en-US" b="1" dirty="0">
              <a:solidFill>
                <a:schemeClr val="accent6">
                  <a:lumMod val="50000"/>
                </a:schemeClr>
              </a:solidFill>
              <a:latin typeface="PingFang TC"/>
              <a:ea typeface="PingFang TC"/>
              <a:cs typeface="PingFang TC"/>
            </a:endParaRPr>
          </a:p>
          <a:p>
            <a:pPr marL="800100" lvl="1" indent="-342900">
              <a:buFontTx/>
              <a:buChar char="-"/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  <a:t>各資料庫適合什麼應用情境？</a:t>
            </a:r>
            <a:br>
              <a:rPr lang="en-US" altLang="zh-TW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</a:b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依協定相容性、延遲、擴展、可用性與維運成本分群判斷。</a:t>
            </a:r>
            <a:br>
              <a:rPr lang="en-US" altLang="zh-TW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</a:br>
            <a:endParaRPr lang="en-US" b="1" dirty="0">
              <a:solidFill>
                <a:schemeClr val="accent6">
                  <a:lumMod val="50000"/>
                </a:schemeClr>
              </a:solidFill>
              <a:latin typeface="PingFang TC"/>
              <a:ea typeface="PingFang TC"/>
              <a:cs typeface="PingFang TC"/>
            </a:endParaRPr>
          </a:p>
          <a:p>
            <a:pPr marL="800100" lvl="1" indent="-342900">
              <a:buFontTx/>
              <a:buChar char="-"/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  <a:t>下一步如何落地？</a:t>
            </a:r>
            <a:br>
              <a:rPr lang="en-US" altLang="zh-TW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</a:b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以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TiDB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為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MySQL 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相容主線，依序完成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Phase 0、Pilot、A/S 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與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A/A (</a:t>
            </a:r>
            <a:r>
              <a:rPr lang="en-US" altLang="zh-TW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RO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) 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驗收。</a:t>
            </a:r>
            <a:endParaRPr lang="en-US" b="1" dirty="0">
              <a:solidFill>
                <a:schemeClr val="accent6">
                  <a:lumMod val="50000"/>
                </a:schemeClr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AD1FA46-29ED-3C49-7306-CF3F72BD2EAC}"/>
              </a:ext>
            </a:extLst>
          </p:cNvPr>
          <p:cNvSpPr>
            <a:spLocks noGrp="1"/>
          </p:cNvSpPr>
          <p:nvPr/>
        </p:nvSpPr>
        <p:spPr>
          <a:xfrm>
            <a:off x="495300" y="5095875"/>
            <a:ext cx="10744200" cy="8191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198318E-C9A3-1492-6C68-15DB4A368CBF}"/>
              </a:ext>
            </a:extLst>
          </p:cNvPr>
          <p:cNvSpPr>
            <a:spLocks noGrp="1"/>
          </p:cNvSpPr>
          <p:nvPr/>
        </p:nvSpPr>
        <p:spPr>
          <a:xfrm>
            <a:off x="762000" y="5314950"/>
            <a:ext cx="1022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18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從「技術能不能做」轉向「業務是否需要、應用是否適配、投入是否</a:t>
            </a:r>
            <a:r>
              <a:rPr lang="zh-TW" altLang="en-US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值得」。</a:t>
            </a:r>
            <a:endParaRPr sz="1800" b="1" dirty="0">
              <a:solidFill>
                <a:srgbClr val="2563EB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1314567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BF6B0-B754-E4ED-EEDE-038FCEF76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6013AB3-CF68-3D2E-EB47-F53975A1F876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Y25 → Y26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F65EF5-4EC0-4531-39C8-67B5EC978AC5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大事紀</a:t>
            </a:r>
          </a:p>
        </p:txBody>
      </p:sp>
      <p:cxnSp>
        <p:nvCxnSpPr>
          <p:cNvPr id="42" name="直線箭頭接點 26">
            <a:extLst>
              <a:ext uri="{FF2B5EF4-FFF2-40B4-BE49-F238E27FC236}">
                <a16:creationId xmlns:a16="http://schemas.microsoft.com/office/drawing/2014/main" id="{C0508AE1-138A-0A93-58FF-26B2443D9EB4}"/>
              </a:ext>
            </a:extLst>
          </p:cNvPr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E2DFC3-8664-B69A-9E7E-A93336474060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cxnSp>
        <p:nvCxnSpPr>
          <p:cNvPr id="44" name="直線箭頭接點 28">
            <a:extLst>
              <a:ext uri="{FF2B5EF4-FFF2-40B4-BE49-F238E27FC236}">
                <a16:creationId xmlns:a16="http://schemas.microsoft.com/office/drawing/2014/main" id="{E8332C05-C3DE-98AE-3BDB-C3C651CE2130}"/>
              </a:ext>
            </a:extLst>
          </p:cNvPr>
          <p:cNvCxnSpPr/>
          <p:nvPr/>
        </p:nvCxnSpPr>
        <p:spPr>
          <a:xfrm>
            <a:off x="857250" y="3314700"/>
            <a:ext cx="1028700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</a:ln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9D701EB8-1718-77BD-F153-EA86A70B1786}"/>
              </a:ext>
            </a:extLst>
          </p:cNvPr>
          <p:cNvSpPr>
            <a:spLocks noGrp="1"/>
          </p:cNvSpPr>
          <p:nvPr/>
        </p:nvSpPr>
        <p:spPr>
          <a:xfrm>
            <a:off x="1143000" y="3219450"/>
            <a:ext cx="171450" cy="1714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F03C6E-36D5-EF95-95B3-A3948B82F36A}"/>
              </a:ext>
            </a:extLst>
          </p:cNvPr>
          <p:cNvSpPr>
            <a:spLocks noGrp="1"/>
          </p:cNvSpPr>
          <p:nvPr/>
        </p:nvSpPr>
        <p:spPr>
          <a:xfrm>
            <a:off x="99060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2024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B86C44-52AE-E8BE-98E8-76E28CE1140C}"/>
              </a:ext>
            </a:extLst>
          </p:cNvPr>
          <p:cNvSpPr>
            <a:spLocks noGrp="1"/>
          </p:cNvSpPr>
          <p:nvPr/>
        </p:nvSpPr>
        <p:spPr>
          <a:xfrm>
            <a:off x="99060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先降低單點影響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379AE5-BEEE-8E3C-0E50-F975AF0C9EAB}"/>
              </a:ext>
            </a:extLst>
          </p:cNvPr>
          <p:cNvSpPr>
            <a:spLocks noGrp="1"/>
          </p:cNvSpPr>
          <p:nvPr/>
        </p:nvSpPr>
        <p:spPr>
          <a:xfrm>
            <a:off x="99060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Service Mesh 與 AC 雲地部署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資料一寫多讀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A475F6-ABDE-278B-42DE-85576199AE68}"/>
              </a:ext>
            </a:extLst>
          </p:cNvPr>
          <p:cNvSpPr>
            <a:spLocks noGrp="1"/>
          </p:cNvSpPr>
          <p:nvPr/>
        </p:nvSpPr>
        <p:spPr>
          <a:xfrm>
            <a:off x="3714750" y="3219450"/>
            <a:ext cx="171450" cy="1714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9FEDFF-6730-8491-982A-54F8FAC7CABF}"/>
              </a:ext>
            </a:extLst>
          </p:cNvPr>
          <p:cNvSpPr>
            <a:spLocks noGrp="1"/>
          </p:cNvSpPr>
          <p:nvPr/>
        </p:nvSpPr>
        <p:spPr>
          <a:xfrm>
            <a:off x="356235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Y25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2D16E5-425C-39DB-2FC9-35D9D9A1C8A9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驗證跨雲組件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1443DA-EBFC-FE26-EEC2-EB08BC68E752}"/>
              </a:ext>
            </a:extLst>
          </p:cNvPr>
          <p:cNvSpPr>
            <a:spLocks noGrp="1"/>
          </p:cNvSpPr>
          <p:nvPr/>
        </p:nvSpPr>
        <p:spPr>
          <a:xfrm>
            <a:off x="356235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Cloudflare LB 通過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ac-api 測至 STG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F09222-C04B-2A99-3CA7-FBBA70D56910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171450" cy="1714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AC2E65-DAF6-AEB8-820B-56727F9A1CAF}"/>
              </a:ext>
            </a:extLst>
          </p:cNvPr>
          <p:cNvSpPr>
            <a:spLocks noGrp="1"/>
          </p:cNvSpPr>
          <p:nvPr/>
        </p:nvSpPr>
        <p:spPr>
          <a:xfrm>
            <a:off x="613410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Y26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3820C4D-1E36-6CF1-8586-F5F3E3FF36C5}"/>
              </a:ext>
            </a:extLst>
          </p:cNvPr>
          <p:cNvSpPr>
            <a:spLocks noGrp="1"/>
          </p:cNvSpPr>
          <p:nvPr/>
        </p:nvSpPr>
        <p:spPr>
          <a:xfrm>
            <a:off x="613410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四家資料庫實測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86AD61-AAA4-9C11-FFA9-C2066511AB83}"/>
              </a:ext>
            </a:extLst>
          </p:cNvPr>
          <p:cNvSpPr>
            <a:spLocks noGrp="1"/>
          </p:cNvSpPr>
          <p:nvPr/>
        </p:nvSpPr>
        <p:spPr>
          <a:xfrm>
            <a:off x="613410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S-BASE、K8s、X-CROSS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Chaos／Failover／Galera 對照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B6471AF-F199-433B-72C5-14AC11E1EB9B}"/>
              </a:ext>
            </a:extLst>
          </p:cNvPr>
          <p:cNvSpPr>
            <a:spLocks noGrp="1"/>
          </p:cNvSpPr>
          <p:nvPr/>
        </p:nvSpPr>
        <p:spPr>
          <a:xfrm>
            <a:off x="8858250" y="3219450"/>
            <a:ext cx="171450" cy="1714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AD1449-8B09-112C-A722-37DD5CF553A3}"/>
              </a:ext>
            </a:extLst>
          </p:cNvPr>
          <p:cNvSpPr>
            <a:spLocks noGrp="1"/>
          </p:cNvSpPr>
          <p:nvPr/>
        </p:nvSpPr>
        <p:spPr>
          <a:xfrm>
            <a:off x="870585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NEXT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7A5C881-F944-021C-1E2F-7792331C83C7}"/>
              </a:ext>
            </a:extLst>
          </p:cNvPr>
          <p:cNvSpPr>
            <a:spLocks noGrp="1"/>
          </p:cNvSpPr>
          <p:nvPr/>
        </p:nvSpPr>
        <p:spPr>
          <a:xfrm>
            <a:off x="870585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分階段交付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CA8737F-C46E-5947-C749-F3F9431DBF97}"/>
              </a:ext>
            </a:extLst>
          </p:cNvPr>
          <p:cNvSpPr>
            <a:spLocks noGrp="1"/>
          </p:cNvSpPr>
          <p:nvPr/>
        </p:nvSpPr>
        <p:spPr>
          <a:xfrm>
            <a:off x="870585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Phase 0 → S0 Pilot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→ S1 A/S → S2 A/A-RO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B7F5A0-D746-F71D-7E7C-E399F5745282}"/>
              </a:ext>
            </a:extLst>
          </p:cNvPr>
          <p:cNvSpPr>
            <a:spLocks noGrp="1"/>
          </p:cNvSpPr>
          <p:nvPr/>
        </p:nvSpPr>
        <p:spPr>
          <a:xfrm>
            <a:off x="857250" y="5324475"/>
            <a:ext cx="10287000" cy="6286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1C9146D-095E-B65E-6C3A-F15264127192}"/>
              </a:ext>
            </a:extLst>
          </p:cNvPr>
          <p:cNvSpPr>
            <a:spLocks noGrp="1"/>
          </p:cNvSpPr>
          <p:nvPr/>
        </p:nvSpPr>
        <p:spPr>
          <a:xfrm>
            <a:off x="1104900" y="5514975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關鍵轉折：Y25 證明應用改造與流量導向可行；Y26 證明資料庫主線與完整 Infra 架構串接限制。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A5D6FC-EEB6-D76A-6E64-57AD759FBBF5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來源：Y25_多寫多讀POC_摘要、MILESTONES、SLIDE-BRIEF-2026 §1</a:t>
            </a:r>
          </a:p>
        </p:txBody>
      </p:sp>
    </p:spTree>
    <p:extLst>
      <p:ext uri="{BB962C8B-B14F-4D97-AF65-F5344CB8AC3E}">
        <p14:creationId xmlns:p14="http://schemas.microsoft.com/office/powerpoint/2010/main" val="1355658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AF0A459-4E7E-421A-8143-EDA05CFC734C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NORTH STAR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5A5AB5-EEC5-4B74-898B-388C64189EC7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北極星沒變，只有達成方式被證據修正</a:t>
            </a:r>
          </a:p>
        </p:txBody>
      </p:sp>
      <p:cxnSp>
        <p:nvCxnSpPr>
          <p:cNvPr id="39" name="直線箭頭接點 29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A6C7D10-FF0F-45AA-81E4-13491ED28D63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53FBDF-A0F9-472C-8F8B-22BA30D6173B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333375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AE5F36-DA5E-4436-A709-742F5DBCBCFE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66675" cy="1809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DE9386-0416-4E6C-88DD-13F835EB7EFA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策略層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82ECAB-BC42-4EFE-B57F-BEDDEAC554D8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28765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讓應用及資料具備可攜性。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91A5AC-F3A8-49EC-BE9C-645755788B38}"/>
              </a:ext>
            </a:extLst>
          </p:cNvPr>
          <p:cNvSpPr>
            <a:spLocks noGrp="1"/>
          </p:cNvSpPr>
          <p:nvPr/>
        </p:nvSpPr>
        <p:spPr>
          <a:xfrm>
            <a:off x="4048125" y="1657350"/>
            <a:ext cx="333375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BC673B-89EF-45B6-AE92-4F14EAF011AC}"/>
              </a:ext>
            </a:extLst>
          </p:cNvPr>
          <p:cNvSpPr>
            <a:spLocks noGrp="1"/>
          </p:cNvSpPr>
          <p:nvPr/>
        </p:nvSpPr>
        <p:spPr>
          <a:xfrm>
            <a:off x="4048125" y="1657350"/>
            <a:ext cx="66675" cy="1809750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EFE48F-A3BA-4CC3-ADBD-3A25DA4967F0}"/>
              </a:ext>
            </a:extLst>
          </p:cNvPr>
          <p:cNvSpPr>
            <a:spLocks noGrp="1"/>
          </p:cNvSpPr>
          <p:nvPr/>
        </p:nvSpPr>
        <p:spPr>
          <a:xfrm>
            <a:off x="4276725" y="186690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業務層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3D820B-B2B0-4906-A8FD-7C61C31D05CE}"/>
              </a:ext>
            </a:extLst>
          </p:cNvPr>
          <p:cNvSpPr>
            <a:spLocks noGrp="1"/>
          </p:cNvSpPr>
          <p:nvPr/>
        </p:nvSpPr>
        <p:spPr>
          <a:xfrm>
            <a:off x="4276725" y="2305050"/>
            <a:ext cx="28765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期待封站或機房維護時，關鍵服務客戶不受影響</a:t>
            </a:r>
            <a:r>
              <a:rPr sz="150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22F8C9-DE6B-4B40-8BFC-84C119D8C865}"/>
              </a:ext>
            </a:extLst>
          </p:cNvPr>
          <p:cNvSpPr>
            <a:spLocks noGrp="1"/>
          </p:cNvSpPr>
          <p:nvPr/>
        </p:nvSpPr>
        <p:spPr>
          <a:xfrm>
            <a:off x="7600950" y="1657350"/>
            <a:ext cx="363855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3C92D3-5978-49A8-A910-A366F9108EAB}"/>
              </a:ext>
            </a:extLst>
          </p:cNvPr>
          <p:cNvSpPr>
            <a:spLocks noGrp="1"/>
          </p:cNvSpPr>
          <p:nvPr/>
        </p:nvSpPr>
        <p:spPr>
          <a:xfrm>
            <a:off x="7600950" y="1657350"/>
            <a:ext cx="66675" cy="1809750"/>
          </a:xfrm>
          <a:prstGeom prst="rect">
            <a:avLst/>
          </a:prstGeom>
          <a:solidFill>
            <a:srgbClr val="16803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862C7C-80C0-4909-B92E-67C2DFE09B17}"/>
              </a:ext>
            </a:extLst>
          </p:cNvPr>
          <p:cNvSpPr>
            <a:spLocks noGrp="1"/>
          </p:cNvSpPr>
          <p:nvPr/>
        </p:nvSpPr>
        <p:spPr>
          <a:xfrm>
            <a:off x="7829550" y="186690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維運層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86432A-50D0-4C07-9B93-13500D599F5E}"/>
              </a:ext>
            </a:extLst>
          </p:cNvPr>
          <p:cNvSpPr>
            <a:spLocks noGrp="1"/>
          </p:cNvSpPr>
          <p:nvPr/>
        </p:nvSpPr>
        <p:spPr>
          <a:xfrm>
            <a:off x="7829550" y="2305050"/>
            <a:ext cx="31813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停機維護是內部作業，不轉嫁為客戶權益損失</a:t>
            </a:r>
            <a:r>
              <a:rPr sz="150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B2CF977-20AB-49F5-A50F-9641FE24F1E1}"/>
              </a:ext>
            </a:extLst>
          </p:cNvPr>
          <p:cNvSpPr>
            <a:spLocks noGrp="1"/>
          </p:cNvSpPr>
          <p:nvPr/>
        </p:nvSpPr>
        <p:spPr>
          <a:xfrm>
            <a:off x="2097823" y="4519613"/>
            <a:ext cx="1238250" cy="304800"/>
          </a:xfrm>
          <a:prstGeom prst="rect">
            <a:avLst/>
          </a:prstGeom>
          <a:solidFill>
            <a:srgbClr val="6670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56CABE7-E345-4783-AEB3-2EAEE542AE9B}"/>
              </a:ext>
            </a:extLst>
          </p:cNvPr>
          <p:cNvSpPr>
            <a:spLocks noGrp="1"/>
          </p:cNvSpPr>
          <p:nvPr/>
        </p:nvSpPr>
        <p:spPr>
          <a:xfrm>
            <a:off x="2097823" y="4567238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Y25 原訂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2002DBD-3AB5-4C44-9C1F-0DAFE19A9707}"/>
              </a:ext>
            </a:extLst>
          </p:cNvPr>
          <p:cNvSpPr>
            <a:spLocks noGrp="1"/>
          </p:cNvSpPr>
          <p:nvPr/>
        </p:nvSpPr>
        <p:spPr>
          <a:xfrm>
            <a:off x="3469423" y="4462463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000" lnSpcReduction="10000"/>
          </a:bodyPr>
          <a:lstStyle/>
          <a:p>
            <a:pPr algn="l">
              <a:buNone/>
              <a:defRPr sz="210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A/A 雙區同時寫可行性驗證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1F7AF7-07D1-4E46-8978-357D19D9D455}"/>
              </a:ext>
            </a:extLst>
          </p:cNvPr>
          <p:cNvSpPr>
            <a:spLocks noGrp="1"/>
          </p:cNvSpPr>
          <p:nvPr/>
        </p:nvSpPr>
        <p:spPr>
          <a:xfrm>
            <a:off x="6460273" y="4462463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4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A3B46F-5CB7-40C0-A979-706AFD1B77AA}"/>
              </a:ext>
            </a:extLst>
          </p:cNvPr>
          <p:cNvSpPr>
            <a:spLocks noGrp="1"/>
          </p:cNvSpPr>
          <p:nvPr/>
        </p:nvSpPr>
        <p:spPr>
          <a:xfrm>
            <a:off x="7155598" y="4519613"/>
            <a:ext cx="1238250" cy="304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6451858-7571-4B1D-915E-0D22F726333D}"/>
              </a:ext>
            </a:extLst>
          </p:cNvPr>
          <p:cNvSpPr>
            <a:spLocks noGrp="1"/>
          </p:cNvSpPr>
          <p:nvPr/>
        </p:nvSpPr>
        <p:spPr>
          <a:xfrm>
            <a:off x="7155598" y="4567238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Y26 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CD2B12-4427-4B13-8B1D-EC48D22E8D64}"/>
              </a:ext>
            </a:extLst>
          </p:cNvPr>
          <p:cNvSpPr>
            <a:spLocks noGrp="1"/>
          </p:cNvSpPr>
          <p:nvPr/>
        </p:nvSpPr>
        <p:spPr>
          <a:xfrm>
            <a:off x="8536723" y="4462463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21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What next?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3D115C-D895-448C-8F62-EB6EE2A3D091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§0.1–§0.3</a:t>
            </a:r>
          </a:p>
        </p:txBody>
      </p:sp>
    </p:spTree>
    <p:extLst>
      <p:ext uri="{BB962C8B-B14F-4D97-AF65-F5344CB8AC3E}">
        <p14:creationId xmlns:p14="http://schemas.microsoft.com/office/powerpoint/2010/main" val="1029908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6EE5A87-935C-4E6B-B2E5-553C9403EF9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WHY NOT A/A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2AD2ED-FA70-4D68-8F24-4F44C5940541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目前雙活機房架構 (A/A) 尚有阻礙</a:t>
            </a:r>
          </a:p>
        </p:txBody>
      </p:sp>
      <p:cxnSp>
        <p:nvCxnSpPr>
          <p:cNvPr id="35" name="直線箭頭接點 25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88ADA7D-77BB-4E5B-B7B4-10C67097FF55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BEE5BA-54B4-4977-B777-D7A24BAEA532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2476500" cy="314325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76B42E-5F62-409A-9AC6-7C2C959A1FD9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66675" cy="3143250"/>
          </a:xfrm>
          <a:prstGeom prst="rect">
            <a:avLst/>
          </a:prstGeom>
          <a:solidFill>
            <a:srgbClr val="C241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5420A6-4FB1-40F3-8F64-5CFF7C0165A0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應用組件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CA92E7-BDE8-40E2-9D7A-F55EAA5D2C98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20193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Memcache 不支援 A/A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OMS 寫檔／寄信需改 SMTP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9A41BE-7F5B-4CF9-9159-2F2253891FC8}"/>
              </a:ext>
            </a:extLst>
          </p:cNvPr>
          <p:cNvSpPr>
            <a:spLocks noGrp="1"/>
          </p:cNvSpPr>
          <p:nvPr/>
        </p:nvSpPr>
        <p:spPr>
          <a:xfrm>
            <a:off x="3181350" y="1657350"/>
            <a:ext cx="2476500" cy="314325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F3243A-834B-4966-802E-5E246DA8608C}"/>
              </a:ext>
            </a:extLst>
          </p:cNvPr>
          <p:cNvSpPr>
            <a:spLocks noGrp="1"/>
          </p:cNvSpPr>
          <p:nvPr/>
        </p:nvSpPr>
        <p:spPr>
          <a:xfrm>
            <a:off x="3181350" y="1657350"/>
            <a:ext cx="66675" cy="3143250"/>
          </a:xfrm>
          <a:prstGeom prst="rect">
            <a:avLst/>
          </a:prstGeom>
          <a:solidFill>
            <a:srgbClr val="C241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3E877E-E08F-45BF-A50C-2B78144CEFF0}"/>
              </a:ext>
            </a:extLst>
          </p:cNvPr>
          <p:cNvSpPr>
            <a:spLocks noGrp="1"/>
          </p:cNvSpPr>
          <p:nvPr/>
        </p:nvSpPr>
        <p:spPr>
          <a:xfrm>
            <a:off x="3409950" y="18669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儲存與網路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2F9B70-1E64-40DA-B24E-D790F50F0D1E}"/>
              </a:ext>
            </a:extLst>
          </p:cNvPr>
          <p:cNvSpPr>
            <a:spLocks noGrp="1"/>
          </p:cNvSpPr>
          <p:nvPr/>
        </p:nvSpPr>
        <p:spPr>
          <a:xfrm>
            <a:off x="3409950" y="2305050"/>
            <a:ext cx="20193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部分 NetApp 檔案無法轉入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F5 sticky 失效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GCP SLB 無 Ignore-TCP-MSL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7BBD3C-5C1C-450C-BD9F-1FB6303A1C19}"/>
              </a:ext>
            </a:extLst>
          </p:cNvPr>
          <p:cNvSpPr>
            <a:spLocks noGrp="1"/>
          </p:cNvSpPr>
          <p:nvPr/>
        </p:nvSpPr>
        <p:spPr>
          <a:xfrm>
            <a:off x="5867400" y="1657350"/>
            <a:ext cx="2476500" cy="314325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095F26-204A-43D9-976B-0E950468CC9E}"/>
              </a:ext>
            </a:extLst>
          </p:cNvPr>
          <p:cNvSpPr>
            <a:spLocks noGrp="1"/>
          </p:cNvSpPr>
          <p:nvPr/>
        </p:nvSpPr>
        <p:spPr>
          <a:xfrm>
            <a:off x="5867400" y="1657350"/>
            <a:ext cx="66675" cy="31432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B40A90-F9C7-4875-B282-242F4C52D517}"/>
              </a:ext>
            </a:extLst>
          </p:cNvPr>
          <p:cNvSpPr>
            <a:spLocks noGrp="1"/>
          </p:cNvSpPr>
          <p:nvPr/>
        </p:nvSpPr>
        <p:spPr>
          <a:xfrm>
            <a:off x="6096000" y="18669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故障域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1C42DA-0D38-41A6-B2E7-9CAB50947A47}"/>
              </a:ext>
            </a:extLst>
          </p:cNvPr>
          <p:cNvSpPr>
            <a:spLocks noGrp="1"/>
          </p:cNvSpPr>
          <p:nvPr/>
        </p:nvSpPr>
        <p:spPr>
          <a:xfrm>
            <a:off x="6096000" y="2305050"/>
            <a:ext cx="20193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RF=3 僅跨 IDC／EDC</a:t>
            </a:r>
          </a:p>
          <a:p>
            <a:pPr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只有 2 個 failure domain</a:t>
            </a:r>
          </a:p>
          <a:p>
            <a:pPr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整區秒級接手無法保證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CDD6D4B-7627-4F5C-AFA3-73638AB1E1C6}"/>
              </a:ext>
            </a:extLst>
          </p:cNvPr>
          <p:cNvSpPr>
            <a:spLocks noGrp="1"/>
          </p:cNvSpPr>
          <p:nvPr/>
        </p:nvSpPr>
        <p:spPr>
          <a:xfrm>
            <a:off x="8553450" y="1657350"/>
            <a:ext cx="2686050" cy="314325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C471BE-D4E3-4073-B845-8A48E1AB8AAE}"/>
              </a:ext>
            </a:extLst>
          </p:cNvPr>
          <p:cNvSpPr>
            <a:spLocks noGrp="1"/>
          </p:cNvSpPr>
          <p:nvPr/>
        </p:nvSpPr>
        <p:spPr>
          <a:xfrm>
            <a:off x="8553450" y="1657350"/>
            <a:ext cx="66675" cy="31432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8B7C20-5158-4ABF-B300-8EE8A16E66A3}"/>
              </a:ext>
            </a:extLst>
          </p:cNvPr>
          <p:cNvSpPr>
            <a:spLocks noGrp="1"/>
          </p:cNvSpPr>
          <p:nvPr/>
        </p:nvSpPr>
        <p:spPr>
          <a:xfrm>
            <a:off x="8782050" y="1866900"/>
            <a:ext cx="2228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專線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1C7228-8002-44B4-B661-6F52C9A516D9}"/>
              </a:ext>
            </a:extLst>
          </p:cNvPr>
          <p:cNvSpPr>
            <a:spLocks noGrp="1"/>
          </p:cNvSpPr>
          <p:nvPr/>
        </p:nvSpPr>
        <p:spPr>
          <a:xfrm>
            <a:off x="8782050" y="2305050"/>
            <a:ext cx="245745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PoC 僅使用 VPN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RTT 8.5 ms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探測 190–227 Mbps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正式專線規格待確認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77849E-8E33-4F93-BF23-4ED6FAF88634}"/>
              </a:ext>
            </a:extLst>
          </p:cNvPr>
          <p:cNvSpPr>
            <a:spLocks noGrp="1"/>
          </p:cNvSpPr>
          <p:nvPr/>
        </p:nvSpPr>
        <p:spPr>
          <a:xfrm>
            <a:off x="495300" y="5095875"/>
            <a:ext cx="10744200" cy="8191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629C6DB-0D39-461F-A073-3C62638DBEA4}"/>
              </a:ext>
            </a:extLst>
          </p:cNvPr>
          <p:cNvSpPr>
            <a:spLocks noGrp="1"/>
          </p:cNvSpPr>
          <p:nvPr/>
        </p:nvSpPr>
        <p:spPr>
          <a:xfrm>
            <a:off x="762000" y="5314950"/>
            <a:ext cx="1022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結論：先把混合雲架構做成可營運能力；雙活機房架構保留為條件式選項。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E98212C-2ECA-4F84-BBBF-78D4B81A02EE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§1.3、§2.3</a:t>
            </a:r>
          </a:p>
        </p:txBody>
      </p:sp>
    </p:spTree>
    <p:extLst>
      <p:ext uri="{BB962C8B-B14F-4D97-AF65-F5344CB8AC3E}">
        <p14:creationId xmlns:p14="http://schemas.microsoft.com/office/powerpoint/2010/main" val="594989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243A429-4E64-46DC-83B4-7A6349DCAB9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EXECUTIVE ANSWER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F7F1D7-EF91-4C4E-ADE3-B3AD95EBD4E2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目標不變；交付路線改為</a:t>
            </a:r>
            <a:r>
              <a:rPr sz="315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A/S → A/A (RO)</a:t>
            </a:r>
          </a:p>
        </p:txBody>
      </p:sp>
      <p:cxnSp>
        <p:nvCxnSpPr>
          <p:cNvPr id="32" name="直線箭頭接點 22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594F840-A002-4083-837D-0161F773417B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093E72-95F3-4D61-854B-BEB093FF628C}"/>
              </a:ext>
            </a:extLst>
          </p:cNvPr>
          <p:cNvSpPr>
            <a:spLocks noGrp="1"/>
          </p:cNvSpPr>
          <p:nvPr/>
        </p:nvSpPr>
        <p:spPr>
          <a:xfrm>
            <a:off x="495300" y="4953000"/>
            <a:ext cx="10744200" cy="1009650"/>
          </a:xfrm>
          <a:prstGeom prst="rect">
            <a:avLst/>
          </a:prstGeom>
          <a:solidFill>
            <a:srgbClr val="E8F1FF"/>
          </a:solidFill>
          <a:ln w="9525">
            <a:solidFill>
              <a:srgbClr val="E8F1FF"/>
            </a:solidFill>
            <a:prstDash val="solid"/>
          </a:ln>
        </p:spPr>
        <p:txBody>
          <a:bodyPr wrap="square" lIns="228600" tIns="95250" rIns="228600" bIns="95250" anchor="ctr">
            <a:normAutofit/>
          </a:bodyPr>
          <a:lstStyle/>
          <a:p>
            <a:pPr algn="l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代表性</a:t>
            </a:r>
            <a:r>
              <a:rPr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MySQL </a:t>
            </a:r>
            <a:r>
              <a:rPr sz="1500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應用</a:t>
            </a:r>
            <a:r>
              <a:rPr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Pilot</a:t>
            </a:r>
            <a:r>
              <a:rPr lang="en-US"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(EX: Account Center) </a:t>
            </a:r>
            <a:r>
              <a:rPr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；</a:t>
            </a:r>
            <a:r>
              <a:rPr lang="en-US" sz="1500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下一個挑戰是</a:t>
            </a:r>
            <a:r>
              <a:rPr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IDC + EDC </a:t>
            </a:r>
            <a:r>
              <a:rPr sz="1500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跨區架構</a:t>
            </a:r>
            <a:r>
              <a:rPr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algn="l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目前</a:t>
            </a:r>
            <a:r>
              <a:rPr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104 B、C Agent </a:t>
            </a:r>
            <a:r>
              <a:rPr sz="1500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服務未來可視為跨區架構的強需求情境</a:t>
            </a:r>
            <a:r>
              <a:rPr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。</a:t>
            </a:r>
            <a:br>
              <a:rPr lang="en-US"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</a:br>
            <a:r>
              <a:rPr lang="en-US"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lang="en-US" sz="1500" b="1" dirty="0">
                <a:solidFill>
                  <a:srgbClr val="101828"/>
                </a:solidFill>
                <a:latin typeface="Arial"/>
                <a:ea typeface="Arial"/>
                <a:cs typeface="Arial"/>
                <a:hlinkClick r:id="rId3" action="ppaction://hlinksldjump"/>
              </a:rPr>
              <a:t>決策表 1</a:t>
            </a:r>
            <a:r>
              <a:rPr lang="en-US"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/ </a:t>
            </a:r>
            <a:r>
              <a:rPr lang="en-US" sz="1500" b="1" dirty="0">
                <a:solidFill>
                  <a:srgbClr val="101828"/>
                </a:solidFill>
                <a:latin typeface="Arial"/>
                <a:ea typeface="Arial"/>
                <a:cs typeface="Arial"/>
                <a:hlinkClick r:id="rId4" action="ppaction://hlinksldjump"/>
              </a:rPr>
              <a:t>決策表 2</a:t>
            </a:r>
            <a:endParaRPr lang="zh-TW" altLang="en-US" sz="1500" b="1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endParaRPr lang="zh-TW" altLang="en-US" sz="1500" b="1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5BC489-F790-4A5D-B80F-49D599A906CD}"/>
              </a:ext>
            </a:extLst>
          </p:cNvPr>
          <p:cNvSpPr>
            <a:spLocks noGrp="1"/>
          </p:cNvSpPr>
          <p:nvPr/>
        </p:nvSpPr>
        <p:spPr>
          <a:xfrm>
            <a:off x="495300" y="1809750"/>
            <a:ext cx="2476500" cy="2857500"/>
          </a:xfrm>
          <a:prstGeom prst="rect">
            <a:avLst/>
          </a:prstGeom>
          <a:solidFill>
            <a:srgbClr val="F2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4BBC01-17DE-4F69-8FF2-5BC58B64791E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PXC / Galera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5B8651-C93F-4EA4-A026-31C521ECA822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2095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MySQL｜p99 37.7 </a:t>
            </a:r>
            <a:r>
              <a:rPr sz="1275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ms</a:t>
            </a:r>
            <a:endParaRPr sz="1275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Scale 0.49×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P-A × A/S 298.8 </a:t>
            </a:r>
            <a:r>
              <a:rPr sz="1275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tpmC</a:t>
            </a:r>
            <a:endParaRPr sz="1275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8599D8-AE4E-4216-9D7C-5EF31FE81084}"/>
              </a:ext>
            </a:extLst>
          </p:cNvPr>
          <p:cNvSpPr>
            <a:spLocks noGrp="1"/>
          </p:cNvSpPr>
          <p:nvPr/>
        </p:nvSpPr>
        <p:spPr>
          <a:xfrm>
            <a:off x="685800" y="365760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n-US" sz="105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同區</a:t>
            </a:r>
            <a:r>
              <a:rPr sz="1050" b="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低延遲；無</a:t>
            </a:r>
            <a:r>
              <a:rPr sz="105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placement／near-read</a:t>
            </a:r>
            <a:r>
              <a:rPr sz="105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等價能力</a:t>
            </a:r>
            <a:endParaRPr sz="105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C86525-6284-4863-AE70-A355ADFFE6F2}"/>
              </a:ext>
            </a:extLst>
          </p:cNvPr>
          <p:cNvSpPr>
            <a:spLocks noGrp="1"/>
          </p:cNvSpPr>
          <p:nvPr/>
        </p:nvSpPr>
        <p:spPr>
          <a:xfrm>
            <a:off x="3181350" y="1809750"/>
            <a:ext cx="2476500" cy="2857500"/>
          </a:xfrm>
          <a:prstGeom prst="rect">
            <a:avLst/>
          </a:prstGeom>
          <a:solidFill>
            <a:srgbClr val="E8F1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25155C-2B8D-4F7D-A3F5-30A135C45415}"/>
              </a:ext>
            </a:extLst>
          </p:cNvPr>
          <p:cNvSpPr>
            <a:spLocks noGrp="1"/>
          </p:cNvSpPr>
          <p:nvPr/>
        </p:nvSpPr>
        <p:spPr>
          <a:xfrm>
            <a:off x="3371850" y="20002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TiDB (建議採用)</a:t>
            </a:r>
            <a:endParaRPr sz="1500" b="1" dirty="0">
              <a:solidFill>
                <a:srgbClr val="2563E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30453C-9E1A-4392-A02C-1A20CF9898C4}"/>
              </a:ext>
            </a:extLst>
          </p:cNvPr>
          <p:cNvSpPr>
            <a:spLocks noGrp="1"/>
          </p:cNvSpPr>
          <p:nvPr/>
        </p:nvSpPr>
        <p:spPr>
          <a:xfrm>
            <a:off x="3371850" y="2457450"/>
            <a:ext cx="2095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lang="en-US" sz="1275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- </a:t>
            </a:r>
            <a:r>
              <a:rPr sz="1275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MySQL｜</a:t>
            </a:r>
            <a:r>
              <a:rPr lang="en" sz="1275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p99 597 </a:t>
            </a:r>
            <a:r>
              <a:rPr lang="en" sz="1275" b="1" dirty="0" err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ms</a:t>
            </a:r>
            <a:br>
              <a:rPr lang="en-US" sz="1275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</a:br>
            <a:r>
              <a:rPr lang="en-US" sz="1275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- </a:t>
            </a:r>
            <a:r>
              <a:rPr sz="1275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Scale 2.06×</a:t>
            </a:r>
          </a:p>
          <a:p>
            <a:pPr algn="l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lang="en-US" sz="1275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- </a:t>
            </a:r>
            <a:r>
              <a:rPr sz="1275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P-A × A/S 12,526.5 </a:t>
            </a:r>
            <a:r>
              <a:rPr sz="1275" b="1" dirty="0" err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tpmC</a:t>
            </a:r>
            <a:endParaRPr sz="1275" b="1" dirty="0">
              <a:solidFill>
                <a:srgbClr val="2563E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5F5F4A-712A-4461-BA7D-C45306DC1F84}"/>
              </a:ext>
            </a:extLst>
          </p:cNvPr>
          <p:cNvSpPr>
            <a:spLocks noGrp="1"/>
          </p:cNvSpPr>
          <p:nvPr/>
        </p:nvSpPr>
        <p:spPr>
          <a:xfrm>
            <a:off x="3371850" y="365760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MySQL </a:t>
            </a:r>
            <a:r>
              <a:rPr lang="en-US" sz="1050" b="0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相容</a:t>
            </a:r>
            <a:r>
              <a:rPr sz="1050" b="0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主線；A</a:t>
            </a:r>
            <a:r>
              <a:rPr sz="1050" b="0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/S → A/A (RO)。目前符合 104 產品資料特性與應用場景。</a:t>
            </a:r>
            <a:endParaRPr lang="en-US" sz="1050" b="0" dirty="0">
              <a:solidFill>
                <a:srgbClr val="0020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B55E24-C756-4E44-93FD-6182A86D7BC9}"/>
              </a:ext>
            </a:extLst>
          </p:cNvPr>
          <p:cNvSpPr>
            <a:spLocks noGrp="1"/>
          </p:cNvSpPr>
          <p:nvPr/>
        </p:nvSpPr>
        <p:spPr>
          <a:xfrm>
            <a:off x="5867400" y="1809750"/>
            <a:ext cx="2476500" cy="2857500"/>
          </a:xfrm>
          <a:prstGeom prst="rect">
            <a:avLst/>
          </a:prstGeom>
          <a:solidFill>
            <a:srgbClr val="F2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3AAA93-2B9E-40A9-B6EE-D82F980061CD}"/>
              </a:ext>
            </a:extLst>
          </p:cNvPr>
          <p:cNvSpPr>
            <a:spLocks noGrp="1"/>
          </p:cNvSpPr>
          <p:nvPr/>
        </p:nvSpPr>
        <p:spPr>
          <a:xfrm>
            <a:off x="6057900" y="20002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YugabyteDB</a:t>
            </a:r>
            <a:endParaRPr sz="1500" b="1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B38434-501A-419A-A5C3-C26C7E5B9D0D}"/>
              </a:ext>
            </a:extLst>
          </p:cNvPr>
          <p:cNvSpPr>
            <a:spLocks noGrp="1"/>
          </p:cNvSpPr>
          <p:nvPr/>
        </p:nvSpPr>
        <p:spPr>
          <a:xfrm>
            <a:off x="6057900" y="2457450"/>
            <a:ext cx="2095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PostgreSQL｜p99 216 </a:t>
            </a:r>
            <a:r>
              <a:rPr sz="1275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ms</a:t>
            </a:r>
            <a:endParaRPr sz="1275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Scale 1.37×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P-A × A/S 12,769.5 </a:t>
            </a:r>
            <a:r>
              <a:rPr sz="1275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tpmC</a:t>
            </a:r>
            <a:endParaRPr sz="1275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A7D263-3334-4331-87AB-AA3303F0AB35}"/>
              </a:ext>
            </a:extLst>
          </p:cNvPr>
          <p:cNvSpPr>
            <a:spLocks noGrp="1"/>
          </p:cNvSpPr>
          <p:nvPr/>
        </p:nvSpPr>
        <p:spPr>
          <a:xfrm>
            <a:off x="6057900" y="365760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跨地理區域性資料分布一致性與區域復原具優勢；現階段不適合 104 MySQL 主線應用。</a:t>
            </a:r>
            <a:endParaRPr lang="en-US" sz="105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D858A4-A1F3-40ED-A7E7-70EA9FCE7197}"/>
              </a:ext>
            </a:extLst>
          </p:cNvPr>
          <p:cNvSpPr>
            <a:spLocks noGrp="1"/>
          </p:cNvSpPr>
          <p:nvPr/>
        </p:nvSpPr>
        <p:spPr>
          <a:xfrm>
            <a:off x="8553450" y="1809750"/>
            <a:ext cx="2686050" cy="2857500"/>
          </a:xfrm>
          <a:prstGeom prst="rect">
            <a:avLst/>
          </a:prstGeom>
          <a:solidFill>
            <a:srgbClr val="F2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919C967-081C-4BE5-8249-9248EC7707D0}"/>
              </a:ext>
            </a:extLst>
          </p:cNvPr>
          <p:cNvSpPr>
            <a:spLocks noGrp="1"/>
          </p:cNvSpPr>
          <p:nvPr/>
        </p:nvSpPr>
        <p:spPr>
          <a:xfrm>
            <a:off x="8743950" y="2000250"/>
            <a:ext cx="2305050" cy="2438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00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CockroachDB</a:t>
            </a:r>
            <a:endParaRPr sz="1500" b="1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  <a:defRPr>
                <a:latin typeface="Arial"/>
                <a:ea typeface="Arial"/>
                <a:cs typeface="Arial"/>
              </a:defRPr>
            </a:pPr>
            <a:endParaRPr lang="en-US" sz="125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  <a:defRPr>
                <a:latin typeface="Arial"/>
                <a:ea typeface="Arial"/>
                <a:cs typeface="Arial"/>
              </a:defRPr>
            </a:pPr>
            <a:endParaRPr lang="en-US" sz="125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5688B70-82BD-4E13-B41C-F673A6683D10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§2.2、§2.4、§4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784AB5-C53C-10D2-E4C2-C8A4657BAAF3}"/>
              </a:ext>
            </a:extLst>
          </p:cNvPr>
          <p:cNvSpPr>
            <a:spLocks noGrp="1"/>
          </p:cNvSpPr>
          <p:nvPr/>
        </p:nvSpPr>
        <p:spPr>
          <a:xfrm>
            <a:off x="8686800" y="2457450"/>
            <a:ext cx="2095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PostgreSQL｜p99 440 </a:t>
            </a:r>
            <a:r>
              <a:rPr lang="en-US" sz="1275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ms</a:t>
            </a:r>
            <a:endParaRPr lang="en-US" sz="1275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Scale 1.65×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P-A × A/S 10,163.4 </a:t>
            </a:r>
            <a:r>
              <a:rPr lang="en-US" sz="1275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tpmC</a:t>
            </a:r>
            <a:endParaRPr lang="en-US" sz="1275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ACBB2C-16B5-E156-90C3-CD73410F6735}"/>
              </a:ext>
            </a:extLst>
          </p:cNvPr>
          <p:cNvSpPr>
            <a:spLocks noGrp="1"/>
          </p:cNvSpPr>
          <p:nvPr/>
        </p:nvSpPr>
        <p:spPr>
          <a:xfrm>
            <a:off x="8686800" y="364668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5000"/>
              </a:lnSpc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zh-TW" altLang="en-US" sz="105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跨地理區域性資料分布一致性與區域復原具優勢；現階段不適合 104 MySQL 主線應用。</a:t>
            </a:r>
          </a:p>
        </p:txBody>
      </p:sp>
    </p:spTree>
    <p:extLst>
      <p:ext uri="{BB962C8B-B14F-4D97-AF65-F5344CB8AC3E}">
        <p14:creationId xmlns:p14="http://schemas.microsoft.com/office/powerpoint/2010/main" val="119451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81B8965-53A9-4394-84DF-B6B8D1650A3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CROSS-REGION EVIDENCE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F8F89A-B8AB-465F-A155-268A34EB0198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跨區結果：Placement 策略會改變資料路徑與效能</a:t>
            </a:r>
          </a:p>
        </p:txBody>
      </p:sp>
      <p:cxnSp>
        <p:nvCxnSpPr>
          <p:cNvPr id="110" name="直線箭頭接點 40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2F9AD44F-C2A4-4D37-91C8-C5FD246E65FF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320A6B-BA60-44C5-8198-35262817ED1A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5257800" cy="1352550"/>
          </a:xfrm>
          <a:prstGeom prst="rect">
            <a:avLst/>
          </a:prstGeom>
          <a:solidFill>
            <a:srgbClr val="F2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705CA8-9BCB-4F4F-BFAD-B36015ED0D0A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4838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P-A｜IDC 優先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90E323-5CDE-4DDF-AC60-0EC5D4C25C45}"/>
              </a:ext>
            </a:extLst>
          </p:cNvPr>
          <p:cNvSpPr>
            <a:spLocks noGrp="1"/>
          </p:cNvSpPr>
          <p:nvPr/>
        </p:nvSpPr>
        <p:spPr>
          <a:xfrm>
            <a:off x="704850" y="2171700"/>
            <a:ext cx="4838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多數副本／交易主路徑偏 IDC</a:t>
            </a:r>
          </a:p>
          <a:p>
            <a:pPr algn="l">
              <a:lnSpc>
                <a:spcPct val="100000"/>
              </a:lnSpc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IDC 主寫，GCP 承接副本或就近讀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17CAAC-98E8-4F50-9C42-5FB2D3093EB0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適合 A/S、A/A (RO) 先行驗證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7CEA98-9DB8-48DC-AA1E-21ED558DBD94}"/>
              </a:ext>
            </a:extLst>
          </p:cNvPr>
          <p:cNvSpPr>
            <a:spLocks noGrp="1"/>
          </p:cNvSpPr>
          <p:nvPr/>
        </p:nvSpPr>
        <p:spPr>
          <a:xfrm>
            <a:off x="5981700" y="1657350"/>
            <a:ext cx="5257800" cy="1352550"/>
          </a:xfrm>
          <a:prstGeom prst="rect">
            <a:avLst/>
          </a:prstGeom>
          <a:solidFill>
            <a:srgbClr val="F2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69D101-B0F8-4F2F-83DD-0D673A352986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4838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P-B｜</a:t>
            </a:r>
            <a:r>
              <a:rPr lang="en-US" sz="165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IDC + GCP </a:t>
            </a:r>
            <a:r>
              <a:rPr sz="1650" b="1" dirty="0" err="1">
                <a:solidFill>
                  <a:srgbClr val="2563EB"/>
                </a:solidFill>
                <a:latin typeface="Arial"/>
                <a:ea typeface="Arial"/>
                <a:cs typeface="Arial"/>
              </a:rPr>
              <a:t>跨區共識</a:t>
            </a:r>
            <a:endParaRPr sz="1650" b="1" dirty="0">
              <a:solidFill>
                <a:srgbClr val="2563E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9886AB-BEAB-45D7-A39D-5D955996AD75}"/>
              </a:ext>
            </a:extLst>
          </p:cNvPr>
          <p:cNvSpPr>
            <a:spLocks noGrp="1"/>
          </p:cNvSpPr>
          <p:nvPr/>
        </p:nvSpPr>
        <p:spPr>
          <a:xfrm>
            <a:off x="6191250" y="2171700"/>
            <a:ext cx="4838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副本分布較分散</a:t>
            </a:r>
          </a:p>
          <a:p>
            <a:pPr algn="l">
              <a:lnSpc>
                <a:spcPct val="100000"/>
              </a:lnSpc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WAN 進入共識路徑，觀察延遲與容錯成本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801628-35A2-41C1-9F4E-634A123ED540}"/>
              </a:ext>
            </a:extLst>
          </p:cNvPr>
          <p:cNvSpPr>
            <a:spLocks noGrp="1"/>
          </p:cNvSpPr>
          <p:nvPr/>
        </p:nvSpPr>
        <p:spPr>
          <a:xfrm>
            <a:off x="6191250" y="2724150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同 workload 才能與 P-A 對照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12C89A-66C8-4FCE-A0B8-099095A100AD}"/>
              </a:ext>
            </a:extLst>
          </p:cNvPr>
          <p:cNvSpPr>
            <a:spLocks noGrp="1"/>
          </p:cNvSpPr>
          <p:nvPr/>
        </p:nvSpPr>
        <p:spPr>
          <a:xfrm>
            <a:off x="495300" y="3238500"/>
            <a:ext cx="10744200" cy="253365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A/S placement 對照｜threads=128</a:t>
            </a: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7D2012-B25F-4133-8920-F9843C501ABC}"/>
              </a:ext>
            </a:extLst>
          </p:cNvPr>
          <p:cNvSpPr>
            <a:spLocks noGrp="1"/>
          </p:cNvSpPr>
          <p:nvPr/>
        </p:nvSpPr>
        <p:spPr>
          <a:xfrm>
            <a:off x="4876800" y="3714750"/>
            <a:ext cx="2038350" cy="1600200"/>
          </a:xfrm>
          <a:prstGeom prst="rect">
            <a:avLst/>
          </a:prstGeom>
          <a:solidFill>
            <a:srgbClr val="E8F1FF"/>
          </a:solidFill>
          <a:ln w="9525">
            <a:solidFill>
              <a:srgbClr val="B9D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22375BB-8BB6-4F19-BBB1-023B786742A1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threads=128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C6017B-892C-479C-9FE0-E1F3DCACED30}"/>
              </a:ext>
            </a:extLst>
          </p:cNvPr>
          <p:cNvSpPr>
            <a:spLocks noGrp="1"/>
          </p:cNvSpPr>
          <p:nvPr/>
        </p:nvSpPr>
        <p:spPr>
          <a:xfrm>
            <a:off x="2838450" y="373380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PXC / Galera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2010BD9-3DB1-4FA6-9AE1-80885D625929}"/>
              </a:ext>
            </a:extLst>
          </p:cNvPr>
          <p:cNvSpPr>
            <a:spLocks noGrp="1"/>
          </p:cNvSpPr>
          <p:nvPr/>
        </p:nvSpPr>
        <p:spPr>
          <a:xfrm>
            <a:off x="4876800" y="373380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TiDB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5E00838-7B89-46C3-85D6-830CCFEBABB9}"/>
              </a:ext>
            </a:extLst>
          </p:cNvPr>
          <p:cNvSpPr>
            <a:spLocks noGrp="1"/>
          </p:cNvSpPr>
          <p:nvPr/>
        </p:nvSpPr>
        <p:spPr>
          <a:xfrm>
            <a:off x="6915150" y="373380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YugabyteDB</a:t>
            </a:r>
            <a:endParaRPr sz="1050" b="1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6359C8-D95E-4036-AC0C-360E01472BD9}"/>
              </a:ext>
            </a:extLst>
          </p:cNvPr>
          <p:cNvSpPr>
            <a:spLocks noGrp="1"/>
          </p:cNvSpPr>
          <p:nvPr/>
        </p:nvSpPr>
        <p:spPr>
          <a:xfrm>
            <a:off x="8953500" y="373380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CockroachDB</a:t>
            </a:r>
          </a:p>
        </p:txBody>
      </p:sp>
      <p:cxnSp>
        <p:nvCxnSpPr>
          <p:cNvPr id="130" name="直線箭頭接點 60"/>
          <p:cNvCxnSpPr/>
          <p:nvPr/>
        </p:nvCxnSpPr>
        <p:spPr>
          <a:xfrm>
            <a:off x="742950" y="4057650"/>
            <a:ext cx="102489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890F36F2-FA0B-4C6D-A2FF-2D499B3EA49B}"/>
              </a:ext>
            </a:extLst>
          </p:cNvPr>
          <p:cNvSpPr>
            <a:spLocks noGrp="1"/>
          </p:cNvSpPr>
          <p:nvPr/>
        </p:nvSpPr>
        <p:spPr>
          <a:xfrm>
            <a:off x="742950" y="4171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P-A tpmC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A76E53E-E4F6-4C5E-B106-CFB6B409337E}"/>
              </a:ext>
            </a:extLst>
          </p:cNvPr>
          <p:cNvSpPr>
            <a:spLocks noGrp="1"/>
          </p:cNvSpPr>
          <p:nvPr/>
        </p:nvSpPr>
        <p:spPr>
          <a:xfrm>
            <a:off x="2838450" y="41719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298.8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76C96EE-86F4-4C1E-AA3A-7F9D87E7AD37}"/>
              </a:ext>
            </a:extLst>
          </p:cNvPr>
          <p:cNvSpPr>
            <a:spLocks noGrp="1"/>
          </p:cNvSpPr>
          <p:nvPr/>
        </p:nvSpPr>
        <p:spPr>
          <a:xfrm>
            <a:off x="4876800" y="41719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12,526.5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D51A95D-FB3E-4701-B8D8-0B71461CBC6B}"/>
              </a:ext>
            </a:extLst>
          </p:cNvPr>
          <p:cNvSpPr>
            <a:spLocks noGrp="1"/>
          </p:cNvSpPr>
          <p:nvPr/>
        </p:nvSpPr>
        <p:spPr>
          <a:xfrm>
            <a:off x="6915150" y="41719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12,769.5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7B27B51-5A5B-422D-859A-2207A8FD8777}"/>
              </a:ext>
            </a:extLst>
          </p:cNvPr>
          <p:cNvSpPr>
            <a:spLocks noGrp="1"/>
          </p:cNvSpPr>
          <p:nvPr/>
        </p:nvSpPr>
        <p:spPr>
          <a:xfrm>
            <a:off x="8953500" y="41719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10,163.4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917D457-F002-4401-80F8-302503A75F11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P-B </a:t>
            </a:r>
            <a:r>
              <a:rPr sz="1125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tpmC</a:t>
            </a:r>
            <a:endParaRPr sz="1125" b="1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D1D0C3E-2DA5-4BDA-9272-31995DDB3933}"/>
              </a:ext>
            </a:extLst>
          </p:cNvPr>
          <p:cNvSpPr>
            <a:spLocks noGrp="1"/>
          </p:cNvSpPr>
          <p:nvPr/>
        </p:nvSpPr>
        <p:spPr>
          <a:xfrm>
            <a:off x="2838450" y="45720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從缺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1188C89-7119-4BE9-981B-6E0765DEB6DB}"/>
              </a:ext>
            </a:extLst>
          </p:cNvPr>
          <p:cNvSpPr>
            <a:spLocks noGrp="1"/>
          </p:cNvSpPr>
          <p:nvPr/>
        </p:nvSpPr>
        <p:spPr>
          <a:xfrm>
            <a:off x="4876800" y="45720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15,107.4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4CCEB22-748E-4E60-9C3D-12C4720A9052}"/>
              </a:ext>
            </a:extLst>
          </p:cNvPr>
          <p:cNvSpPr>
            <a:spLocks noGrp="1"/>
          </p:cNvSpPr>
          <p:nvPr/>
        </p:nvSpPr>
        <p:spPr>
          <a:xfrm>
            <a:off x="6915150" y="45720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2,485.6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5ECF544-D5EC-47A7-862B-33F5534DD0A0}"/>
              </a:ext>
            </a:extLst>
          </p:cNvPr>
          <p:cNvSpPr>
            <a:spLocks noGrp="1"/>
          </p:cNvSpPr>
          <p:nvPr/>
        </p:nvSpPr>
        <p:spPr>
          <a:xfrm>
            <a:off x="8953500" y="45720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11,640.0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BE65A9B-325B-40EB-86E4-5827271D4590}"/>
              </a:ext>
            </a:extLst>
          </p:cNvPr>
          <p:cNvSpPr>
            <a:spLocks noGrp="1"/>
          </p:cNvSpPr>
          <p:nvPr/>
        </p:nvSpPr>
        <p:spPr>
          <a:xfrm>
            <a:off x="742950" y="49720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P-B vs P-A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5061277-D880-4645-AAE3-F56FF03C8740}"/>
              </a:ext>
            </a:extLst>
          </p:cNvPr>
          <p:cNvSpPr>
            <a:spLocks noGrp="1"/>
          </p:cNvSpPr>
          <p:nvPr/>
        </p:nvSpPr>
        <p:spPr>
          <a:xfrm>
            <a:off x="2838450" y="49720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從缺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CB1637-2E64-4359-BD34-687D3A17A717}"/>
              </a:ext>
            </a:extLst>
          </p:cNvPr>
          <p:cNvSpPr>
            <a:spLocks noGrp="1"/>
          </p:cNvSpPr>
          <p:nvPr/>
        </p:nvSpPr>
        <p:spPr>
          <a:xfrm>
            <a:off x="4876800" y="49720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+20.6%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7153EE-4664-4337-B030-53A90B6EC1A8}"/>
              </a:ext>
            </a:extLst>
          </p:cNvPr>
          <p:cNvSpPr>
            <a:spLocks noGrp="1"/>
          </p:cNvSpPr>
          <p:nvPr/>
        </p:nvSpPr>
        <p:spPr>
          <a:xfrm>
            <a:off x="6915150" y="49720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−80.5%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BF48D3-D529-497D-B5AE-94EAB24971A4}"/>
              </a:ext>
            </a:extLst>
          </p:cNvPr>
          <p:cNvSpPr>
            <a:spLocks noGrp="1"/>
          </p:cNvSpPr>
          <p:nvPr/>
        </p:nvSpPr>
        <p:spPr>
          <a:xfrm>
            <a:off x="8953500" y="49720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+14.5%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FC48793-DA7F-4C1A-BB61-3226DF81738B}"/>
              </a:ext>
            </a:extLst>
          </p:cNvPr>
          <p:cNvSpPr>
            <a:spLocks noGrp="1"/>
          </p:cNvSpPr>
          <p:nvPr/>
        </p:nvSpPr>
        <p:spPr>
          <a:xfrm>
            <a:off x="495300" y="5848350"/>
            <a:ext cx="10744200" cy="342900"/>
          </a:xfrm>
          <a:prstGeom prst="rect">
            <a:avLst/>
          </a:prstGeom>
          <a:solidFill>
            <a:srgbClr val="E8F1FF"/>
          </a:solidFill>
          <a:ln w="9525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5B376B3-1C5C-4B1B-AEEF-D169E60074FC}"/>
              </a:ext>
            </a:extLst>
          </p:cNvPr>
          <p:cNvSpPr>
            <a:spLocks noGrp="1"/>
          </p:cNvSpPr>
          <p:nvPr/>
        </p:nvSpPr>
        <p:spPr>
          <a:xfrm>
            <a:off x="742950" y="5915025"/>
            <a:ext cx="10248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YugabyteDB −80.5% 可能與跨區 RTT 進入 tablet／共識及交易協調路徑、放大鎖等待有關；尚待控制實驗確認。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53D2F8D-85E6-4705-A8CC-812689BD5D57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§2.2、§2.4；X-CROSS P-A／P-B 結案報告</a:t>
            </a:r>
          </a:p>
        </p:txBody>
      </p:sp>
    </p:spTree>
    <p:extLst>
      <p:ext uri="{BB962C8B-B14F-4D97-AF65-F5344CB8AC3E}">
        <p14:creationId xmlns:p14="http://schemas.microsoft.com/office/powerpoint/2010/main" val="1483406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418A933-9491-4C34-AD61-8FF81673C70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SCALE EVIDENCE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921A3B-A108-4BED-AF0F-218080B3CA43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水平擴展不是單一分數：比較單節點到三節點的變化</a:t>
            </a:r>
          </a:p>
        </p:txBody>
      </p:sp>
      <p:cxnSp>
        <p:nvCxnSpPr>
          <p:cNvPr id="71" name="直線箭頭接點 61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1500430-7E12-4EF9-9544-9B4CC5B8DEDA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788BF2-12EC-458C-B807-1D860EAC050C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1074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水平擴展倍率 = 三節點 HAProxy tpmC ÷ 單節點 tpmC；&gt;1× 代表本次配置吞吐增加，&lt;1× 代表下降。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D7AABA-166A-4544-8BA3-FA7B1E883A9B}"/>
              </a:ext>
            </a:extLst>
          </p:cNvPr>
          <p:cNvSpPr>
            <a:spLocks noGrp="1"/>
          </p:cNvSpPr>
          <p:nvPr/>
        </p:nvSpPr>
        <p:spPr>
          <a:xfrm>
            <a:off x="495300" y="1943100"/>
            <a:ext cx="18097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4DA30F-9C30-4FAD-B348-9A9396415E83}"/>
              </a:ext>
            </a:extLst>
          </p:cNvPr>
          <p:cNvSpPr>
            <a:spLocks noGrp="1"/>
          </p:cNvSpPr>
          <p:nvPr/>
        </p:nvSpPr>
        <p:spPr>
          <a:xfrm>
            <a:off x="590550" y="204787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資料庫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B6BB4F-DDF1-4230-BD4C-F09B0689D25F}"/>
              </a:ext>
            </a:extLst>
          </p:cNvPr>
          <p:cNvSpPr>
            <a:spLocks noGrp="1"/>
          </p:cNvSpPr>
          <p:nvPr/>
        </p:nvSpPr>
        <p:spPr>
          <a:xfrm>
            <a:off x="2400300" y="1943100"/>
            <a:ext cx="20002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4DE8CE-22AA-464F-83E8-74BD7C6BAB63}"/>
              </a:ext>
            </a:extLst>
          </p:cNvPr>
          <p:cNvSpPr>
            <a:spLocks noGrp="1"/>
          </p:cNvSpPr>
          <p:nvPr/>
        </p:nvSpPr>
        <p:spPr>
          <a:xfrm>
            <a:off x="2495550" y="2047875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單節點 tpmC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9452B4-12C2-4A16-A12F-D0FC1FA9B60A}"/>
              </a:ext>
            </a:extLst>
          </p:cNvPr>
          <p:cNvSpPr>
            <a:spLocks noGrp="1"/>
          </p:cNvSpPr>
          <p:nvPr/>
        </p:nvSpPr>
        <p:spPr>
          <a:xfrm>
            <a:off x="4495800" y="1943100"/>
            <a:ext cx="20002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FD1948-9B68-4D27-B42A-EAE7E1E5C828}"/>
              </a:ext>
            </a:extLst>
          </p:cNvPr>
          <p:cNvSpPr>
            <a:spLocks noGrp="1"/>
          </p:cNvSpPr>
          <p:nvPr/>
        </p:nvSpPr>
        <p:spPr>
          <a:xfrm>
            <a:off x="4591050" y="2047875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三節點 tpmC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4EB85F-D2AD-4150-9303-582FCC0D06F3}"/>
              </a:ext>
            </a:extLst>
          </p:cNvPr>
          <p:cNvSpPr>
            <a:spLocks noGrp="1"/>
          </p:cNvSpPr>
          <p:nvPr/>
        </p:nvSpPr>
        <p:spPr>
          <a:xfrm>
            <a:off x="6591300" y="1943100"/>
            <a:ext cx="14287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18BCF3-783F-45C5-B09A-E386BE0F791B}"/>
              </a:ext>
            </a:extLst>
          </p:cNvPr>
          <p:cNvSpPr>
            <a:spLocks noGrp="1"/>
          </p:cNvSpPr>
          <p:nvPr/>
        </p:nvSpPr>
        <p:spPr>
          <a:xfrm>
            <a:off x="6686550" y="20478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增減幅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EDAE45-20F3-42A5-824B-A59D92E4C726}"/>
              </a:ext>
            </a:extLst>
          </p:cNvPr>
          <p:cNvSpPr>
            <a:spLocks noGrp="1"/>
          </p:cNvSpPr>
          <p:nvPr/>
        </p:nvSpPr>
        <p:spPr>
          <a:xfrm>
            <a:off x="8115300" y="1943100"/>
            <a:ext cx="31242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032FB3-AA95-4660-A8A4-CF437DB435EB}"/>
              </a:ext>
            </a:extLst>
          </p:cNvPr>
          <p:cNvSpPr>
            <a:spLocks noGrp="1"/>
          </p:cNvSpPr>
          <p:nvPr/>
        </p:nvSpPr>
        <p:spPr>
          <a:xfrm>
            <a:off x="8210550" y="2047875"/>
            <a:ext cx="2933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擴展倍率／判讀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B83F6E-34AB-49FE-A5D5-F8BE92820CE3}"/>
              </a:ext>
            </a:extLst>
          </p:cNvPr>
          <p:cNvSpPr>
            <a:spLocks noGrp="1"/>
          </p:cNvSpPr>
          <p:nvPr/>
        </p:nvSpPr>
        <p:spPr>
          <a:xfrm>
            <a:off x="495300" y="2343150"/>
            <a:ext cx="1809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62869A-ABC8-4F70-9EE8-F302E61C25F5}"/>
              </a:ext>
            </a:extLst>
          </p:cNvPr>
          <p:cNvSpPr>
            <a:spLocks noGrp="1"/>
          </p:cNvSpPr>
          <p:nvPr/>
        </p:nvSpPr>
        <p:spPr>
          <a:xfrm>
            <a:off x="590550" y="25146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Galera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869A896-932A-4295-BC0D-A1EB83522682}"/>
              </a:ext>
            </a:extLst>
          </p:cNvPr>
          <p:cNvSpPr>
            <a:spLocks noGrp="1"/>
          </p:cNvSpPr>
          <p:nvPr/>
        </p:nvSpPr>
        <p:spPr>
          <a:xfrm>
            <a:off x="2400300" y="23431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550EAFB-B971-4139-9FD2-FEAC8BE372C0}"/>
              </a:ext>
            </a:extLst>
          </p:cNvPr>
          <p:cNvSpPr>
            <a:spLocks noGrp="1"/>
          </p:cNvSpPr>
          <p:nvPr/>
        </p:nvSpPr>
        <p:spPr>
          <a:xfrm>
            <a:off x="2495550" y="25146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53,791.9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F37E2BF-E3D1-48F2-AF9D-01822B99E85C}"/>
              </a:ext>
            </a:extLst>
          </p:cNvPr>
          <p:cNvSpPr>
            <a:spLocks noGrp="1"/>
          </p:cNvSpPr>
          <p:nvPr/>
        </p:nvSpPr>
        <p:spPr>
          <a:xfrm>
            <a:off x="4495800" y="23431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F62C72-19C2-470E-830D-00DA36030D75}"/>
              </a:ext>
            </a:extLst>
          </p:cNvPr>
          <p:cNvSpPr>
            <a:spLocks noGrp="1"/>
          </p:cNvSpPr>
          <p:nvPr/>
        </p:nvSpPr>
        <p:spPr>
          <a:xfrm>
            <a:off x="4591050" y="25146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26,166.2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643D77-9ECF-47A7-964B-B33AA70B33BB}"/>
              </a:ext>
            </a:extLst>
          </p:cNvPr>
          <p:cNvSpPr>
            <a:spLocks noGrp="1"/>
          </p:cNvSpPr>
          <p:nvPr/>
        </p:nvSpPr>
        <p:spPr>
          <a:xfrm>
            <a:off x="6591300" y="2343150"/>
            <a:ext cx="1428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5D98A3-0F11-4FD3-94C2-4D7BE8D34EA7}"/>
              </a:ext>
            </a:extLst>
          </p:cNvPr>
          <p:cNvSpPr>
            <a:spLocks noGrp="1"/>
          </p:cNvSpPr>
          <p:nvPr/>
        </p:nvSpPr>
        <p:spPr>
          <a:xfrm>
            <a:off x="6686550" y="251460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−51%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D91C20-46E8-4E48-94EF-ADE74005D312}"/>
              </a:ext>
            </a:extLst>
          </p:cNvPr>
          <p:cNvSpPr>
            <a:spLocks noGrp="1"/>
          </p:cNvSpPr>
          <p:nvPr/>
        </p:nvSpPr>
        <p:spPr>
          <a:xfrm>
            <a:off x="8115300" y="2343150"/>
            <a:ext cx="312420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C768912-28B2-4E75-A7A0-3CCC0555BF0C}"/>
              </a:ext>
            </a:extLst>
          </p:cNvPr>
          <p:cNvSpPr>
            <a:spLocks noGrp="1"/>
          </p:cNvSpPr>
          <p:nvPr/>
        </p:nvSpPr>
        <p:spPr>
          <a:xfrm>
            <a:off x="8210550" y="25146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0.49×　吞吐下降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5E70A85-0707-4130-A529-E67395A6D339}"/>
              </a:ext>
            </a:extLst>
          </p:cNvPr>
          <p:cNvSpPr>
            <a:spLocks noGrp="1"/>
          </p:cNvSpPr>
          <p:nvPr/>
        </p:nvSpPr>
        <p:spPr>
          <a:xfrm>
            <a:off x="495300" y="2933700"/>
            <a:ext cx="1809750" cy="590550"/>
          </a:xfrm>
          <a:prstGeom prst="rect">
            <a:avLst/>
          </a:prstGeom>
          <a:solidFill>
            <a:srgbClr val="E8F1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0F3BB7E-1D15-4CB9-9279-E1ADDFFA251D}"/>
              </a:ext>
            </a:extLst>
          </p:cNvPr>
          <p:cNvSpPr>
            <a:spLocks noGrp="1"/>
          </p:cNvSpPr>
          <p:nvPr/>
        </p:nvSpPr>
        <p:spPr>
          <a:xfrm>
            <a:off x="590550" y="3105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TiDB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817D756-0B9E-4FF8-B3BF-A08E22B980C5}"/>
              </a:ext>
            </a:extLst>
          </p:cNvPr>
          <p:cNvSpPr>
            <a:spLocks noGrp="1"/>
          </p:cNvSpPr>
          <p:nvPr/>
        </p:nvSpPr>
        <p:spPr>
          <a:xfrm>
            <a:off x="2400300" y="2933700"/>
            <a:ext cx="2000250" cy="590550"/>
          </a:xfrm>
          <a:prstGeom prst="rect">
            <a:avLst/>
          </a:prstGeom>
          <a:solidFill>
            <a:srgbClr val="E8F1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8E079AD-6213-48DB-A1ED-D37EADC988B8}"/>
              </a:ext>
            </a:extLst>
          </p:cNvPr>
          <p:cNvSpPr>
            <a:spLocks noGrp="1"/>
          </p:cNvSpPr>
          <p:nvPr/>
        </p:nvSpPr>
        <p:spPr>
          <a:xfrm>
            <a:off x="2495550" y="3105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13,064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2250426-61E6-4117-BD79-7EAB0917F37E}"/>
              </a:ext>
            </a:extLst>
          </p:cNvPr>
          <p:cNvSpPr>
            <a:spLocks noGrp="1"/>
          </p:cNvSpPr>
          <p:nvPr/>
        </p:nvSpPr>
        <p:spPr>
          <a:xfrm>
            <a:off x="4495800" y="2933700"/>
            <a:ext cx="2000250" cy="590550"/>
          </a:xfrm>
          <a:prstGeom prst="rect">
            <a:avLst/>
          </a:prstGeom>
          <a:solidFill>
            <a:srgbClr val="E8F1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7499361-23DF-442E-9064-44195F61FB7E}"/>
              </a:ext>
            </a:extLst>
          </p:cNvPr>
          <p:cNvSpPr>
            <a:spLocks noGrp="1"/>
          </p:cNvSpPr>
          <p:nvPr/>
        </p:nvSpPr>
        <p:spPr>
          <a:xfrm>
            <a:off x="4591050" y="3105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26,947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0E9DC26-5EF4-49D8-9A2B-4EE9A0299CAF}"/>
              </a:ext>
            </a:extLst>
          </p:cNvPr>
          <p:cNvSpPr>
            <a:spLocks noGrp="1"/>
          </p:cNvSpPr>
          <p:nvPr/>
        </p:nvSpPr>
        <p:spPr>
          <a:xfrm>
            <a:off x="6591300" y="2933700"/>
            <a:ext cx="1428750" cy="590550"/>
          </a:xfrm>
          <a:prstGeom prst="rect">
            <a:avLst/>
          </a:prstGeom>
          <a:solidFill>
            <a:srgbClr val="E8F1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1A92736-D0C1-4F94-8A43-B3669680312D}"/>
              </a:ext>
            </a:extLst>
          </p:cNvPr>
          <p:cNvSpPr>
            <a:spLocks noGrp="1"/>
          </p:cNvSpPr>
          <p:nvPr/>
        </p:nvSpPr>
        <p:spPr>
          <a:xfrm>
            <a:off x="6686550" y="31051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+106%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0E15665-5419-4B6E-8ED6-0B0933D47C4E}"/>
              </a:ext>
            </a:extLst>
          </p:cNvPr>
          <p:cNvSpPr>
            <a:spLocks noGrp="1"/>
          </p:cNvSpPr>
          <p:nvPr/>
        </p:nvSpPr>
        <p:spPr>
          <a:xfrm>
            <a:off x="8115300" y="2933700"/>
            <a:ext cx="3124200" cy="590550"/>
          </a:xfrm>
          <a:prstGeom prst="rect">
            <a:avLst/>
          </a:prstGeom>
          <a:solidFill>
            <a:srgbClr val="E8F1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E6E5011-8E97-4358-BA72-65E53B5B3DB3}"/>
              </a:ext>
            </a:extLst>
          </p:cNvPr>
          <p:cNvSpPr>
            <a:spLocks noGrp="1"/>
          </p:cNvSpPr>
          <p:nvPr/>
        </p:nvSpPr>
        <p:spPr>
          <a:xfrm>
            <a:off x="8210550" y="310515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2.06×　擴展倍率最高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12707CA-1427-4580-A63E-D782C01B1899}"/>
              </a:ext>
            </a:extLst>
          </p:cNvPr>
          <p:cNvSpPr>
            <a:spLocks noGrp="1"/>
          </p:cNvSpPr>
          <p:nvPr/>
        </p:nvSpPr>
        <p:spPr>
          <a:xfrm>
            <a:off x="495300" y="3524250"/>
            <a:ext cx="1809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9706036-2E65-424D-88A3-E450FE37375F}"/>
              </a:ext>
            </a:extLst>
          </p:cNvPr>
          <p:cNvSpPr>
            <a:spLocks noGrp="1"/>
          </p:cNvSpPr>
          <p:nvPr/>
        </p:nvSpPr>
        <p:spPr>
          <a:xfrm>
            <a:off x="590550" y="36957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YugabyteDB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35A460F-116B-4EDE-9E6E-F492C0B71A0C}"/>
              </a:ext>
            </a:extLst>
          </p:cNvPr>
          <p:cNvSpPr>
            <a:spLocks noGrp="1"/>
          </p:cNvSpPr>
          <p:nvPr/>
        </p:nvSpPr>
        <p:spPr>
          <a:xfrm>
            <a:off x="2400300" y="35242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6150DD6-8DEE-4B21-BBEF-8765F811AE0C}"/>
              </a:ext>
            </a:extLst>
          </p:cNvPr>
          <p:cNvSpPr>
            <a:spLocks noGrp="1"/>
          </p:cNvSpPr>
          <p:nvPr/>
        </p:nvSpPr>
        <p:spPr>
          <a:xfrm>
            <a:off x="2495550" y="36957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11,436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4887EFF-B0F2-461A-9559-43AF16B0E506}"/>
              </a:ext>
            </a:extLst>
          </p:cNvPr>
          <p:cNvSpPr>
            <a:spLocks noGrp="1"/>
          </p:cNvSpPr>
          <p:nvPr/>
        </p:nvSpPr>
        <p:spPr>
          <a:xfrm>
            <a:off x="4495800" y="35242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8B1B33A-0554-4109-A491-0EDCBD9A10CC}"/>
              </a:ext>
            </a:extLst>
          </p:cNvPr>
          <p:cNvSpPr>
            <a:spLocks noGrp="1"/>
          </p:cNvSpPr>
          <p:nvPr/>
        </p:nvSpPr>
        <p:spPr>
          <a:xfrm>
            <a:off x="4591050" y="36957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15,632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6D06BA4-BA95-4351-BF06-6144E0A881A4}"/>
              </a:ext>
            </a:extLst>
          </p:cNvPr>
          <p:cNvSpPr>
            <a:spLocks noGrp="1"/>
          </p:cNvSpPr>
          <p:nvPr/>
        </p:nvSpPr>
        <p:spPr>
          <a:xfrm>
            <a:off x="6591300" y="3524250"/>
            <a:ext cx="1428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C345E99-B153-4BFB-B5EE-10A05DD10CD0}"/>
              </a:ext>
            </a:extLst>
          </p:cNvPr>
          <p:cNvSpPr>
            <a:spLocks noGrp="1"/>
          </p:cNvSpPr>
          <p:nvPr/>
        </p:nvSpPr>
        <p:spPr>
          <a:xfrm>
            <a:off x="6686550" y="369570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+37%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6A9C34D-F733-4C81-B14F-7DD185651AC6}"/>
              </a:ext>
            </a:extLst>
          </p:cNvPr>
          <p:cNvSpPr>
            <a:spLocks noGrp="1"/>
          </p:cNvSpPr>
          <p:nvPr/>
        </p:nvSpPr>
        <p:spPr>
          <a:xfrm>
            <a:off x="8115300" y="3524250"/>
            <a:ext cx="312420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FA65705-D4BD-4F12-8077-52BD7B037CDE}"/>
              </a:ext>
            </a:extLst>
          </p:cNvPr>
          <p:cNvSpPr>
            <a:spLocks noGrp="1"/>
          </p:cNvSpPr>
          <p:nvPr/>
        </p:nvSpPr>
        <p:spPr>
          <a:xfrm>
            <a:off x="8210550" y="36957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1.37×　正向擴展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1C24673-2336-48C7-A282-113A2B72020C}"/>
              </a:ext>
            </a:extLst>
          </p:cNvPr>
          <p:cNvSpPr>
            <a:spLocks noGrp="1"/>
          </p:cNvSpPr>
          <p:nvPr/>
        </p:nvSpPr>
        <p:spPr>
          <a:xfrm>
            <a:off x="495300" y="4114800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3FDDA03-D6A9-4D92-8326-B47EAF3AE786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CockroachDB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73C1D5F-A90F-40DB-A171-41B11F6E4B11}"/>
              </a:ext>
            </a:extLst>
          </p:cNvPr>
          <p:cNvSpPr>
            <a:spLocks noGrp="1"/>
          </p:cNvSpPr>
          <p:nvPr/>
        </p:nvSpPr>
        <p:spPr>
          <a:xfrm>
            <a:off x="2400300" y="41148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C9A13E4-F926-43E3-B8BF-DF8AD1B0D414}"/>
              </a:ext>
            </a:extLst>
          </p:cNvPr>
          <p:cNvSpPr>
            <a:spLocks noGrp="1"/>
          </p:cNvSpPr>
          <p:nvPr/>
        </p:nvSpPr>
        <p:spPr>
          <a:xfrm>
            <a:off x="2495550" y="4286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9,134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604C67C-23B2-4997-AC88-548C1E2B02A0}"/>
              </a:ext>
            </a:extLst>
          </p:cNvPr>
          <p:cNvSpPr>
            <a:spLocks noGrp="1"/>
          </p:cNvSpPr>
          <p:nvPr/>
        </p:nvSpPr>
        <p:spPr>
          <a:xfrm>
            <a:off x="4495800" y="41148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4759917-ADD8-4D16-8508-F2CC847B0F2E}"/>
              </a:ext>
            </a:extLst>
          </p:cNvPr>
          <p:cNvSpPr>
            <a:spLocks noGrp="1"/>
          </p:cNvSpPr>
          <p:nvPr/>
        </p:nvSpPr>
        <p:spPr>
          <a:xfrm>
            <a:off x="4591050" y="4286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15,033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38F2FAB-54A8-4019-BA02-FC990065A827}"/>
              </a:ext>
            </a:extLst>
          </p:cNvPr>
          <p:cNvSpPr>
            <a:spLocks noGrp="1"/>
          </p:cNvSpPr>
          <p:nvPr/>
        </p:nvSpPr>
        <p:spPr>
          <a:xfrm>
            <a:off x="6591300" y="411480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8AAA363-D764-4C37-A9AE-D1B32478AC10}"/>
              </a:ext>
            </a:extLst>
          </p:cNvPr>
          <p:cNvSpPr>
            <a:spLocks noGrp="1"/>
          </p:cNvSpPr>
          <p:nvPr/>
        </p:nvSpPr>
        <p:spPr>
          <a:xfrm>
            <a:off x="6686550" y="42862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+65%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E10DE6C-89C9-4786-BEFD-121CCA2D6081}"/>
              </a:ext>
            </a:extLst>
          </p:cNvPr>
          <p:cNvSpPr>
            <a:spLocks noGrp="1"/>
          </p:cNvSpPr>
          <p:nvPr/>
        </p:nvSpPr>
        <p:spPr>
          <a:xfrm>
            <a:off x="8115300" y="4114800"/>
            <a:ext cx="31242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A1B5EFD-6DB9-43E4-ADA8-A0FADA2F6D3B}"/>
              </a:ext>
            </a:extLst>
          </p:cNvPr>
          <p:cNvSpPr>
            <a:spLocks noGrp="1"/>
          </p:cNvSpPr>
          <p:nvPr/>
        </p:nvSpPr>
        <p:spPr>
          <a:xfrm>
            <a:off x="8210550" y="428625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1.65×　正向擴展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166FECA-5E6D-400A-A42C-5A3600CE2836}"/>
              </a:ext>
            </a:extLst>
          </p:cNvPr>
          <p:cNvSpPr>
            <a:spLocks noGrp="1"/>
          </p:cNvSpPr>
          <p:nvPr/>
        </p:nvSpPr>
        <p:spPr>
          <a:xfrm>
            <a:off x="495300" y="4953000"/>
            <a:ext cx="10744200" cy="8572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6D0A3C1-998B-487F-BB9E-61DCD890CFC6}"/>
              </a:ext>
            </a:extLst>
          </p:cNvPr>
          <p:cNvSpPr>
            <a:spLocks noGrp="1"/>
          </p:cNvSpPr>
          <p:nvPr/>
        </p:nvSpPr>
        <p:spPr>
          <a:xfrm>
            <a:off x="723900" y="5238750"/>
            <a:ext cx="10239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判讀方式：倍率只回答新增節點後的吞吐變化，不代表產品排名。</a:t>
            </a:r>
          </a:p>
          <a:p>
            <a:pPr algn="l">
              <a:buNone/>
              <a:defRPr sz="142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 dirty="0" err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本輪結果：Galera 仍具低延遲優勢；TiDB 的三節點擴展倍率最高。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68CF052-941E-4F0E-8186-6597127C6459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來源：DISTRIBUTED-DB-SCORING §3.2；數據僅作方向性判讀</a:t>
            </a:r>
          </a:p>
        </p:txBody>
      </p:sp>
    </p:spTree>
    <p:extLst>
      <p:ext uri="{BB962C8B-B14F-4D97-AF65-F5344CB8AC3E}">
        <p14:creationId xmlns:p14="http://schemas.microsoft.com/office/powerpoint/2010/main" val="1722240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0F97943-2BC5-4527-A994-E4012F6D57E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WHAT NEXT?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A76EE3-F0DE-4A0D-907B-9567B79E013B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導入 TiDB 的分階段執行計畫</a:t>
            </a:r>
          </a:p>
        </p:txBody>
      </p:sp>
      <p:cxnSp>
        <p:nvCxnSpPr>
          <p:cNvPr id="55" name="直線箭頭接點 33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72F4001-2112-4B37-A303-EFBB146CE364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cxnSp>
        <p:nvCxnSpPr>
          <p:cNvPr id="57" name="直線箭頭接點 35"/>
          <p:cNvCxnSpPr/>
          <p:nvPr/>
        </p:nvCxnSpPr>
        <p:spPr>
          <a:xfrm>
            <a:off x="2381250" y="3352800"/>
            <a:ext cx="1285875" cy="0"/>
          </a:xfrm>
          <a:prstGeom prst="straightConnector1">
            <a:avLst/>
          </a:prstGeom>
          <a:ln w="38100">
            <a:solidFill>
              <a:srgbClr val="2563EB"/>
            </a:solidFill>
            <a:prstDash val="solid"/>
          </a:ln>
        </p:spPr>
      </p:cxnSp>
      <p:cxnSp>
        <p:nvCxnSpPr>
          <p:cNvPr id="58" name="直線箭頭接點 36"/>
          <p:cNvCxnSpPr/>
          <p:nvPr/>
        </p:nvCxnSpPr>
        <p:spPr>
          <a:xfrm>
            <a:off x="5095875" y="3352800"/>
            <a:ext cx="1285875" cy="0"/>
          </a:xfrm>
          <a:prstGeom prst="straightConnector1">
            <a:avLst/>
          </a:prstGeom>
          <a:ln w="38100">
            <a:solidFill>
              <a:srgbClr val="2563EB"/>
            </a:solidFill>
            <a:prstDash val="solid"/>
          </a:ln>
        </p:spPr>
      </p:cxnSp>
      <p:cxnSp>
        <p:nvCxnSpPr>
          <p:cNvPr id="59" name="直線箭頭接點 37"/>
          <p:cNvCxnSpPr/>
          <p:nvPr/>
        </p:nvCxnSpPr>
        <p:spPr>
          <a:xfrm>
            <a:off x="7810500" y="3352800"/>
            <a:ext cx="1285875" cy="0"/>
          </a:xfrm>
          <a:prstGeom prst="straightConnector1">
            <a:avLst/>
          </a:prstGeom>
          <a:ln w="38100">
            <a:solidFill>
              <a:srgbClr val="D0D5DD"/>
            </a:solidFill>
            <a:prstDash val="solid"/>
          </a:ln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81631554-4E11-4F6E-8BFB-E6ECD74EE6D7}"/>
              </a:ext>
            </a:extLst>
          </p:cNvPr>
          <p:cNvSpPr>
            <a:spLocks noGrp="1"/>
          </p:cNvSpPr>
          <p:nvPr/>
        </p:nvSpPr>
        <p:spPr>
          <a:xfrm>
            <a:off x="3429000" y="3114675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0721C6-3BC7-48DD-B0D2-AE3FF40FC208}"/>
              </a:ext>
            </a:extLst>
          </p:cNvPr>
          <p:cNvSpPr>
            <a:spLocks noGrp="1"/>
          </p:cNvSpPr>
          <p:nvPr/>
        </p:nvSpPr>
        <p:spPr>
          <a:xfrm>
            <a:off x="6143625" y="3114675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F0E1C8-D6FF-42FE-8365-0672E0D2C348}"/>
              </a:ext>
            </a:extLst>
          </p:cNvPr>
          <p:cNvSpPr>
            <a:spLocks noGrp="1"/>
          </p:cNvSpPr>
          <p:nvPr/>
        </p:nvSpPr>
        <p:spPr>
          <a:xfrm>
            <a:off x="8858250" y="3114675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55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45560384-46E3-446B-9636-F3939F1AFD4A}"/>
              </a:ext>
            </a:extLst>
          </p:cNvPr>
          <p:cNvSpPr>
            <a:spLocks noGrp="1"/>
          </p:cNvSpPr>
          <p:nvPr/>
        </p:nvSpPr>
        <p:spPr>
          <a:xfrm>
            <a:off x="495300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E9F2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3B2B7D-4E87-4F3C-87AC-104B951EDB87}"/>
              </a:ext>
            </a:extLst>
          </p:cNvPr>
          <p:cNvSpPr>
            <a:spLocks noGrp="1"/>
          </p:cNvSpPr>
          <p:nvPr/>
        </p:nvSpPr>
        <p:spPr>
          <a:xfrm>
            <a:off x="723900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6AE551-B43C-4074-84E4-537C57E27E37}"/>
              </a:ext>
            </a:extLst>
          </p:cNvPr>
          <p:cNvSpPr>
            <a:spLocks noGrp="1"/>
          </p:cNvSpPr>
          <p:nvPr/>
        </p:nvSpPr>
        <p:spPr>
          <a:xfrm>
            <a:off x="723900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IDC Only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580F64-A684-4351-B6C2-3599F82A4C21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1924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171450" indent="-171450" algn="l">
              <a:lnSpc>
                <a:spcPct val="100000"/>
              </a:lnSpc>
              <a:buFontTx/>
              <a:buChar char="-"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維運／備份／監控</a:t>
            </a:r>
            <a:endParaRPr lang="en-US" sz="105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marL="171450" indent="-171450" algn="l">
              <a:lnSpc>
                <a:spcPct val="100000"/>
              </a:lnSpc>
              <a:buFontTx/>
              <a:buChar char="-"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" altLang="zh-TW" sz="105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Pilot </a:t>
            </a: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應用</a:t>
            </a:r>
            <a:r>
              <a:rPr lang="en-US" sz="105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: Account Center</a:t>
            </a:r>
            <a:br>
              <a:rPr lang="en-US" sz="105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</a:br>
            <a:endParaRPr lang="en-US" sz="105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marL="171450" indent="-171450" algn="l">
              <a:lnSpc>
                <a:spcPct val="100000"/>
              </a:lnSpc>
              <a:buFontTx/>
              <a:buChar char="-"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協作</a:t>
            </a:r>
            <a:r>
              <a:rPr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：</a:t>
            </a:r>
            <a:r>
              <a:rPr lang="zh-TW" altLang="en-US"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僅需虛擬化平台資源</a:t>
            </a:r>
            <a:endParaRPr sz="1050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2E85A7F5-8D35-48DE-A27A-72FC9955D5E7}"/>
              </a:ext>
            </a:extLst>
          </p:cNvPr>
          <p:cNvSpPr>
            <a:spLocks noGrp="1"/>
          </p:cNvSpPr>
          <p:nvPr/>
        </p:nvSpPr>
        <p:spPr>
          <a:xfrm>
            <a:off x="3209925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E9F2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46BA9E-CF13-4DFC-B493-ED2A08871EAF}"/>
              </a:ext>
            </a:extLst>
          </p:cNvPr>
          <p:cNvSpPr>
            <a:spLocks noGrp="1"/>
          </p:cNvSpPr>
          <p:nvPr/>
        </p:nvSpPr>
        <p:spPr>
          <a:xfrm>
            <a:off x="3438525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C8A65-E55F-42B8-BBCF-1FFD34F02D7B}"/>
              </a:ext>
            </a:extLst>
          </p:cNvPr>
          <p:cNvSpPr>
            <a:spLocks noGrp="1"/>
          </p:cNvSpPr>
          <p:nvPr/>
        </p:nvSpPr>
        <p:spPr>
          <a:xfrm>
            <a:off x="3438525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IDC + EDC A/S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1C2E02-99C4-4E19-BEBA-92AAA407BF03}"/>
              </a:ext>
            </a:extLst>
          </p:cNvPr>
          <p:cNvSpPr>
            <a:spLocks noGrp="1"/>
          </p:cNvSpPr>
          <p:nvPr/>
        </p:nvSpPr>
        <p:spPr>
          <a:xfrm>
            <a:off x="3438525" y="3333750"/>
            <a:ext cx="1924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171450" indent="-171450" algn="l">
              <a:lnSpc>
                <a:spcPct val="100000"/>
              </a:lnSpc>
              <a:buFontTx/>
              <a:buChar char="-"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IDC </a:t>
            </a: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主寫／EDC</a:t>
            </a:r>
            <a:r>
              <a:rPr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副本</a:t>
            </a:r>
            <a:endParaRPr lang="en-US" sz="105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marL="171450" indent="-171450" algn="l">
              <a:lnSpc>
                <a:spcPct val="100000"/>
              </a:lnSpc>
              <a:buFontTx/>
              <a:buChar char="-"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切換與回復演練</a:t>
            </a:r>
            <a:br>
              <a:rPr lang="en-US"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</a:br>
            <a:endParaRPr lang="en-US" sz="105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marL="171450" indent="-171450" algn="l">
              <a:lnSpc>
                <a:spcPct val="100000"/>
              </a:lnSpc>
              <a:buFontTx/>
              <a:buChar char="-"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協作：</a:t>
            </a:r>
            <a:r>
              <a:rPr lang="en-US"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</a:t>
            </a:r>
            <a:r>
              <a:rPr lang="en-US"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/ HVM / </a:t>
            </a:r>
            <a:r>
              <a:rPr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3EAB6AFD-580F-492B-B5C3-C3EE7930F843}"/>
              </a:ext>
            </a:extLst>
          </p:cNvPr>
          <p:cNvSpPr>
            <a:spLocks noGrp="1"/>
          </p:cNvSpPr>
          <p:nvPr/>
        </p:nvSpPr>
        <p:spPr>
          <a:xfrm>
            <a:off x="5924550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E9F2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398ECBA-D75C-4B5C-9A08-7422EF23F0C5}"/>
              </a:ext>
            </a:extLst>
          </p:cNvPr>
          <p:cNvSpPr>
            <a:spLocks noGrp="1"/>
          </p:cNvSpPr>
          <p:nvPr/>
        </p:nvSpPr>
        <p:spPr>
          <a:xfrm>
            <a:off x="6153150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CA2709-59C4-426E-9457-9CC377B73D39}"/>
              </a:ext>
            </a:extLst>
          </p:cNvPr>
          <p:cNvSpPr>
            <a:spLocks noGrp="1"/>
          </p:cNvSpPr>
          <p:nvPr/>
        </p:nvSpPr>
        <p:spPr>
          <a:xfrm>
            <a:off x="6153150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A/A-RO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47163D-BE11-4329-A49F-01FC42BAF540}"/>
              </a:ext>
            </a:extLst>
          </p:cNvPr>
          <p:cNvSpPr>
            <a:spLocks noGrp="1"/>
          </p:cNvSpPr>
          <p:nvPr/>
        </p:nvSpPr>
        <p:spPr>
          <a:xfrm>
            <a:off x="6153150" y="3333750"/>
            <a:ext cx="21526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171450" indent="-171450" algn="l">
              <a:lnSpc>
                <a:spcPct val="100000"/>
              </a:lnSpc>
              <a:buFontTx/>
              <a:buChar char="-"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EDC </a:t>
            </a: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就近讀</a:t>
            </a:r>
            <a:endParaRPr lang="en-US" sz="105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marL="171450" indent="-171450" algn="l">
              <a:lnSpc>
                <a:spcPct val="100000"/>
              </a:lnSpc>
              <a:buFontTx/>
              <a:buChar char="-"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確認可在</a:t>
            </a:r>
            <a:r>
              <a:rPr lang="en-US"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EDC </a:t>
            </a:r>
            <a:r>
              <a:rPr lang="en-US"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獨立運作的</a:t>
            </a:r>
            <a:r>
              <a:rPr lang="en-US" sz="105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需求</a:t>
            </a:r>
            <a:endParaRPr lang="en-US" sz="105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marL="171450" indent="-171450" algn="l">
              <a:lnSpc>
                <a:spcPct val="100000"/>
              </a:lnSpc>
              <a:buFontTx/>
              <a:buChar char="-"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endParaRPr lang="en-US" sz="1050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marL="171450" indent="-171450" algn="l">
              <a:lnSpc>
                <a:spcPct val="100000"/>
              </a:lnSpc>
              <a:buFontTx/>
              <a:buChar char="-"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協作：TSD／RD</a:t>
            </a:r>
            <a:r>
              <a:rPr lang="en-US"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/ </a:t>
            </a:r>
            <a:r>
              <a:rPr lang="en-US" altLang="zh-TW" sz="105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SE / HVM / Network</a:t>
            </a: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EF592D52-A4D4-4A32-84A0-00C5E71D3D81}"/>
              </a:ext>
            </a:extLst>
          </p:cNvPr>
          <p:cNvSpPr>
            <a:spLocks noGrp="1"/>
          </p:cNvSpPr>
          <p:nvPr/>
        </p:nvSpPr>
        <p:spPr>
          <a:xfrm>
            <a:off x="8639175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F2F4F7"/>
          </a:solidFill>
          <a:ln w="9525">
            <a:solidFill>
              <a:srgbClr val="6670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88D4DC-C80A-4FE3-B9C3-A452ED7AC7A3}"/>
              </a:ext>
            </a:extLst>
          </p:cNvPr>
          <p:cNvSpPr>
            <a:spLocks noGrp="1"/>
          </p:cNvSpPr>
          <p:nvPr/>
        </p:nvSpPr>
        <p:spPr>
          <a:xfrm>
            <a:off x="8867775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S3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D44CC6E-56B2-4BA7-AC16-BE128D4508C0}"/>
              </a:ext>
            </a:extLst>
          </p:cNvPr>
          <p:cNvSpPr>
            <a:spLocks noGrp="1"/>
          </p:cNvSpPr>
          <p:nvPr/>
        </p:nvSpPr>
        <p:spPr>
          <a:xfrm>
            <a:off x="8867775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A/A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142CF39-C506-4ADE-BEEB-4938ABD35E5B}"/>
              </a:ext>
            </a:extLst>
          </p:cNvPr>
          <p:cNvSpPr>
            <a:spLocks noGrp="1"/>
          </p:cNvSpPr>
          <p:nvPr/>
        </p:nvSpPr>
        <p:spPr>
          <a:xfrm>
            <a:off x="8867775" y="3333750"/>
            <a:ext cx="1924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雙區寫入需求與</a:t>
            </a:r>
            <a:r>
              <a:rPr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ROI </a:t>
            </a: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成立</a:t>
            </a:r>
            <a:endParaRPr sz="1050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非</a:t>
            </a:r>
            <a:r>
              <a:rPr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DB </a:t>
            </a: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阻礙解除後再評估</a:t>
            </a:r>
            <a:endParaRPr sz="1050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EBFC78D-6DEC-46A3-911A-423396D7B2C1}"/>
              </a:ext>
            </a:extLst>
          </p:cNvPr>
          <p:cNvSpPr>
            <a:spLocks noGrp="1"/>
          </p:cNvSpPr>
          <p:nvPr/>
        </p:nvSpPr>
        <p:spPr>
          <a:xfrm>
            <a:off x="495300" y="4972050"/>
            <a:ext cx="7810500" cy="876300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5976A02-2AEA-4924-BBDD-674CB5B39F47}"/>
              </a:ext>
            </a:extLst>
          </p:cNvPr>
          <p:cNvSpPr>
            <a:spLocks noGrp="1"/>
          </p:cNvSpPr>
          <p:nvPr/>
        </p:nvSpPr>
        <p:spPr>
          <a:xfrm>
            <a:off x="723900" y="5229225"/>
            <a:ext cx="733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buNone/>
              <a:defRPr sz="1575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dirty="0" err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建議：先補相容性、相關維運需求，再以 Pilot 驗證；專線、副本與切換演練通過後再往下一階段邁進。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0BAB6D-007A-497D-9975-231698B03F01}"/>
              </a:ext>
            </a:extLst>
          </p:cNvPr>
          <p:cNvSpPr>
            <a:spLocks noGrp="1"/>
          </p:cNvSpPr>
          <p:nvPr/>
        </p:nvSpPr>
        <p:spPr>
          <a:xfrm>
            <a:off x="8524875" y="4972050"/>
            <a:ext cx="2714625" cy="87630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0FB926B-B8CE-46FC-99AC-8B11DAE0D85E}"/>
              </a:ext>
            </a:extLst>
          </p:cNvPr>
          <p:cNvSpPr>
            <a:spLocks noGrp="1"/>
          </p:cNvSpPr>
          <p:nvPr/>
        </p:nvSpPr>
        <p:spPr>
          <a:xfrm>
            <a:off x="8763000" y="5210175"/>
            <a:ext cx="223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S3 不納入規劃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30C542B-F04A-4FE6-B69C-D41E6A6881ED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§3.1–§3.2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E5400B7-4EFD-2D40-978A-9574E058DE01}"/>
              </a:ext>
            </a:extLst>
          </p:cNvPr>
          <p:cNvSpPr txBox="1"/>
          <p:nvPr/>
        </p:nvSpPr>
        <p:spPr>
          <a:xfrm>
            <a:off x="762000" y="1485900"/>
            <a:ext cx="84772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Phase 0 → S0 Pilot → S1 A/S → S2 A/A (RO)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3780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42B2F-083F-E3DF-0EB0-7EEB0CC16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28F08A1-1851-8D17-45BC-3189E8DA906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WHAT NEXT?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F4A94D-80FC-A36F-1C7D-3B8E79926FEB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產品期待</a:t>
            </a:r>
            <a:endParaRPr lang="en-US" altLang="zh-TW" sz="3000" b="1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cxnSp>
        <p:nvCxnSpPr>
          <p:cNvPr id="55" name="直線箭頭接點 33">
            <a:extLst>
              <a:ext uri="{FF2B5EF4-FFF2-40B4-BE49-F238E27FC236}">
                <a16:creationId xmlns:a16="http://schemas.microsoft.com/office/drawing/2014/main" id="{9E06CEA7-8D4C-127E-F298-5E5E6C1D614F}"/>
              </a:ext>
            </a:extLst>
          </p:cNvPr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D504FF88-8CE5-D4BD-9612-AC117861AB8B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D123B31-E1D9-9D79-4912-FEEB8703804E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§3.1–§3.2</a:t>
            </a:r>
          </a:p>
        </p:txBody>
      </p:sp>
      <p:sp>
        <p:nvSpPr>
          <p:cNvPr id="60" name="Product expectations intro"/>
          <p:cNvSpPr txBox="1"/>
          <p:nvPr/>
        </p:nvSpPr>
        <p:spPr>
          <a:xfrm>
            <a:off x="495300" y="1514475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zh-TW" sz="1800" b="0">
                <a:solidFill>
                  <a:srgbClr val="344054"/>
                </a:solidFill>
                <a:latin typeface="PingFang TC"/>
                <a:ea typeface="PingFang TC"/>
              </a:rPr>
              <a:t>將 PoC 能力轉成可使用、可營運、可擴展的資料庫服務。</a:t>
            </a:r>
            <a:endParaRPr lang="zh-TW" sz="1800"/>
          </a:p>
        </p:txBody>
      </p:sp>
      <p:sp>
        <p:nvSpPr>
          <p:cNvPr id="61" name="Database Self-Service panel"/>
          <p:cNvSpPr/>
          <p:nvPr/>
        </p:nvSpPr>
        <p:spPr>
          <a:xfrm>
            <a:off x="495300" y="2219325"/>
            <a:ext cx="3581400" cy="2670000"/>
          </a:xfrm>
          <a:prstGeom prst="rect">
            <a:avLst/>
          </a:prstGeom>
          <a:solidFill>
            <a:srgbClr val="E8F1FF"/>
          </a:solidFill>
          <a:ln w="12700">
            <a:solidFill>
              <a:srgbClr val="D0D5DD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Database Self-Service title"/>
          <p:cNvSpPr txBox="1"/>
          <p:nvPr/>
        </p:nvSpPr>
        <p:spPr>
          <a:xfrm>
            <a:off x="781050" y="2466975"/>
            <a:ext cx="30099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zh-TW" sz="1950" b="1">
                <a:solidFill>
                  <a:srgbClr val="2563EB"/>
                </a:solidFill>
                <a:latin typeface="PingFang TC"/>
                <a:ea typeface="PingFang TC"/>
              </a:rPr>
              <a:t>Database Self-Service</a:t>
            </a:r>
            <a:endParaRPr lang="zh-TW" sz="1950"/>
          </a:p>
        </p:txBody>
      </p:sp>
      <p:sp>
        <p:nvSpPr>
          <p:cNvPr id="63" name="Database Self-Service body"/>
          <p:cNvSpPr txBox="1"/>
          <p:nvPr/>
        </p:nvSpPr>
        <p:spPr>
          <a:xfrm>
            <a:off x="781050" y="3143250"/>
            <a:ext cx="3009900" cy="1285875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0" bIns="0" anchor="t">
            <a:normAutofit/>
          </a:bodyPr>
          <a:lstStyle/>
          <a:p>
            <a:pPr algn="l"/>
            <a:r>
              <a:rPr lang="zh-TW" sz="1475" b="0" dirty="0">
                <a:solidFill>
                  <a:srgbClr val="101828"/>
                </a:solidFill>
                <a:latin typeface="PingFang TC"/>
                <a:ea typeface="PingFang TC"/>
              </a:rPr>
              <a:t>• 申請、權限、</a:t>
            </a:r>
            <a:r>
              <a:rPr lang="zh-TW" altLang="en-US" sz="1475" b="0" dirty="0">
                <a:solidFill>
                  <a:srgbClr val="101828"/>
                </a:solidFill>
                <a:latin typeface="PingFang TC"/>
                <a:ea typeface="PingFang TC"/>
              </a:rPr>
              <a:t>規格</a:t>
            </a:r>
            <a:r>
              <a:rPr lang="zh-TW" sz="1475" b="0" dirty="0">
                <a:solidFill>
                  <a:srgbClr val="101828"/>
                </a:solidFill>
                <a:latin typeface="PingFang TC"/>
                <a:ea typeface="PingFang TC"/>
              </a:rPr>
              <a:t>、備份與退場</a:t>
            </a:r>
            <a:endParaRPr lang="zh-TW" sz="1475" dirty="0"/>
          </a:p>
          <a:p>
            <a:pPr algn="l"/>
            <a:r>
              <a:rPr lang="zh-TW" sz="1475" b="0" dirty="0">
                <a:solidFill>
                  <a:srgbClr val="101828"/>
                </a:solidFill>
                <a:latin typeface="PingFang TC"/>
                <a:ea typeface="PingFang TC"/>
              </a:rPr>
              <a:t>• 讓產品團隊依標準流程取得服務</a:t>
            </a:r>
            <a:endParaRPr lang="zh-TW" sz="1475" dirty="0"/>
          </a:p>
        </p:txBody>
      </p:sp>
      <p:sp>
        <p:nvSpPr>
          <p:cNvPr id="64" name="EDC 資源活化 panel"/>
          <p:cNvSpPr/>
          <p:nvPr/>
        </p:nvSpPr>
        <p:spPr>
          <a:xfrm>
            <a:off x="4305300" y="2219325"/>
            <a:ext cx="3581400" cy="2670000"/>
          </a:xfrm>
          <a:prstGeom prst="rect">
            <a:avLst/>
          </a:prstGeom>
          <a:solidFill>
            <a:srgbClr val="EAF7EE"/>
          </a:solidFill>
          <a:ln w="12700">
            <a:solidFill>
              <a:srgbClr val="D0D5DD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EDC 資源活化 title"/>
          <p:cNvSpPr txBox="1"/>
          <p:nvPr/>
        </p:nvSpPr>
        <p:spPr>
          <a:xfrm>
            <a:off x="4591050" y="2466975"/>
            <a:ext cx="30099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zh-TW" sz="1950" b="1">
                <a:solidFill>
                  <a:srgbClr val="16803C"/>
                </a:solidFill>
                <a:latin typeface="PingFang TC"/>
                <a:ea typeface="PingFang TC"/>
              </a:rPr>
              <a:t>EDC 資源活化</a:t>
            </a:r>
            <a:endParaRPr lang="zh-TW" sz="1950"/>
          </a:p>
        </p:txBody>
      </p:sp>
      <p:sp>
        <p:nvSpPr>
          <p:cNvPr id="66" name="EDC 資源活化 body"/>
          <p:cNvSpPr txBox="1"/>
          <p:nvPr/>
        </p:nvSpPr>
        <p:spPr>
          <a:xfrm>
            <a:off x="4591050" y="3143250"/>
            <a:ext cx="3009900" cy="1285875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0" bIns="0" anchor="t">
            <a:normAutofit/>
          </a:bodyPr>
          <a:lstStyle/>
          <a:p>
            <a:pPr algn="l"/>
            <a:r>
              <a:rPr lang="zh-TW" sz="1475" b="0" dirty="0">
                <a:solidFill>
                  <a:srgbClr val="101828"/>
                </a:solidFill>
                <a:latin typeface="PingFang TC"/>
                <a:ea typeface="PingFang TC"/>
              </a:rPr>
              <a:t>• 先承載就近讀與低風險</a:t>
            </a:r>
            <a:r>
              <a:rPr lang="zh-TW" altLang="en-US" sz="1475" dirty="0">
                <a:solidFill>
                  <a:srgbClr val="101828"/>
                </a:solidFill>
                <a:latin typeface="PingFang TC"/>
                <a:ea typeface="PingFang TC"/>
              </a:rPr>
              <a:t>定期作業</a:t>
            </a:r>
            <a:endParaRPr lang="zh-TW" sz="1475" dirty="0"/>
          </a:p>
          <a:p>
            <a:pPr algn="l"/>
            <a:r>
              <a:rPr lang="zh-TW" sz="1475" b="0" dirty="0">
                <a:solidFill>
                  <a:srgbClr val="101828"/>
                </a:solidFill>
                <a:latin typeface="PingFang TC"/>
                <a:ea typeface="PingFang TC"/>
              </a:rPr>
              <a:t>• 將備援資源轉為可衡量的業務價值</a:t>
            </a:r>
            <a:endParaRPr lang="zh-TW" sz="1475" dirty="0"/>
          </a:p>
        </p:txBody>
      </p:sp>
      <p:sp>
        <p:nvSpPr>
          <p:cNvPr id="67" name="Observability panel"/>
          <p:cNvSpPr/>
          <p:nvPr/>
        </p:nvSpPr>
        <p:spPr>
          <a:xfrm>
            <a:off x="8115300" y="2219325"/>
            <a:ext cx="3581400" cy="267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Observability title"/>
          <p:cNvSpPr txBox="1"/>
          <p:nvPr/>
        </p:nvSpPr>
        <p:spPr>
          <a:xfrm>
            <a:off x="8401050" y="2466975"/>
            <a:ext cx="30099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zh-TW" sz="1950" b="1">
                <a:solidFill>
                  <a:srgbClr val="344054"/>
                </a:solidFill>
                <a:latin typeface="PingFang TC"/>
                <a:ea typeface="PingFang TC"/>
              </a:rPr>
              <a:t>Observability</a:t>
            </a:r>
            <a:endParaRPr lang="zh-TW" sz="1950"/>
          </a:p>
        </p:txBody>
      </p:sp>
      <p:sp>
        <p:nvSpPr>
          <p:cNvPr id="69" name="Observability body"/>
          <p:cNvSpPr txBox="1"/>
          <p:nvPr/>
        </p:nvSpPr>
        <p:spPr>
          <a:xfrm>
            <a:off x="8401050" y="3143250"/>
            <a:ext cx="3009900" cy="1285875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0" bIns="0" anchor="t">
            <a:normAutofit/>
          </a:bodyPr>
          <a:lstStyle/>
          <a:p>
            <a:pPr algn="l"/>
            <a:r>
              <a:rPr lang="zh-TW" sz="1475" b="0" dirty="0">
                <a:solidFill>
                  <a:srgbClr val="101828"/>
                </a:solidFill>
                <a:latin typeface="PingFang TC"/>
                <a:ea typeface="PingFang TC"/>
              </a:rPr>
              <a:t>• 量測恢復、延遲、錯誤率與容量</a:t>
            </a:r>
            <a:endParaRPr lang="zh-TW" sz="1475" dirty="0"/>
          </a:p>
          <a:p>
            <a:pPr algn="l"/>
            <a:r>
              <a:rPr lang="zh-TW" sz="1475" b="0" dirty="0">
                <a:solidFill>
                  <a:srgbClr val="101828"/>
                </a:solidFill>
                <a:latin typeface="PingFang TC"/>
                <a:ea typeface="PingFang TC"/>
              </a:rPr>
              <a:t>• 以使用者可感知指標作為驗收依據</a:t>
            </a:r>
            <a:endParaRPr lang="zh-TW" sz="1475" dirty="0"/>
          </a:p>
        </p:txBody>
      </p:sp>
      <p:sp>
        <p:nvSpPr>
          <p:cNvPr id="70" name="Delivery callout background"/>
          <p:cNvSpPr/>
          <p:nvPr/>
        </p:nvSpPr>
        <p:spPr>
          <a:xfrm>
            <a:off x="495300" y="5153025"/>
            <a:ext cx="11201400" cy="666750"/>
          </a:xfrm>
          <a:prstGeom prst="rect">
            <a:avLst/>
          </a:prstGeom>
          <a:solidFill>
            <a:srgbClr val="E8F1FF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Delivery callout"/>
          <p:cNvSpPr txBox="1"/>
          <p:nvPr/>
        </p:nvSpPr>
        <p:spPr>
          <a:xfrm>
            <a:off x="723900" y="5229225"/>
            <a:ext cx="107442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zh-TW" sz="1650" b="1">
                <a:solidFill>
                  <a:srgbClr val="2563EB"/>
                </a:solidFill>
                <a:latin typeface="PingFang TC"/>
                <a:ea typeface="PingFang TC"/>
              </a:rPr>
              <a:t>交付方式：從 S0 建立最小能力，隨 S1／S2 跨區階段逐步擴充。</a:t>
            </a:r>
            <a:endParaRPr lang="zh-TW" sz="1650"/>
          </a:p>
        </p:txBody>
      </p:sp>
    </p:spTree>
    <p:extLst>
      <p:ext uri="{BB962C8B-B14F-4D97-AF65-F5344CB8AC3E}">
        <p14:creationId xmlns:p14="http://schemas.microsoft.com/office/powerpoint/2010/main" val="884321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8E1B998-439D-C24C-BE48-7A087B91295D}"/>
              </a:ext>
            </a:extLst>
          </p:cNvPr>
          <p:cNvSpPr>
            <a:spLocks noGrp="1"/>
          </p:cNvSpPr>
          <p:nvPr/>
        </p:nvSpPr>
        <p:spPr>
          <a:xfrm>
            <a:off x="1137557" y="4759778"/>
            <a:ext cx="6381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Thanks.</a:t>
            </a:r>
          </a:p>
        </p:txBody>
      </p:sp>
    </p:spTree>
    <p:extLst>
      <p:ext uri="{BB962C8B-B14F-4D97-AF65-F5344CB8AC3E}">
        <p14:creationId xmlns:p14="http://schemas.microsoft.com/office/powerpoint/2010/main" val="3017248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FD01FF5-EFEA-4F12-B7EC-BA2EB9E00545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DECISION MATRIX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91FA4E-23E9-4E6A-9AF7-47A6A8E9C53F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決策表 ①｜業務適配與應用改造</a:t>
            </a:r>
          </a:p>
        </p:txBody>
      </p:sp>
      <p:cxnSp>
        <p:nvCxnSpPr>
          <p:cNvPr id="195" name="直線箭頭接點 136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7B6A8733-9661-4133-A7F2-12C195161D93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AEF60EA3-1EB3-4C91-8134-74E3ED11F545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 Y26｜決策表；完整權重與證據見 DISTRIBUTED-DB-SCORING.md</a:t>
            </a:r>
          </a:p>
        </p:txBody>
      </p:sp>
      <p:sp>
        <p:nvSpPr>
          <p:cNvPr id="138" name="s12-legend">
            <a:extLst>
              <a:ext uri="{FF2B5EF4-FFF2-40B4-BE49-F238E27FC236}">
                <a16:creationId xmlns:a16="http://schemas.microsoft.com/office/drawing/2014/main" id="{9CC6EBF8-FA41-4511-ABF9-4A523C66B8A1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10744200" cy="3238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334155"/>
                </a:solidFill>
              </a:defRPr>
            </a:pPr>
            <a:r>
              <a:rPr sz="938" b="1">
                <a:solidFill>
                  <a:srgbClr val="334155"/>
                </a:solidFill>
              </a:rPr>
              <a:t>O 可行　X 不適用或不建議　△ 有條件可行　｜　共同前置：Phase 0 完成 SQL / ORM 相容性矩陣與 ID 生成改造</a:t>
            </a:r>
          </a:p>
        </p:txBody>
      </p:sp>
      <p:sp>
        <p:nvSpPr>
          <p:cNvPr id="139" name="s12-header-0">
            <a:extLst>
              <a:ext uri="{FF2B5EF4-FFF2-40B4-BE49-F238E27FC236}">
                <a16:creationId xmlns:a16="http://schemas.microsoft.com/office/drawing/2014/main" id="{A07AE57D-A1D1-4D3C-B8AA-D53376EBD3AE}"/>
              </a:ext>
            </a:extLst>
          </p:cNvPr>
          <p:cNvSpPr>
            <a:spLocks noGrp="1"/>
          </p:cNvSpPr>
          <p:nvPr/>
        </p:nvSpPr>
        <p:spPr>
          <a:xfrm>
            <a:off x="495300" y="1924050"/>
            <a:ext cx="2952750" cy="3238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決策問題</a:t>
            </a:r>
          </a:p>
        </p:txBody>
      </p:sp>
      <p:sp>
        <p:nvSpPr>
          <p:cNvPr id="140" name="s12-header-1">
            <a:extLst>
              <a:ext uri="{FF2B5EF4-FFF2-40B4-BE49-F238E27FC236}">
                <a16:creationId xmlns:a16="http://schemas.microsoft.com/office/drawing/2014/main" id="{6285F8B6-BD18-4261-ABE1-BAC3F27C567A}"/>
              </a:ext>
            </a:extLst>
          </p:cNvPr>
          <p:cNvSpPr>
            <a:spLocks noGrp="1"/>
          </p:cNvSpPr>
          <p:nvPr/>
        </p:nvSpPr>
        <p:spPr>
          <a:xfrm>
            <a:off x="3448050" y="1924050"/>
            <a:ext cx="1066800" cy="3238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PXC / Galera</a:t>
            </a:r>
          </a:p>
        </p:txBody>
      </p:sp>
      <p:sp>
        <p:nvSpPr>
          <p:cNvPr id="141" name="s12-header-2">
            <a:extLst>
              <a:ext uri="{FF2B5EF4-FFF2-40B4-BE49-F238E27FC236}">
                <a16:creationId xmlns:a16="http://schemas.microsoft.com/office/drawing/2014/main" id="{6A26BF72-B388-4D0F-BE6E-6739263920EC}"/>
              </a:ext>
            </a:extLst>
          </p:cNvPr>
          <p:cNvSpPr>
            <a:spLocks noGrp="1"/>
          </p:cNvSpPr>
          <p:nvPr/>
        </p:nvSpPr>
        <p:spPr>
          <a:xfrm>
            <a:off x="4514850" y="1924050"/>
            <a:ext cx="1257300" cy="3238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TiDB</a:t>
            </a:r>
          </a:p>
        </p:txBody>
      </p:sp>
      <p:sp>
        <p:nvSpPr>
          <p:cNvPr id="142" name="s12-header-3">
            <a:extLst>
              <a:ext uri="{FF2B5EF4-FFF2-40B4-BE49-F238E27FC236}">
                <a16:creationId xmlns:a16="http://schemas.microsoft.com/office/drawing/2014/main" id="{DE6801CC-9F3B-42E9-B0C9-8E60C3B1C67D}"/>
              </a:ext>
            </a:extLst>
          </p:cNvPr>
          <p:cNvSpPr>
            <a:spLocks noGrp="1"/>
          </p:cNvSpPr>
          <p:nvPr/>
        </p:nvSpPr>
        <p:spPr>
          <a:xfrm>
            <a:off x="5772150" y="1924050"/>
            <a:ext cx="1866900" cy="3238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YugabyteDB / CockroachDB</a:t>
            </a:r>
          </a:p>
        </p:txBody>
      </p:sp>
      <p:sp>
        <p:nvSpPr>
          <p:cNvPr id="143" name="s12-header-4">
            <a:extLst>
              <a:ext uri="{FF2B5EF4-FFF2-40B4-BE49-F238E27FC236}">
                <a16:creationId xmlns:a16="http://schemas.microsoft.com/office/drawing/2014/main" id="{9ADF56D8-EBC2-4635-B24E-955958750D68}"/>
              </a:ext>
            </a:extLst>
          </p:cNvPr>
          <p:cNvSpPr>
            <a:spLocks noGrp="1"/>
          </p:cNvSpPr>
          <p:nvPr/>
        </p:nvSpPr>
        <p:spPr>
          <a:xfrm>
            <a:off x="7639050" y="1924050"/>
            <a:ext cx="3600450" cy="3238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判讀依據</a:t>
            </a:r>
          </a:p>
        </p:txBody>
      </p:sp>
      <p:sp>
        <p:nvSpPr>
          <p:cNvPr id="144" name="s12-group-a">
            <a:extLst>
              <a:ext uri="{FF2B5EF4-FFF2-40B4-BE49-F238E27FC236}">
                <a16:creationId xmlns:a16="http://schemas.microsoft.com/office/drawing/2014/main" id="{C5788F48-B0E8-4B7E-9BC2-E997976EC686}"/>
              </a:ext>
            </a:extLst>
          </p:cNvPr>
          <p:cNvSpPr>
            <a:spLocks noGrp="1"/>
          </p:cNvSpPr>
          <p:nvPr/>
        </p:nvSpPr>
        <p:spPr>
          <a:xfrm>
            <a:off x="495300" y="2247900"/>
            <a:ext cx="10744200" cy="22860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A｜核心架構門檻</a:t>
            </a:r>
          </a:p>
        </p:txBody>
      </p:sp>
      <p:sp>
        <p:nvSpPr>
          <p:cNvPr id="145" name="s12-a-0-0">
            <a:extLst>
              <a:ext uri="{FF2B5EF4-FFF2-40B4-BE49-F238E27FC236}">
                <a16:creationId xmlns:a16="http://schemas.microsoft.com/office/drawing/2014/main" id="{A68CB26C-EF67-431C-8CB2-26C514AF9653}"/>
              </a:ext>
            </a:extLst>
          </p:cNvPr>
          <p:cNvSpPr>
            <a:spLocks noGrp="1"/>
          </p:cNvSpPr>
          <p:nvPr/>
        </p:nvSpPr>
        <p:spPr>
          <a:xfrm>
            <a:off x="495300" y="2476500"/>
            <a:ext cx="29527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能雙區同時寫嗎？</a:t>
            </a:r>
          </a:p>
        </p:txBody>
      </p:sp>
      <p:sp>
        <p:nvSpPr>
          <p:cNvPr id="146" name="s12-a-0-1">
            <a:extLst>
              <a:ext uri="{FF2B5EF4-FFF2-40B4-BE49-F238E27FC236}">
                <a16:creationId xmlns:a16="http://schemas.microsoft.com/office/drawing/2014/main" id="{5ACFEAC8-6E65-44BB-A9C2-1858681A2EC5}"/>
              </a:ext>
            </a:extLst>
          </p:cNvPr>
          <p:cNvSpPr>
            <a:spLocks noGrp="1"/>
          </p:cNvSpPr>
          <p:nvPr/>
        </p:nvSpPr>
        <p:spPr>
          <a:xfrm>
            <a:off x="3448050" y="2476500"/>
            <a:ext cx="10668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91C1C"/>
                </a:solidFill>
              </a:defRPr>
            </a:pPr>
            <a:r>
              <a:rPr sz="1013" b="1">
                <a:solidFill>
                  <a:srgbClr val="B91C1C"/>
                </a:solidFill>
              </a:rPr>
              <a:t>X</a:t>
            </a:r>
          </a:p>
        </p:txBody>
      </p:sp>
      <p:sp>
        <p:nvSpPr>
          <p:cNvPr id="147" name="s12-a-0-2">
            <a:extLst>
              <a:ext uri="{FF2B5EF4-FFF2-40B4-BE49-F238E27FC236}">
                <a16:creationId xmlns:a16="http://schemas.microsoft.com/office/drawing/2014/main" id="{45FC70ED-5301-4207-9953-5E9B67B137C2}"/>
              </a:ext>
            </a:extLst>
          </p:cNvPr>
          <p:cNvSpPr>
            <a:spLocks noGrp="1"/>
          </p:cNvSpPr>
          <p:nvPr/>
        </p:nvSpPr>
        <p:spPr>
          <a:xfrm>
            <a:off x="4514850" y="2476500"/>
            <a:ext cx="1257300" cy="33337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</a:t>
            </a:r>
          </a:p>
        </p:txBody>
      </p:sp>
      <p:sp>
        <p:nvSpPr>
          <p:cNvPr id="148" name="s12-a-0-3">
            <a:extLst>
              <a:ext uri="{FF2B5EF4-FFF2-40B4-BE49-F238E27FC236}">
                <a16:creationId xmlns:a16="http://schemas.microsoft.com/office/drawing/2014/main" id="{81C03A87-F744-4F63-847B-0536BA80EB0B}"/>
              </a:ext>
            </a:extLst>
          </p:cNvPr>
          <p:cNvSpPr>
            <a:spLocks noGrp="1"/>
          </p:cNvSpPr>
          <p:nvPr/>
        </p:nvSpPr>
        <p:spPr>
          <a:xfrm>
            <a:off x="5772150" y="2476500"/>
            <a:ext cx="18669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45309"/>
                </a:solidFill>
              </a:defRPr>
            </a:pPr>
            <a:r>
              <a:rPr sz="1013" b="1">
                <a:solidFill>
                  <a:srgbClr val="B45309"/>
                </a:solidFill>
              </a:rPr>
              <a:t>△</a:t>
            </a:r>
          </a:p>
        </p:txBody>
      </p:sp>
      <p:sp>
        <p:nvSpPr>
          <p:cNvPr id="149" name="s12-a-0-4">
            <a:extLst>
              <a:ext uri="{FF2B5EF4-FFF2-40B4-BE49-F238E27FC236}">
                <a16:creationId xmlns:a16="http://schemas.microsoft.com/office/drawing/2014/main" id="{462BB92A-FE34-4A2E-A113-F22BA94C0F2F}"/>
              </a:ext>
            </a:extLst>
          </p:cNvPr>
          <p:cNvSpPr>
            <a:spLocks noGrp="1"/>
          </p:cNvSpPr>
          <p:nvPr/>
        </p:nvSpPr>
        <p:spPr>
          <a:xfrm>
            <a:off x="7639050" y="2476500"/>
            <a:ext cx="36004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PXC 的同步寫受跨區 RTT 與衝突放大</a:t>
            </a:r>
          </a:p>
        </p:txBody>
      </p:sp>
      <p:sp>
        <p:nvSpPr>
          <p:cNvPr id="150" name="s12-a-1-0">
            <a:extLst>
              <a:ext uri="{FF2B5EF4-FFF2-40B4-BE49-F238E27FC236}">
                <a16:creationId xmlns:a16="http://schemas.microsoft.com/office/drawing/2014/main" id="{AE1E5827-2075-4C36-94F1-1C195638AED6}"/>
              </a:ext>
            </a:extLst>
          </p:cNvPr>
          <p:cNvSpPr>
            <a:spLocks noGrp="1"/>
          </p:cNvSpPr>
          <p:nvPr/>
        </p:nvSpPr>
        <p:spPr>
          <a:xfrm>
            <a:off x="495300" y="2809875"/>
            <a:ext cx="295275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能跨區放置資料嗎？</a:t>
            </a:r>
          </a:p>
        </p:txBody>
      </p:sp>
      <p:sp>
        <p:nvSpPr>
          <p:cNvPr id="151" name="s12-a-1-1">
            <a:extLst>
              <a:ext uri="{FF2B5EF4-FFF2-40B4-BE49-F238E27FC236}">
                <a16:creationId xmlns:a16="http://schemas.microsoft.com/office/drawing/2014/main" id="{AA482FDE-6B9C-4585-A8A9-97460E811DCB}"/>
              </a:ext>
            </a:extLst>
          </p:cNvPr>
          <p:cNvSpPr>
            <a:spLocks noGrp="1"/>
          </p:cNvSpPr>
          <p:nvPr/>
        </p:nvSpPr>
        <p:spPr>
          <a:xfrm>
            <a:off x="3448050" y="2809875"/>
            <a:ext cx="106680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91C1C"/>
                </a:solidFill>
              </a:defRPr>
            </a:pPr>
            <a:r>
              <a:rPr sz="1013" b="1">
                <a:solidFill>
                  <a:srgbClr val="B91C1C"/>
                </a:solidFill>
              </a:rPr>
              <a:t>X</a:t>
            </a:r>
          </a:p>
        </p:txBody>
      </p:sp>
      <p:sp>
        <p:nvSpPr>
          <p:cNvPr id="152" name="s12-a-1-2">
            <a:extLst>
              <a:ext uri="{FF2B5EF4-FFF2-40B4-BE49-F238E27FC236}">
                <a16:creationId xmlns:a16="http://schemas.microsoft.com/office/drawing/2014/main" id="{79BDF199-1D44-41FB-A0BB-C2B0F91EBF55}"/>
              </a:ext>
            </a:extLst>
          </p:cNvPr>
          <p:cNvSpPr>
            <a:spLocks noGrp="1"/>
          </p:cNvSpPr>
          <p:nvPr/>
        </p:nvSpPr>
        <p:spPr>
          <a:xfrm>
            <a:off x="4514850" y="2809875"/>
            <a:ext cx="1257300" cy="33337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</a:t>
            </a:r>
          </a:p>
        </p:txBody>
      </p:sp>
      <p:sp>
        <p:nvSpPr>
          <p:cNvPr id="153" name="s12-a-1-3">
            <a:extLst>
              <a:ext uri="{FF2B5EF4-FFF2-40B4-BE49-F238E27FC236}">
                <a16:creationId xmlns:a16="http://schemas.microsoft.com/office/drawing/2014/main" id="{E835BA5D-9902-4930-AD86-68A0C332F1FC}"/>
              </a:ext>
            </a:extLst>
          </p:cNvPr>
          <p:cNvSpPr>
            <a:spLocks noGrp="1"/>
          </p:cNvSpPr>
          <p:nvPr/>
        </p:nvSpPr>
        <p:spPr>
          <a:xfrm>
            <a:off x="5772150" y="2809875"/>
            <a:ext cx="186690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15803D"/>
                </a:solidFill>
              </a:defRPr>
            </a:pPr>
            <a:r>
              <a:rPr sz="1013" b="1">
                <a:solidFill>
                  <a:srgbClr val="15803D"/>
                </a:solidFill>
              </a:rPr>
              <a:t>O</a:t>
            </a:r>
          </a:p>
        </p:txBody>
      </p:sp>
      <p:sp>
        <p:nvSpPr>
          <p:cNvPr id="154" name="s12-a-1-4">
            <a:extLst>
              <a:ext uri="{FF2B5EF4-FFF2-40B4-BE49-F238E27FC236}">
                <a16:creationId xmlns:a16="http://schemas.microsoft.com/office/drawing/2014/main" id="{94873228-8D6E-4B1F-BB9E-9AB2D88642FB}"/>
              </a:ext>
            </a:extLst>
          </p:cNvPr>
          <p:cNvSpPr>
            <a:spLocks noGrp="1"/>
          </p:cNvSpPr>
          <p:nvPr/>
        </p:nvSpPr>
        <p:spPr>
          <a:xfrm>
            <a:off x="7639050" y="2809875"/>
            <a:ext cx="360045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PXC 無等同 placement 的資料散置</a:t>
            </a:r>
          </a:p>
        </p:txBody>
      </p:sp>
      <p:sp>
        <p:nvSpPr>
          <p:cNvPr id="155" name="s12-a-2-0">
            <a:extLst>
              <a:ext uri="{FF2B5EF4-FFF2-40B4-BE49-F238E27FC236}">
                <a16:creationId xmlns:a16="http://schemas.microsoft.com/office/drawing/2014/main" id="{99BA8903-2011-4321-8450-23CAB31306D9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29527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能跨區單寫＋副本嗎？</a:t>
            </a:r>
          </a:p>
        </p:txBody>
      </p:sp>
      <p:sp>
        <p:nvSpPr>
          <p:cNvPr id="156" name="s12-a-2-1">
            <a:extLst>
              <a:ext uri="{FF2B5EF4-FFF2-40B4-BE49-F238E27FC236}">
                <a16:creationId xmlns:a16="http://schemas.microsoft.com/office/drawing/2014/main" id="{03E2AC38-E81D-49B6-9A89-6CCB3101269F}"/>
              </a:ext>
            </a:extLst>
          </p:cNvPr>
          <p:cNvSpPr>
            <a:spLocks noGrp="1"/>
          </p:cNvSpPr>
          <p:nvPr/>
        </p:nvSpPr>
        <p:spPr>
          <a:xfrm>
            <a:off x="3448050" y="3143250"/>
            <a:ext cx="10668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45309"/>
                </a:solidFill>
              </a:defRPr>
            </a:pPr>
            <a:r>
              <a:rPr sz="1013" b="1">
                <a:solidFill>
                  <a:srgbClr val="B45309"/>
                </a:solidFill>
              </a:rPr>
              <a:t>△</a:t>
            </a:r>
          </a:p>
        </p:txBody>
      </p:sp>
      <p:sp>
        <p:nvSpPr>
          <p:cNvPr id="157" name="s12-a-2-2">
            <a:extLst>
              <a:ext uri="{FF2B5EF4-FFF2-40B4-BE49-F238E27FC236}">
                <a16:creationId xmlns:a16="http://schemas.microsoft.com/office/drawing/2014/main" id="{DECE04A3-91DE-4510-A162-014B80C7C39D}"/>
              </a:ext>
            </a:extLst>
          </p:cNvPr>
          <p:cNvSpPr>
            <a:spLocks noGrp="1"/>
          </p:cNvSpPr>
          <p:nvPr/>
        </p:nvSpPr>
        <p:spPr>
          <a:xfrm>
            <a:off x="4514850" y="3143250"/>
            <a:ext cx="1257300" cy="33337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</a:t>
            </a:r>
          </a:p>
        </p:txBody>
      </p:sp>
      <p:sp>
        <p:nvSpPr>
          <p:cNvPr id="158" name="s12-a-2-3">
            <a:extLst>
              <a:ext uri="{FF2B5EF4-FFF2-40B4-BE49-F238E27FC236}">
                <a16:creationId xmlns:a16="http://schemas.microsoft.com/office/drawing/2014/main" id="{61AADDC1-6894-4846-B6B9-4862EA0501D1}"/>
              </a:ext>
            </a:extLst>
          </p:cNvPr>
          <p:cNvSpPr>
            <a:spLocks noGrp="1"/>
          </p:cNvSpPr>
          <p:nvPr/>
        </p:nvSpPr>
        <p:spPr>
          <a:xfrm>
            <a:off x="5772150" y="3143250"/>
            <a:ext cx="18669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15803D"/>
                </a:solidFill>
              </a:defRPr>
            </a:pPr>
            <a:r>
              <a:rPr sz="1013" b="1">
                <a:solidFill>
                  <a:srgbClr val="15803D"/>
                </a:solidFill>
              </a:rPr>
              <a:t>O</a:t>
            </a:r>
          </a:p>
        </p:txBody>
      </p:sp>
      <p:sp>
        <p:nvSpPr>
          <p:cNvPr id="159" name="s12-a-2-4">
            <a:extLst>
              <a:ext uri="{FF2B5EF4-FFF2-40B4-BE49-F238E27FC236}">
                <a16:creationId xmlns:a16="http://schemas.microsoft.com/office/drawing/2014/main" id="{2934316C-32AA-43C1-95B2-A189117EA534}"/>
              </a:ext>
            </a:extLst>
          </p:cNvPr>
          <p:cNvSpPr>
            <a:spLocks noGrp="1"/>
          </p:cNvSpPr>
          <p:nvPr/>
        </p:nvSpPr>
        <p:spPr>
          <a:xfrm>
            <a:off x="7639050" y="3143250"/>
            <a:ext cx="36004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PXC 本輪跨區僅 298.8 tpmC</a:t>
            </a:r>
          </a:p>
        </p:txBody>
      </p:sp>
      <p:sp>
        <p:nvSpPr>
          <p:cNvPr id="160" name="s12-a-3-0">
            <a:extLst>
              <a:ext uri="{FF2B5EF4-FFF2-40B4-BE49-F238E27FC236}">
                <a16:creationId xmlns:a16="http://schemas.microsoft.com/office/drawing/2014/main" id="{C2CBAB55-4BA2-4D61-88F4-EF088CED0825}"/>
              </a:ext>
            </a:extLst>
          </p:cNvPr>
          <p:cNvSpPr>
            <a:spLocks noGrp="1"/>
          </p:cNvSpPr>
          <p:nvPr/>
        </p:nvSpPr>
        <p:spPr>
          <a:xfrm>
            <a:off x="495300" y="3476625"/>
            <a:ext cx="295275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能跨區就近讀嗎？</a:t>
            </a:r>
          </a:p>
        </p:txBody>
      </p:sp>
      <p:sp>
        <p:nvSpPr>
          <p:cNvPr id="161" name="s12-a-3-1">
            <a:extLst>
              <a:ext uri="{FF2B5EF4-FFF2-40B4-BE49-F238E27FC236}">
                <a16:creationId xmlns:a16="http://schemas.microsoft.com/office/drawing/2014/main" id="{59C32597-A6A9-4BB8-868E-EB0CB246BC78}"/>
              </a:ext>
            </a:extLst>
          </p:cNvPr>
          <p:cNvSpPr>
            <a:spLocks noGrp="1"/>
          </p:cNvSpPr>
          <p:nvPr/>
        </p:nvSpPr>
        <p:spPr>
          <a:xfrm>
            <a:off x="3448050" y="3476625"/>
            <a:ext cx="106680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91C1C"/>
                </a:solidFill>
              </a:defRPr>
            </a:pPr>
            <a:r>
              <a:rPr sz="1013" b="1">
                <a:solidFill>
                  <a:srgbClr val="B91C1C"/>
                </a:solidFill>
              </a:rPr>
              <a:t>X</a:t>
            </a:r>
          </a:p>
        </p:txBody>
      </p:sp>
      <p:sp>
        <p:nvSpPr>
          <p:cNvPr id="162" name="s12-a-3-2">
            <a:extLst>
              <a:ext uri="{FF2B5EF4-FFF2-40B4-BE49-F238E27FC236}">
                <a16:creationId xmlns:a16="http://schemas.microsoft.com/office/drawing/2014/main" id="{B7FAC1AE-C199-4163-88C7-8A882E11DE6D}"/>
              </a:ext>
            </a:extLst>
          </p:cNvPr>
          <p:cNvSpPr>
            <a:spLocks noGrp="1"/>
          </p:cNvSpPr>
          <p:nvPr/>
        </p:nvSpPr>
        <p:spPr>
          <a:xfrm>
            <a:off x="4514850" y="3476625"/>
            <a:ext cx="1257300" cy="33337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</a:t>
            </a:r>
          </a:p>
        </p:txBody>
      </p:sp>
      <p:sp>
        <p:nvSpPr>
          <p:cNvPr id="163" name="s12-a-3-3">
            <a:extLst>
              <a:ext uri="{FF2B5EF4-FFF2-40B4-BE49-F238E27FC236}">
                <a16:creationId xmlns:a16="http://schemas.microsoft.com/office/drawing/2014/main" id="{3B85B4CC-72E6-4492-828B-A6E3265DD873}"/>
              </a:ext>
            </a:extLst>
          </p:cNvPr>
          <p:cNvSpPr>
            <a:spLocks noGrp="1"/>
          </p:cNvSpPr>
          <p:nvPr/>
        </p:nvSpPr>
        <p:spPr>
          <a:xfrm>
            <a:off x="5772150" y="3476625"/>
            <a:ext cx="186690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15803D"/>
                </a:solidFill>
              </a:defRPr>
            </a:pPr>
            <a:r>
              <a:rPr sz="1013" b="1">
                <a:solidFill>
                  <a:srgbClr val="15803D"/>
                </a:solidFill>
              </a:rPr>
              <a:t>O</a:t>
            </a:r>
          </a:p>
        </p:txBody>
      </p:sp>
      <p:sp>
        <p:nvSpPr>
          <p:cNvPr id="164" name="s12-a-3-4">
            <a:extLst>
              <a:ext uri="{FF2B5EF4-FFF2-40B4-BE49-F238E27FC236}">
                <a16:creationId xmlns:a16="http://schemas.microsoft.com/office/drawing/2014/main" id="{197C2DA3-5223-487C-BB10-CA8E5A7A1740}"/>
              </a:ext>
            </a:extLst>
          </p:cNvPr>
          <p:cNvSpPr>
            <a:spLocks noGrp="1"/>
          </p:cNvSpPr>
          <p:nvPr/>
        </p:nvSpPr>
        <p:spPr>
          <a:xfrm>
            <a:off x="7639050" y="3476625"/>
            <a:ext cx="360045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PXC 無 follower / stale read</a:t>
            </a:r>
          </a:p>
        </p:txBody>
      </p:sp>
      <p:sp>
        <p:nvSpPr>
          <p:cNvPr id="165" name="s12-a-4-0">
            <a:extLst>
              <a:ext uri="{FF2B5EF4-FFF2-40B4-BE49-F238E27FC236}">
                <a16:creationId xmlns:a16="http://schemas.microsoft.com/office/drawing/2014/main" id="{E3181D14-317B-45DD-B1B9-53448B198F33}"/>
              </a:ext>
            </a:extLst>
          </p:cNvPr>
          <p:cNvSpPr>
            <a:spLocks noGrp="1"/>
          </p:cNvSpPr>
          <p:nvPr/>
        </p:nvSpPr>
        <p:spPr>
          <a:xfrm>
            <a:off x="495300" y="3810000"/>
            <a:ext cx="29527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單機房能多寫嗎？</a:t>
            </a:r>
          </a:p>
        </p:txBody>
      </p:sp>
      <p:sp>
        <p:nvSpPr>
          <p:cNvPr id="166" name="s12-a-4-1">
            <a:extLst>
              <a:ext uri="{FF2B5EF4-FFF2-40B4-BE49-F238E27FC236}">
                <a16:creationId xmlns:a16="http://schemas.microsoft.com/office/drawing/2014/main" id="{E630A9F0-8C98-4721-905D-B47E4E3CF58E}"/>
              </a:ext>
            </a:extLst>
          </p:cNvPr>
          <p:cNvSpPr>
            <a:spLocks noGrp="1"/>
          </p:cNvSpPr>
          <p:nvPr/>
        </p:nvSpPr>
        <p:spPr>
          <a:xfrm>
            <a:off x="3448050" y="3810000"/>
            <a:ext cx="10668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45309"/>
                </a:solidFill>
              </a:defRPr>
            </a:pPr>
            <a:r>
              <a:rPr sz="1013" b="1">
                <a:solidFill>
                  <a:srgbClr val="B45309"/>
                </a:solidFill>
              </a:rPr>
              <a:t>△</a:t>
            </a:r>
          </a:p>
        </p:txBody>
      </p:sp>
      <p:sp>
        <p:nvSpPr>
          <p:cNvPr id="167" name="s12-a-4-2">
            <a:extLst>
              <a:ext uri="{FF2B5EF4-FFF2-40B4-BE49-F238E27FC236}">
                <a16:creationId xmlns:a16="http://schemas.microsoft.com/office/drawing/2014/main" id="{80D9AB2A-DA69-4A41-9E96-DE38343F8276}"/>
              </a:ext>
            </a:extLst>
          </p:cNvPr>
          <p:cNvSpPr>
            <a:spLocks noGrp="1"/>
          </p:cNvSpPr>
          <p:nvPr/>
        </p:nvSpPr>
        <p:spPr>
          <a:xfrm>
            <a:off x="4514850" y="3810000"/>
            <a:ext cx="1257300" cy="33337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</a:t>
            </a:r>
          </a:p>
        </p:txBody>
      </p:sp>
      <p:sp>
        <p:nvSpPr>
          <p:cNvPr id="168" name="s12-a-4-3">
            <a:extLst>
              <a:ext uri="{FF2B5EF4-FFF2-40B4-BE49-F238E27FC236}">
                <a16:creationId xmlns:a16="http://schemas.microsoft.com/office/drawing/2014/main" id="{CB4FCBA1-10EF-445A-8D9A-52CA8F1D8757}"/>
              </a:ext>
            </a:extLst>
          </p:cNvPr>
          <p:cNvSpPr>
            <a:spLocks noGrp="1"/>
          </p:cNvSpPr>
          <p:nvPr/>
        </p:nvSpPr>
        <p:spPr>
          <a:xfrm>
            <a:off x="5772150" y="3810000"/>
            <a:ext cx="18669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15803D"/>
                </a:solidFill>
              </a:defRPr>
            </a:pPr>
            <a:r>
              <a:rPr sz="1013" b="1">
                <a:solidFill>
                  <a:srgbClr val="15803D"/>
                </a:solidFill>
              </a:rPr>
              <a:t>O</a:t>
            </a:r>
          </a:p>
        </p:txBody>
      </p:sp>
      <p:sp>
        <p:nvSpPr>
          <p:cNvPr id="169" name="s12-a-4-4">
            <a:extLst>
              <a:ext uri="{FF2B5EF4-FFF2-40B4-BE49-F238E27FC236}">
                <a16:creationId xmlns:a16="http://schemas.microsoft.com/office/drawing/2014/main" id="{9287A5A0-F3E7-4C4B-9D4B-A320D2A45465}"/>
              </a:ext>
            </a:extLst>
          </p:cNvPr>
          <p:cNvSpPr>
            <a:spLocks noGrp="1"/>
          </p:cNvSpPr>
          <p:nvPr/>
        </p:nvSpPr>
        <p:spPr>
          <a:xfrm>
            <a:off x="7639050" y="3810000"/>
            <a:ext cx="36004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PXC HAProxy 多寫呈 0.49× 負向擴展</a:t>
            </a:r>
          </a:p>
        </p:txBody>
      </p:sp>
      <p:sp>
        <p:nvSpPr>
          <p:cNvPr id="170" name="s12-group-b">
            <a:extLst>
              <a:ext uri="{FF2B5EF4-FFF2-40B4-BE49-F238E27FC236}">
                <a16:creationId xmlns:a16="http://schemas.microsoft.com/office/drawing/2014/main" id="{8C2E5BBF-58FA-441D-A9DD-8CC58ABD497E}"/>
              </a:ext>
            </a:extLst>
          </p:cNvPr>
          <p:cNvSpPr>
            <a:spLocks noGrp="1"/>
          </p:cNvSpPr>
          <p:nvPr/>
        </p:nvSpPr>
        <p:spPr>
          <a:xfrm>
            <a:off x="495300" y="4143375"/>
            <a:ext cx="10744200" cy="22860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B｜應用改造與維運代價</a:t>
            </a:r>
          </a:p>
        </p:txBody>
      </p:sp>
      <p:sp>
        <p:nvSpPr>
          <p:cNvPr id="171" name="s12-b-0-0">
            <a:extLst>
              <a:ext uri="{FF2B5EF4-FFF2-40B4-BE49-F238E27FC236}">
                <a16:creationId xmlns:a16="http://schemas.microsoft.com/office/drawing/2014/main" id="{2F6C5CD3-8163-4D6A-BAAE-CAF82768B1D6}"/>
              </a:ext>
            </a:extLst>
          </p:cNvPr>
          <p:cNvSpPr>
            <a:spLocks noGrp="1"/>
          </p:cNvSpPr>
          <p:nvPr/>
        </p:nvSpPr>
        <p:spPr>
          <a:xfrm>
            <a:off x="495300" y="4371975"/>
            <a:ext cx="29527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要換 driver / ORM 嗎？</a:t>
            </a:r>
          </a:p>
        </p:txBody>
      </p:sp>
      <p:sp>
        <p:nvSpPr>
          <p:cNvPr id="172" name="s12-b-0-1">
            <a:extLst>
              <a:ext uri="{FF2B5EF4-FFF2-40B4-BE49-F238E27FC236}">
                <a16:creationId xmlns:a16="http://schemas.microsoft.com/office/drawing/2014/main" id="{18715E0B-48B2-4729-ADBA-A2CBAD8D2D54}"/>
              </a:ext>
            </a:extLst>
          </p:cNvPr>
          <p:cNvSpPr>
            <a:spLocks noGrp="1"/>
          </p:cNvSpPr>
          <p:nvPr/>
        </p:nvSpPr>
        <p:spPr>
          <a:xfrm>
            <a:off x="3448050" y="4371975"/>
            <a:ext cx="10668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5803D"/>
                </a:solidFill>
              </a:defRPr>
            </a:pPr>
            <a:r>
              <a:rPr sz="975" b="1">
                <a:solidFill>
                  <a:srgbClr val="15803D"/>
                </a:solidFill>
              </a:rPr>
              <a:t>免改</a:t>
            </a:r>
          </a:p>
        </p:txBody>
      </p:sp>
      <p:sp>
        <p:nvSpPr>
          <p:cNvPr id="173" name="s12-b-0-2">
            <a:extLst>
              <a:ext uri="{FF2B5EF4-FFF2-40B4-BE49-F238E27FC236}">
                <a16:creationId xmlns:a16="http://schemas.microsoft.com/office/drawing/2014/main" id="{3805F2CD-4FA7-4FD8-8FCE-A3E72934C1A4}"/>
              </a:ext>
            </a:extLst>
          </p:cNvPr>
          <p:cNvSpPr>
            <a:spLocks noGrp="1"/>
          </p:cNvSpPr>
          <p:nvPr/>
        </p:nvSpPr>
        <p:spPr>
          <a:xfrm>
            <a:off x="4514850" y="4371975"/>
            <a:ext cx="1257300" cy="35242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2563EB"/>
                </a:solidFill>
              </a:defRPr>
            </a:pPr>
            <a:r>
              <a:rPr sz="1013" b="1">
                <a:solidFill>
                  <a:srgbClr val="2563EB"/>
                </a:solidFill>
              </a:rPr>
              <a:t>免改</a:t>
            </a:r>
          </a:p>
        </p:txBody>
      </p:sp>
      <p:sp>
        <p:nvSpPr>
          <p:cNvPr id="174" name="s12-b-0-3">
            <a:extLst>
              <a:ext uri="{FF2B5EF4-FFF2-40B4-BE49-F238E27FC236}">
                <a16:creationId xmlns:a16="http://schemas.microsoft.com/office/drawing/2014/main" id="{36795C3E-920A-400D-B0A9-46790055BE1A}"/>
              </a:ext>
            </a:extLst>
          </p:cNvPr>
          <p:cNvSpPr>
            <a:spLocks noGrp="1"/>
          </p:cNvSpPr>
          <p:nvPr/>
        </p:nvSpPr>
        <p:spPr>
          <a:xfrm>
            <a:off x="5772150" y="4371975"/>
            <a:ext cx="1866900" cy="352425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45309"/>
                </a:solidFill>
              </a:defRPr>
            </a:pPr>
            <a:r>
              <a:rPr sz="1013" b="1">
                <a:solidFill>
                  <a:srgbClr val="B45309"/>
                </a:solidFill>
              </a:rPr>
              <a:t>需要</a:t>
            </a:r>
          </a:p>
        </p:txBody>
      </p:sp>
      <p:sp>
        <p:nvSpPr>
          <p:cNvPr id="175" name="s12-b-0-4">
            <a:extLst>
              <a:ext uri="{FF2B5EF4-FFF2-40B4-BE49-F238E27FC236}">
                <a16:creationId xmlns:a16="http://schemas.microsoft.com/office/drawing/2014/main" id="{BEE3B125-7F74-47E3-B060-DE03F03C19C4}"/>
              </a:ext>
            </a:extLst>
          </p:cNvPr>
          <p:cNvSpPr>
            <a:spLocks noGrp="1"/>
          </p:cNvSpPr>
          <p:nvPr/>
        </p:nvSpPr>
        <p:spPr>
          <a:xfrm>
            <a:off x="7639050" y="4371975"/>
            <a:ext cx="36004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MySQL wire 與 PostgreSQL wire 的差異</a:t>
            </a:r>
          </a:p>
        </p:txBody>
      </p:sp>
      <p:sp>
        <p:nvSpPr>
          <p:cNvPr id="176" name="s12-b-1-0">
            <a:extLst>
              <a:ext uri="{FF2B5EF4-FFF2-40B4-BE49-F238E27FC236}">
                <a16:creationId xmlns:a16="http://schemas.microsoft.com/office/drawing/2014/main" id="{33F2C4C5-BFF5-4E0F-9346-AF1080D9E5A5}"/>
              </a:ext>
            </a:extLst>
          </p:cNvPr>
          <p:cNvSpPr>
            <a:spLocks noGrp="1"/>
          </p:cNvSpPr>
          <p:nvPr/>
        </p:nvSpPr>
        <p:spPr>
          <a:xfrm>
            <a:off x="495300" y="4724400"/>
            <a:ext cx="2952750" cy="35242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錯誤重試要改多少？</a:t>
            </a:r>
          </a:p>
        </p:txBody>
      </p:sp>
      <p:sp>
        <p:nvSpPr>
          <p:cNvPr id="177" name="s12-b-1-1">
            <a:extLst>
              <a:ext uri="{FF2B5EF4-FFF2-40B4-BE49-F238E27FC236}">
                <a16:creationId xmlns:a16="http://schemas.microsoft.com/office/drawing/2014/main" id="{B46FA68B-5AFA-4DDF-BC32-F0717DF93BE5}"/>
              </a:ext>
            </a:extLst>
          </p:cNvPr>
          <p:cNvSpPr>
            <a:spLocks noGrp="1"/>
          </p:cNvSpPr>
          <p:nvPr/>
        </p:nvSpPr>
        <p:spPr>
          <a:xfrm>
            <a:off x="3448050" y="4724400"/>
            <a:ext cx="1066800" cy="35242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91C1C"/>
                </a:solidFill>
              </a:defRPr>
            </a:pPr>
            <a:r>
              <a:rPr sz="975" b="1">
                <a:solidFill>
                  <a:srgbClr val="B91C1C"/>
                </a:solidFill>
              </a:rPr>
              <a:t>高</a:t>
            </a:r>
          </a:p>
        </p:txBody>
      </p:sp>
      <p:sp>
        <p:nvSpPr>
          <p:cNvPr id="178" name="s12-b-1-2">
            <a:extLst>
              <a:ext uri="{FF2B5EF4-FFF2-40B4-BE49-F238E27FC236}">
                <a16:creationId xmlns:a16="http://schemas.microsoft.com/office/drawing/2014/main" id="{724D274B-9441-4F4E-A433-85A3C07FE2F7}"/>
              </a:ext>
            </a:extLst>
          </p:cNvPr>
          <p:cNvSpPr>
            <a:spLocks noGrp="1"/>
          </p:cNvSpPr>
          <p:nvPr/>
        </p:nvSpPr>
        <p:spPr>
          <a:xfrm>
            <a:off x="4514850" y="4724400"/>
            <a:ext cx="1257300" cy="35242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2563EB"/>
                </a:solidFill>
              </a:defRPr>
            </a:pPr>
            <a:r>
              <a:rPr sz="1013" b="1">
                <a:solidFill>
                  <a:srgbClr val="2563EB"/>
                </a:solidFill>
              </a:rPr>
              <a:t>低</a:t>
            </a:r>
          </a:p>
        </p:txBody>
      </p:sp>
      <p:sp>
        <p:nvSpPr>
          <p:cNvPr id="179" name="s12-b-1-3">
            <a:extLst>
              <a:ext uri="{FF2B5EF4-FFF2-40B4-BE49-F238E27FC236}">
                <a16:creationId xmlns:a16="http://schemas.microsoft.com/office/drawing/2014/main" id="{57500981-7514-4310-AAB2-A3A061251586}"/>
              </a:ext>
            </a:extLst>
          </p:cNvPr>
          <p:cNvSpPr>
            <a:spLocks noGrp="1"/>
          </p:cNvSpPr>
          <p:nvPr/>
        </p:nvSpPr>
        <p:spPr>
          <a:xfrm>
            <a:off x="5772150" y="4724400"/>
            <a:ext cx="1866900" cy="35242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YB 低 / CRDB 中</a:t>
            </a:r>
          </a:p>
        </p:txBody>
      </p:sp>
      <p:sp>
        <p:nvSpPr>
          <p:cNvPr id="180" name="s12-b-1-4">
            <a:extLst>
              <a:ext uri="{FF2B5EF4-FFF2-40B4-BE49-F238E27FC236}">
                <a16:creationId xmlns:a16="http://schemas.microsoft.com/office/drawing/2014/main" id="{26427BCD-51AE-48DC-AA9F-664853F2997B}"/>
              </a:ext>
            </a:extLst>
          </p:cNvPr>
          <p:cNvSpPr>
            <a:spLocks noGrp="1"/>
          </p:cNvSpPr>
          <p:nvPr/>
        </p:nvSpPr>
        <p:spPr>
          <a:xfrm>
            <a:off x="7639050" y="4724400"/>
            <a:ext cx="3600450" cy="35242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CRDB ambiguous 需確認最終狀態</a:t>
            </a:r>
          </a:p>
        </p:txBody>
      </p:sp>
      <p:sp>
        <p:nvSpPr>
          <p:cNvPr id="181" name="s12-b-2-0">
            <a:extLst>
              <a:ext uri="{FF2B5EF4-FFF2-40B4-BE49-F238E27FC236}">
                <a16:creationId xmlns:a16="http://schemas.microsoft.com/office/drawing/2014/main" id="{AB899966-16A7-4FAB-A6E5-E74E7BC4C2E4}"/>
              </a:ext>
            </a:extLst>
          </p:cNvPr>
          <p:cNvSpPr>
            <a:spLocks noGrp="1"/>
          </p:cNvSpPr>
          <p:nvPr/>
        </p:nvSpPr>
        <p:spPr>
          <a:xfrm>
            <a:off x="495300" y="5076825"/>
            <a:ext cx="29527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既有維運工具鏈可沿用嗎？</a:t>
            </a:r>
          </a:p>
        </p:txBody>
      </p:sp>
      <p:sp>
        <p:nvSpPr>
          <p:cNvPr id="182" name="s12-b-2-1">
            <a:extLst>
              <a:ext uri="{FF2B5EF4-FFF2-40B4-BE49-F238E27FC236}">
                <a16:creationId xmlns:a16="http://schemas.microsoft.com/office/drawing/2014/main" id="{F300D83C-354C-4DE2-8EA7-D7DE35C5D070}"/>
              </a:ext>
            </a:extLst>
          </p:cNvPr>
          <p:cNvSpPr>
            <a:spLocks noGrp="1"/>
          </p:cNvSpPr>
          <p:nvPr/>
        </p:nvSpPr>
        <p:spPr>
          <a:xfrm>
            <a:off x="3448050" y="5076825"/>
            <a:ext cx="10668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5803D"/>
                </a:solidFill>
              </a:defRPr>
            </a:pPr>
            <a:r>
              <a:rPr sz="975" b="1">
                <a:solidFill>
                  <a:srgbClr val="15803D"/>
                </a:solidFill>
              </a:rPr>
              <a:t>O</a:t>
            </a:r>
          </a:p>
        </p:txBody>
      </p:sp>
      <p:sp>
        <p:nvSpPr>
          <p:cNvPr id="183" name="s12-b-2-2">
            <a:extLst>
              <a:ext uri="{FF2B5EF4-FFF2-40B4-BE49-F238E27FC236}">
                <a16:creationId xmlns:a16="http://schemas.microsoft.com/office/drawing/2014/main" id="{75C80724-8E51-416C-9147-0DD96FA1289B}"/>
              </a:ext>
            </a:extLst>
          </p:cNvPr>
          <p:cNvSpPr>
            <a:spLocks noGrp="1"/>
          </p:cNvSpPr>
          <p:nvPr/>
        </p:nvSpPr>
        <p:spPr>
          <a:xfrm>
            <a:off x="4514850" y="5076825"/>
            <a:ext cx="1257300" cy="35242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45309"/>
                </a:solidFill>
              </a:defRPr>
            </a:pPr>
            <a:r>
              <a:rPr sz="1013" b="1">
                <a:solidFill>
                  <a:srgbClr val="B45309"/>
                </a:solidFill>
              </a:rPr>
              <a:t>待測</a:t>
            </a:r>
          </a:p>
        </p:txBody>
      </p:sp>
      <p:sp>
        <p:nvSpPr>
          <p:cNvPr id="184" name="s12-b-2-3">
            <a:extLst>
              <a:ext uri="{FF2B5EF4-FFF2-40B4-BE49-F238E27FC236}">
                <a16:creationId xmlns:a16="http://schemas.microsoft.com/office/drawing/2014/main" id="{3CF9AEA8-302B-41DA-867A-035D18881FB2}"/>
              </a:ext>
            </a:extLst>
          </p:cNvPr>
          <p:cNvSpPr>
            <a:spLocks noGrp="1"/>
          </p:cNvSpPr>
          <p:nvPr/>
        </p:nvSpPr>
        <p:spPr>
          <a:xfrm>
            <a:off x="5772150" y="5076825"/>
            <a:ext cx="18669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91C1C"/>
                </a:solidFill>
              </a:defRPr>
            </a:pPr>
            <a:r>
              <a:rPr sz="975" b="1">
                <a:solidFill>
                  <a:srgbClr val="B91C1C"/>
                </a:solidFill>
              </a:rPr>
              <a:t>X</a:t>
            </a:r>
          </a:p>
        </p:txBody>
      </p:sp>
      <p:sp>
        <p:nvSpPr>
          <p:cNvPr id="185" name="s12-b-2-4">
            <a:extLst>
              <a:ext uri="{FF2B5EF4-FFF2-40B4-BE49-F238E27FC236}">
                <a16:creationId xmlns:a16="http://schemas.microsoft.com/office/drawing/2014/main" id="{AE0A5E93-DD55-49B8-88F8-DB960F62DD16}"/>
              </a:ext>
            </a:extLst>
          </p:cNvPr>
          <p:cNvSpPr>
            <a:spLocks noGrp="1"/>
          </p:cNvSpPr>
          <p:nvPr/>
        </p:nvSpPr>
        <p:spPr>
          <a:xfrm>
            <a:off x="7639050" y="5076825"/>
            <a:ext cx="36004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非現況方案須補工具與 runbook</a:t>
            </a:r>
          </a:p>
        </p:txBody>
      </p:sp>
      <p:sp>
        <p:nvSpPr>
          <p:cNvPr id="186" name="s12-decision">
            <a:extLst>
              <a:ext uri="{FF2B5EF4-FFF2-40B4-BE49-F238E27FC236}">
                <a16:creationId xmlns:a16="http://schemas.microsoft.com/office/drawing/2014/main" id="{4FEDD1BC-5C0E-4775-B751-626F9A40F2B2}"/>
              </a:ext>
            </a:extLst>
          </p:cNvPr>
          <p:cNvSpPr>
            <a:spLocks noGrp="1"/>
          </p:cNvSpPr>
          <p:nvPr/>
        </p:nvSpPr>
        <p:spPr>
          <a:xfrm>
            <a:off x="495300" y="5562600"/>
            <a:ext cx="10744200" cy="5905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FFFFFF"/>
                </a:solidFill>
              </a:defRPr>
            </a:pPr>
            <a:r>
              <a:rPr sz="1163" b="1">
                <a:solidFill>
                  <a:srgbClr val="FFFFFF"/>
                </a:solidFill>
              </a:rPr>
              <a:t>決策：跨區四種核心情境只有 TiDB 全數可行；PXC / Galera 受同步複寫設計限制，PostgreSQL 系需要更換協定。</a:t>
            </a:r>
          </a:p>
        </p:txBody>
      </p:sp>
    </p:spTree>
    <p:extLst>
      <p:ext uri="{BB962C8B-B14F-4D97-AF65-F5344CB8AC3E}">
        <p14:creationId xmlns:p14="http://schemas.microsoft.com/office/powerpoint/2010/main" val="497029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A7F59AF-1397-4F8F-B694-65206EF57F7C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DECISION MATRIX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0AD15C-8667-45C6-B136-4B60232EC4D5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決策表 ②｜效能、跨區與復原取捨</a:t>
            </a:r>
          </a:p>
        </p:txBody>
      </p:sp>
      <p:cxnSp>
        <p:nvCxnSpPr>
          <p:cNvPr id="206" name="直線箭頭接點 136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C061B77-8491-494C-9565-B7F9378F0537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E76F8723-7C83-43FB-948B-D1153321695A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 Y26｜決策表；完整權重與證據見 DISTRIBUTED-DB-SCORING.md</a:t>
            </a:r>
          </a:p>
        </p:txBody>
      </p:sp>
      <p:sp>
        <p:nvSpPr>
          <p:cNvPr id="138" name="s13-summary">
            <a:extLst>
              <a:ext uri="{FF2B5EF4-FFF2-40B4-BE49-F238E27FC236}">
                <a16:creationId xmlns:a16="http://schemas.microsoft.com/office/drawing/2014/main" id="{E818AA81-BFE4-42DC-8361-AC7D1527039C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10744200" cy="3238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PXC / Galera 的單節點延遲具優勢；TiDB 呈正向擴展、低變異、零錯誤及跨區低錯誤率。</a:t>
            </a:r>
          </a:p>
        </p:txBody>
      </p:sp>
      <p:sp>
        <p:nvSpPr>
          <p:cNvPr id="139" name="s13-group-single">
            <a:extLst>
              <a:ext uri="{FF2B5EF4-FFF2-40B4-BE49-F238E27FC236}">
                <a16:creationId xmlns:a16="http://schemas.microsoft.com/office/drawing/2014/main" id="{0DE642A9-1731-4618-A9D6-DE41CB88C2F7}"/>
              </a:ext>
            </a:extLst>
          </p:cNvPr>
          <p:cNvSpPr>
            <a:spLocks noGrp="1"/>
          </p:cNvSpPr>
          <p:nvPr/>
        </p:nvSpPr>
        <p:spPr>
          <a:xfrm>
            <a:off x="495300" y="1885950"/>
            <a:ext cx="10744200" cy="22860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單區效能｜同條件代表點</a:t>
            </a:r>
          </a:p>
        </p:txBody>
      </p:sp>
      <p:sp>
        <p:nvSpPr>
          <p:cNvPr id="140" name="s13-top-header-0">
            <a:extLst>
              <a:ext uri="{FF2B5EF4-FFF2-40B4-BE49-F238E27FC236}">
                <a16:creationId xmlns:a16="http://schemas.microsoft.com/office/drawing/2014/main" id="{A13EE450-8D51-4764-941A-029BDFDA9B49}"/>
              </a:ext>
            </a:extLst>
          </p:cNvPr>
          <p:cNvSpPr>
            <a:spLocks noGrp="1"/>
          </p:cNvSpPr>
          <p:nvPr/>
        </p:nvSpPr>
        <p:spPr>
          <a:xfrm>
            <a:off x="495300" y="2114550"/>
            <a:ext cx="2238375" cy="304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指標</a:t>
            </a:r>
          </a:p>
        </p:txBody>
      </p:sp>
      <p:sp>
        <p:nvSpPr>
          <p:cNvPr id="141" name="s13-top-header-1">
            <a:extLst>
              <a:ext uri="{FF2B5EF4-FFF2-40B4-BE49-F238E27FC236}">
                <a16:creationId xmlns:a16="http://schemas.microsoft.com/office/drawing/2014/main" id="{67A3C340-E906-4315-8B18-5334561BA016}"/>
              </a:ext>
            </a:extLst>
          </p:cNvPr>
          <p:cNvSpPr>
            <a:spLocks noGrp="1"/>
          </p:cNvSpPr>
          <p:nvPr/>
        </p:nvSpPr>
        <p:spPr>
          <a:xfrm>
            <a:off x="2733675" y="2114550"/>
            <a:ext cx="1285875" cy="304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PXC / Galera</a:t>
            </a:r>
          </a:p>
        </p:txBody>
      </p:sp>
      <p:sp>
        <p:nvSpPr>
          <p:cNvPr id="142" name="s13-top-header-2">
            <a:extLst>
              <a:ext uri="{FF2B5EF4-FFF2-40B4-BE49-F238E27FC236}">
                <a16:creationId xmlns:a16="http://schemas.microsoft.com/office/drawing/2014/main" id="{565EE868-F45A-42FA-8A79-F96E4A970085}"/>
              </a:ext>
            </a:extLst>
          </p:cNvPr>
          <p:cNvSpPr>
            <a:spLocks noGrp="1"/>
          </p:cNvSpPr>
          <p:nvPr/>
        </p:nvSpPr>
        <p:spPr>
          <a:xfrm>
            <a:off x="4019550" y="2114550"/>
            <a:ext cx="1428750" cy="3048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TiDB</a:t>
            </a:r>
          </a:p>
        </p:txBody>
      </p:sp>
      <p:sp>
        <p:nvSpPr>
          <p:cNvPr id="143" name="s13-top-header-3">
            <a:extLst>
              <a:ext uri="{FF2B5EF4-FFF2-40B4-BE49-F238E27FC236}">
                <a16:creationId xmlns:a16="http://schemas.microsoft.com/office/drawing/2014/main" id="{DD063B9D-33F8-41AC-9FDA-2849C5D28B05}"/>
              </a:ext>
            </a:extLst>
          </p:cNvPr>
          <p:cNvSpPr>
            <a:spLocks noGrp="1"/>
          </p:cNvSpPr>
          <p:nvPr/>
        </p:nvSpPr>
        <p:spPr>
          <a:xfrm>
            <a:off x="5448300" y="2114550"/>
            <a:ext cx="1285875" cy="304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YugabyteDB</a:t>
            </a:r>
          </a:p>
        </p:txBody>
      </p:sp>
      <p:sp>
        <p:nvSpPr>
          <p:cNvPr id="144" name="s13-top-header-4">
            <a:extLst>
              <a:ext uri="{FF2B5EF4-FFF2-40B4-BE49-F238E27FC236}">
                <a16:creationId xmlns:a16="http://schemas.microsoft.com/office/drawing/2014/main" id="{8C2E3CDB-6E63-4169-B531-CA76D6830B2C}"/>
              </a:ext>
            </a:extLst>
          </p:cNvPr>
          <p:cNvSpPr>
            <a:spLocks noGrp="1"/>
          </p:cNvSpPr>
          <p:nvPr/>
        </p:nvSpPr>
        <p:spPr>
          <a:xfrm>
            <a:off x="6734175" y="2114550"/>
            <a:ext cx="1381125" cy="304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CockroachDB</a:t>
            </a:r>
          </a:p>
        </p:txBody>
      </p:sp>
      <p:sp>
        <p:nvSpPr>
          <p:cNvPr id="145" name="s13-top-header-5">
            <a:extLst>
              <a:ext uri="{FF2B5EF4-FFF2-40B4-BE49-F238E27FC236}">
                <a16:creationId xmlns:a16="http://schemas.microsoft.com/office/drawing/2014/main" id="{0C07E225-D9D9-4972-8137-4DBDC7BB57F4}"/>
              </a:ext>
            </a:extLst>
          </p:cNvPr>
          <p:cNvSpPr>
            <a:spLocks noGrp="1"/>
          </p:cNvSpPr>
          <p:nvPr/>
        </p:nvSpPr>
        <p:spPr>
          <a:xfrm>
            <a:off x="8115300" y="2114550"/>
            <a:ext cx="3124200" cy="304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判讀</a:t>
            </a:r>
          </a:p>
        </p:txBody>
      </p:sp>
      <p:sp>
        <p:nvSpPr>
          <p:cNvPr id="146" name="s13-top-0-0">
            <a:extLst>
              <a:ext uri="{FF2B5EF4-FFF2-40B4-BE49-F238E27FC236}">
                <a16:creationId xmlns:a16="http://schemas.microsoft.com/office/drawing/2014/main" id="{7E1CB5F6-870C-4220-B846-10BA3D9D4BEA}"/>
              </a:ext>
            </a:extLst>
          </p:cNvPr>
          <p:cNvSpPr>
            <a:spLocks noGrp="1"/>
          </p:cNvSpPr>
          <p:nvPr/>
        </p:nvSpPr>
        <p:spPr>
          <a:xfrm>
            <a:off x="495300" y="2419350"/>
            <a:ext cx="22383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單節點 p99</a:t>
            </a:r>
          </a:p>
        </p:txBody>
      </p:sp>
      <p:sp>
        <p:nvSpPr>
          <p:cNvPr id="147" name="s13-top-0-1">
            <a:extLst>
              <a:ext uri="{FF2B5EF4-FFF2-40B4-BE49-F238E27FC236}">
                <a16:creationId xmlns:a16="http://schemas.microsoft.com/office/drawing/2014/main" id="{207B5237-20CD-49D7-A3CD-57E86240B244}"/>
              </a:ext>
            </a:extLst>
          </p:cNvPr>
          <p:cNvSpPr>
            <a:spLocks noGrp="1"/>
          </p:cNvSpPr>
          <p:nvPr/>
        </p:nvSpPr>
        <p:spPr>
          <a:xfrm>
            <a:off x="2733675" y="2419350"/>
            <a:ext cx="1285875" cy="32385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45309"/>
                </a:solidFill>
              </a:defRPr>
            </a:pPr>
            <a:r>
              <a:rPr sz="1013" b="1">
                <a:solidFill>
                  <a:srgbClr val="B45309"/>
                </a:solidFill>
              </a:rPr>
              <a:t>37.7 ms</a:t>
            </a:r>
          </a:p>
        </p:txBody>
      </p:sp>
      <p:sp>
        <p:nvSpPr>
          <p:cNvPr id="148" name="s13-top-0-2">
            <a:extLst>
              <a:ext uri="{FF2B5EF4-FFF2-40B4-BE49-F238E27FC236}">
                <a16:creationId xmlns:a16="http://schemas.microsoft.com/office/drawing/2014/main" id="{E535928A-FCDA-4E33-A8DB-1CC05B099CBC}"/>
              </a:ext>
            </a:extLst>
          </p:cNvPr>
          <p:cNvSpPr>
            <a:spLocks noGrp="1"/>
          </p:cNvSpPr>
          <p:nvPr/>
        </p:nvSpPr>
        <p:spPr>
          <a:xfrm>
            <a:off x="4019550" y="2419350"/>
            <a:ext cx="1428750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2563EB"/>
                </a:solidFill>
              </a:defRPr>
            </a:pPr>
            <a:r>
              <a:rPr sz="1013" b="0">
                <a:solidFill>
                  <a:srgbClr val="2563EB"/>
                </a:solidFill>
              </a:rPr>
              <a:t>597 ms</a:t>
            </a:r>
          </a:p>
        </p:txBody>
      </p:sp>
      <p:sp>
        <p:nvSpPr>
          <p:cNvPr id="149" name="s13-top-0-3">
            <a:extLst>
              <a:ext uri="{FF2B5EF4-FFF2-40B4-BE49-F238E27FC236}">
                <a16:creationId xmlns:a16="http://schemas.microsoft.com/office/drawing/2014/main" id="{185D28D2-B297-465C-A098-33FD686493E9}"/>
              </a:ext>
            </a:extLst>
          </p:cNvPr>
          <p:cNvSpPr>
            <a:spLocks noGrp="1"/>
          </p:cNvSpPr>
          <p:nvPr/>
        </p:nvSpPr>
        <p:spPr>
          <a:xfrm>
            <a:off x="5448300" y="2419350"/>
            <a:ext cx="1285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216 ms</a:t>
            </a:r>
          </a:p>
        </p:txBody>
      </p:sp>
      <p:sp>
        <p:nvSpPr>
          <p:cNvPr id="150" name="s13-top-0-4">
            <a:extLst>
              <a:ext uri="{FF2B5EF4-FFF2-40B4-BE49-F238E27FC236}">
                <a16:creationId xmlns:a16="http://schemas.microsoft.com/office/drawing/2014/main" id="{28C67EF7-F801-4B6C-90F5-3A7C39618AAE}"/>
              </a:ext>
            </a:extLst>
          </p:cNvPr>
          <p:cNvSpPr>
            <a:spLocks noGrp="1"/>
          </p:cNvSpPr>
          <p:nvPr/>
        </p:nvSpPr>
        <p:spPr>
          <a:xfrm>
            <a:off x="6734175" y="2419350"/>
            <a:ext cx="1381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440 ms</a:t>
            </a:r>
          </a:p>
        </p:txBody>
      </p:sp>
      <p:sp>
        <p:nvSpPr>
          <p:cNvPr id="151" name="s13-top-0-5">
            <a:extLst>
              <a:ext uri="{FF2B5EF4-FFF2-40B4-BE49-F238E27FC236}">
                <a16:creationId xmlns:a16="http://schemas.microsoft.com/office/drawing/2014/main" id="{D4E957EF-D99E-40E3-AD22-B8F2088983D0}"/>
              </a:ext>
            </a:extLst>
          </p:cNvPr>
          <p:cNvSpPr>
            <a:spLocks noGrp="1"/>
          </p:cNvSpPr>
          <p:nvPr/>
        </p:nvSpPr>
        <p:spPr>
          <a:xfrm>
            <a:off x="8115300" y="2419350"/>
            <a:ext cx="31242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越低越好；PXC / Galera 明顯領先</a:t>
            </a:r>
          </a:p>
        </p:txBody>
      </p:sp>
      <p:sp>
        <p:nvSpPr>
          <p:cNvPr id="152" name="s13-top-1-0">
            <a:extLst>
              <a:ext uri="{FF2B5EF4-FFF2-40B4-BE49-F238E27FC236}">
                <a16:creationId xmlns:a16="http://schemas.microsoft.com/office/drawing/2014/main" id="{CDA8C887-0875-422A-A9F5-9592F05DCCBA}"/>
              </a:ext>
            </a:extLst>
          </p:cNvPr>
          <p:cNvSpPr>
            <a:spLocks noGrp="1"/>
          </p:cNvSpPr>
          <p:nvPr/>
        </p:nvSpPr>
        <p:spPr>
          <a:xfrm>
            <a:off x="495300" y="2743200"/>
            <a:ext cx="2238375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78" b="0">
                <a:solidFill>
                  <a:srgbClr val="0F172A"/>
                </a:solidFill>
              </a:defRPr>
            </a:pPr>
            <a:r>
              <a:rPr sz="878" b="0">
                <a:solidFill>
                  <a:srgbClr val="0F172A"/>
                </a:solidFill>
              </a:rPr>
              <a:t>1 node → 3 node tpmC</a:t>
            </a:r>
          </a:p>
        </p:txBody>
      </p:sp>
      <p:sp>
        <p:nvSpPr>
          <p:cNvPr id="153" name="s13-top-1-1">
            <a:extLst>
              <a:ext uri="{FF2B5EF4-FFF2-40B4-BE49-F238E27FC236}">
                <a16:creationId xmlns:a16="http://schemas.microsoft.com/office/drawing/2014/main" id="{DD5E2A4A-77BA-44FA-A335-F7BBF918C08E}"/>
              </a:ext>
            </a:extLst>
          </p:cNvPr>
          <p:cNvSpPr>
            <a:spLocks noGrp="1"/>
          </p:cNvSpPr>
          <p:nvPr/>
        </p:nvSpPr>
        <p:spPr>
          <a:xfrm>
            <a:off x="2733675" y="2743200"/>
            <a:ext cx="1285875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78" b="0">
                <a:solidFill>
                  <a:srgbClr val="334155"/>
                </a:solidFill>
              </a:defRPr>
            </a:pPr>
            <a:r>
              <a:rPr sz="878" b="0">
                <a:solidFill>
                  <a:srgbClr val="334155"/>
                </a:solidFill>
              </a:rPr>
              <a:t>53,791.9 → 26,166.2</a:t>
            </a:r>
          </a:p>
        </p:txBody>
      </p:sp>
      <p:sp>
        <p:nvSpPr>
          <p:cNvPr id="154" name="s13-top-1-2">
            <a:extLst>
              <a:ext uri="{FF2B5EF4-FFF2-40B4-BE49-F238E27FC236}">
                <a16:creationId xmlns:a16="http://schemas.microsoft.com/office/drawing/2014/main" id="{11DD4F79-B548-4899-A48D-067FA064B465}"/>
              </a:ext>
            </a:extLst>
          </p:cNvPr>
          <p:cNvSpPr>
            <a:spLocks noGrp="1"/>
          </p:cNvSpPr>
          <p:nvPr/>
        </p:nvSpPr>
        <p:spPr>
          <a:xfrm>
            <a:off x="4019550" y="2743200"/>
            <a:ext cx="1428750" cy="4000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00" b="0">
                <a:solidFill>
                  <a:srgbClr val="2563EB"/>
                </a:solidFill>
              </a:defRPr>
            </a:pPr>
            <a:r>
              <a:rPr sz="900" b="0">
                <a:solidFill>
                  <a:srgbClr val="2563EB"/>
                </a:solidFill>
              </a:rPr>
              <a:t>13,064 → 26,947</a:t>
            </a:r>
          </a:p>
        </p:txBody>
      </p:sp>
      <p:sp>
        <p:nvSpPr>
          <p:cNvPr id="155" name="s13-top-1-3">
            <a:extLst>
              <a:ext uri="{FF2B5EF4-FFF2-40B4-BE49-F238E27FC236}">
                <a16:creationId xmlns:a16="http://schemas.microsoft.com/office/drawing/2014/main" id="{A94E262F-271D-4596-BD8F-56854E7E97FC}"/>
              </a:ext>
            </a:extLst>
          </p:cNvPr>
          <p:cNvSpPr>
            <a:spLocks noGrp="1"/>
          </p:cNvSpPr>
          <p:nvPr/>
        </p:nvSpPr>
        <p:spPr>
          <a:xfrm>
            <a:off x="5448300" y="2743200"/>
            <a:ext cx="1285875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78" b="0">
                <a:solidFill>
                  <a:srgbClr val="0F172A"/>
                </a:solidFill>
              </a:defRPr>
            </a:pPr>
            <a:r>
              <a:rPr sz="878" b="0">
                <a:solidFill>
                  <a:srgbClr val="0F172A"/>
                </a:solidFill>
              </a:rPr>
              <a:t>11,436 → 15,632</a:t>
            </a:r>
          </a:p>
        </p:txBody>
      </p:sp>
      <p:sp>
        <p:nvSpPr>
          <p:cNvPr id="156" name="s13-top-1-4">
            <a:extLst>
              <a:ext uri="{FF2B5EF4-FFF2-40B4-BE49-F238E27FC236}">
                <a16:creationId xmlns:a16="http://schemas.microsoft.com/office/drawing/2014/main" id="{FDFD57B1-5E5A-40A4-AAD2-4C699E5DDBE4}"/>
              </a:ext>
            </a:extLst>
          </p:cNvPr>
          <p:cNvSpPr>
            <a:spLocks noGrp="1"/>
          </p:cNvSpPr>
          <p:nvPr/>
        </p:nvSpPr>
        <p:spPr>
          <a:xfrm>
            <a:off x="6734175" y="2743200"/>
            <a:ext cx="1381125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78" b="0">
                <a:solidFill>
                  <a:srgbClr val="0F172A"/>
                </a:solidFill>
              </a:defRPr>
            </a:pPr>
            <a:r>
              <a:rPr sz="878" b="0">
                <a:solidFill>
                  <a:srgbClr val="0F172A"/>
                </a:solidFill>
              </a:rPr>
              <a:t>9,134 → 15,033</a:t>
            </a:r>
          </a:p>
        </p:txBody>
      </p:sp>
      <p:sp>
        <p:nvSpPr>
          <p:cNvPr id="157" name="s13-top-1-5">
            <a:extLst>
              <a:ext uri="{FF2B5EF4-FFF2-40B4-BE49-F238E27FC236}">
                <a16:creationId xmlns:a16="http://schemas.microsoft.com/office/drawing/2014/main" id="{D4AF2F45-8C77-4962-9391-ED06DFC8344F}"/>
              </a:ext>
            </a:extLst>
          </p:cNvPr>
          <p:cNvSpPr>
            <a:spLocks noGrp="1"/>
          </p:cNvSpPr>
          <p:nvPr/>
        </p:nvSpPr>
        <p:spPr>
          <a:xfrm>
            <a:off x="8115300" y="2743200"/>
            <a:ext cx="3124200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保留分母，不只看倍率</a:t>
            </a:r>
          </a:p>
        </p:txBody>
      </p:sp>
      <p:sp>
        <p:nvSpPr>
          <p:cNvPr id="158" name="s13-top-2-0">
            <a:extLst>
              <a:ext uri="{FF2B5EF4-FFF2-40B4-BE49-F238E27FC236}">
                <a16:creationId xmlns:a16="http://schemas.microsoft.com/office/drawing/2014/main" id="{75B2A1A4-4540-4429-B2DC-7562F78390C9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22383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水平擴展倍率</a:t>
            </a:r>
          </a:p>
        </p:txBody>
      </p:sp>
      <p:sp>
        <p:nvSpPr>
          <p:cNvPr id="159" name="s13-top-2-1">
            <a:extLst>
              <a:ext uri="{FF2B5EF4-FFF2-40B4-BE49-F238E27FC236}">
                <a16:creationId xmlns:a16="http://schemas.microsoft.com/office/drawing/2014/main" id="{158FEC7B-ECE1-4C42-8201-BBDD216A76B8}"/>
              </a:ext>
            </a:extLst>
          </p:cNvPr>
          <p:cNvSpPr>
            <a:spLocks noGrp="1"/>
          </p:cNvSpPr>
          <p:nvPr/>
        </p:nvSpPr>
        <p:spPr>
          <a:xfrm>
            <a:off x="2733675" y="3143250"/>
            <a:ext cx="1285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334155"/>
                </a:solidFill>
              </a:defRPr>
            </a:pPr>
            <a:r>
              <a:rPr sz="953" b="0">
                <a:solidFill>
                  <a:srgbClr val="334155"/>
                </a:solidFill>
              </a:rPr>
              <a:t>0.49×</a:t>
            </a:r>
          </a:p>
        </p:txBody>
      </p:sp>
      <p:sp>
        <p:nvSpPr>
          <p:cNvPr id="160" name="s13-top-2-2">
            <a:extLst>
              <a:ext uri="{FF2B5EF4-FFF2-40B4-BE49-F238E27FC236}">
                <a16:creationId xmlns:a16="http://schemas.microsoft.com/office/drawing/2014/main" id="{8B263F6C-DFCD-428A-AE96-F99503C7CBB1}"/>
              </a:ext>
            </a:extLst>
          </p:cNvPr>
          <p:cNvSpPr>
            <a:spLocks noGrp="1"/>
          </p:cNvSpPr>
          <p:nvPr/>
        </p:nvSpPr>
        <p:spPr>
          <a:xfrm>
            <a:off x="4019550" y="3143250"/>
            <a:ext cx="1428750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2563EB"/>
                </a:solidFill>
              </a:defRPr>
            </a:pPr>
            <a:r>
              <a:rPr sz="1013" b="1">
                <a:solidFill>
                  <a:srgbClr val="2563EB"/>
                </a:solidFill>
              </a:rPr>
              <a:t>2.06×</a:t>
            </a:r>
          </a:p>
        </p:txBody>
      </p:sp>
      <p:sp>
        <p:nvSpPr>
          <p:cNvPr id="161" name="s13-top-2-3">
            <a:extLst>
              <a:ext uri="{FF2B5EF4-FFF2-40B4-BE49-F238E27FC236}">
                <a16:creationId xmlns:a16="http://schemas.microsoft.com/office/drawing/2014/main" id="{1EEBFDC4-784A-4ED9-9703-EADAD79DCCD0}"/>
              </a:ext>
            </a:extLst>
          </p:cNvPr>
          <p:cNvSpPr>
            <a:spLocks noGrp="1"/>
          </p:cNvSpPr>
          <p:nvPr/>
        </p:nvSpPr>
        <p:spPr>
          <a:xfrm>
            <a:off x="5448300" y="3143250"/>
            <a:ext cx="1285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1.37×</a:t>
            </a:r>
          </a:p>
        </p:txBody>
      </p:sp>
      <p:sp>
        <p:nvSpPr>
          <p:cNvPr id="162" name="s13-top-2-4">
            <a:extLst>
              <a:ext uri="{FF2B5EF4-FFF2-40B4-BE49-F238E27FC236}">
                <a16:creationId xmlns:a16="http://schemas.microsoft.com/office/drawing/2014/main" id="{832BC738-1573-4C84-B5D5-2CFC507ECD13}"/>
              </a:ext>
            </a:extLst>
          </p:cNvPr>
          <p:cNvSpPr>
            <a:spLocks noGrp="1"/>
          </p:cNvSpPr>
          <p:nvPr/>
        </p:nvSpPr>
        <p:spPr>
          <a:xfrm>
            <a:off x="6734175" y="3143250"/>
            <a:ext cx="1381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1.65×</a:t>
            </a:r>
          </a:p>
        </p:txBody>
      </p:sp>
      <p:sp>
        <p:nvSpPr>
          <p:cNvPr id="163" name="s13-top-2-5">
            <a:extLst>
              <a:ext uri="{FF2B5EF4-FFF2-40B4-BE49-F238E27FC236}">
                <a16:creationId xmlns:a16="http://schemas.microsoft.com/office/drawing/2014/main" id="{C68CD2FD-E09E-4DF8-801D-E6744F56115B}"/>
              </a:ext>
            </a:extLst>
          </p:cNvPr>
          <p:cNvSpPr>
            <a:spLocks noGrp="1"/>
          </p:cNvSpPr>
          <p:nvPr/>
        </p:nvSpPr>
        <p:spPr>
          <a:xfrm>
            <a:off x="8115300" y="3143250"/>
            <a:ext cx="31242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TiDB 本輪最高；不是產品總排名</a:t>
            </a:r>
          </a:p>
        </p:txBody>
      </p:sp>
      <p:sp>
        <p:nvSpPr>
          <p:cNvPr id="164" name="s13-top-3-0">
            <a:extLst>
              <a:ext uri="{FF2B5EF4-FFF2-40B4-BE49-F238E27FC236}">
                <a16:creationId xmlns:a16="http://schemas.microsoft.com/office/drawing/2014/main" id="{BAC7EEF7-B1C1-4F2F-93A8-73B61136D5CE}"/>
              </a:ext>
            </a:extLst>
          </p:cNvPr>
          <p:cNvSpPr>
            <a:spLocks noGrp="1"/>
          </p:cNvSpPr>
          <p:nvPr/>
        </p:nvSpPr>
        <p:spPr>
          <a:xfrm>
            <a:off x="495300" y="3467100"/>
            <a:ext cx="223837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t=128 五輪變異</a:t>
            </a:r>
          </a:p>
        </p:txBody>
      </p:sp>
      <p:sp>
        <p:nvSpPr>
          <p:cNvPr id="165" name="s13-top-3-1">
            <a:extLst>
              <a:ext uri="{FF2B5EF4-FFF2-40B4-BE49-F238E27FC236}">
                <a16:creationId xmlns:a16="http://schemas.microsoft.com/office/drawing/2014/main" id="{94F0F4AF-BCA9-4EC4-99BF-64F52A245B76}"/>
              </a:ext>
            </a:extLst>
          </p:cNvPr>
          <p:cNvSpPr>
            <a:spLocks noGrp="1"/>
          </p:cNvSpPr>
          <p:nvPr/>
        </p:nvSpPr>
        <p:spPr>
          <a:xfrm>
            <a:off x="2733675" y="3467100"/>
            <a:ext cx="128587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334155"/>
                </a:solidFill>
              </a:defRPr>
            </a:pPr>
            <a:r>
              <a:rPr sz="953" b="0">
                <a:solidFill>
                  <a:srgbClr val="334155"/>
                </a:solidFill>
              </a:rPr>
              <a:t>43.2%</a:t>
            </a:r>
          </a:p>
        </p:txBody>
      </p:sp>
      <p:sp>
        <p:nvSpPr>
          <p:cNvPr id="166" name="s13-top-3-2">
            <a:extLst>
              <a:ext uri="{FF2B5EF4-FFF2-40B4-BE49-F238E27FC236}">
                <a16:creationId xmlns:a16="http://schemas.microsoft.com/office/drawing/2014/main" id="{9FC814ED-D578-40BD-B9E6-2084BBBA416D}"/>
              </a:ext>
            </a:extLst>
          </p:cNvPr>
          <p:cNvSpPr>
            <a:spLocks noGrp="1"/>
          </p:cNvSpPr>
          <p:nvPr/>
        </p:nvSpPr>
        <p:spPr>
          <a:xfrm>
            <a:off x="4019550" y="3467100"/>
            <a:ext cx="1428750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2563EB"/>
                </a:solidFill>
              </a:defRPr>
            </a:pPr>
            <a:r>
              <a:rPr sz="1013" b="0">
                <a:solidFill>
                  <a:srgbClr val="2563EB"/>
                </a:solidFill>
              </a:rPr>
              <a:t>7.4%</a:t>
            </a:r>
          </a:p>
        </p:txBody>
      </p:sp>
      <p:sp>
        <p:nvSpPr>
          <p:cNvPr id="167" name="s13-top-3-3">
            <a:extLst>
              <a:ext uri="{FF2B5EF4-FFF2-40B4-BE49-F238E27FC236}">
                <a16:creationId xmlns:a16="http://schemas.microsoft.com/office/drawing/2014/main" id="{E32B3AA5-8767-4785-979A-DC73F2094282}"/>
              </a:ext>
            </a:extLst>
          </p:cNvPr>
          <p:cNvSpPr>
            <a:spLocks noGrp="1"/>
          </p:cNvSpPr>
          <p:nvPr/>
        </p:nvSpPr>
        <p:spPr>
          <a:xfrm>
            <a:off x="5448300" y="3467100"/>
            <a:ext cx="128587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7.1%</a:t>
            </a:r>
          </a:p>
        </p:txBody>
      </p:sp>
      <p:sp>
        <p:nvSpPr>
          <p:cNvPr id="168" name="s13-top-3-4">
            <a:extLst>
              <a:ext uri="{FF2B5EF4-FFF2-40B4-BE49-F238E27FC236}">
                <a16:creationId xmlns:a16="http://schemas.microsoft.com/office/drawing/2014/main" id="{1BA10314-9D8E-4274-943F-A217645B45F4}"/>
              </a:ext>
            </a:extLst>
          </p:cNvPr>
          <p:cNvSpPr>
            <a:spLocks noGrp="1"/>
          </p:cNvSpPr>
          <p:nvPr/>
        </p:nvSpPr>
        <p:spPr>
          <a:xfrm>
            <a:off x="6734175" y="3467100"/>
            <a:ext cx="138112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6.9%</a:t>
            </a:r>
          </a:p>
        </p:txBody>
      </p:sp>
      <p:sp>
        <p:nvSpPr>
          <p:cNvPr id="169" name="s13-top-3-5">
            <a:extLst>
              <a:ext uri="{FF2B5EF4-FFF2-40B4-BE49-F238E27FC236}">
                <a16:creationId xmlns:a16="http://schemas.microsoft.com/office/drawing/2014/main" id="{66E3714F-7439-4CAB-880D-2955F46FE4E6}"/>
              </a:ext>
            </a:extLst>
          </p:cNvPr>
          <p:cNvSpPr>
            <a:spLocks noGrp="1"/>
          </p:cNvSpPr>
          <p:nvPr/>
        </p:nvSpPr>
        <p:spPr>
          <a:xfrm>
            <a:off x="8115300" y="3467100"/>
            <a:ext cx="3124200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越低越穩</a:t>
            </a:r>
          </a:p>
        </p:txBody>
      </p:sp>
      <p:sp>
        <p:nvSpPr>
          <p:cNvPr id="170" name="s13-top-4-0">
            <a:extLst>
              <a:ext uri="{FF2B5EF4-FFF2-40B4-BE49-F238E27FC236}">
                <a16:creationId xmlns:a16="http://schemas.microsoft.com/office/drawing/2014/main" id="{CF304B94-EE56-498C-8716-1B44F0FED5B1}"/>
              </a:ext>
            </a:extLst>
          </p:cNvPr>
          <p:cNvSpPr>
            <a:spLocks noGrp="1"/>
          </p:cNvSpPr>
          <p:nvPr/>
        </p:nvSpPr>
        <p:spPr>
          <a:xfrm>
            <a:off x="495300" y="3790950"/>
            <a:ext cx="22383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all-txn error rate</a:t>
            </a:r>
          </a:p>
        </p:txBody>
      </p:sp>
      <p:sp>
        <p:nvSpPr>
          <p:cNvPr id="171" name="s13-top-4-1">
            <a:extLst>
              <a:ext uri="{FF2B5EF4-FFF2-40B4-BE49-F238E27FC236}">
                <a16:creationId xmlns:a16="http://schemas.microsoft.com/office/drawing/2014/main" id="{40DF73C8-08CC-412D-B710-2B8F79C3A1AC}"/>
              </a:ext>
            </a:extLst>
          </p:cNvPr>
          <p:cNvSpPr>
            <a:spLocks noGrp="1"/>
          </p:cNvSpPr>
          <p:nvPr/>
        </p:nvSpPr>
        <p:spPr>
          <a:xfrm>
            <a:off x="2733675" y="3790950"/>
            <a:ext cx="1285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1">
                <a:solidFill>
                  <a:srgbClr val="B91C1C"/>
                </a:solidFill>
              </a:defRPr>
            </a:pPr>
            <a:r>
              <a:rPr sz="953" b="1">
                <a:solidFill>
                  <a:srgbClr val="B91C1C"/>
                </a:solidFill>
              </a:rPr>
              <a:t>0.037%</a:t>
            </a:r>
          </a:p>
        </p:txBody>
      </p:sp>
      <p:sp>
        <p:nvSpPr>
          <p:cNvPr id="172" name="s13-top-4-2">
            <a:extLst>
              <a:ext uri="{FF2B5EF4-FFF2-40B4-BE49-F238E27FC236}">
                <a16:creationId xmlns:a16="http://schemas.microsoft.com/office/drawing/2014/main" id="{17581F97-022F-4D35-8F66-2CA4B64EA79B}"/>
              </a:ext>
            </a:extLst>
          </p:cNvPr>
          <p:cNvSpPr>
            <a:spLocks noGrp="1"/>
          </p:cNvSpPr>
          <p:nvPr/>
        </p:nvSpPr>
        <p:spPr>
          <a:xfrm>
            <a:off x="4019550" y="3790950"/>
            <a:ext cx="1428750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2563EB"/>
                </a:solidFill>
              </a:defRPr>
            </a:pPr>
            <a:r>
              <a:rPr sz="1013" b="1">
                <a:solidFill>
                  <a:srgbClr val="2563EB"/>
                </a:solidFill>
              </a:rPr>
              <a:t>0.000%</a:t>
            </a:r>
          </a:p>
        </p:txBody>
      </p:sp>
      <p:sp>
        <p:nvSpPr>
          <p:cNvPr id="173" name="s13-top-4-3">
            <a:extLst>
              <a:ext uri="{FF2B5EF4-FFF2-40B4-BE49-F238E27FC236}">
                <a16:creationId xmlns:a16="http://schemas.microsoft.com/office/drawing/2014/main" id="{EEF64A1B-0F3D-4364-982B-E02DC036F463}"/>
              </a:ext>
            </a:extLst>
          </p:cNvPr>
          <p:cNvSpPr>
            <a:spLocks noGrp="1"/>
          </p:cNvSpPr>
          <p:nvPr/>
        </p:nvSpPr>
        <p:spPr>
          <a:xfrm>
            <a:off x="5448300" y="3790950"/>
            <a:ext cx="1285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0.000%</a:t>
            </a:r>
          </a:p>
        </p:txBody>
      </p:sp>
      <p:sp>
        <p:nvSpPr>
          <p:cNvPr id="174" name="s13-top-4-4">
            <a:extLst>
              <a:ext uri="{FF2B5EF4-FFF2-40B4-BE49-F238E27FC236}">
                <a16:creationId xmlns:a16="http://schemas.microsoft.com/office/drawing/2014/main" id="{30086E07-C21F-4120-98D1-146DD59D0E6D}"/>
              </a:ext>
            </a:extLst>
          </p:cNvPr>
          <p:cNvSpPr>
            <a:spLocks noGrp="1"/>
          </p:cNvSpPr>
          <p:nvPr/>
        </p:nvSpPr>
        <p:spPr>
          <a:xfrm>
            <a:off x="6734175" y="3790950"/>
            <a:ext cx="1381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0.000%</a:t>
            </a:r>
          </a:p>
        </p:txBody>
      </p:sp>
      <p:sp>
        <p:nvSpPr>
          <p:cNvPr id="175" name="s13-top-4-5">
            <a:extLst>
              <a:ext uri="{FF2B5EF4-FFF2-40B4-BE49-F238E27FC236}">
                <a16:creationId xmlns:a16="http://schemas.microsoft.com/office/drawing/2014/main" id="{D87DBD8A-EC3E-4B65-B0AF-3F617A687638}"/>
              </a:ext>
            </a:extLst>
          </p:cNvPr>
          <p:cNvSpPr>
            <a:spLocks noGrp="1"/>
          </p:cNvSpPr>
          <p:nvPr/>
        </p:nvSpPr>
        <p:spPr>
          <a:xfrm>
            <a:off x="8115300" y="3790950"/>
            <a:ext cx="31242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PXC / Galera 是唯一非零</a:t>
            </a:r>
          </a:p>
        </p:txBody>
      </p:sp>
      <p:sp>
        <p:nvSpPr>
          <p:cNvPr id="176" name="s13-group-cross">
            <a:extLst>
              <a:ext uri="{FF2B5EF4-FFF2-40B4-BE49-F238E27FC236}">
                <a16:creationId xmlns:a16="http://schemas.microsoft.com/office/drawing/2014/main" id="{0DF1CBD9-5E54-421B-9FA6-5E16ECA00170}"/>
              </a:ext>
            </a:extLst>
          </p:cNvPr>
          <p:cNvSpPr>
            <a:spLocks noGrp="1"/>
          </p:cNvSpPr>
          <p:nvPr/>
        </p:nvSpPr>
        <p:spPr>
          <a:xfrm>
            <a:off x="495300" y="4171950"/>
            <a:ext cx="10744200" cy="22860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跨區實測｜Placement × Workload</a:t>
            </a:r>
          </a:p>
        </p:txBody>
      </p:sp>
      <p:sp>
        <p:nvSpPr>
          <p:cNvPr id="177" name="s13-cross-header-0">
            <a:extLst>
              <a:ext uri="{FF2B5EF4-FFF2-40B4-BE49-F238E27FC236}">
                <a16:creationId xmlns:a16="http://schemas.microsoft.com/office/drawing/2014/main" id="{1A982B2B-B212-49ED-88FA-05F26ADE1E77}"/>
              </a:ext>
            </a:extLst>
          </p:cNvPr>
          <p:cNvSpPr>
            <a:spLocks noGrp="1"/>
          </p:cNvSpPr>
          <p:nvPr/>
        </p:nvSpPr>
        <p:spPr>
          <a:xfrm>
            <a:off x="495300" y="4400550"/>
            <a:ext cx="3695700" cy="2857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情境</a:t>
            </a:r>
          </a:p>
        </p:txBody>
      </p:sp>
      <p:sp>
        <p:nvSpPr>
          <p:cNvPr id="178" name="s13-cross-header-1">
            <a:extLst>
              <a:ext uri="{FF2B5EF4-FFF2-40B4-BE49-F238E27FC236}">
                <a16:creationId xmlns:a16="http://schemas.microsoft.com/office/drawing/2014/main" id="{6ACFC3D2-5BF2-423F-8D8F-3B8C5AF9A308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1762125" cy="2857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PXC / Galera</a:t>
            </a:r>
          </a:p>
        </p:txBody>
      </p:sp>
      <p:sp>
        <p:nvSpPr>
          <p:cNvPr id="179" name="s13-cross-header-2">
            <a:extLst>
              <a:ext uri="{FF2B5EF4-FFF2-40B4-BE49-F238E27FC236}">
                <a16:creationId xmlns:a16="http://schemas.microsoft.com/office/drawing/2014/main" id="{2936F55F-9F63-4A2E-B3F1-AFA21FFE0026}"/>
              </a:ext>
            </a:extLst>
          </p:cNvPr>
          <p:cNvSpPr>
            <a:spLocks noGrp="1"/>
          </p:cNvSpPr>
          <p:nvPr/>
        </p:nvSpPr>
        <p:spPr>
          <a:xfrm>
            <a:off x="5953125" y="4400550"/>
            <a:ext cx="1762125" cy="2857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TiDB</a:t>
            </a:r>
          </a:p>
        </p:txBody>
      </p:sp>
      <p:sp>
        <p:nvSpPr>
          <p:cNvPr id="180" name="s13-cross-header-3">
            <a:extLst>
              <a:ext uri="{FF2B5EF4-FFF2-40B4-BE49-F238E27FC236}">
                <a16:creationId xmlns:a16="http://schemas.microsoft.com/office/drawing/2014/main" id="{0C15C86B-48EA-47E0-AFB9-BFA7667C2285}"/>
              </a:ext>
            </a:extLst>
          </p:cNvPr>
          <p:cNvSpPr>
            <a:spLocks noGrp="1"/>
          </p:cNvSpPr>
          <p:nvPr/>
        </p:nvSpPr>
        <p:spPr>
          <a:xfrm>
            <a:off x="7715250" y="4400550"/>
            <a:ext cx="1762125" cy="2857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YugabyteDB</a:t>
            </a:r>
          </a:p>
        </p:txBody>
      </p:sp>
      <p:sp>
        <p:nvSpPr>
          <p:cNvPr id="181" name="s13-cross-header-4">
            <a:extLst>
              <a:ext uri="{FF2B5EF4-FFF2-40B4-BE49-F238E27FC236}">
                <a16:creationId xmlns:a16="http://schemas.microsoft.com/office/drawing/2014/main" id="{94E45271-F75E-48E4-90CC-F47345E976BD}"/>
              </a:ext>
            </a:extLst>
          </p:cNvPr>
          <p:cNvSpPr>
            <a:spLocks noGrp="1"/>
          </p:cNvSpPr>
          <p:nvPr/>
        </p:nvSpPr>
        <p:spPr>
          <a:xfrm>
            <a:off x="9477375" y="4400550"/>
            <a:ext cx="1762125" cy="2857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CockroachDB</a:t>
            </a:r>
          </a:p>
        </p:txBody>
      </p:sp>
      <p:sp>
        <p:nvSpPr>
          <p:cNvPr id="182" name="s13-cross-0-0">
            <a:extLst>
              <a:ext uri="{FF2B5EF4-FFF2-40B4-BE49-F238E27FC236}">
                <a16:creationId xmlns:a16="http://schemas.microsoft.com/office/drawing/2014/main" id="{EA6FE111-5A0F-4488-8ED3-3DC3C31C2314}"/>
              </a:ext>
            </a:extLst>
          </p:cNvPr>
          <p:cNvSpPr>
            <a:spLocks noGrp="1"/>
          </p:cNvSpPr>
          <p:nvPr/>
        </p:nvSpPr>
        <p:spPr>
          <a:xfrm>
            <a:off x="495300" y="4686300"/>
            <a:ext cx="36957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P-A × A/S，tpmC</a:t>
            </a:r>
          </a:p>
        </p:txBody>
      </p:sp>
      <p:sp>
        <p:nvSpPr>
          <p:cNvPr id="183" name="s13-cross-0-1">
            <a:extLst>
              <a:ext uri="{FF2B5EF4-FFF2-40B4-BE49-F238E27FC236}">
                <a16:creationId xmlns:a16="http://schemas.microsoft.com/office/drawing/2014/main" id="{33946616-DA8E-49C9-A4EF-21530DC2A8F8}"/>
              </a:ext>
            </a:extLst>
          </p:cNvPr>
          <p:cNvSpPr>
            <a:spLocks noGrp="1"/>
          </p:cNvSpPr>
          <p:nvPr/>
        </p:nvSpPr>
        <p:spPr>
          <a:xfrm>
            <a:off x="4191000" y="4686300"/>
            <a:ext cx="1762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298.8</a:t>
            </a:r>
          </a:p>
        </p:txBody>
      </p:sp>
      <p:sp>
        <p:nvSpPr>
          <p:cNvPr id="184" name="s13-cross-0-2">
            <a:extLst>
              <a:ext uri="{FF2B5EF4-FFF2-40B4-BE49-F238E27FC236}">
                <a16:creationId xmlns:a16="http://schemas.microsoft.com/office/drawing/2014/main" id="{D795B4F6-9B22-4BB9-9E2E-9027ACB3FCA0}"/>
              </a:ext>
            </a:extLst>
          </p:cNvPr>
          <p:cNvSpPr>
            <a:spLocks noGrp="1"/>
          </p:cNvSpPr>
          <p:nvPr/>
        </p:nvSpPr>
        <p:spPr>
          <a:xfrm>
            <a:off x="5953125" y="4686300"/>
            <a:ext cx="1762125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2563EB"/>
                </a:solidFill>
              </a:defRPr>
            </a:pPr>
            <a:r>
              <a:rPr sz="975" b="0">
                <a:solidFill>
                  <a:srgbClr val="2563EB"/>
                </a:solidFill>
              </a:rPr>
              <a:t>12,526.5</a:t>
            </a:r>
          </a:p>
        </p:txBody>
      </p:sp>
      <p:sp>
        <p:nvSpPr>
          <p:cNvPr id="185" name="s13-cross-0-3">
            <a:extLst>
              <a:ext uri="{FF2B5EF4-FFF2-40B4-BE49-F238E27FC236}">
                <a16:creationId xmlns:a16="http://schemas.microsoft.com/office/drawing/2014/main" id="{B47B7030-A401-4411-8E78-AFEFA6B0F78F}"/>
              </a:ext>
            </a:extLst>
          </p:cNvPr>
          <p:cNvSpPr>
            <a:spLocks noGrp="1"/>
          </p:cNvSpPr>
          <p:nvPr/>
        </p:nvSpPr>
        <p:spPr>
          <a:xfrm>
            <a:off x="7715250" y="4686300"/>
            <a:ext cx="1762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12,769.5</a:t>
            </a:r>
          </a:p>
        </p:txBody>
      </p:sp>
      <p:sp>
        <p:nvSpPr>
          <p:cNvPr id="186" name="s13-cross-0-4">
            <a:extLst>
              <a:ext uri="{FF2B5EF4-FFF2-40B4-BE49-F238E27FC236}">
                <a16:creationId xmlns:a16="http://schemas.microsoft.com/office/drawing/2014/main" id="{5F35A051-8604-4F75-BC27-F7AB044A3035}"/>
              </a:ext>
            </a:extLst>
          </p:cNvPr>
          <p:cNvSpPr>
            <a:spLocks noGrp="1"/>
          </p:cNvSpPr>
          <p:nvPr/>
        </p:nvSpPr>
        <p:spPr>
          <a:xfrm>
            <a:off x="9477375" y="4686300"/>
            <a:ext cx="1762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10,163.4</a:t>
            </a:r>
          </a:p>
        </p:txBody>
      </p:sp>
      <p:sp>
        <p:nvSpPr>
          <p:cNvPr id="187" name="s13-cross-1-0">
            <a:extLst>
              <a:ext uri="{FF2B5EF4-FFF2-40B4-BE49-F238E27FC236}">
                <a16:creationId xmlns:a16="http://schemas.microsoft.com/office/drawing/2014/main" id="{F6E37E0C-048C-47E4-B948-C6B2242F7D4B}"/>
              </a:ext>
            </a:extLst>
          </p:cNvPr>
          <p:cNvSpPr>
            <a:spLocks noGrp="1"/>
          </p:cNvSpPr>
          <p:nvPr/>
        </p:nvSpPr>
        <p:spPr>
          <a:xfrm>
            <a:off x="495300" y="5010150"/>
            <a:ext cx="3695700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P-A × A/A (RO)，GCP read_tpmTotal</a:t>
            </a:r>
          </a:p>
        </p:txBody>
      </p:sp>
      <p:sp>
        <p:nvSpPr>
          <p:cNvPr id="188" name="s13-cross-1-1">
            <a:extLst>
              <a:ext uri="{FF2B5EF4-FFF2-40B4-BE49-F238E27FC236}">
                <a16:creationId xmlns:a16="http://schemas.microsoft.com/office/drawing/2014/main" id="{26DD8BD2-FE49-4A75-993D-7AAAFC9DE86A}"/>
              </a:ext>
            </a:extLst>
          </p:cNvPr>
          <p:cNvSpPr>
            <a:spLocks noGrp="1"/>
          </p:cNvSpPr>
          <p:nvPr/>
        </p:nvSpPr>
        <p:spPr>
          <a:xfrm>
            <a:off x="4191000" y="5010150"/>
            <a:ext cx="176212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n/a</a:t>
            </a:r>
          </a:p>
        </p:txBody>
      </p:sp>
      <p:sp>
        <p:nvSpPr>
          <p:cNvPr id="189" name="s13-cross-1-2">
            <a:extLst>
              <a:ext uri="{FF2B5EF4-FFF2-40B4-BE49-F238E27FC236}">
                <a16:creationId xmlns:a16="http://schemas.microsoft.com/office/drawing/2014/main" id="{F2545064-9FD8-4F6B-AE3A-929BE85E510A}"/>
              </a:ext>
            </a:extLst>
          </p:cNvPr>
          <p:cNvSpPr>
            <a:spLocks noGrp="1"/>
          </p:cNvSpPr>
          <p:nvPr/>
        </p:nvSpPr>
        <p:spPr>
          <a:xfrm>
            <a:off x="5953125" y="5010150"/>
            <a:ext cx="1762125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31,571.3</a:t>
            </a:r>
          </a:p>
        </p:txBody>
      </p:sp>
      <p:sp>
        <p:nvSpPr>
          <p:cNvPr id="190" name="s13-cross-1-3">
            <a:extLst>
              <a:ext uri="{FF2B5EF4-FFF2-40B4-BE49-F238E27FC236}">
                <a16:creationId xmlns:a16="http://schemas.microsoft.com/office/drawing/2014/main" id="{A7842F7B-0F89-4A39-982A-0AB93BFA0B05}"/>
              </a:ext>
            </a:extLst>
          </p:cNvPr>
          <p:cNvSpPr>
            <a:spLocks noGrp="1"/>
          </p:cNvSpPr>
          <p:nvPr/>
        </p:nvSpPr>
        <p:spPr>
          <a:xfrm>
            <a:off x="7715250" y="5010150"/>
            <a:ext cx="176212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56,787.9</a:t>
            </a:r>
          </a:p>
        </p:txBody>
      </p:sp>
      <p:sp>
        <p:nvSpPr>
          <p:cNvPr id="191" name="s13-cross-1-4">
            <a:extLst>
              <a:ext uri="{FF2B5EF4-FFF2-40B4-BE49-F238E27FC236}">
                <a16:creationId xmlns:a16="http://schemas.microsoft.com/office/drawing/2014/main" id="{F55DDE1D-9BBE-4084-9D04-3F1E37F23793}"/>
              </a:ext>
            </a:extLst>
          </p:cNvPr>
          <p:cNvSpPr>
            <a:spLocks noGrp="1"/>
          </p:cNvSpPr>
          <p:nvPr/>
        </p:nvSpPr>
        <p:spPr>
          <a:xfrm>
            <a:off x="9477375" y="5010150"/>
            <a:ext cx="176212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41,056.3</a:t>
            </a:r>
          </a:p>
        </p:txBody>
      </p:sp>
      <p:sp>
        <p:nvSpPr>
          <p:cNvPr id="192" name="s13-cross-2-0">
            <a:extLst>
              <a:ext uri="{FF2B5EF4-FFF2-40B4-BE49-F238E27FC236}">
                <a16:creationId xmlns:a16="http://schemas.microsoft.com/office/drawing/2014/main" id="{F951FE4F-311F-4E4A-8316-E1EA896653DD}"/>
              </a:ext>
            </a:extLst>
          </p:cNvPr>
          <p:cNvSpPr>
            <a:spLocks noGrp="1"/>
          </p:cNvSpPr>
          <p:nvPr/>
        </p:nvSpPr>
        <p:spPr>
          <a:xfrm>
            <a:off x="495300" y="5334000"/>
            <a:ext cx="36957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P-B × A/A，GCP 側錯誤率</a:t>
            </a:r>
          </a:p>
        </p:txBody>
      </p:sp>
      <p:sp>
        <p:nvSpPr>
          <p:cNvPr id="193" name="s13-cross-2-1">
            <a:extLst>
              <a:ext uri="{FF2B5EF4-FFF2-40B4-BE49-F238E27FC236}">
                <a16:creationId xmlns:a16="http://schemas.microsoft.com/office/drawing/2014/main" id="{E872010F-A376-47C9-BF45-CA5B5E8E5F66}"/>
              </a:ext>
            </a:extLst>
          </p:cNvPr>
          <p:cNvSpPr>
            <a:spLocks noGrp="1"/>
          </p:cNvSpPr>
          <p:nvPr/>
        </p:nvSpPr>
        <p:spPr>
          <a:xfrm>
            <a:off x="4191000" y="5334000"/>
            <a:ext cx="1762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91C1C"/>
                </a:solidFill>
              </a:defRPr>
            </a:pPr>
            <a:r>
              <a:rPr sz="975" b="1">
                <a:solidFill>
                  <a:srgbClr val="B91C1C"/>
                </a:solidFill>
              </a:rPr>
              <a:t>47.0%</a:t>
            </a:r>
          </a:p>
        </p:txBody>
      </p:sp>
      <p:sp>
        <p:nvSpPr>
          <p:cNvPr id="194" name="s13-cross-2-2">
            <a:extLst>
              <a:ext uri="{FF2B5EF4-FFF2-40B4-BE49-F238E27FC236}">
                <a16:creationId xmlns:a16="http://schemas.microsoft.com/office/drawing/2014/main" id="{70799DB0-E490-4280-90E1-E0254AE636AC}"/>
              </a:ext>
            </a:extLst>
          </p:cNvPr>
          <p:cNvSpPr>
            <a:spLocks noGrp="1"/>
          </p:cNvSpPr>
          <p:nvPr/>
        </p:nvSpPr>
        <p:spPr>
          <a:xfrm>
            <a:off x="5953125" y="5334000"/>
            <a:ext cx="1762125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2563EB"/>
                </a:solidFill>
              </a:defRPr>
            </a:pPr>
            <a:r>
              <a:rPr sz="975" b="0">
                <a:solidFill>
                  <a:srgbClr val="2563EB"/>
                </a:solidFill>
              </a:rPr>
              <a:t>0.158%</a:t>
            </a:r>
          </a:p>
        </p:txBody>
      </p:sp>
      <p:sp>
        <p:nvSpPr>
          <p:cNvPr id="195" name="s13-cross-2-3">
            <a:extLst>
              <a:ext uri="{FF2B5EF4-FFF2-40B4-BE49-F238E27FC236}">
                <a16:creationId xmlns:a16="http://schemas.microsoft.com/office/drawing/2014/main" id="{67F98B89-3412-4B07-B9D8-A1F09CC0FE5E}"/>
              </a:ext>
            </a:extLst>
          </p:cNvPr>
          <p:cNvSpPr>
            <a:spLocks noGrp="1"/>
          </p:cNvSpPr>
          <p:nvPr/>
        </p:nvSpPr>
        <p:spPr>
          <a:xfrm>
            <a:off x="7715250" y="5334000"/>
            <a:ext cx="1762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0.134%</a:t>
            </a:r>
          </a:p>
        </p:txBody>
      </p:sp>
      <p:sp>
        <p:nvSpPr>
          <p:cNvPr id="196" name="s13-cross-2-4">
            <a:extLst>
              <a:ext uri="{FF2B5EF4-FFF2-40B4-BE49-F238E27FC236}">
                <a16:creationId xmlns:a16="http://schemas.microsoft.com/office/drawing/2014/main" id="{66A35BD0-3CB5-494A-A361-BB5C304111BA}"/>
              </a:ext>
            </a:extLst>
          </p:cNvPr>
          <p:cNvSpPr>
            <a:spLocks noGrp="1"/>
          </p:cNvSpPr>
          <p:nvPr/>
        </p:nvSpPr>
        <p:spPr>
          <a:xfrm>
            <a:off x="9477375" y="5334000"/>
            <a:ext cx="1762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0.111%</a:t>
            </a:r>
          </a:p>
        </p:txBody>
      </p:sp>
      <p:sp>
        <p:nvSpPr>
          <p:cNvPr id="197" name="s13-caveat">
            <a:extLst>
              <a:ext uri="{FF2B5EF4-FFF2-40B4-BE49-F238E27FC236}">
                <a16:creationId xmlns:a16="http://schemas.microsoft.com/office/drawing/2014/main" id="{8EDD7BDE-5756-41B5-94EF-A628895B9381}"/>
              </a:ext>
            </a:extLst>
          </p:cNvPr>
          <p:cNvSpPr>
            <a:spLocks noGrp="1"/>
          </p:cNvSpPr>
          <p:nvPr/>
        </p:nvSpPr>
        <p:spPr>
          <a:xfrm>
            <a:off x="495300" y="5695950"/>
            <a:ext cx="10744200" cy="59055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78" b="1">
                <a:solidFill>
                  <a:srgbClr val="334155"/>
                </a:solidFill>
              </a:defRPr>
            </a:pPr>
            <a:r>
              <a:rPr sz="878" b="1" dirty="0" err="1">
                <a:solidFill>
                  <a:srgbClr val="334155"/>
                </a:solidFill>
              </a:rPr>
              <a:t>正確性：PXC</a:t>
            </a:r>
            <a:r>
              <a:rPr sz="878" b="1" dirty="0">
                <a:solidFill>
                  <a:srgbClr val="334155"/>
                </a:solidFill>
              </a:rPr>
              <a:t> quorum </a:t>
            </a:r>
            <a:r>
              <a:rPr sz="878" b="1" dirty="0" err="1">
                <a:solidFill>
                  <a:srgbClr val="334155"/>
                </a:solidFill>
              </a:rPr>
              <a:t>遺失曾非預期寫入；TiDB</a:t>
            </a:r>
            <a:r>
              <a:rPr sz="878" b="1" dirty="0">
                <a:solidFill>
                  <a:srgbClr val="334155"/>
                </a:solidFill>
              </a:rPr>
              <a:t> / </a:t>
            </a:r>
            <a:r>
              <a:rPr sz="878" b="1" dirty="0" err="1">
                <a:solidFill>
                  <a:srgbClr val="334155"/>
                </a:solidFill>
              </a:rPr>
              <a:t>YugabyteDB</a:t>
            </a:r>
            <a:r>
              <a:rPr sz="878" b="1" dirty="0">
                <a:solidFill>
                  <a:srgbClr val="334155"/>
                </a:solidFill>
              </a:rPr>
              <a:t> </a:t>
            </a:r>
            <a:r>
              <a:rPr sz="878" b="1" dirty="0" err="1">
                <a:solidFill>
                  <a:srgbClr val="334155"/>
                </a:solidFill>
              </a:rPr>
              <a:t>乾淨拒絕；CockroachDB</a:t>
            </a:r>
            <a:r>
              <a:rPr sz="878" b="1" dirty="0">
                <a:solidFill>
                  <a:srgbClr val="334155"/>
                </a:solidFill>
              </a:rPr>
              <a:t> </a:t>
            </a:r>
            <a:r>
              <a:rPr sz="878" b="1" dirty="0" err="1">
                <a:solidFill>
                  <a:srgbClr val="334155"/>
                </a:solidFill>
              </a:rPr>
              <a:t>可能</a:t>
            </a:r>
            <a:r>
              <a:rPr lang="zh-TW" altLang="en-US" sz="878" b="1" dirty="0">
                <a:solidFill>
                  <a:srgbClr val="334155"/>
                </a:solidFill>
              </a:rPr>
              <a:t>交易結果不明確，需應用確認</a:t>
            </a:r>
            <a:r>
              <a:rPr sz="878" b="1" dirty="0">
                <a:solidFill>
                  <a:srgbClr val="334155"/>
                </a:solidFill>
              </a:rPr>
              <a:t>。</a:t>
            </a:r>
          </a:p>
          <a:p>
            <a:pPr algn="l">
              <a:buNone/>
              <a:defRPr sz="878" b="1">
                <a:solidFill>
                  <a:srgbClr val="334155"/>
                </a:solidFill>
              </a:defRPr>
            </a:pPr>
            <a:r>
              <a:rPr sz="878" b="1" dirty="0" err="1">
                <a:solidFill>
                  <a:srgbClr val="334155"/>
                </a:solidFill>
              </a:rPr>
              <a:t>Failover：PXC</a:t>
            </a:r>
            <a:r>
              <a:rPr sz="878" b="1" dirty="0">
                <a:solidFill>
                  <a:srgbClr val="334155"/>
                </a:solidFill>
              </a:rPr>
              <a:t> 22.2 s </a:t>
            </a:r>
            <a:r>
              <a:rPr sz="878" b="1" dirty="0" err="1">
                <a:solidFill>
                  <a:srgbClr val="334155"/>
                </a:solidFill>
              </a:rPr>
              <a:t>從</a:t>
            </a:r>
            <a:r>
              <a:rPr sz="878" b="1" dirty="0">
                <a:solidFill>
                  <a:srgbClr val="334155"/>
                </a:solidFill>
              </a:rPr>
              <a:t> </a:t>
            </a:r>
            <a:r>
              <a:rPr sz="878" b="1" dirty="0" err="1">
                <a:solidFill>
                  <a:srgbClr val="334155"/>
                </a:solidFill>
              </a:rPr>
              <a:t>t_kill；TiDB</a:t>
            </a:r>
            <a:r>
              <a:rPr sz="878" b="1" dirty="0">
                <a:solidFill>
                  <a:srgbClr val="334155"/>
                </a:solidFill>
              </a:rPr>
              <a:t> 39–44 s </a:t>
            </a:r>
            <a:r>
              <a:rPr sz="878" b="1" dirty="0" err="1">
                <a:solidFill>
                  <a:srgbClr val="334155"/>
                </a:solidFill>
              </a:rPr>
              <a:t>從</a:t>
            </a:r>
            <a:r>
              <a:rPr sz="878" b="1" dirty="0">
                <a:solidFill>
                  <a:srgbClr val="334155"/>
                </a:solidFill>
              </a:rPr>
              <a:t> t_restart、198–202 s </a:t>
            </a:r>
            <a:r>
              <a:rPr sz="878" b="1" dirty="0" err="1">
                <a:solidFill>
                  <a:srgbClr val="334155"/>
                </a:solidFill>
              </a:rPr>
              <a:t>從</a:t>
            </a:r>
            <a:r>
              <a:rPr sz="878" b="1" dirty="0">
                <a:solidFill>
                  <a:srgbClr val="334155"/>
                </a:solidFill>
              </a:rPr>
              <a:t> </a:t>
            </a:r>
            <a:r>
              <a:rPr sz="878" b="1" dirty="0" err="1">
                <a:solidFill>
                  <a:srgbClr val="334155"/>
                </a:solidFill>
              </a:rPr>
              <a:t>t_kill；YB</a:t>
            </a:r>
            <a:r>
              <a:rPr sz="878" b="1" dirty="0">
                <a:solidFill>
                  <a:srgbClr val="334155"/>
                </a:solidFill>
              </a:rPr>
              <a:t> 3.0 </a:t>
            </a:r>
            <a:r>
              <a:rPr sz="878" b="1" dirty="0" err="1">
                <a:solidFill>
                  <a:srgbClr val="334155"/>
                </a:solidFill>
              </a:rPr>
              <a:t>s、CRDB</a:t>
            </a:r>
            <a:r>
              <a:rPr sz="878" b="1" dirty="0">
                <a:solidFill>
                  <a:srgbClr val="334155"/>
                </a:solidFill>
              </a:rPr>
              <a:t> 7.0 s </a:t>
            </a:r>
            <a:r>
              <a:rPr sz="878" b="1" dirty="0" err="1">
                <a:solidFill>
                  <a:srgbClr val="334155"/>
                </a:solidFill>
              </a:rPr>
              <a:t>採另一量測方法，不作排名</a:t>
            </a:r>
            <a:r>
              <a:rPr sz="878" b="1" dirty="0">
                <a:solidFill>
                  <a:srgbClr val="334155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35645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4FB2CF1-5FC2-4A81-B09B-011769219EB7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S1 → S2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9BB213-74AD-42BD-B144-DB30F0E7E30E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跨區先證明副本與切換，再開放就近讀</a:t>
            </a:r>
          </a:p>
        </p:txBody>
      </p:sp>
      <p:cxnSp>
        <p:nvCxnSpPr>
          <p:cNvPr id="60" name="直線箭頭接點 30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318F542-CDEF-41D0-9181-B98D3B836F37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BE5C748-B59F-4586-B942-A87AC85BD260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§4.3–§4.4</a:t>
            </a:r>
          </a:p>
        </p:txBody>
      </p:sp>
      <p:sp>
        <p:nvSpPr>
          <p:cNvPr id="32" name="s11-panel-s1">
            <a:extLst>
              <a:ext uri="{FF2B5EF4-FFF2-40B4-BE49-F238E27FC236}">
                <a16:creationId xmlns:a16="http://schemas.microsoft.com/office/drawing/2014/main" id="{939FDBA7-C61A-45D7-BAF8-565F7B20BF4C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5048250" cy="35242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11-panel-s2">
            <a:extLst>
              <a:ext uri="{FF2B5EF4-FFF2-40B4-BE49-F238E27FC236}">
                <a16:creationId xmlns:a16="http://schemas.microsoft.com/office/drawing/2014/main" id="{81C44C64-9E48-48C0-AC3B-6E91D997346A}"/>
              </a:ext>
            </a:extLst>
          </p:cNvPr>
          <p:cNvSpPr>
            <a:spLocks noGrp="1"/>
          </p:cNvSpPr>
          <p:nvPr/>
        </p:nvSpPr>
        <p:spPr>
          <a:xfrm>
            <a:off x="6191250" y="1657350"/>
            <a:ext cx="5048250" cy="3524250"/>
          </a:xfrm>
          <a:prstGeom prst="rect">
            <a:avLst/>
          </a:prstGeom>
          <a:solidFill>
            <a:srgbClr val="ECFEFF"/>
          </a:solidFill>
          <a:ln w="9525">
            <a:solidFill>
              <a:srgbClr val="99F6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11-s1-band">
            <a:extLst>
              <a:ext uri="{FF2B5EF4-FFF2-40B4-BE49-F238E27FC236}">
                <a16:creationId xmlns:a16="http://schemas.microsoft.com/office/drawing/2014/main" id="{C59350BD-15F9-4DB0-85AF-482971F5C206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5048250" cy="60960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S1｜A/S</a:t>
            </a:r>
          </a:p>
        </p:txBody>
      </p:sp>
      <p:sp>
        <p:nvSpPr>
          <p:cNvPr id="35" name="s11-s2-band">
            <a:extLst>
              <a:ext uri="{FF2B5EF4-FFF2-40B4-BE49-F238E27FC236}">
                <a16:creationId xmlns:a16="http://schemas.microsoft.com/office/drawing/2014/main" id="{A417FC95-01B4-4D8B-8B21-EDBD1A9597CB}"/>
              </a:ext>
            </a:extLst>
          </p:cNvPr>
          <p:cNvSpPr>
            <a:spLocks noGrp="1"/>
          </p:cNvSpPr>
          <p:nvPr/>
        </p:nvSpPr>
        <p:spPr>
          <a:xfrm>
            <a:off x="6191250" y="1657350"/>
            <a:ext cx="5048250" cy="6096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S2｜A/A (RO)</a:t>
            </a:r>
          </a:p>
        </p:txBody>
      </p:sp>
      <p:sp>
        <p:nvSpPr>
          <p:cNvPr id="36" name="s11-s1-sub">
            <a:extLst>
              <a:ext uri="{FF2B5EF4-FFF2-40B4-BE49-F238E27FC236}">
                <a16:creationId xmlns:a16="http://schemas.microsoft.com/office/drawing/2014/main" id="{93AF5297-0474-4A12-A4F9-08CB2A2E420F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55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IDC 主寫｜EDC 副本｜切換演練</a:t>
            </a:r>
          </a:p>
        </p:txBody>
      </p:sp>
      <p:sp>
        <p:nvSpPr>
          <p:cNvPr id="37" name="s11-s2-sub">
            <a:extLst>
              <a:ext uri="{FF2B5EF4-FFF2-40B4-BE49-F238E27FC236}">
                <a16:creationId xmlns:a16="http://schemas.microsoft.com/office/drawing/2014/main" id="{0DEA2FEC-6FBE-465F-8724-4806832E3299}"/>
              </a:ext>
            </a:extLst>
          </p:cNvPr>
          <p:cNvSpPr>
            <a:spLocks noGrp="1"/>
          </p:cNvSpPr>
          <p:nvPr/>
        </p:nvSpPr>
        <p:spPr>
          <a:xfrm>
            <a:off x="6438900" y="2428875"/>
            <a:ext cx="455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EDC 就近讀｜Near-Read Probe｜Staleness</a:t>
            </a:r>
          </a:p>
        </p:txBody>
      </p:sp>
      <p:sp>
        <p:nvSpPr>
          <p:cNvPr id="38" name="s11-s1-b1-dot">
            <a:extLst>
              <a:ext uri="{FF2B5EF4-FFF2-40B4-BE49-F238E27FC236}">
                <a16:creationId xmlns:a16="http://schemas.microsoft.com/office/drawing/2014/main" id="{E2D92A9C-8D77-40FE-908C-FB22C14822A4}"/>
              </a:ext>
            </a:extLst>
          </p:cNvPr>
          <p:cNvSpPr>
            <a:spLocks noGrp="1"/>
          </p:cNvSpPr>
          <p:nvPr/>
        </p:nvSpPr>
        <p:spPr>
          <a:xfrm>
            <a:off x="781050" y="3038475"/>
            <a:ext cx="133350" cy="1333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11-s1-b1-text">
            <a:extLst>
              <a:ext uri="{FF2B5EF4-FFF2-40B4-BE49-F238E27FC236}">
                <a16:creationId xmlns:a16="http://schemas.microsoft.com/office/drawing/2014/main" id="{987C1DDB-661C-4751-B9A3-4C0B2C3FF003}"/>
              </a:ext>
            </a:extLst>
          </p:cNvPr>
          <p:cNvSpPr>
            <a:spLocks noGrp="1"/>
          </p:cNvSpPr>
          <p:nvPr/>
        </p:nvSpPr>
        <p:spPr>
          <a:xfrm>
            <a:off x="1047750" y="3000375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Placement 設定與 readback</a:t>
            </a:r>
          </a:p>
        </p:txBody>
      </p:sp>
      <p:sp>
        <p:nvSpPr>
          <p:cNvPr id="40" name="s11-s1-b2-dot">
            <a:extLst>
              <a:ext uri="{FF2B5EF4-FFF2-40B4-BE49-F238E27FC236}">
                <a16:creationId xmlns:a16="http://schemas.microsoft.com/office/drawing/2014/main" id="{92ABE713-1295-47F3-84E1-8DA095101BE8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133350" cy="1333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11-s1-b2-text">
            <a:extLst>
              <a:ext uri="{FF2B5EF4-FFF2-40B4-BE49-F238E27FC236}">
                <a16:creationId xmlns:a16="http://schemas.microsoft.com/office/drawing/2014/main" id="{704E6C4A-A001-4DA9-9D6E-F112D1C3CEDE}"/>
              </a:ext>
            </a:extLst>
          </p:cNvPr>
          <p:cNvSpPr>
            <a:spLocks noGrp="1"/>
          </p:cNvSpPr>
          <p:nvPr/>
        </p:nvSpPr>
        <p:spPr>
          <a:xfrm>
            <a:off x="1047750" y="3552825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EDC 副本數與實際位置驗證</a:t>
            </a:r>
          </a:p>
        </p:txBody>
      </p:sp>
      <p:sp>
        <p:nvSpPr>
          <p:cNvPr id="42" name="s11-s1-b3-dot">
            <a:extLst>
              <a:ext uri="{FF2B5EF4-FFF2-40B4-BE49-F238E27FC236}">
                <a16:creationId xmlns:a16="http://schemas.microsoft.com/office/drawing/2014/main" id="{811850CF-54E0-42AB-B891-0ED3109E5BA9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133350" cy="1333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11-s1-b3-text">
            <a:extLst>
              <a:ext uri="{FF2B5EF4-FFF2-40B4-BE49-F238E27FC236}">
                <a16:creationId xmlns:a16="http://schemas.microsoft.com/office/drawing/2014/main" id="{B322A975-1857-4128-9A36-1C8C152838FE}"/>
              </a:ext>
            </a:extLst>
          </p:cNvPr>
          <p:cNvSpPr>
            <a:spLocks noGrp="1"/>
          </p:cNvSpPr>
          <p:nvPr/>
        </p:nvSpPr>
        <p:spPr>
          <a:xfrm>
            <a:off x="1047750" y="4105275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EDC 讀 workload；切換與回復程序</a:t>
            </a:r>
          </a:p>
        </p:txBody>
      </p:sp>
      <p:sp>
        <p:nvSpPr>
          <p:cNvPr id="44" name="s11-s2-b1-dot">
            <a:extLst>
              <a:ext uri="{FF2B5EF4-FFF2-40B4-BE49-F238E27FC236}">
                <a16:creationId xmlns:a16="http://schemas.microsoft.com/office/drawing/2014/main" id="{537CC137-C65E-46D0-9EA8-4ED42E103510}"/>
              </a:ext>
            </a:extLst>
          </p:cNvPr>
          <p:cNvSpPr>
            <a:spLocks noGrp="1"/>
          </p:cNvSpPr>
          <p:nvPr/>
        </p:nvSpPr>
        <p:spPr>
          <a:xfrm>
            <a:off x="6477000" y="3038475"/>
            <a:ext cx="133350" cy="1333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11-s2-b1-text">
            <a:extLst>
              <a:ext uri="{FF2B5EF4-FFF2-40B4-BE49-F238E27FC236}">
                <a16:creationId xmlns:a16="http://schemas.microsoft.com/office/drawing/2014/main" id="{926CB33D-5A6F-4A85-9B1D-1C0566BF80CD}"/>
              </a:ext>
            </a:extLst>
          </p:cNvPr>
          <p:cNvSpPr>
            <a:spLocks noGrp="1"/>
          </p:cNvSpPr>
          <p:nvPr/>
        </p:nvSpPr>
        <p:spPr>
          <a:xfrm>
            <a:off x="6743700" y="3000375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Near-Read Probe：讀取命中 EDC</a:t>
            </a:r>
          </a:p>
        </p:txBody>
      </p:sp>
      <p:sp>
        <p:nvSpPr>
          <p:cNvPr id="46" name="s11-s2-b2-dot">
            <a:extLst>
              <a:ext uri="{FF2B5EF4-FFF2-40B4-BE49-F238E27FC236}">
                <a16:creationId xmlns:a16="http://schemas.microsoft.com/office/drawing/2014/main" id="{509ABC51-93BE-47BA-9521-121E7F742028}"/>
              </a:ext>
            </a:extLst>
          </p:cNvPr>
          <p:cNvSpPr>
            <a:spLocks noGrp="1"/>
          </p:cNvSpPr>
          <p:nvPr/>
        </p:nvSpPr>
        <p:spPr>
          <a:xfrm>
            <a:off x="6477000" y="3590925"/>
            <a:ext cx="133350" cy="1333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11-s2-b2-text">
            <a:extLst>
              <a:ext uri="{FF2B5EF4-FFF2-40B4-BE49-F238E27FC236}">
                <a16:creationId xmlns:a16="http://schemas.microsoft.com/office/drawing/2014/main" id="{9F9E67A6-62C8-4184-AD85-29252ECDC856}"/>
              </a:ext>
            </a:extLst>
          </p:cNvPr>
          <p:cNvSpPr>
            <a:spLocks noGrp="1"/>
          </p:cNvSpPr>
          <p:nvPr/>
        </p:nvSpPr>
        <p:spPr>
          <a:xfrm>
            <a:off x="6743700" y="3552825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Read-your-write 與 staleness 容忍度</a:t>
            </a:r>
          </a:p>
        </p:txBody>
      </p:sp>
      <p:sp>
        <p:nvSpPr>
          <p:cNvPr id="48" name="s11-s2-b3-dot">
            <a:extLst>
              <a:ext uri="{FF2B5EF4-FFF2-40B4-BE49-F238E27FC236}">
                <a16:creationId xmlns:a16="http://schemas.microsoft.com/office/drawing/2014/main" id="{C0DA2F5A-A0C4-4EF3-A4B9-F814F2B50446}"/>
              </a:ext>
            </a:extLst>
          </p:cNvPr>
          <p:cNvSpPr>
            <a:spLocks noGrp="1"/>
          </p:cNvSpPr>
          <p:nvPr/>
        </p:nvSpPr>
        <p:spPr>
          <a:xfrm>
            <a:off x="6477000" y="4143375"/>
            <a:ext cx="133350" cy="1333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11-s2-b3-text">
            <a:extLst>
              <a:ext uri="{FF2B5EF4-FFF2-40B4-BE49-F238E27FC236}">
                <a16:creationId xmlns:a16="http://schemas.microsoft.com/office/drawing/2014/main" id="{AEA2DC01-80F1-4770-9542-2DF817476774}"/>
              </a:ext>
            </a:extLst>
          </p:cNvPr>
          <p:cNvSpPr>
            <a:spLocks noGrp="1"/>
          </p:cNvSpPr>
          <p:nvPr/>
        </p:nvSpPr>
        <p:spPr>
          <a:xfrm>
            <a:off x="6743700" y="4105275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Fallback、跨區分斷與恢復回抄</a:t>
            </a:r>
          </a:p>
        </p:txBody>
      </p:sp>
      <p:sp>
        <p:nvSpPr>
          <p:cNvPr id="50" name="s11-principle-accent">
            <a:extLst>
              <a:ext uri="{FF2B5EF4-FFF2-40B4-BE49-F238E27FC236}">
                <a16:creationId xmlns:a16="http://schemas.microsoft.com/office/drawing/2014/main" id="{AFCF2B34-B64B-450B-8912-351B12F7242E}"/>
              </a:ext>
            </a:extLst>
          </p:cNvPr>
          <p:cNvSpPr>
            <a:spLocks noGrp="1"/>
          </p:cNvSpPr>
          <p:nvPr/>
        </p:nvSpPr>
        <p:spPr>
          <a:xfrm>
            <a:off x="495300" y="5410200"/>
            <a:ext cx="114300" cy="685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11-principle">
            <a:extLst>
              <a:ext uri="{FF2B5EF4-FFF2-40B4-BE49-F238E27FC236}">
                <a16:creationId xmlns:a16="http://schemas.microsoft.com/office/drawing/2014/main" id="{117358B6-EC4A-4AFE-AC77-C51E1D72D87D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629900" cy="68580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設定存在 ≠ 功能生效，需以 Fail-Closed 證據驗收</a:t>
            </a:r>
          </a:p>
        </p:txBody>
      </p:sp>
    </p:spTree>
    <p:extLst>
      <p:ext uri="{BB962C8B-B14F-4D97-AF65-F5344CB8AC3E}">
        <p14:creationId xmlns:p14="http://schemas.microsoft.com/office/powerpoint/2010/main" val="29481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51A6A52-D5C4-481F-AC5F-C60673C7351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CANDIDATE ROLES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926B52-2145-4A4C-8DAD-C5BCBB464925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四家不是同一賽道：先按協定與使用情境定位</a:t>
            </a:r>
          </a:p>
        </p:txBody>
      </p:sp>
      <p:cxnSp>
        <p:nvCxnSpPr>
          <p:cNvPr id="42" name="直線箭頭接點 32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D8DFED0-847B-4D03-B329-094C4CFE6ABB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86FFD7-E5F1-4537-8E0E-0152CD3E8EAD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10744200" cy="80010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0C0080-9151-46FD-A4EC-3507F6AA4354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76200" cy="800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CE742A-6926-4EB7-BF44-08AC5699FCAD}"/>
              </a:ext>
            </a:extLst>
          </p:cNvPr>
          <p:cNvSpPr>
            <a:spLocks noGrp="1"/>
          </p:cNvSpPr>
          <p:nvPr/>
        </p:nvSpPr>
        <p:spPr>
          <a:xfrm>
            <a:off x="781050" y="182880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TiDB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AEE7BC-469F-42BF-8C6C-8254DC458E53}"/>
              </a:ext>
            </a:extLst>
          </p:cNvPr>
          <p:cNvSpPr>
            <a:spLocks noGrp="1"/>
          </p:cNvSpPr>
          <p:nvPr/>
        </p:nvSpPr>
        <p:spPr>
          <a:xfrm>
            <a:off x="3143250" y="185737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MySQL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74C533-EE1E-43C2-80C4-87668887FD7B}"/>
              </a:ext>
            </a:extLst>
          </p:cNvPr>
          <p:cNvSpPr>
            <a:spLocks noGrp="1"/>
          </p:cNvSpPr>
          <p:nvPr/>
        </p:nvSpPr>
        <p:spPr>
          <a:xfrm>
            <a:off x="5048250" y="185737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主線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B64DC7-53BF-4FAE-8E6C-96740615069F}"/>
              </a:ext>
            </a:extLst>
          </p:cNvPr>
          <p:cNvSpPr>
            <a:spLocks noGrp="1"/>
          </p:cNvSpPr>
          <p:nvPr/>
        </p:nvSpPr>
        <p:spPr>
          <a:xfrm>
            <a:off x="6381750" y="18288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水平擴展、跨區 A/S／就近讀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2CCC4B-9E03-4058-8039-8EA7370EF977}"/>
              </a:ext>
            </a:extLst>
          </p:cNvPr>
          <p:cNvSpPr>
            <a:spLocks noGrp="1"/>
          </p:cNvSpPr>
          <p:nvPr/>
        </p:nvSpPr>
        <p:spPr>
          <a:xfrm>
            <a:off x="495300" y="2619375"/>
            <a:ext cx="10744200" cy="80010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B7B6E9-DB35-478D-BF03-079B2024A1A9}"/>
              </a:ext>
            </a:extLst>
          </p:cNvPr>
          <p:cNvSpPr>
            <a:spLocks noGrp="1"/>
          </p:cNvSpPr>
          <p:nvPr/>
        </p:nvSpPr>
        <p:spPr>
          <a:xfrm>
            <a:off x="495300" y="2619375"/>
            <a:ext cx="76200" cy="80010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AF272F-2F51-4A1A-880F-21E393F44491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PXC / Galera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67A5F8-113C-4E5D-94FD-6B01DE57CCC8}"/>
              </a:ext>
            </a:extLst>
          </p:cNvPr>
          <p:cNvSpPr>
            <a:spLocks noGrp="1"/>
          </p:cNvSpPr>
          <p:nvPr/>
        </p:nvSpPr>
        <p:spPr>
          <a:xfrm>
            <a:off x="3143250" y="2857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MySQL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F60F12-1B31-4531-A247-59837DC171FC}"/>
              </a:ext>
            </a:extLst>
          </p:cNvPr>
          <p:cNvSpPr>
            <a:spLocks noGrp="1"/>
          </p:cNvSpPr>
          <p:nvPr/>
        </p:nvSpPr>
        <p:spPr>
          <a:xfrm>
            <a:off x="5048250" y="285750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對照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64BFEF-0EF0-473C-8A53-C2872DF6551F}"/>
              </a:ext>
            </a:extLst>
          </p:cNvPr>
          <p:cNvSpPr>
            <a:spLocks noGrp="1"/>
          </p:cNvSpPr>
          <p:nvPr/>
        </p:nvSpPr>
        <p:spPr>
          <a:xfrm>
            <a:off x="6381750" y="282892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單寫、單機房、低延遲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9EF077-B582-4F05-9D4A-D05FA83B1A60}"/>
              </a:ext>
            </a:extLst>
          </p:cNvPr>
          <p:cNvSpPr>
            <a:spLocks noGrp="1"/>
          </p:cNvSpPr>
          <p:nvPr/>
        </p:nvSpPr>
        <p:spPr>
          <a:xfrm>
            <a:off x="495300" y="3619500"/>
            <a:ext cx="10744200" cy="80010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B4603A0-BA64-41F4-B8C6-544AAB78672E}"/>
              </a:ext>
            </a:extLst>
          </p:cNvPr>
          <p:cNvSpPr>
            <a:spLocks noGrp="1"/>
          </p:cNvSpPr>
          <p:nvPr/>
        </p:nvSpPr>
        <p:spPr>
          <a:xfrm>
            <a:off x="495300" y="3619500"/>
            <a:ext cx="76200" cy="800100"/>
          </a:xfrm>
          <a:prstGeom prst="rect">
            <a:avLst/>
          </a:prstGeom>
          <a:solidFill>
            <a:srgbClr val="6670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FD4B07A-3A53-420E-A274-645D4DB51BED}"/>
              </a:ext>
            </a:extLst>
          </p:cNvPr>
          <p:cNvSpPr>
            <a:spLocks noGrp="1"/>
          </p:cNvSpPr>
          <p:nvPr/>
        </p:nvSpPr>
        <p:spPr>
          <a:xfrm>
            <a:off x="781050" y="38290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YugabyteDB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CADC85-9918-4798-B994-FB0300B5DF7F}"/>
              </a:ext>
            </a:extLst>
          </p:cNvPr>
          <p:cNvSpPr>
            <a:spLocks noGrp="1"/>
          </p:cNvSpPr>
          <p:nvPr/>
        </p:nvSpPr>
        <p:spPr>
          <a:xfrm>
            <a:off x="3143250" y="385762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69717A-E8FF-4381-AEFD-F5D2A918274B}"/>
              </a:ext>
            </a:extLst>
          </p:cNvPr>
          <p:cNvSpPr>
            <a:spLocks noGrp="1"/>
          </p:cNvSpPr>
          <p:nvPr/>
        </p:nvSpPr>
        <p:spPr>
          <a:xfrm>
            <a:off x="5048250" y="385762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備選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12CBB16-AE29-483A-B05D-DFFD1758608C}"/>
              </a:ext>
            </a:extLst>
          </p:cNvPr>
          <p:cNvSpPr>
            <a:spLocks noGrp="1"/>
          </p:cNvSpPr>
          <p:nvPr/>
        </p:nvSpPr>
        <p:spPr>
          <a:xfrm>
            <a:off x="6381750" y="382905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高關鍵度 PostgreSQL／AI 需求 (104 B,C Agent 應用)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4926BC-9AB7-4A81-A117-E9169F310670}"/>
              </a:ext>
            </a:extLst>
          </p:cNvPr>
          <p:cNvSpPr>
            <a:spLocks noGrp="1"/>
          </p:cNvSpPr>
          <p:nvPr/>
        </p:nvSpPr>
        <p:spPr>
          <a:xfrm>
            <a:off x="495300" y="4619625"/>
            <a:ext cx="10744200" cy="80010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1724A94-8F56-4044-B370-1D94A9841F26}"/>
              </a:ext>
            </a:extLst>
          </p:cNvPr>
          <p:cNvSpPr>
            <a:spLocks noGrp="1"/>
          </p:cNvSpPr>
          <p:nvPr/>
        </p:nvSpPr>
        <p:spPr>
          <a:xfrm>
            <a:off x="495300" y="4619625"/>
            <a:ext cx="76200" cy="800100"/>
          </a:xfrm>
          <a:prstGeom prst="rect">
            <a:avLst/>
          </a:prstGeom>
          <a:solidFill>
            <a:srgbClr val="6670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2E5DFC-DFDC-4D77-A3BE-0E0268B5EB07}"/>
              </a:ext>
            </a:extLst>
          </p:cNvPr>
          <p:cNvSpPr>
            <a:spLocks noGrp="1"/>
          </p:cNvSpPr>
          <p:nvPr/>
        </p:nvSpPr>
        <p:spPr>
          <a:xfrm>
            <a:off x="781050" y="4829175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CockroachDB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2B53268-202C-48F7-A43B-33B5E064DC40}"/>
              </a:ext>
            </a:extLst>
          </p:cNvPr>
          <p:cNvSpPr>
            <a:spLocks noGrp="1"/>
          </p:cNvSpPr>
          <p:nvPr/>
        </p:nvSpPr>
        <p:spPr>
          <a:xfrm>
            <a:off x="3143250" y="4857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FCCC6A-B13A-4342-8F7C-49C166ACEACC}"/>
              </a:ext>
            </a:extLst>
          </p:cNvPr>
          <p:cNvSpPr>
            <a:spLocks noGrp="1"/>
          </p:cNvSpPr>
          <p:nvPr/>
        </p:nvSpPr>
        <p:spPr>
          <a:xfrm>
            <a:off x="5048250" y="485775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備選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500D6BC-EFC4-48E3-9294-6774AD8E0CE3}"/>
              </a:ext>
            </a:extLst>
          </p:cNvPr>
          <p:cNvSpPr>
            <a:spLocks noGrp="1"/>
          </p:cNvSpPr>
          <p:nvPr/>
        </p:nvSpPr>
        <p:spPr>
          <a:xfrm>
            <a:off x="6381750" y="48291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同上；待需求觸發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F9ABFC4-194D-4912-A357-AB75C52BAC47}"/>
              </a:ext>
            </a:extLst>
          </p:cNvPr>
          <p:cNvSpPr>
            <a:spLocks noGrp="1"/>
          </p:cNvSpPr>
          <p:nvPr/>
        </p:nvSpPr>
        <p:spPr>
          <a:xfrm>
            <a:off x="495300" y="58293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公司目前 MySQL 業務占比約 95%；PostgreSQL 路線不與 TiDB 同時展開完整矩陣。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7F60239-76FE-4808-8C41-CFCC2624C39E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§2.1；D3 拍板紀錄</a:t>
            </a:r>
          </a:p>
        </p:txBody>
      </p:sp>
    </p:spTree>
    <p:extLst>
      <p:ext uri="{BB962C8B-B14F-4D97-AF65-F5344CB8AC3E}">
        <p14:creationId xmlns:p14="http://schemas.microsoft.com/office/powerpoint/2010/main" val="1357835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286207A-589D-4DC4-BA59-37E7A0DB8C67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DECISION MATRIX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BC6157-8172-41B2-9266-1FB0B65AD015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決策表 ③｜維運後勤與證據缺口</a:t>
            </a:r>
          </a:p>
        </p:txBody>
      </p:sp>
      <p:cxnSp>
        <p:nvCxnSpPr>
          <p:cNvPr id="62" name="直線箭頭接點 52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0BD19B2-5D38-4237-BC16-D1639BD7C984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A902E6-CD3C-4632-ADA6-B01F13E51CFE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這一頁是導入前的必要檢查清單，不把尚未測試寫成已具備能力。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76D7F2-E424-45A4-9EBF-C5FFD506D54C}"/>
              </a:ext>
            </a:extLst>
          </p:cNvPr>
          <p:cNvSpPr>
            <a:spLocks noGrp="1"/>
          </p:cNvSpPr>
          <p:nvPr/>
        </p:nvSpPr>
        <p:spPr>
          <a:xfrm>
            <a:off x="495300" y="1943100"/>
            <a:ext cx="30480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6ABFB9-ADA1-43DF-B720-D542BC0E7AD0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2819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項目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844F0B-D1D4-4A8E-BBF1-2BCC140C625F}"/>
              </a:ext>
            </a:extLst>
          </p:cNvPr>
          <p:cNvSpPr>
            <a:spLocks noGrp="1"/>
          </p:cNvSpPr>
          <p:nvPr/>
        </p:nvSpPr>
        <p:spPr>
          <a:xfrm>
            <a:off x="3733800" y="1943100"/>
            <a:ext cx="19050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83FC33-5379-40EA-AB64-F13A9E623478}"/>
              </a:ext>
            </a:extLst>
          </p:cNvPr>
          <p:cNvSpPr>
            <a:spLocks noGrp="1"/>
          </p:cNvSpPr>
          <p:nvPr/>
        </p:nvSpPr>
        <p:spPr>
          <a:xfrm>
            <a:off x="3848100" y="2047875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目前狀態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FBD4C9-3588-42DC-BE06-022B3202E638}"/>
              </a:ext>
            </a:extLst>
          </p:cNvPr>
          <p:cNvSpPr>
            <a:spLocks noGrp="1"/>
          </p:cNvSpPr>
          <p:nvPr/>
        </p:nvSpPr>
        <p:spPr>
          <a:xfrm>
            <a:off x="5829300" y="1943100"/>
            <a:ext cx="54102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EBD999-8946-4CD1-B688-9E503E983D43}"/>
              </a:ext>
            </a:extLst>
          </p:cNvPr>
          <p:cNvSpPr>
            <a:spLocks noGrp="1"/>
          </p:cNvSpPr>
          <p:nvPr/>
        </p:nvSpPr>
        <p:spPr>
          <a:xfrm>
            <a:off x="5943600" y="2047875"/>
            <a:ext cx="5181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需要補的證據／判讀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2922AF-1EA6-41DE-B3B0-31472C65F377}"/>
              </a:ext>
            </a:extLst>
          </p:cNvPr>
          <p:cNvSpPr>
            <a:spLocks noGrp="1"/>
          </p:cNvSpPr>
          <p:nvPr/>
        </p:nvSpPr>
        <p:spPr>
          <a:xfrm>
            <a:off x="495300" y="2343150"/>
            <a:ext cx="3048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84EC65-9751-4B2B-A9B2-51C552D498D8}"/>
              </a:ext>
            </a:extLst>
          </p:cNvPr>
          <p:cNvSpPr>
            <a:spLocks noGrp="1"/>
          </p:cNvSpPr>
          <p:nvPr/>
        </p:nvSpPr>
        <p:spPr>
          <a:xfrm>
            <a:off x="609600" y="2466975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PITR／備份還原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F64C6D-BFAA-4F83-8144-9AE483F25B03}"/>
              </a:ext>
            </a:extLst>
          </p:cNvPr>
          <p:cNvSpPr>
            <a:spLocks noGrp="1"/>
          </p:cNvSpPr>
          <p:nvPr/>
        </p:nvSpPr>
        <p:spPr>
          <a:xfrm>
            <a:off x="3733800" y="2343150"/>
            <a:ext cx="1905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BE2E7C-038E-4CC8-9B2F-A675B904743E}"/>
              </a:ext>
            </a:extLst>
          </p:cNvPr>
          <p:cNvSpPr>
            <a:spLocks noGrp="1"/>
          </p:cNvSpPr>
          <p:nvPr/>
        </p:nvSpPr>
        <p:spPr>
          <a:xfrm>
            <a:off x="3848100" y="2466975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349EA8E-47DA-4F3A-8A13-76109107F246}"/>
              </a:ext>
            </a:extLst>
          </p:cNvPr>
          <p:cNvSpPr>
            <a:spLocks noGrp="1"/>
          </p:cNvSpPr>
          <p:nvPr/>
        </p:nvSpPr>
        <p:spPr>
          <a:xfrm>
            <a:off x="5829300" y="2343150"/>
            <a:ext cx="54102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BF9E25-0773-4591-A3DD-0216F412A7F1}"/>
              </a:ext>
            </a:extLst>
          </p:cNvPr>
          <p:cNvSpPr>
            <a:spLocks noGrp="1"/>
          </p:cNvSpPr>
          <p:nvPr/>
        </p:nvSpPr>
        <p:spPr>
          <a:xfrm>
            <a:off x="5943600" y="2466975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需全量、增量、資料對帳與可重複 runbook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C25478B-8EF1-4CD6-A074-2A2822C35008}"/>
              </a:ext>
            </a:extLst>
          </p:cNvPr>
          <p:cNvSpPr>
            <a:spLocks noGrp="1"/>
          </p:cNvSpPr>
          <p:nvPr/>
        </p:nvSpPr>
        <p:spPr>
          <a:xfrm>
            <a:off x="495300" y="2867025"/>
            <a:ext cx="3048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674635A-1F58-4038-B93E-1D8A6FC1CE8B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Online DDL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D93C33-7D0F-4392-A850-74D270D42CCE}"/>
              </a:ext>
            </a:extLst>
          </p:cNvPr>
          <p:cNvSpPr>
            <a:spLocks noGrp="1"/>
          </p:cNvSpPr>
          <p:nvPr/>
        </p:nvSpPr>
        <p:spPr>
          <a:xfrm>
            <a:off x="3733800" y="2867025"/>
            <a:ext cx="1905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4072E0F-E4A2-4A52-80C0-C094086CE180}"/>
              </a:ext>
            </a:extLst>
          </p:cNvPr>
          <p:cNvSpPr>
            <a:spLocks noGrp="1"/>
          </p:cNvSpPr>
          <p:nvPr/>
        </p:nvSpPr>
        <p:spPr>
          <a:xfrm>
            <a:off x="3848100" y="299085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待測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6762554-8B92-4BC9-8FF9-B26FE2C38F35}"/>
              </a:ext>
            </a:extLst>
          </p:cNvPr>
          <p:cNvSpPr>
            <a:spLocks noGrp="1"/>
          </p:cNvSpPr>
          <p:nvPr/>
        </p:nvSpPr>
        <p:spPr>
          <a:xfrm>
            <a:off x="5829300" y="2867025"/>
            <a:ext cx="54102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88CAA54-0093-4E33-BA6A-2FEFA6B90FF5}"/>
              </a:ext>
            </a:extLst>
          </p:cNvPr>
          <p:cNvSpPr>
            <a:spLocks noGrp="1"/>
          </p:cNvSpPr>
          <p:nvPr/>
        </p:nvSpPr>
        <p:spPr>
          <a:xfrm>
            <a:off x="5943600" y="2990850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量測 tpmC、p99 與影響持續時間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7BA8C9-5495-4EC8-96D7-9399536DE139}"/>
              </a:ext>
            </a:extLst>
          </p:cNvPr>
          <p:cNvSpPr>
            <a:spLocks noGrp="1"/>
          </p:cNvSpPr>
          <p:nvPr/>
        </p:nvSpPr>
        <p:spPr>
          <a:xfrm>
            <a:off x="495300" y="3390900"/>
            <a:ext cx="3048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AA7E139-A181-4083-BF41-F84708DC9FCC}"/>
              </a:ext>
            </a:extLst>
          </p:cNvPr>
          <p:cNvSpPr>
            <a:spLocks noGrp="1"/>
          </p:cNvSpPr>
          <p:nvPr/>
        </p:nvSpPr>
        <p:spPr>
          <a:xfrm>
            <a:off x="609600" y="3514725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HTAP／分析型負載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EBFDB18-3788-41AC-B8FC-036A0F196734}"/>
              </a:ext>
            </a:extLst>
          </p:cNvPr>
          <p:cNvSpPr>
            <a:spLocks noGrp="1"/>
          </p:cNvSpPr>
          <p:nvPr/>
        </p:nvSpPr>
        <p:spPr>
          <a:xfrm>
            <a:off x="3733800" y="3390900"/>
            <a:ext cx="1905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ED7E9D-EEAF-47BC-A239-99FA7926E025}"/>
              </a:ext>
            </a:extLst>
          </p:cNvPr>
          <p:cNvSpPr>
            <a:spLocks noGrp="1"/>
          </p:cNvSpPr>
          <p:nvPr/>
        </p:nvSpPr>
        <p:spPr>
          <a:xfrm>
            <a:off x="3848100" y="3514725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TiDB 待測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EF8432-F269-40F0-A54B-AF849502A96E}"/>
              </a:ext>
            </a:extLst>
          </p:cNvPr>
          <p:cNvSpPr>
            <a:spLocks noGrp="1"/>
          </p:cNvSpPr>
          <p:nvPr/>
        </p:nvSpPr>
        <p:spPr>
          <a:xfrm>
            <a:off x="5829300" y="3390900"/>
            <a:ext cx="54102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55E4EA0-AD37-4E8B-9018-77C84668E95E}"/>
              </a:ext>
            </a:extLst>
          </p:cNvPr>
          <p:cNvSpPr>
            <a:spLocks noGrp="1"/>
          </p:cNvSpPr>
          <p:nvPr/>
        </p:nvSpPr>
        <p:spPr>
          <a:xfrm>
            <a:off x="5943600" y="3514725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Galera／YBDB／CRDB 不列入本輪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FC49431-9EC8-4D37-9B7F-6D947FA2B23C}"/>
              </a:ext>
            </a:extLst>
          </p:cNvPr>
          <p:cNvSpPr>
            <a:spLocks noGrp="1"/>
          </p:cNvSpPr>
          <p:nvPr/>
        </p:nvSpPr>
        <p:spPr>
          <a:xfrm>
            <a:off x="495300" y="3914775"/>
            <a:ext cx="3048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96B0C04-B32E-4C30-BD15-4E6A8A5A3445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原廠在地支援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77847AE-60A2-4474-B430-BBAD43A4B7B9}"/>
              </a:ext>
            </a:extLst>
          </p:cNvPr>
          <p:cNvSpPr>
            <a:spLocks noGrp="1"/>
          </p:cNvSpPr>
          <p:nvPr/>
        </p:nvSpPr>
        <p:spPr>
          <a:xfrm>
            <a:off x="3733800" y="3914775"/>
            <a:ext cx="1905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81FBB22-840A-47BD-8FE7-B83FF09A101A}"/>
              </a:ext>
            </a:extLst>
          </p:cNvPr>
          <p:cNvSpPr>
            <a:spLocks noGrp="1"/>
          </p:cNvSpPr>
          <p:nvPr/>
        </p:nvSpPr>
        <p:spPr>
          <a:xfrm>
            <a:off x="3848100" y="4038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741"/>
          </a:bodyPr>
          <a:lstStyle/>
          <a:p>
            <a:pPr algn="l">
              <a:buNone/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TiDB：24×7 中文 + 台灣 SA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46D7AD4-A682-4696-8D78-8E47EFA38587}"/>
              </a:ext>
            </a:extLst>
          </p:cNvPr>
          <p:cNvSpPr>
            <a:spLocks noGrp="1"/>
          </p:cNvSpPr>
          <p:nvPr/>
        </p:nvSpPr>
        <p:spPr>
          <a:xfrm>
            <a:off x="5829300" y="3914775"/>
            <a:ext cx="54102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A4367F4-CD74-46C1-9604-510A9874F48B}"/>
              </a:ext>
            </a:extLst>
          </p:cNvPr>
          <p:cNvSpPr>
            <a:spLocks noGrp="1"/>
          </p:cNvSpPr>
          <p:nvPr/>
        </p:nvSpPr>
        <p:spPr>
          <a:xfrm>
            <a:off x="5943600" y="4038600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其他方案依需求觸發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99C15E2-054C-4F1B-BD54-77068254CD99}"/>
              </a:ext>
            </a:extLst>
          </p:cNvPr>
          <p:cNvSpPr>
            <a:spLocks noGrp="1"/>
          </p:cNvSpPr>
          <p:nvPr/>
        </p:nvSpPr>
        <p:spPr>
          <a:xfrm>
            <a:off x="495300" y="4438650"/>
            <a:ext cx="3048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2DCCB23-7D57-417D-B914-439BE148CBBD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既有 DBA 技能承接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347535D-C857-485B-BC6D-2F6A9879165D}"/>
              </a:ext>
            </a:extLst>
          </p:cNvPr>
          <p:cNvSpPr>
            <a:spLocks noGrp="1"/>
          </p:cNvSpPr>
          <p:nvPr/>
        </p:nvSpPr>
        <p:spPr>
          <a:xfrm>
            <a:off x="3733800" y="4438650"/>
            <a:ext cx="1905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9195B15-69F9-4359-BC76-D428E2207875}"/>
              </a:ext>
            </a:extLst>
          </p:cNvPr>
          <p:cNvSpPr>
            <a:spLocks noGrp="1"/>
          </p:cNvSpPr>
          <p:nvPr/>
        </p:nvSpPr>
        <p:spPr>
          <a:xfrm>
            <a:off x="3848100" y="4562475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MySQL：O／TiDB：△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B065069-772F-4C75-998C-FA7B1713CE1B}"/>
              </a:ext>
            </a:extLst>
          </p:cNvPr>
          <p:cNvSpPr>
            <a:spLocks noGrp="1"/>
          </p:cNvSpPr>
          <p:nvPr/>
        </p:nvSpPr>
        <p:spPr>
          <a:xfrm>
            <a:off x="5829300" y="4438650"/>
            <a:ext cx="54102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4C0A8F2-6F26-4949-9962-D53EB4AFFAD5}"/>
              </a:ext>
            </a:extLst>
          </p:cNvPr>
          <p:cNvSpPr>
            <a:spLocks noGrp="1"/>
          </p:cNvSpPr>
          <p:nvPr/>
        </p:nvSpPr>
        <p:spPr>
          <a:xfrm>
            <a:off x="5943600" y="4562475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 路線需另建能力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5450309-5724-4370-9757-468FA3B8BB7C}"/>
              </a:ext>
            </a:extLst>
          </p:cNvPr>
          <p:cNvSpPr>
            <a:spLocks noGrp="1"/>
          </p:cNvSpPr>
          <p:nvPr/>
        </p:nvSpPr>
        <p:spPr>
          <a:xfrm>
            <a:off x="495300" y="4962525"/>
            <a:ext cx="3048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796F007-72F4-489B-9BC3-AE7ED29430D5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SQL／ORM 相容性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7B3BC58-8285-40F5-ADEC-1F924B32B850}"/>
              </a:ext>
            </a:extLst>
          </p:cNvPr>
          <p:cNvSpPr>
            <a:spLocks noGrp="1"/>
          </p:cNvSpPr>
          <p:nvPr/>
        </p:nvSpPr>
        <p:spPr>
          <a:xfrm>
            <a:off x="3733800" y="4962525"/>
            <a:ext cx="1905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59A1385-77D7-491C-A17E-BAD5FF748BAA}"/>
              </a:ext>
            </a:extLst>
          </p:cNvPr>
          <p:cNvSpPr>
            <a:spLocks noGrp="1"/>
          </p:cNvSpPr>
          <p:nvPr/>
        </p:nvSpPr>
        <p:spPr>
          <a:xfrm>
            <a:off x="3848100" y="508635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四家待測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1FFF33C-C257-431B-BE3E-8547CD34945E}"/>
              </a:ext>
            </a:extLst>
          </p:cNvPr>
          <p:cNvSpPr>
            <a:spLocks noGrp="1"/>
          </p:cNvSpPr>
          <p:nvPr/>
        </p:nvSpPr>
        <p:spPr>
          <a:xfrm>
            <a:off x="5829300" y="4962525"/>
            <a:ext cx="54102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0A02ACB-E897-404D-8F9E-01392A62DA53}"/>
              </a:ext>
            </a:extLst>
          </p:cNvPr>
          <p:cNvSpPr>
            <a:spLocks noGrp="1"/>
          </p:cNvSpPr>
          <p:nvPr/>
        </p:nvSpPr>
        <p:spPr>
          <a:xfrm>
            <a:off x="5943600" y="5086350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Phase 0 必須補件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6084949-0443-4632-924B-AE1E8B3D4E2D}"/>
              </a:ext>
            </a:extLst>
          </p:cNvPr>
          <p:cNvSpPr>
            <a:spLocks noGrp="1"/>
          </p:cNvSpPr>
          <p:nvPr/>
        </p:nvSpPr>
        <p:spPr>
          <a:xfrm>
            <a:off x="495300" y="5476875"/>
            <a:ext cx="10744200" cy="68580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6864D28-4C81-4890-84E1-28CB2EF27710}"/>
              </a:ext>
            </a:extLst>
          </p:cNvPr>
          <p:cNvSpPr>
            <a:spLocks noGrp="1"/>
          </p:cNvSpPr>
          <p:nvPr/>
        </p:nvSpPr>
        <p:spPr>
          <a:xfrm>
            <a:off x="723900" y="5667375"/>
            <a:ext cx="10239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E 大類是目前最大的證據缺口：相容性、PITR／備份還原、Online DDL 完成前，不應提出正式導入承諾。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E451D9C-641F-4896-9C26-F68A2CDECF4B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 Y26｜決策表 ③；DISTRIBUTED-DB-SCORING.md §2–§5</a:t>
            </a:r>
          </a:p>
        </p:txBody>
      </p:sp>
    </p:spTree>
    <p:extLst>
      <p:ext uri="{BB962C8B-B14F-4D97-AF65-F5344CB8AC3E}">
        <p14:creationId xmlns:p14="http://schemas.microsoft.com/office/powerpoint/2010/main" val="506118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441A755-2914-4015-A697-007776D999F7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Y25 EVIDENCE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CB5871-01DA-47FC-95DE-2A827FA931DB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Y25 已解兩個前提，也留下明確邊界</a:t>
            </a:r>
          </a:p>
        </p:txBody>
      </p:sp>
      <p:cxnSp>
        <p:nvCxnSpPr>
          <p:cNvPr id="35" name="直線箭頭接點 25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50067DDD-0758-45F9-807F-79AF6A59D4EC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C0D983-95CB-455F-978C-66CD9F7B00B4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3429000" cy="20002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9D42F6-1D42-4AC2-9BEE-D799C3E5AE66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66675" cy="2000250"/>
          </a:xfrm>
          <a:prstGeom prst="rect">
            <a:avLst/>
          </a:prstGeom>
          <a:solidFill>
            <a:srgbClr val="16803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F8D191-B96F-4DD5-80B6-0F2BC1D24D9B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應用改造可行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E2A3EA-FDE0-4E6C-A902-766BEDF8025A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29718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ac-api 完成 ULID／Snowflake 改造；deadlock 與連線錯誤已處理。2026-08-26 TiDB 複測通過。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FFCD89-3F55-4F1D-9F68-9BF83E8B0AE5}"/>
              </a:ext>
            </a:extLst>
          </p:cNvPr>
          <p:cNvSpPr>
            <a:spLocks noGrp="1"/>
          </p:cNvSpPr>
          <p:nvPr/>
        </p:nvSpPr>
        <p:spPr>
          <a:xfrm>
            <a:off x="4152900" y="1657350"/>
            <a:ext cx="3429000" cy="20002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489551-A206-4E6A-94A8-99CC047E1FCE}"/>
              </a:ext>
            </a:extLst>
          </p:cNvPr>
          <p:cNvSpPr>
            <a:spLocks noGrp="1"/>
          </p:cNvSpPr>
          <p:nvPr/>
        </p:nvSpPr>
        <p:spPr>
          <a:xfrm>
            <a:off x="4152900" y="1657350"/>
            <a:ext cx="66675" cy="20002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80820F-ADD9-4E4E-8BBC-6077D30DFE82}"/>
              </a:ext>
            </a:extLst>
          </p:cNvPr>
          <p:cNvSpPr>
            <a:spLocks noGrp="1"/>
          </p:cNvSpPr>
          <p:nvPr/>
        </p:nvSpPr>
        <p:spPr>
          <a:xfrm>
            <a:off x="4381500" y="18669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跨機房分流可行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0D7BA8-FD6D-480B-B6C5-4B63C55E85B6}"/>
              </a:ext>
            </a:extLst>
          </p:cNvPr>
          <p:cNvSpPr>
            <a:spLocks noGrp="1"/>
          </p:cNvSpPr>
          <p:nvPr/>
        </p:nvSpPr>
        <p:spPr>
          <a:xfrm>
            <a:off x="4381500" y="2305050"/>
            <a:ext cx="29718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Cloudflare LB 通過分流與 IP sticky；F5 不符合需求，A/S 流量導向前提已成立。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8316B15-A94C-4601-A7C7-F1FC57C4DA4C}"/>
              </a:ext>
            </a:extLst>
          </p:cNvPr>
          <p:cNvSpPr>
            <a:spLocks noGrp="1"/>
          </p:cNvSpPr>
          <p:nvPr/>
        </p:nvSpPr>
        <p:spPr>
          <a:xfrm>
            <a:off x="7810500" y="1657350"/>
            <a:ext cx="3429000" cy="20002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0144D0-D749-4966-9DFC-A80F53F0E186}"/>
              </a:ext>
            </a:extLst>
          </p:cNvPr>
          <p:cNvSpPr>
            <a:spLocks noGrp="1"/>
          </p:cNvSpPr>
          <p:nvPr/>
        </p:nvSpPr>
        <p:spPr>
          <a:xfrm>
            <a:off x="7810500" y="1657350"/>
            <a:ext cx="66675" cy="20002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C0D7CF-61E2-4E5F-94A5-AA0929E5FD60}"/>
              </a:ext>
            </a:extLst>
          </p:cNvPr>
          <p:cNvSpPr>
            <a:spLocks noGrp="1"/>
          </p:cNvSpPr>
          <p:nvPr/>
        </p:nvSpPr>
        <p:spPr>
          <a:xfrm>
            <a:off x="8039100" y="18669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單寫可以先上線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36DC1B-CB44-40D6-8131-6F4C5C545865}"/>
              </a:ext>
            </a:extLst>
          </p:cNvPr>
          <p:cNvSpPr>
            <a:spLocks noGrp="1"/>
          </p:cNvSpPr>
          <p:nvPr/>
        </p:nvSpPr>
        <p:spPr>
          <a:xfrm>
            <a:off x="8039100" y="2305050"/>
            <a:ext cx="29718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ATS Pro 因 multi-write deadlock 回到 single write；產品不必等待 A/A 才推進。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DFF3E1-8B6B-4839-9728-45A8A7505A68}"/>
              </a:ext>
            </a:extLst>
          </p:cNvPr>
          <p:cNvSpPr>
            <a:spLocks noGrp="1"/>
          </p:cNvSpPr>
          <p:nvPr/>
        </p:nvSpPr>
        <p:spPr>
          <a:xfrm>
            <a:off x="495300" y="4095750"/>
            <a:ext cx="10744200" cy="148590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EB0FCB-9042-4CF1-9C14-5EBFC1E4460C}"/>
              </a:ext>
            </a:extLst>
          </p:cNvPr>
          <p:cNvSpPr>
            <a:spLocks noGrp="1"/>
          </p:cNvSpPr>
          <p:nvPr/>
        </p:nvSpPr>
        <p:spPr>
          <a:xfrm>
            <a:off x="742950" y="4343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代表性邊界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EC0CE8-6D9A-4C82-BB3B-E35928D3B6A8}"/>
              </a:ext>
            </a:extLst>
          </p:cNvPr>
          <p:cNvSpPr>
            <a:spLocks noGrp="1"/>
          </p:cNvSpPr>
          <p:nvPr/>
        </p:nvSpPr>
        <p:spPr>
          <a:xfrm>
            <a:off x="2647950" y="42862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2A4B411-6C17-4460-8E60-B9475A47A831}"/>
              </a:ext>
            </a:extLst>
          </p:cNvPr>
          <p:cNvSpPr>
            <a:spLocks noGrp="1"/>
          </p:cNvSpPr>
          <p:nvPr/>
        </p:nvSpPr>
        <p:spPr>
          <a:xfrm>
            <a:off x="2933700" y="4286250"/>
            <a:ext cx="781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僅涵蓋 4 支特定 AC API；流量鏡像到 TiDB 後只剩 113 QPS。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87E499-0AE9-4B32-863F-6590311CD25A}"/>
              </a:ext>
            </a:extLst>
          </p:cNvPr>
          <p:cNvSpPr>
            <a:spLocks noGrp="1"/>
          </p:cNvSpPr>
          <p:nvPr/>
        </p:nvSpPr>
        <p:spPr>
          <a:xfrm>
            <a:off x="2647950" y="47625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D9DEF75-A377-490D-8B1D-0E99A4BBD4BD}"/>
              </a:ext>
            </a:extLst>
          </p:cNvPr>
          <p:cNvSpPr>
            <a:spLocks noGrp="1"/>
          </p:cNvSpPr>
          <p:nvPr/>
        </p:nvSpPr>
        <p:spPr>
          <a:xfrm>
            <a:off x="2933700" y="4762500"/>
            <a:ext cx="781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「灌入 AC API 總量」因資源調整未執行，不能把 Y25 結果外推為正式容量。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B18008-3A88-4449-9494-9551150AE391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§1.1、§1.5</a:t>
            </a:r>
          </a:p>
        </p:txBody>
      </p:sp>
    </p:spTree>
    <p:extLst>
      <p:ext uri="{BB962C8B-B14F-4D97-AF65-F5344CB8AC3E}">
        <p14:creationId xmlns:p14="http://schemas.microsoft.com/office/powerpoint/2010/main" val="186593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A1B61C9-BBB5-4929-95B2-C3EE77197A9B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DELIVERY BOUNDARY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9748B5-F515-48E3-9FE0-C158CE509ED7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可以交付的能力，與進入導入前仍需補證的結果分開</a:t>
            </a:r>
          </a:p>
        </p:txBody>
      </p:sp>
      <p:cxnSp>
        <p:nvCxnSpPr>
          <p:cNvPr id="45" name="直線箭頭接點 35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84E1517-DE6A-42AB-AB6B-E07BB3EBEB55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19E4-A8A0-4AC1-AB58-0358967E7E6E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5181600" cy="4238625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9B32C3-0140-40FE-A5F4-9C8AB2E6170C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目前可交付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1E636F-E5D3-4AD9-BDB2-36A01E04786F}"/>
              </a:ext>
            </a:extLst>
          </p:cNvPr>
          <p:cNvSpPr>
            <a:spLocks noGrp="1"/>
          </p:cNvSpPr>
          <p:nvPr/>
        </p:nvSpPr>
        <p:spPr>
          <a:xfrm>
            <a:off x="742950" y="2457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C16139-D162-4E84-9223-78F34A1F53A3}"/>
              </a:ext>
            </a:extLst>
          </p:cNvPr>
          <p:cNvSpPr>
            <a:spLocks noGrp="1"/>
          </p:cNvSpPr>
          <p:nvPr/>
        </p:nvSpPr>
        <p:spPr>
          <a:xfrm>
            <a:off x="1028700" y="245745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MySQL 協定路線與</a:t>
            </a:r>
            <a:r>
              <a:rPr sz="135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分散式資料庫架構</a:t>
            </a: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改造方法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778FA5-61F8-4E6E-B86A-EB9C78B7FE3F}"/>
              </a:ext>
            </a:extLst>
          </p:cNvPr>
          <p:cNvSpPr>
            <a:spLocks noGrp="1"/>
          </p:cNvSpPr>
          <p:nvPr/>
        </p:nvSpPr>
        <p:spPr>
          <a:xfrm>
            <a:off x="742950" y="29241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327A83-79EF-4031-B162-B464DDB2EC31}"/>
              </a:ext>
            </a:extLst>
          </p:cNvPr>
          <p:cNvSpPr>
            <a:spLocks noGrp="1"/>
          </p:cNvSpPr>
          <p:nvPr/>
        </p:nvSpPr>
        <p:spPr>
          <a:xfrm>
            <a:off x="1028700" y="29241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水平擴展與高併發穩定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01DF63-A041-4DC4-A56C-48534C2867F1}"/>
              </a:ext>
            </a:extLst>
          </p:cNvPr>
          <p:cNvSpPr>
            <a:spLocks noGrp="1"/>
          </p:cNvSpPr>
          <p:nvPr/>
        </p:nvSpPr>
        <p:spPr>
          <a:xfrm>
            <a:off x="742950" y="33909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B6FAAD-F808-4A7F-A81C-93B797D325C3}"/>
              </a:ext>
            </a:extLst>
          </p:cNvPr>
          <p:cNvSpPr>
            <a:spLocks noGrp="1"/>
          </p:cNvSpPr>
          <p:nvPr/>
        </p:nvSpPr>
        <p:spPr>
          <a:xfrm>
            <a:off x="1028700" y="339090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 A/S、placement 與副本存在驗證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D4D3E7-D3E5-49D8-A09F-3532EC8EE885}"/>
              </a:ext>
            </a:extLst>
          </p:cNvPr>
          <p:cNvSpPr>
            <a:spLocks noGrp="1"/>
          </p:cNvSpPr>
          <p:nvPr/>
        </p:nvSpPr>
        <p:spPr>
          <a:xfrm>
            <a:off x="742950" y="385762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6B5DB23-957B-4506-9F93-2014CA53AAD9}"/>
              </a:ext>
            </a:extLst>
          </p:cNvPr>
          <p:cNvSpPr>
            <a:spLocks noGrp="1"/>
          </p:cNvSpPr>
          <p:nvPr/>
        </p:nvSpPr>
        <p:spPr>
          <a:xfrm>
            <a:off x="1028700" y="385762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跨區就近讀的測試路徑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88683F-4AC0-4E62-AD8B-410537502FAD}"/>
              </a:ext>
            </a:extLst>
          </p:cNvPr>
          <p:cNvSpPr>
            <a:spLocks noGrp="1"/>
          </p:cNvSpPr>
          <p:nvPr/>
        </p:nvSpPr>
        <p:spPr>
          <a:xfrm>
            <a:off x="742950" y="43243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2B88D0-DAA4-4DF4-8F44-87E795711FDA}"/>
              </a:ext>
            </a:extLst>
          </p:cNvPr>
          <p:cNvSpPr>
            <a:spLocks noGrp="1"/>
          </p:cNvSpPr>
          <p:nvPr/>
        </p:nvSpPr>
        <p:spPr>
          <a:xfrm>
            <a:off x="1028700" y="432435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Kubernetes 部署與資源配額控制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8F66EB-C37A-4A5F-BEAC-DFF9783338E1}"/>
              </a:ext>
            </a:extLst>
          </p:cNvPr>
          <p:cNvSpPr>
            <a:spLocks noGrp="1"/>
          </p:cNvSpPr>
          <p:nvPr/>
        </p:nvSpPr>
        <p:spPr>
          <a:xfrm>
            <a:off x="742950" y="47910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629FE9-0F45-4005-BA89-BC29854C001F}"/>
              </a:ext>
            </a:extLst>
          </p:cNvPr>
          <p:cNvSpPr>
            <a:spLocks noGrp="1"/>
          </p:cNvSpPr>
          <p:nvPr/>
        </p:nvSpPr>
        <p:spPr>
          <a:xfrm>
            <a:off x="1028700" y="47910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原廠在地技術協作入口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34FD534-3332-4BBA-B9AB-85E278EB97DA}"/>
              </a:ext>
            </a:extLst>
          </p:cNvPr>
          <p:cNvSpPr>
            <a:spLocks noGrp="1"/>
          </p:cNvSpPr>
          <p:nvPr/>
        </p:nvSpPr>
        <p:spPr>
          <a:xfrm>
            <a:off x="6057900" y="1619250"/>
            <a:ext cx="5181600" cy="4238625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E3CC5C2-89F0-4C2A-9A43-012A4464FFE7}"/>
              </a:ext>
            </a:extLst>
          </p:cNvPr>
          <p:cNvSpPr>
            <a:spLocks noGrp="1"/>
          </p:cNvSpPr>
          <p:nvPr/>
        </p:nvSpPr>
        <p:spPr>
          <a:xfrm>
            <a:off x="6305550" y="18669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進入正式導入前仍需補證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894811-19A3-46C6-B935-152FB73BA5D6}"/>
              </a:ext>
            </a:extLst>
          </p:cNvPr>
          <p:cNvSpPr>
            <a:spLocks noGrp="1"/>
          </p:cNvSpPr>
          <p:nvPr/>
        </p:nvSpPr>
        <p:spPr>
          <a:xfrm>
            <a:off x="6305550" y="2457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890BD0-A88D-4110-B11D-0062E2DDB48F}"/>
              </a:ext>
            </a:extLst>
          </p:cNvPr>
          <p:cNvSpPr>
            <a:spLocks noGrp="1"/>
          </p:cNvSpPr>
          <p:nvPr/>
        </p:nvSpPr>
        <p:spPr>
          <a:xfrm>
            <a:off x="6591300" y="245745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端到端 A/A 或整區秒級自動接手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C27D9D0-1FE0-47F2-A770-72B32F002FA6}"/>
              </a:ext>
            </a:extLst>
          </p:cNvPr>
          <p:cNvSpPr>
            <a:spLocks noGrp="1"/>
          </p:cNvSpPr>
          <p:nvPr/>
        </p:nvSpPr>
        <p:spPr>
          <a:xfrm>
            <a:off x="6305550" y="29241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45B164A-C886-4161-BA46-51A4E6980A2B}"/>
              </a:ext>
            </a:extLst>
          </p:cNvPr>
          <p:cNvSpPr>
            <a:spLocks noGrp="1"/>
          </p:cNvSpPr>
          <p:nvPr/>
        </p:nvSpPr>
        <p:spPr>
          <a:xfrm>
            <a:off x="6591300" y="29241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SQL／ORM 已全面相容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C471507-C62D-43CD-BA5B-3B6D48EBC5DA}"/>
              </a:ext>
            </a:extLst>
          </p:cNvPr>
          <p:cNvSpPr>
            <a:spLocks noGrp="1"/>
          </p:cNvSpPr>
          <p:nvPr/>
        </p:nvSpPr>
        <p:spPr>
          <a:xfrm>
            <a:off x="6305550" y="33909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E14C160-4E9B-4F7B-98CC-ACE57BD98AA6}"/>
              </a:ext>
            </a:extLst>
          </p:cNvPr>
          <p:cNvSpPr>
            <a:spLocks noGrp="1"/>
          </p:cNvSpPr>
          <p:nvPr/>
        </p:nvSpPr>
        <p:spPr>
          <a:xfrm>
            <a:off x="6591300" y="339090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PITR 已可還原、Online DDL 無影響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5D228A-BF57-429D-9D99-39415C2EB5F7}"/>
              </a:ext>
            </a:extLst>
          </p:cNvPr>
          <p:cNvSpPr>
            <a:spLocks noGrp="1"/>
          </p:cNvSpPr>
          <p:nvPr/>
        </p:nvSpPr>
        <p:spPr>
          <a:xfrm>
            <a:off x="6305550" y="385762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9201768-72A3-4985-BADC-01ABBF149F88}"/>
              </a:ext>
            </a:extLst>
          </p:cNvPr>
          <p:cNvSpPr>
            <a:spLocks noGrp="1"/>
          </p:cNvSpPr>
          <p:nvPr/>
        </p:nvSpPr>
        <p:spPr>
          <a:xfrm>
            <a:off x="6591300" y="385762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跨區網路成本已用同條件對照單獨量出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86E7555-2C89-4BEE-811D-124662FC1AA8}"/>
              </a:ext>
            </a:extLst>
          </p:cNvPr>
          <p:cNvSpPr>
            <a:spLocks noGrp="1"/>
          </p:cNvSpPr>
          <p:nvPr/>
        </p:nvSpPr>
        <p:spPr>
          <a:xfrm>
            <a:off x="6305550" y="43243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8D218F5-E6A2-4D28-9C46-FDDCBAFFE750}"/>
              </a:ext>
            </a:extLst>
          </p:cNvPr>
          <p:cNvSpPr>
            <a:spLocks noGrp="1"/>
          </p:cNvSpPr>
          <p:nvPr/>
        </p:nvSpPr>
        <p:spPr>
          <a:xfrm>
            <a:off x="6591300" y="432435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P-B 高併發下降原因已完成控制實驗確認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74076CF-606D-4294-B491-575964FB5A53}"/>
              </a:ext>
            </a:extLst>
          </p:cNvPr>
          <p:cNvSpPr>
            <a:spLocks noGrp="1"/>
          </p:cNvSpPr>
          <p:nvPr/>
        </p:nvSpPr>
        <p:spPr>
          <a:xfrm>
            <a:off x="6305550" y="47910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4AF68DD-8C66-4702-B54F-910565B2D0BF}"/>
              </a:ext>
            </a:extLst>
          </p:cNvPr>
          <p:cNvSpPr>
            <a:spLocks noGrp="1"/>
          </p:cNvSpPr>
          <p:nvPr/>
        </p:nvSpPr>
        <p:spPr>
          <a:xfrm>
            <a:off x="6591300" y="47910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Failover 數字可跨產品直接排名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680A42C-1547-40B6-AEFB-D92A4F3D3264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§2.4.1–§2.4.2</a:t>
            </a:r>
          </a:p>
        </p:txBody>
      </p:sp>
    </p:spTree>
    <p:extLst>
      <p:ext uri="{BB962C8B-B14F-4D97-AF65-F5344CB8AC3E}">
        <p14:creationId xmlns:p14="http://schemas.microsoft.com/office/powerpoint/2010/main" val="1946811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7E9E7B4-518B-4A9E-84DF-65D5D27BE5E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CAPABILITY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19D890-829F-4F03-B930-52DED19DEE89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根據目前 TiDB 評估，可以先完成的事</a:t>
            </a:r>
          </a:p>
        </p:txBody>
      </p:sp>
      <p:cxnSp>
        <p:nvCxnSpPr>
          <p:cNvPr id="30" name="直線箭頭接點 20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828937A5-9E21-430C-924E-A3D4187CA23A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6421C0-CCB1-4873-AC42-A073D3BE76B8}"/>
              </a:ext>
            </a:extLst>
          </p:cNvPr>
          <p:cNvSpPr>
            <a:spLocks noGrp="1"/>
          </p:cNvSpPr>
          <p:nvPr/>
        </p:nvSpPr>
        <p:spPr>
          <a:xfrm>
            <a:off x="495300" y="1676400"/>
            <a:ext cx="10744200" cy="3905250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6CFBB4-E56D-4DF2-95BB-FB452E31A545}"/>
              </a:ext>
            </a:extLst>
          </p:cNvPr>
          <p:cNvSpPr>
            <a:spLocks noGrp="1"/>
          </p:cNvSpPr>
          <p:nvPr/>
        </p:nvSpPr>
        <p:spPr>
          <a:xfrm>
            <a:off x="781050" y="21336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410D5A-2D16-40AC-8FE0-F6D383C02CA1}"/>
              </a:ext>
            </a:extLst>
          </p:cNvPr>
          <p:cNvSpPr>
            <a:spLocks noGrp="1"/>
          </p:cNvSpPr>
          <p:nvPr/>
        </p:nvSpPr>
        <p:spPr>
          <a:xfrm>
            <a:off x="1066800" y="2133600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跨區資料同步不漏寫、不寫錯：Y25 AC API 複雜寫入場景已完成鏡像驗證。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8ED5A0-021F-4704-BFF5-2EA38BACFA6A}"/>
              </a:ext>
            </a:extLst>
          </p:cNvPr>
          <p:cNvSpPr>
            <a:spLocks noGrp="1"/>
          </p:cNvSpPr>
          <p:nvPr/>
        </p:nvSpPr>
        <p:spPr>
          <a:xfrm>
            <a:off x="781050" y="260032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894CE8-7CC3-4D2E-8512-93E931F25DE2}"/>
              </a:ext>
            </a:extLst>
          </p:cNvPr>
          <p:cNvSpPr>
            <a:spLocks noGrp="1"/>
          </p:cNvSpPr>
          <p:nvPr/>
        </p:nvSpPr>
        <p:spPr>
          <a:xfrm>
            <a:off x="1066800" y="2600325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應用不改協定即可接上：MySQL wire；AC API 完成 ID 改造後 TiDB 複測通過。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390CD6-9C46-469A-BF95-BA77D185024C}"/>
              </a:ext>
            </a:extLst>
          </p:cNvPr>
          <p:cNvSpPr>
            <a:spLocks noGrp="1"/>
          </p:cNvSpPr>
          <p:nvPr/>
        </p:nvSpPr>
        <p:spPr>
          <a:xfrm>
            <a:off x="781050" y="30670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45C711-C549-4131-8250-96E3D33AEEAC}"/>
              </a:ext>
            </a:extLst>
          </p:cNvPr>
          <p:cNvSpPr>
            <a:spLocks noGrp="1"/>
          </p:cNvSpPr>
          <p:nvPr/>
        </p:nvSpPr>
        <p:spPr>
          <a:xfrm>
            <a:off x="1066800" y="3067050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水平擴展與高併發穩定：1 node → 3 node 擴展倍率 2.06×，t=128 錯誤率 0%。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D0338B-BC7B-4A02-90EB-2F1C325C7397}"/>
              </a:ext>
            </a:extLst>
          </p:cNvPr>
          <p:cNvSpPr>
            <a:spLocks noGrp="1"/>
          </p:cNvSpPr>
          <p:nvPr/>
        </p:nvSpPr>
        <p:spPr>
          <a:xfrm>
            <a:off x="781050" y="35337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9818D01-6CD2-4E05-AF64-03A9937310B3}"/>
              </a:ext>
            </a:extLst>
          </p:cNvPr>
          <p:cNvSpPr>
            <a:spLocks noGrp="1"/>
          </p:cNvSpPr>
          <p:nvPr/>
        </p:nvSpPr>
        <p:spPr>
          <a:xfrm>
            <a:off x="1066800" y="3533775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 A/S：P-A × A/S 完成，副本存在、placement 與就近讀探測門檻通過。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F12CF9-80CA-45B7-B41D-FD3101D32B62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E55A89D-5C14-4D49-B2AB-7CCBB3F77ECD}"/>
              </a:ext>
            </a:extLst>
          </p:cNvPr>
          <p:cNvSpPr>
            <a:spLocks noGrp="1"/>
          </p:cNvSpPr>
          <p:nvPr/>
        </p:nvSpPr>
        <p:spPr>
          <a:xfrm>
            <a:off x="1066800" y="4000500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跨區就近讀：P-A × A/A-RO 修正後，GCP read_tpmTotal 31,571.3，全程 0 錯誤。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956B40-EDB0-4E51-A648-BB1CC6F59F40}"/>
              </a:ext>
            </a:extLst>
          </p:cNvPr>
          <p:cNvSpPr>
            <a:spLocks noGrp="1"/>
          </p:cNvSpPr>
          <p:nvPr/>
        </p:nvSpPr>
        <p:spPr>
          <a:xfrm>
            <a:off x="781050" y="446722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FBF6C3-4AF8-408A-81CE-84B93A74DC48}"/>
              </a:ext>
            </a:extLst>
          </p:cNvPr>
          <p:cNvSpPr>
            <a:spLocks noGrp="1"/>
          </p:cNvSpPr>
          <p:nvPr/>
        </p:nvSpPr>
        <p:spPr>
          <a:xfrm>
            <a:off x="1066800" y="4467225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把 EDC 副本轉成讀取型工作負載，逐步建立服務化與原廠協作能力。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DDCAA06-6FAE-4296-B79C-CE65472DACC5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來源：refresh/0827_slide.md「根據目前 TiDB 的評估，我們可以完成的事」</a:t>
            </a:r>
          </a:p>
        </p:txBody>
      </p:sp>
    </p:spTree>
    <p:extLst>
      <p:ext uri="{BB962C8B-B14F-4D97-AF65-F5344CB8AC3E}">
        <p14:creationId xmlns:p14="http://schemas.microsoft.com/office/powerpoint/2010/main" val="674317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C0F4375-1005-445F-84AC-889F87DBD1F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LIMITS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EE2282-D6F9-4144-9F26-CFC1AC1745F9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根據現有架構，仍不能直接宣稱的事</a:t>
            </a:r>
          </a:p>
        </p:txBody>
      </p:sp>
      <p:cxnSp>
        <p:nvCxnSpPr>
          <p:cNvPr id="31" name="直線箭頭接點 21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63C07EF0-D842-4E84-8B8A-433B8336E426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D3B0CD-2517-487D-B7DC-3C38F7EF77F5}"/>
              </a:ext>
            </a:extLst>
          </p:cNvPr>
          <p:cNvSpPr>
            <a:spLocks noGrp="1"/>
          </p:cNvSpPr>
          <p:nvPr/>
        </p:nvSpPr>
        <p:spPr>
          <a:xfrm>
            <a:off x="495300" y="1676400"/>
            <a:ext cx="10744200" cy="78105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B21E51-2AA6-4279-9E8A-2816B512CF88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架構限制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05445D-C630-447E-BDCB-E2BBBD619BA6}"/>
              </a:ext>
            </a:extLst>
          </p:cNvPr>
          <p:cNvSpPr>
            <a:spLocks noGrp="1"/>
          </p:cNvSpPr>
          <p:nvPr/>
        </p:nvSpPr>
        <p:spPr>
          <a:xfrm>
            <a:off x="2857500" y="1847850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端到端 A/A、整區秒級自動接手、低延遲場景取代 Galera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7A6844-E7FE-4E24-A192-D3672678170E}"/>
              </a:ext>
            </a:extLst>
          </p:cNvPr>
          <p:cNvSpPr>
            <a:spLocks noGrp="1"/>
          </p:cNvSpPr>
          <p:nvPr/>
        </p:nvSpPr>
        <p:spPr>
          <a:xfrm>
            <a:off x="495300" y="2676525"/>
            <a:ext cx="10744200" cy="78105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8D27E8-DCA0-405D-9E75-18936ED69127}"/>
              </a:ext>
            </a:extLst>
          </p:cNvPr>
          <p:cNvSpPr>
            <a:spLocks noGrp="1"/>
          </p:cNvSpPr>
          <p:nvPr/>
        </p:nvSpPr>
        <p:spPr>
          <a:xfrm>
            <a:off x="742950" y="286702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證據缺口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587712-2765-4AB5-84C0-B1E2820581B0}"/>
              </a:ext>
            </a:extLst>
          </p:cNvPr>
          <p:cNvSpPr>
            <a:spLocks noGrp="1"/>
          </p:cNvSpPr>
          <p:nvPr/>
        </p:nvSpPr>
        <p:spPr>
          <a:xfrm>
            <a:off x="2857500" y="2847975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SQL／ORM 相容性、PITR、Online DDL、WAN 成本與 failover 跨產品比較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06A8A0-F2F8-4071-8BA9-3488EEE18EAD}"/>
              </a:ext>
            </a:extLst>
          </p:cNvPr>
          <p:cNvSpPr>
            <a:spLocks noGrp="1"/>
          </p:cNvSpPr>
          <p:nvPr/>
        </p:nvSpPr>
        <p:spPr>
          <a:xfrm>
            <a:off x="495300" y="3676650"/>
            <a:ext cx="10744200" cy="7810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76C6AC-B928-4D9C-8F4E-04E052FA24FF}"/>
              </a:ext>
            </a:extLst>
          </p:cNvPr>
          <p:cNvSpPr>
            <a:spLocks noGrp="1"/>
          </p:cNvSpPr>
          <p:nvPr/>
        </p:nvSpPr>
        <p:spPr>
          <a:xfrm>
            <a:off x="742950" y="3867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待確認假說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FAD6E0-D379-4505-AFE4-25FAE6879D1D}"/>
              </a:ext>
            </a:extLst>
          </p:cNvPr>
          <p:cNvSpPr>
            <a:spLocks noGrp="1"/>
          </p:cNvSpPr>
          <p:nvPr/>
        </p:nvSpPr>
        <p:spPr>
          <a:xfrm>
            <a:off x="2857500" y="3848100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P-B 高併發下降與鎖錯誤相容於跨區鎖競爭，但尚未完成控制實驗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2E89F7-CB66-4B54-BC63-44218608195A}"/>
              </a:ext>
            </a:extLst>
          </p:cNvPr>
          <p:cNvSpPr>
            <a:spLocks noGrp="1"/>
          </p:cNvSpPr>
          <p:nvPr/>
        </p:nvSpPr>
        <p:spPr>
          <a:xfrm>
            <a:off x="495300" y="4676775"/>
            <a:ext cx="10744200" cy="7810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205493-E44F-4276-BDBC-3361880471D0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本輪不做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7F17DA3-DA94-4053-B151-13212EA02CC0}"/>
              </a:ext>
            </a:extLst>
          </p:cNvPr>
          <p:cNvSpPr>
            <a:spLocks noGrp="1"/>
          </p:cNvSpPr>
          <p:nvPr/>
        </p:nvSpPr>
        <p:spPr>
          <a:xfrm>
            <a:off x="2857500" y="4848225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 路線與 Redis 多寫多讀，待業務需求明確後再排程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6EEA0AD-BFFD-4B1D-9739-15188692F8EB}"/>
              </a:ext>
            </a:extLst>
          </p:cNvPr>
          <p:cNvSpPr>
            <a:spLocks noGrp="1"/>
          </p:cNvSpPr>
          <p:nvPr/>
        </p:nvSpPr>
        <p:spPr>
          <a:xfrm>
            <a:off x="495300" y="5810250"/>
            <a:ext cx="10744200" cy="34290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EB2F0E-0EA5-400A-AC60-3173E43373B0}"/>
              </a:ext>
            </a:extLst>
          </p:cNvPr>
          <p:cNvSpPr>
            <a:spLocks noGrp="1"/>
          </p:cNvSpPr>
          <p:nvPr/>
        </p:nvSpPr>
        <p:spPr>
          <a:xfrm>
            <a:off x="742950" y="5886450"/>
            <a:ext cx="10239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結論強度必須與證據等級一致；待測不等於不可行，已測也不等於可直接導入。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C3A9C6B-DE91-4D27-A13A-413CF2CC1EE2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來源：refresh/0827_slide.md「根據現有架構，我們不能完成的事」</a:t>
            </a:r>
          </a:p>
        </p:txBody>
      </p:sp>
    </p:spTree>
    <p:extLst>
      <p:ext uri="{BB962C8B-B14F-4D97-AF65-F5344CB8AC3E}">
        <p14:creationId xmlns:p14="http://schemas.microsoft.com/office/powerpoint/2010/main" val="3348196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1953</Words>
  <Application>Microsoft Macintosh PowerPoint</Application>
  <DocSecurity>0</DocSecurity>
  <PresentationFormat>寬螢幕</PresentationFormat>
  <Paragraphs>460</Paragraphs>
  <Slides>20</Slides>
  <Notes>20</Notes>
  <HiddenSlides>7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4" baseType="lpstr">
      <vt:lpstr>PingFang TC</vt:lpstr>
      <vt:lpstr>Arial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Wn Lin 林武男</cp:lastModifiedBy>
  <cp:revision>35</cp:revision>
  <dcterms:created xsi:type="dcterms:W3CDTF">2026-09-01T03:08:02Z</dcterms:created>
  <dcterms:modified xsi:type="dcterms:W3CDTF">2026-09-02T07:09:20Z</dcterms:modified>
</cp:coreProperties>
</file>