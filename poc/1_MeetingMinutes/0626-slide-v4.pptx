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6" r:id="rId12"/>
    <p:sldId id="269" r:id="rId13"/>
    <p:sldId id="271" r:id="rId14"/>
    <p:sldId id="268" r:id="rId15"/>
    <p:sldId id="272" r:id="rId16"/>
    <p:sldId id="265" r:id="rId17"/>
    <p:sldId id="267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dirty="0" err="1">
                <a:solidFill>
                  <a:srgbClr val="FFFFFF"/>
                </a:solidFill>
              </a:rPr>
              <a:t>第一階段</a:t>
            </a:r>
            <a:r>
              <a:rPr sz="3800" b="1" dirty="0">
                <a:solidFill>
                  <a:srgbClr val="FFFFFF"/>
                </a:solidFill>
              </a:rPr>
              <a:t> PoC </a:t>
            </a:r>
            <a:r>
              <a:rPr sz="3800" b="1" dirty="0" err="1">
                <a:solidFill>
                  <a:srgbClr val="FFFFFF"/>
                </a:solidFill>
              </a:rPr>
              <a:t>成果與下一步決策</a:t>
            </a:r>
            <a:endParaRPr sz="38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21033" y="2651760"/>
            <a:ext cx="551946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dirty="0" err="1">
                <a:solidFill>
                  <a:srgbClr val="CCCCCC"/>
                </a:solidFill>
              </a:rPr>
              <a:t>分散式資料庫</a:t>
            </a:r>
            <a:r>
              <a:rPr lang="en-US" sz="2200" dirty="0" err="1">
                <a:solidFill>
                  <a:srgbClr val="CCCCCC"/>
                </a:solidFill>
              </a:rPr>
              <a:t>架構</a:t>
            </a:r>
            <a:r>
              <a:rPr sz="2200" dirty="0">
                <a:solidFill>
                  <a:srgbClr val="CCCCCC"/>
                </a:solidFill>
              </a:rPr>
              <a:t> × </a:t>
            </a:r>
            <a:r>
              <a:rPr sz="2200" dirty="0" err="1">
                <a:solidFill>
                  <a:srgbClr val="CCCCCC"/>
                </a:solidFill>
              </a:rPr>
              <a:t>跨區域驗證</a:t>
            </a:r>
            <a:r>
              <a:rPr sz="2200" dirty="0">
                <a:solidFill>
                  <a:srgbClr val="CCCCCC"/>
                </a:solidFill>
              </a:rPr>
              <a:t> × </a:t>
            </a:r>
            <a:r>
              <a:rPr sz="2200" dirty="0" err="1">
                <a:solidFill>
                  <a:srgbClr val="CCCCCC"/>
                </a:solidFill>
              </a:rPr>
              <a:t>決策框架</a:t>
            </a:r>
            <a:endParaRPr sz="2200" dirty="0">
              <a:solidFill>
                <a:srgbClr val="CCCCCC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3429000"/>
            <a:ext cx="1143000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3657600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CCCC"/>
                </a:solidFill>
              </a:rPr>
              <a:t>2026-06-2</a:t>
            </a:r>
            <a:r>
              <a:rPr lang="en-US" sz="1600" dirty="0">
                <a:solidFill>
                  <a:srgbClr val="CCCCCC"/>
                </a:solidFill>
              </a:rPr>
              <a:t>6</a:t>
            </a:r>
            <a:r>
              <a:rPr sz="1600" dirty="0">
                <a:solidFill>
                  <a:srgbClr val="CCCCCC"/>
                </a:solidFill>
              </a:rPr>
              <a:t>  ｜  DBA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0E802-C527-8F93-3C06-9DA47A85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565A4-4D19-9357-C3E1-B9E6CB7A63CA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9341B-F57D-09A8-F05B-F86DDF3CB0B6}"/>
              </a:ext>
            </a:extLst>
          </p:cNvPr>
          <p:cNvSpPr txBox="1"/>
          <p:nvPr/>
        </p:nvSpPr>
        <p:spPr>
          <a:xfrm>
            <a:off x="548640" y="1097280"/>
            <a:ext cx="11091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Outline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EBAF6-2171-69F4-5651-1FE0F4CC4A17}"/>
              </a:ext>
            </a:extLst>
          </p:cNvPr>
          <p:cNvSpPr txBox="1"/>
          <p:nvPr/>
        </p:nvSpPr>
        <p:spPr>
          <a:xfrm>
            <a:off x="548640" y="1920240"/>
            <a:ext cx="1109167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n-US" sz="1500" dirty="0" err="1">
                <a:solidFill>
                  <a:srgbClr val="CCCCCC"/>
                </a:solidFill>
              </a:rPr>
              <a:t>專案迄今歷程</a:t>
            </a:r>
            <a:br>
              <a:rPr lang="en-US" sz="1500" dirty="0">
                <a:solidFill>
                  <a:srgbClr val="CCCCCC"/>
                </a:solidFill>
              </a:rPr>
            </a:br>
            <a:endParaRPr lang="en-US" sz="1500" dirty="0">
              <a:solidFill>
                <a:srgbClr val="CCCCCC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500" dirty="0" err="1">
                <a:solidFill>
                  <a:srgbClr val="CCCCCC"/>
                </a:solidFill>
              </a:rPr>
              <a:t>第一階段</a:t>
            </a:r>
            <a:r>
              <a:rPr lang="en-US" sz="1500" dirty="0">
                <a:solidFill>
                  <a:srgbClr val="CCCCCC"/>
                </a:solidFill>
              </a:rPr>
              <a:t> PoC </a:t>
            </a:r>
            <a:r>
              <a:rPr lang="en-US" sz="1500" dirty="0" err="1">
                <a:solidFill>
                  <a:srgbClr val="CCCCCC"/>
                </a:solidFill>
              </a:rPr>
              <a:t>測試數據彙整</a:t>
            </a:r>
            <a:br>
              <a:rPr lang="en-US" sz="1500" dirty="0">
                <a:solidFill>
                  <a:srgbClr val="CCCCCC"/>
                </a:solidFill>
              </a:rPr>
            </a:br>
            <a:endParaRPr lang="en-US" sz="1500" dirty="0">
              <a:solidFill>
                <a:srgbClr val="CCCCCC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zh-TW" altLang="en-US" sz="1500" dirty="0">
                <a:solidFill>
                  <a:srgbClr val="CCCCCC"/>
                </a:solidFill>
              </a:rPr>
              <a:t>第二階段</a:t>
            </a:r>
            <a:r>
              <a:rPr lang="en-US" altLang="zh-TW" sz="1500" dirty="0">
                <a:solidFill>
                  <a:srgbClr val="CCCCCC"/>
                </a:solidFill>
              </a:rPr>
              <a:t> </a:t>
            </a:r>
            <a:r>
              <a:rPr lang="zh-TW" altLang="en-US" sz="1500" b="0" dirty="0">
                <a:solidFill>
                  <a:srgbClr val="CCCCCC"/>
                </a:solidFill>
              </a:rPr>
              <a:t>跨區域 </a:t>
            </a:r>
            <a:r>
              <a:rPr lang="en-US" altLang="zh-TW" sz="1500" b="0" dirty="0">
                <a:solidFill>
                  <a:srgbClr val="CCCCCC"/>
                </a:solidFill>
              </a:rPr>
              <a:t>/ </a:t>
            </a:r>
            <a:r>
              <a:rPr lang="zh-TW" altLang="en-US" sz="1500" b="0" dirty="0">
                <a:solidFill>
                  <a:srgbClr val="CCCCCC"/>
                </a:solidFill>
              </a:rPr>
              <a:t>跨專線</a:t>
            </a:r>
            <a:r>
              <a:rPr lang="zh-TW" altLang="en-US" sz="1500" dirty="0">
                <a:solidFill>
                  <a:srgbClr val="CCCCCC"/>
                </a:solidFill>
              </a:rPr>
              <a:t>執行</a:t>
            </a:r>
            <a:r>
              <a:rPr lang="zh-TW" altLang="en-US" sz="1500" b="0" dirty="0">
                <a:solidFill>
                  <a:srgbClr val="CCCCCC"/>
                </a:solidFill>
              </a:rPr>
              <a:t>進度</a:t>
            </a:r>
            <a:br>
              <a:rPr lang="en-US" sz="1500" b="0" dirty="0">
                <a:solidFill>
                  <a:srgbClr val="CCCCCC"/>
                </a:solidFill>
              </a:rPr>
            </a:br>
            <a:endParaRPr lang="en-US" sz="1500" b="0" dirty="0">
              <a:solidFill>
                <a:srgbClr val="CCCCCC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500" dirty="0" err="1">
                <a:solidFill>
                  <a:srgbClr val="CCCCCC"/>
                </a:solidFill>
              </a:rPr>
              <a:t>決策框架說明</a:t>
            </a:r>
            <a:endParaRPr lang="en-US" sz="1500" dirty="0">
              <a:solidFill>
                <a:srgbClr val="CCCCCC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500" b="0" dirty="0">
              <a:solidFill>
                <a:srgbClr val="CCCCCC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500" dirty="0" err="1">
                <a:solidFill>
                  <a:srgbClr val="CCCCCC"/>
                </a:solidFill>
              </a:rPr>
              <a:t>後續推進</a:t>
            </a:r>
            <a:endParaRPr sz="1500" b="0" dirty="0">
              <a:solidFill>
                <a:srgbClr val="CCCCCC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105AA14-F045-0DD1-E887-3DAA49B9C841}"/>
              </a:ext>
            </a:extLst>
          </p:cNvPr>
          <p:cNvCxnSpPr/>
          <p:nvPr/>
        </p:nvCxnSpPr>
        <p:spPr>
          <a:xfrm>
            <a:off x="365760" y="1761569"/>
            <a:ext cx="11457432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780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專案歷程</a:t>
            </a:r>
            <a:r>
              <a:rPr sz="2800" b="1" dirty="0">
                <a:solidFill>
                  <a:srgbClr val="FFFFFF"/>
                </a:solidFill>
              </a:rPr>
              <a:t> ①：</a:t>
            </a:r>
            <a:r>
              <a:rPr sz="2800" b="1" dirty="0" err="1">
                <a:solidFill>
                  <a:srgbClr val="FFFFFF"/>
                </a:solidFill>
              </a:rPr>
              <a:t>研究定義到跨家框架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CCCCCC"/>
                </a:solidFill>
              </a:rPr>
              <a:t>先定義問題與比較口徑，再建立可重複執行的基礎設施與三資料庫共同工具鏈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96922"/>
              </p:ext>
            </p:extLst>
          </p:nvPr>
        </p:nvGraphicFramePr>
        <p:xfrm>
          <a:off x="365760" y="1371600"/>
          <a:ext cx="1142999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5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階段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重大節點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2026-03-30
～04-10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前期研究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定義分散式 SQL、跨區同鍵寫入、follower read、HA/DR 與九項 survey 評估面向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2026-04-21
～04-27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IaC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與第一版測試鏈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建立多測項部署、HAProxy、VM / Kubernetes 流程及獨立壓測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2026-04-28
～05-05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YugabyteDB 首輪除錯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處理 BenchmarkSQL、bulk load、RF / schema packing 與 HAProxy 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2026-05-06
～05-14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三資料庫對標成形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納入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TiDB、CockroachDB、YugabyteDB，統一結果結構與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go-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tpc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工具鏈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7AE60"/>
                          </a:solidFill>
                        </a:rPr>
                        <a:t>✅ </a:t>
                      </a:r>
                      <a:r>
                        <a:rPr sz="1200" b="1" dirty="0" err="1">
                          <a:solidFill>
                            <a:srgbClr val="27AE60"/>
                          </a:solidFill>
                        </a:rPr>
                        <a:t>完成</a:t>
                      </a:r>
                      <a:endParaRPr sz="1200" b="1" dirty="0">
                        <a:solidFill>
                          <a:srgbClr val="27AE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▸ 此階段完成的是「可比較的工程框架」，早期測試數字不直接納入 v4.7 正式結果。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專案歷程 ②：基準、三節點與治理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CCCCC"/>
                </a:solidFill>
              </a:rPr>
              <a:t>將測試從可執行提升為可重現、可追溯、可拆解成本來源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41774"/>
              </p:ext>
            </p:extLst>
          </p:nvPr>
        </p:nvGraphicFramePr>
        <p:xfrm>
          <a:off x="365760" y="1371600"/>
          <a:ext cx="11429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8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階段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重大節點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2026-05-18
～05-21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v4.7 baseline 重構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建立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PoC-DESIGN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SSOT、detached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suite、gate、marker、summary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與單節點三隔離級對標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2026-05-22
～06-02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三節點 controlled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完成 shard × replica × HAProxy 拓撲、12-cell dry-run 與三家 5-cell 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N=1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2026-05-20
～06-04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文件與數據治理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建立模板、AI 協作規範、artifact-first 審計與三家 pipeline-log 對齊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2026-06-06
～06-07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Phase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分離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S-BASE、S-K8S、T-THRD、X-CROSS，建立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配置宣告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</a:rPr>
                        <a:t>基礎指標確認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及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指標配置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7AE60"/>
                          </a:solidFill>
                        </a:rPr>
                        <a:t>✅ </a:t>
                      </a:r>
                      <a:r>
                        <a:rPr sz="1200" b="1" dirty="0" err="1">
                          <a:solidFill>
                            <a:srgbClr val="27AE60"/>
                          </a:solidFill>
                        </a:rPr>
                        <a:t>完成</a:t>
                      </a:r>
                      <a:endParaRPr sz="1200" b="1" dirty="0">
                        <a:solidFill>
                          <a:srgbClr val="27AE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577840"/>
            <a:ext cx="838242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CCCCCC"/>
                </a:solidFill>
              </a:rPr>
              <a:t>▸ </a:t>
            </a:r>
            <a:r>
              <a:rPr sz="1300" dirty="0" err="1">
                <a:solidFill>
                  <a:srgbClr val="CCCCCC"/>
                </a:solidFill>
              </a:rPr>
              <a:t>正式數字必須能追回測試條件、時間戳、結果檔案與</a:t>
            </a:r>
            <a:r>
              <a:rPr lang="zh-TW" altLang="en-US" sz="1300" dirty="0">
                <a:solidFill>
                  <a:srgbClr val="CCCCCC"/>
                </a:solidFill>
              </a:rPr>
              <a:t>完成標記</a:t>
            </a:r>
            <a:r>
              <a:rPr sz="1300" dirty="0">
                <a:solidFill>
                  <a:srgbClr val="CCCCCC"/>
                </a:solidFill>
              </a:rPr>
              <a:t>；</a:t>
            </a:r>
            <a:r>
              <a:rPr sz="1300" dirty="0" err="1">
                <a:solidFill>
                  <a:srgbClr val="CCCCCC"/>
                </a:solidFill>
              </a:rPr>
              <a:t>缺少來源</a:t>
            </a:r>
            <a:r>
              <a:rPr lang="en-US" sz="1300" dirty="0" err="1">
                <a:solidFill>
                  <a:srgbClr val="CCCCCC"/>
                </a:solidFill>
              </a:rPr>
              <a:t>資料</a:t>
            </a:r>
            <a:r>
              <a:rPr lang="zh-TW" altLang="en-US" sz="1300" dirty="0">
                <a:solidFill>
                  <a:srgbClr val="CCCCCC"/>
                </a:solidFill>
              </a:rPr>
              <a:t> </a:t>
            </a:r>
            <a:r>
              <a:rPr lang="en-US" altLang="zh-TW" sz="1300" dirty="0">
                <a:solidFill>
                  <a:srgbClr val="CCCCCC"/>
                </a:solidFill>
              </a:rPr>
              <a:t>(</a:t>
            </a:r>
            <a:r>
              <a:rPr lang="zh-TW" altLang="en-US" sz="1300" dirty="0">
                <a:solidFill>
                  <a:srgbClr val="CCCCCC"/>
                </a:solidFill>
              </a:rPr>
              <a:t>測試階段</a:t>
            </a:r>
            <a:r>
              <a:rPr lang="en-US" altLang="zh-TW" sz="1300" dirty="0">
                <a:solidFill>
                  <a:srgbClr val="CCCCCC"/>
                </a:solidFill>
              </a:rPr>
              <a:t>) </a:t>
            </a:r>
            <a:r>
              <a:rPr sz="1300" dirty="0" err="1">
                <a:solidFill>
                  <a:srgbClr val="CCCCCC"/>
                </a:solidFill>
              </a:rPr>
              <a:t>時</a:t>
            </a:r>
            <a:r>
              <a:rPr lang="zh-TW" altLang="en-US" sz="1300" dirty="0">
                <a:solidFill>
                  <a:srgbClr val="CCCCCC"/>
                </a:solidFill>
              </a:rPr>
              <a:t>不予納入參考</a:t>
            </a:r>
            <a:r>
              <a:rPr sz="1300" dirty="0">
                <a:solidFill>
                  <a:srgbClr val="CCCCCC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專案歷程 ③：Kubernetes 到跨區驗證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63565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 err="1">
                <a:solidFill>
                  <a:srgbClr val="CCCCCC"/>
                </a:solidFill>
              </a:rPr>
              <a:t>已完成</a:t>
            </a:r>
            <a:r>
              <a:rPr sz="1500" dirty="0">
                <a:solidFill>
                  <a:srgbClr val="CCCCCC"/>
                </a:solidFill>
              </a:rPr>
              <a:t> Kubernetes </a:t>
            </a:r>
            <a:r>
              <a:rPr sz="1500" dirty="0" err="1">
                <a:solidFill>
                  <a:srgbClr val="CCCCCC"/>
                </a:solidFill>
              </a:rPr>
              <a:t>對照與跨區技術路徑；正式跨區效能仍受</a:t>
            </a:r>
            <a:r>
              <a:rPr lang="en-US" sz="1500" dirty="0" err="1">
                <a:solidFill>
                  <a:srgbClr val="CCCCCC"/>
                </a:solidFill>
              </a:rPr>
              <a:t>實測結果</a:t>
            </a:r>
            <a:r>
              <a:rPr sz="1500" dirty="0" err="1">
                <a:solidFill>
                  <a:srgbClr val="CCCCCC"/>
                </a:solidFill>
              </a:rPr>
              <a:t>約束</a:t>
            </a:r>
            <a:endParaRPr sz="1500" dirty="0">
              <a:solidFill>
                <a:srgbClr val="CCCCCC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05339"/>
              </p:ext>
            </p:extLst>
          </p:nvPr>
        </p:nvGraphicFramePr>
        <p:xfrm>
          <a:off x="365760" y="1371600"/>
          <a:ext cx="114299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8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階段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重大節點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2026-06-08
～06-14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Kubernetes v4.7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由單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cell dry-run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擴充至三資料庫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× limit/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unlimit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六組正式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6/6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2026-06-08
～06-17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跨區設計與前置開發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建立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GCP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VM、六節點部署、placement、WAN、chaos、failover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與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pre-flight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規格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39C12"/>
                          </a:solidFill>
                        </a:rPr>
                        <a:t>🟡 框架完成
部分僅 dry-run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2026-06-18
～06-19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IDC↔GCP 實際驗證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修正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IaC、gate、防火牆與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YugabyteDB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placement，三家完成真六節點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前期測試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</a:rPr>
                        <a:t>✅ smoke 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2026-06-21
～06-22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Determinism 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收斂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W=4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重跑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</a:rPr>
                        <a:t>浮動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過大，改採同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cluster、freeze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unfreeze、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變異量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變異參數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與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W=128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39C12"/>
                          </a:solidFill>
                        </a:rPr>
                        <a:t>🟡 </a:t>
                      </a:r>
                      <a:r>
                        <a:rPr sz="1200" b="1" dirty="0" err="1">
                          <a:solidFill>
                            <a:srgbClr val="F39C12"/>
                          </a:solidFill>
                        </a:rPr>
                        <a:t>進行中</a:t>
                      </a:r>
                      <a:endParaRPr sz="1200" b="1" dirty="0">
                        <a:solidFill>
                          <a:srgbClr val="F39C1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577840"/>
            <a:ext cx="951414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CCCCCC"/>
                </a:solidFill>
              </a:rPr>
              <a:t>▸ </a:t>
            </a:r>
            <a:r>
              <a:rPr sz="1300" dirty="0" err="1">
                <a:solidFill>
                  <a:srgbClr val="CCCCCC"/>
                </a:solidFill>
              </a:rPr>
              <a:t>決策界線：可確認六節點跨區交易路徑可行；正式跨家排序須等</a:t>
            </a:r>
            <a:r>
              <a:rPr sz="1300" dirty="0">
                <a:solidFill>
                  <a:srgbClr val="CCCCCC"/>
                </a:solidFill>
              </a:rPr>
              <a:t> W=128、R2～R5</a:t>
            </a:r>
            <a:r>
              <a:rPr lang="en-US" sz="1300" dirty="0">
                <a:solidFill>
                  <a:srgbClr val="CCCCCC"/>
                </a:solidFill>
              </a:rPr>
              <a:t> </a:t>
            </a:r>
            <a:r>
              <a:rPr lang="en-US" sz="1300" dirty="0" err="1">
                <a:solidFill>
                  <a:srgbClr val="CCCCCC"/>
                </a:solidFill>
              </a:rPr>
              <a:t>中位數</a:t>
            </a:r>
            <a:r>
              <a:rPr lang="en-US" sz="1300" dirty="0">
                <a:solidFill>
                  <a:srgbClr val="CCCCCC"/>
                </a:solidFill>
              </a:rPr>
              <a:t>/</a:t>
            </a:r>
            <a:r>
              <a:rPr lang="en-US" sz="1300" dirty="0" err="1">
                <a:solidFill>
                  <a:srgbClr val="CCCCCC"/>
                </a:solidFill>
              </a:rPr>
              <a:t>變異係數與</a:t>
            </a:r>
            <a:r>
              <a:rPr sz="1300" dirty="0" err="1">
                <a:solidFill>
                  <a:srgbClr val="CCCCCC"/>
                </a:solidFill>
              </a:rPr>
              <a:t>回復流程驗收</a:t>
            </a:r>
            <a:r>
              <a:rPr lang="en-US" sz="1300" dirty="0" err="1">
                <a:solidFill>
                  <a:srgbClr val="CCCCCC"/>
                </a:solidFill>
              </a:rPr>
              <a:t>結論</a:t>
            </a:r>
            <a:r>
              <a:rPr sz="1300" dirty="0">
                <a:solidFill>
                  <a:srgbClr val="CCCCCC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三家資料庫導入定位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69899"/>
              </p:ext>
            </p:extLst>
          </p:nvPr>
        </p:nvGraphicFramePr>
        <p:xfrm>
          <a:off x="365760" y="10515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資料庫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第一階段觀察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導入定位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TiDB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VM 與 K8s 吞吐表現較佳；K8s retention 較高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方便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優先進入應用情境對接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CockroachDB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一致性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</a:rPr>
                        <a:t>需求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較強（SSI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預設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）；SI/SSI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模式下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retry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與效能成本明顯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保留觀察：應用層需評估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Error Handling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容忍度與交易模式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YugabyteDB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VM +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HAProxy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表現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</a:rPr>
                        <a:t>為佳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；K8s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結果目前不宜直接作為導入結論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保留觀察：K8s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部署仍需調校與驗證，VM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路徑可進入評估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429000"/>
            <a:ext cx="54243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dirty="0" err="1">
                <a:solidFill>
                  <a:srgbClr val="F5A623"/>
                </a:solidFill>
              </a:rPr>
              <a:t>同</a:t>
            </a:r>
            <a:r>
              <a:rPr lang="en-US" sz="1400" b="1" dirty="0">
                <a:solidFill>
                  <a:srgbClr val="F5A623"/>
                </a:solidFill>
              </a:rPr>
              <a:t> IDC / </a:t>
            </a:r>
            <a:r>
              <a:rPr sz="1400" b="1" dirty="0" err="1">
                <a:solidFill>
                  <a:srgbClr val="F5A623"/>
                </a:solidFill>
              </a:rPr>
              <a:t>同硬體</a:t>
            </a:r>
            <a:r>
              <a:rPr sz="1400" b="1" dirty="0">
                <a:solidFill>
                  <a:srgbClr val="F5A623"/>
                </a:solidFill>
              </a:rPr>
              <a:t> </a:t>
            </a:r>
            <a:r>
              <a:rPr sz="1400" b="1" dirty="0" err="1">
                <a:solidFill>
                  <a:srgbClr val="F5A623"/>
                </a:solidFill>
              </a:rPr>
              <a:t>基準</a:t>
            </a:r>
            <a:r>
              <a:rPr sz="1400" b="1" dirty="0">
                <a:solidFill>
                  <a:srgbClr val="F5A623"/>
                </a:solidFill>
              </a:rPr>
              <a:t> </a:t>
            </a:r>
            <a:r>
              <a:rPr lang="en-US" sz="1400" b="1" dirty="0">
                <a:solidFill>
                  <a:srgbClr val="F5A623"/>
                </a:solidFill>
              </a:rPr>
              <a:t> - (</a:t>
            </a:r>
            <a:r>
              <a:rPr lang="en" altLang="zh-TW" sz="1400" b="1" dirty="0">
                <a:solidFill>
                  <a:srgbClr val="F5A623"/>
                </a:solidFill>
              </a:rPr>
              <a:t>vm-3node-haproxy-3s3r-rc, t=128 mean </a:t>
            </a:r>
            <a:r>
              <a:rPr lang="en" altLang="zh-TW" sz="1400" b="1" dirty="0" err="1">
                <a:solidFill>
                  <a:srgbClr val="F5A623"/>
                </a:solidFill>
              </a:rPr>
              <a:t>tpmC</a:t>
            </a:r>
            <a:r>
              <a:rPr lang="en-US" sz="1400" b="1" dirty="0">
                <a:solidFill>
                  <a:srgbClr val="F5A623"/>
                </a:solidFill>
              </a:rPr>
              <a:t>)</a:t>
            </a:r>
            <a:endParaRPr sz="1400" b="1" dirty="0">
              <a:solidFill>
                <a:srgbClr val="F5A623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794760"/>
          <a:ext cx="1143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TiDB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YugabyteDB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CockroachDB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5A623"/>
                          </a:solidFill>
                        </a:rPr>
                        <a:t>≈ 26,900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A623"/>
                          </a:solidFill>
                        </a:rPr>
                        <a:t>≈ 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5A623"/>
                          </a:solidFill>
                        </a:rPr>
                        <a:t>≈ 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074920"/>
            <a:ext cx="99909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CCCCCC"/>
                </a:solidFill>
              </a:rPr>
              <a:t>▸ </a:t>
            </a:r>
            <a:r>
              <a:rPr sz="1200" dirty="0" err="1">
                <a:solidFill>
                  <a:srgbClr val="CCCCCC"/>
                </a:solidFill>
              </a:rPr>
              <a:t>本組數字為</a:t>
            </a:r>
            <a:r>
              <a:rPr sz="1200" dirty="0">
                <a:solidFill>
                  <a:srgbClr val="CCCCCC"/>
                </a:solidFill>
              </a:rPr>
              <a:t> controlled experiment </a:t>
            </a:r>
            <a:r>
              <a:rPr sz="1200" dirty="0" err="1">
                <a:solidFill>
                  <a:srgbClr val="CCCCCC"/>
                </a:solidFill>
              </a:rPr>
              <a:t>基準（</a:t>
            </a:r>
            <a:r>
              <a:rPr lang="en-US" altLang="zh-TW" sz="1200" dirty="0" err="1">
                <a:solidFill>
                  <a:srgbClr val="CCCCCC"/>
                </a:solidFill>
              </a:rPr>
              <a:t>VM</a:t>
            </a:r>
            <a:r>
              <a:rPr lang="en-US" altLang="zh-TW" sz="1200" dirty="0">
                <a:solidFill>
                  <a:srgbClr val="CCCCCC"/>
                </a:solidFill>
              </a:rPr>
              <a:t> </a:t>
            </a:r>
            <a:r>
              <a:rPr lang="en-US" altLang="zh-TW" sz="1200" dirty="0" err="1">
                <a:solidFill>
                  <a:srgbClr val="CCCCCC"/>
                </a:solidFill>
              </a:rPr>
              <a:t>現況資源</a:t>
            </a:r>
            <a:r>
              <a:rPr lang="en-US" altLang="zh-TW" sz="1200" dirty="0">
                <a:solidFill>
                  <a:srgbClr val="CCCCCC"/>
                </a:solidFill>
              </a:rPr>
              <a:t>  * </a:t>
            </a:r>
            <a:r>
              <a:rPr sz="1200" dirty="0">
                <a:solidFill>
                  <a:srgbClr val="CCCCCC"/>
                </a:solidFill>
              </a:rPr>
              <a:t>3node </a:t>
            </a:r>
            <a:r>
              <a:rPr sz="1200" dirty="0" err="1">
                <a:solidFill>
                  <a:srgbClr val="CCCCCC"/>
                </a:solidFill>
              </a:rPr>
              <a:t>拓撲</a:t>
            </a:r>
            <a:r>
              <a:rPr sz="1200" dirty="0">
                <a:solidFill>
                  <a:srgbClr val="CCCCCC"/>
                </a:solidFill>
              </a:rPr>
              <a:t>）；</a:t>
            </a:r>
            <a:r>
              <a:rPr sz="1200" dirty="0" err="1">
                <a:solidFill>
                  <a:srgbClr val="CCCCCC"/>
                </a:solidFill>
              </a:rPr>
              <a:t>不直接代表各家「拿出來就跑」的生產表現</a:t>
            </a:r>
            <a:r>
              <a:rPr lang="en-US" sz="1200" dirty="0">
                <a:solidFill>
                  <a:srgbClr val="CCCCCC"/>
                </a:solidFill>
              </a:rPr>
              <a:t> ; </a:t>
            </a:r>
            <a:r>
              <a:rPr lang="en-US" sz="1200" dirty="0" err="1">
                <a:solidFill>
                  <a:srgbClr val="CCCCCC"/>
                </a:solidFill>
              </a:rPr>
              <a:t>不具任何採購驗收指標用</a:t>
            </a:r>
            <a:r>
              <a:rPr sz="1200" dirty="0">
                <a:solidFill>
                  <a:srgbClr val="CCCCCC"/>
                </a:solidFill>
              </a:rPr>
              <a:t>。
▸ </a:t>
            </a:r>
            <a:r>
              <a:rPr sz="1200" dirty="0" err="1">
                <a:solidFill>
                  <a:srgbClr val="CCCCCC"/>
                </a:solidFill>
              </a:rPr>
              <a:t>商業實體</a:t>
            </a:r>
            <a:r>
              <a:rPr sz="1200" dirty="0">
                <a:solidFill>
                  <a:srgbClr val="CCCCCC"/>
                </a:solidFill>
              </a:rPr>
              <a:t> / </a:t>
            </a:r>
            <a:r>
              <a:rPr sz="1200" dirty="0" err="1">
                <a:solidFill>
                  <a:srgbClr val="CCCCCC"/>
                </a:solidFill>
              </a:rPr>
              <a:t>授權</a:t>
            </a:r>
            <a:r>
              <a:rPr sz="1200" dirty="0">
                <a:solidFill>
                  <a:srgbClr val="CCCCCC"/>
                </a:solidFill>
              </a:rPr>
              <a:t> / </a:t>
            </a:r>
            <a:r>
              <a:rPr sz="1200" dirty="0" err="1">
                <a:solidFill>
                  <a:srgbClr val="CCCCCC"/>
                </a:solidFill>
              </a:rPr>
              <a:t>採購層面議題需另案</a:t>
            </a:r>
            <a:r>
              <a:rPr sz="1200" dirty="0">
                <a:solidFill>
                  <a:srgbClr val="CCCCCC"/>
                </a:solidFill>
              </a:rPr>
              <a:t> </a:t>
            </a:r>
            <a:r>
              <a:rPr sz="1200" dirty="0" err="1">
                <a:solidFill>
                  <a:srgbClr val="CCCCCC"/>
                </a:solidFill>
              </a:rPr>
              <a:t>審查</a:t>
            </a:r>
            <a:r>
              <a:rPr sz="1200" dirty="0">
                <a:solidFill>
                  <a:srgbClr val="CCCCCC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VM 與 Kubernetes 效能差異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K8s 化對 TiDB 與 CockroachDB 屬可接受範圍；YugabyteDB 在 K8s 下退化顯著，列為調校與驗證項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349BA8AB-8B01-D7DA-1F94-0A6BCC8A4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41564"/>
              </p:ext>
            </p:extLst>
          </p:nvPr>
        </p:nvGraphicFramePr>
        <p:xfrm>
          <a:off x="365760" y="1417320"/>
          <a:ext cx="110916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59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資料庫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S-BASE (VM)
tpmC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S-K8S unlimit
tpmC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S-K8S limit
tpmC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unlimit / VM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 / VM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p99 unlimit 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p99 limit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Δ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TiDB v8.5.2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26,947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23,442.9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15,751.9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7AE60"/>
                          </a:solidFill>
                        </a:rPr>
                        <a:t>87.0%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9C12"/>
                          </a:solidFill>
                        </a:rPr>
                        <a:t>58.5%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CCCCCC"/>
                          </a:solidFill>
                        </a:rPr>
                        <a:t>+17%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F39C12"/>
                          </a:solidFill>
                        </a:rPr>
                        <a:t>+111%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CockroachDB v26.2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15,033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12,196.7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6,493.5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7AE60"/>
                          </a:solidFill>
                        </a:rPr>
                        <a:t>81.1%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9C12"/>
                          </a:solidFill>
                        </a:rPr>
                        <a:t>43.2%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CCCCCC"/>
                          </a:solidFill>
                        </a:rPr>
                        <a:t>+27%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9C12"/>
                          </a:solidFill>
                        </a:rPr>
                        <a:t>+192%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YugabyteDB 2025.2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15,632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2,997.6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</a:rPr>
                        <a:t>1,604.5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94F37"/>
                          </a:solidFill>
                        </a:rPr>
                        <a:t>19.2% ⚠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94F37"/>
                          </a:solidFill>
                        </a:rPr>
                        <a:t>10.3% ⚠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94F37"/>
                          </a:solidFill>
                        </a:rPr>
                        <a:t>+669%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E94F37"/>
                          </a:solidFill>
                        </a:rPr>
                        <a:t>+1556%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06523BCE-3127-CF9E-1C0F-CD2A99E9A64C}"/>
              </a:ext>
            </a:extLst>
          </p:cNvPr>
          <p:cNvSpPr/>
          <p:nvPr/>
        </p:nvSpPr>
        <p:spPr>
          <a:xfrm>
            <a:off x="365760" y="3657600"/>
            <a:ext cx="201168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觀察解讀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65B7CD7-B9F0-A5E2-6A0E-FC9030B1909F}"/>
              </a:ext>
            </a:extLst>
          </p:cNvPr>
          <p:cNvSpPr txBox="1"/>
          <p:nvPr/>
        </p:nvSpPr>
        <p:spPr>
          <a:xfrm>
            <a:off x="365760" y="406908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 dirty="0" err="1">
                <a:solidFill>
                  <a:srgbClr val="CCCCCC"/>
                </a:solidFill>
              </a:rPr>
              <a:t>TiDB</a:t>
            </a:r>
            <a:r>
              <a:rPr sz="1300" b="0" dirty="0">
                <a:solidFill>
                  <a:srgbClr val="CCCCCC"/>
                </a:solidFill>
              </a:rPr>
              <a:t> / CockroachDB：K8s </a:t>
            </a:r>
            <a:r>
              <a:rPr sz="1300" b="0" dirty="0" err="1">
                <a:solidFill>
                  <a:srgbClr val="CCCCCC"/>
                </a:solidFill>
              </a:rPr>
              <a:t>unlimit</a:t>
            </a:r>
            <a:r>
              <a:rPr sz="1300" b="0" dirty="0">
                <a:solidFill>
                  <a:srgbClr val="CCCCCC"/>
                </a:solidFill>
              </a:rPr>
              <a:t> </a:t>
            </a:r>
            <a:r>
              <a:rPr sz="1300" b="0" dirty="0" err="1">
                <a:solidFill>
                  <a:srgbClr val="CCCCCC"/>
                </a:solidFill>
              </a:rPr>
              <a:t>保留率</a:t>
            </a:r>
            <a:r>
              <a:rPr sz="1300" b="0" dirty="0">
                <a:solidFill>
                  <a:srgbClr val="CCCCCC"/>
                </a:solidFill>
              </a:rPr>
              <a:t> 81-87%，</a:t>
            </a:r>
            <a:r>
              <a:rPr sz="1300" b="0" dirty="0" err="1">
                <a:solidFill>
                  <a:srgbClr val="CCCCCC"/>
                </a:solidFill>
              </a:rPr>
              <a:t>屬可接受範圍；limit</a:t>
            </a:r>
            <a:r>
              <a:rPr sz="1300" b="0" dirty="0">
                <a:solidFill>
                  <a:srgbClr val="CCCCCC"/>
                </a:solidFill>
              </a:rPr>
              <a:t> </a:t>
            </a:r>
            <a:r>
              <a:rPr sz="1300" b="0" dirty="0" err="1">
                <a:solidFill>
                  <a:srgbClr val="CCCCCC"/>
                </a:solidFill>
              </a:rPr>
              <a:t>情境大幅衰退反映資源壓縮</a:t>
            </a:r>
            <a:r>
              <a:rPr sz="1300" b="0" dirty="0">
                <a:solidFill>
                  <a:srgbClr val="CCCCCC"/>
                </a:solidFill>
              </a:rPr>
              <a:t>。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E94F37"/>
                </a:solidFill>
              </a:rPr>
              <a:t>YugabyteDB：K8s </a:t>
            </a:r>
            <a:r>
              <a:rPr sz="1300" b="0" dirty="0" err="1">
                <a:solidFill>
                  <a:srgbClr val="E94F37"/>
                </a:solidFill>
              </a:rPr>
              <a:t>unlimit</a:t>
            </a:r>
            <a:r>
              <a:rPr sz="1300" b="0" dirty="0">
                <a:solidFill>
                  <a:srgbClr val="E94F37"/>
                </a:solidFill>
              </a:rPr>
              <a:t> </a:t>
            </a:r>
            <a:r>
              <a:rPr sz="1300" b="0" dirty="0" err="1">
                <a:solidFill>
                  <a:srgbClr val="E94F37"/>
                </a:solidFill>
              </a:rPr>
              <a:t>僅</a:t>
            </a:r>
            <a:r>
              <a:rPr sz="1300" b="0" dirty="0">
                <a:solidFill>
                  <a:srgbClr val="E94F37"/>
                </a:solidFill>
              </a:rPr>
              <a:t> 19.2%，p99 +669%。</a:t>
            </a:r>
            <a:r>
              <a:rPr sz="1300" b="0" dirty="0" err="1">
                <a:solidFill>
                  <a:srgbClr val="E94F37"/>
                </a:solidFill>
              </a:rPr>
              <a:t>成因推論：YSQL</a:t>
            </a:r>
            <a:r>
              <a:rPr sz="1300" b="0" dirty="0">
                <a:solidFill>
                  <a:srgbClr val="E94F37"/>
                </a:solidFill>
              </a:rPr>
              <a:t> + </a:t>
            </a:r>
            <a:r>
              <a:rPr sz="1300" b="0" dirty="0" err="1">
                <a:solidFill>
                  <a:srgbClr val="E94F37"/>
                </a:solidFill>
              </a:rPr>
              <a:t>DocDB</a:t>
            </a:r>
            <a:r>
              <a:rPr sz="1300" b="0" dirty="0">
                <a:solidFill>
                  <a:srgbClr val="E94F37"/>
                </a:solidFill>
              </a:rPr>
              <a:t> </a:t>
            </a:r>
            <a:r>
              <a:rPr sz="1300" b="0" dirty="0" err="1">
                <a:solidFill>
                  <a:srgbClr val="E94F37"/>
                </a:solidFill>
              </a:rPr>
              <a:t>雙</a:t>
            </a:r>
            <a:r>
              <a:rPr sz="1300" b="0" dirty="0">
                <a:solidFill>
                  <a:srgbClr val="E94F37"/>
                </a:solidFill>
              </a:rPr>
              <a:t> process </a:t>
            </a:r>
            <a:r>
              <a:rPr sz="1300" b="0" dirty="0" err="1">
                <a:solidFill>
                  <a:srgbClr val="E94F37"/>
                </a:solidFill>
              </a:rPr>
              <a:t>在</a:t>
            </a:r>
            <a:r>
              <a:rPr sz="1300" b="0" dirty="0">
                <a:solidFill>
                  <a:srgbClr val="E94F37"/>
                </a:solidFill>
              </a:rPr>
              <a:t> K8s pod IPC + CPU contention </a:t>
            </a:r>
            <a:r>
              <a:rPr sz="1300" b="0" dirty="0" err="1">
                <a:solidFill>
                  <a:srgbClr val="E94F37"/>
                </a:solidFill>
              </a:rPr>
              <a:t>放大。成因未定位，列後續調校項</a:t>
            </a:r>
            <a:r>
              <a:rPr sz="1300" b="0" dirty="0">
                <a:solidFill>
                  <a:srgbClr val="E94F37"/>
                </a:solidFill>
              </a:rPr>
              <a:t>。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27AE60"/>
                </a:solidFill>
              </a:rPr>
              <a:t>S-BASE ↔ S-K8S </a:t>
            </a:r>
            <a:r>
              <a:rPr sz="1300" b="0" dirty="0" err="1">
                <a:solidFill>
                  <a:srgbClr val="27AE60"/>
                </a:solidFill>
              </a:rPr>
              <a:t>可直接比較（同</a:t>
            </a:r>
            <a:r>
              <a:rPr sz="1300" b="0" dirty="0">
                <a:solidFill>
                  <a:srgbClr val="27AE60"/>
                </a:solidFill>
              </a:rPr>
              <a:t> workload W=128 t=128）。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跨區域</a:t>
            </a:r>
            <a:r>
              <a:rPr sz="2800" b="1" dirty="0">
                <a:solidFill>
                  <a:srgbClr val="FFFFFF"/>
                </a:solidFill>
              </a:rPr>
              <a:t> / </a:t>
            </a:r>
            <a:r>
              <a:rPr sz="2800" b="1" dirty="0" err="1">
                <a:solidFill>
                  <a:srgbClr val="FFFFFF"/>
                </a:solidFill>
              </a:rPr>
              <a:t>跨專線進度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77724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7AE60"/>
                </a:solidFill>
              </a:rPr>
              <a:t>✅  </a:t>
            </a:r>
            <a:r>
              <a:rPr sz="1500" b="1" dirty="0" err="1">
                <a:solidFill>
                  <a:srgbClr val="27AE60"/>
                </a:solidFill>
              </a:rPr>
              <a:t>已完成</a:t>
            </a:r>
            <a:endParaRPr sz="1500" b="1" dirty="0">
              <a:solidFill>
                <a:srgbClr val="27AE60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• </a:t>
            </a:r>
            <a:r>
              <a:rPr sz="1200" dirty="0" err="1">
                <a:solidFill>
                  <a:srgbClr val="FFFFFF"/>
                </a:solidFill>
              </a:rPr>
              <a:t>技術議題</a:t>
            </a:r>
            <a:r>
              <a:rPr lang="en-US" sz="1200" dirty="0" err="1">
                <a:solidFill>
                  <a:srgbClr val="FFFFFF"/>
                </a:solidFill>
              </a:rPr>
              <a:t>定案</a:t>
            </a:r>
            <a:r>
              <a:rPr sz="1200" dirty="0" err="1">
                <a:solidFill>
                  <a:srgbClr val="FFFFFF"/>
                </a:solidFill>
              </a:rPr>
              <a:t>（GCP</a:t>
            </a:r>
            <a:r>
              <a:rPr sz="1200" dirty="0">
                <a:solidFill>
                  <a:srgbClr val="FFFFFF"/>
                </a:solidFill>
              </a:rPr>
              <a:t> 5 VM </a:t>
            </a:r>
            <a:r>
              <a:rPr sz="1200" dirty="0" err="1">
                <a:solidFill>
                  <a:srgbClr val="FFFFFF"/>
                </a:solidFill>
              </a:rPr>
              <a:t>拓撲、placement</a:t>
            </a:r>
            <a:r>
              <a:rPr sz="1200" dirty="0">
                <a:solidFill>
                  <a:srgbClr val="FFFFFF"/>
                </a:solidFill>
              </a:rPr>
              <a:t> P-A/</a:t>
            </a:r>
            <a:r>
              <a:rPr sz="1200" dirty="0" err="1">
                <a:solidFill>
                  <a:srgbClr val="FFFFFF"/>
                </a:solidFill>
              </a:rPr>
              <a:t>P-B、</a:t>
            </a:r>
            <a:r>
              <a:rPr lang="en-US" sz="1200" dirty="0" err="1">
                <a:solidFill>
                  <a:srgbClr val="FFFFFF"/>
                </a:solidFill>
              </a:rPr>
              <a:t>Chaos</a:t>
            </a:r>
            <a:r>
              <a:rPr lang="en-US" sz="1200" dirty="0">
                <a:solidFill>
                  <a:srgbClr val="FFFFFF"/>
                </a:solidFill>
              </a:rPr>
              <a:t> Engineering </a:t>
            </a:r>
            <a:r>
              <a:rPr sz="1200" dirty="0" err="1">
                <a:solidFill>
                  <a:srgbClr val="FFFFFF"/>
                </a:solidFill>
              </a:rPr>
              <a:t>等</a:t>
            </a:r>
            <a:r>
              <a:rPr sz="1200" dirty="0">
                <a:solidFill>
                  <a:srgbClr val="FFFFFF"/>
                </a:solidFill>
              </a:rPr>
              <a:t>）</a:t>
            </a:r>
            <a:endParaRPr lang="zh-TW" altLang="en-US"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lang="zh-TW" altLang="en-US" sz="1200" dirty="0">
                <a:solidFill>
                  <a:srgbClr val="FFFFFF"/>
                </a:solidFill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</a:rPr>
              <a:t>• </a:t>
            </a:r>
            <a:r>
              <a:rPr lang="en" sz="1200" dirty="0" err="1">
                <a:solidFill>
                  <a:srgbClr val="FFFFFF"/>
                </a:solidFill>
              </a:rPr>
              <a:t>IaC、playbook、suite</a:t>
            </a:r>
            <a:r>
              <a:rPr lang="en" sz="1200" dirty="0">
                <a:solidFill>
                  <a:srgbClr val="FFFFFF"/>
                </a:solidFill>
              </a:rPr>
              <a:t> </a:t>
            </a:r>
            <a:r>
              <a:rPr lang="en" sz="1200" dirty="0" err="1">
                <a:solidFill>
                  <a:srgbClr val="FFFFFF"/>
                </a:solidFill>
              </a:rPr>
              <a:t>scripts、chrony</a:t>
            </a:r>
            <a:r>
              <a:rPr lang="en" sz="1200" dirty="0">
                <a:solidFill>
                  <a:srgbClr val="FFFFFF"/>
                </a:solidFill>
              </a:rPr>
              <a:t> drift </a:t>
            </a:r>
            <a:r>
              <a:rPr lang="en" sz="1200" dirty="0" err="1">
                <a:solidFill>
                  <a:srgbClr val="FFFFFF"/>
                </a:solidFill>
              </a:rPr>
              <a:t>gate（drift_median</a:t>
            </a:r>
            <a:r>
              <a:rPr lang="en" sz="1200" dirty="0">
                <a:solidFill>
                  <a:srgbClr val="FFFFFF"/>
                </a:solidFill>
              </a:rPr>
              <a:t> 0.017 </a:t>
            </a:r>
            <a:r>
              <a:rPr lang="en" sz="1200" dirty="0" err="1">
                <a:solidFill>
                  <a:srgbClr val="FFFFFF"/>
                </a:solidFill>
              </a:rPr>
              <a:t>ms</a:t>
            </a:r>
            <a:r>
              <a:rPr lang="en" sz="1200" dirty="0">
                <a:solidFill>
                  <a:srgbClr val="FFFFFF"/>
                </a:solidFill>
              </a:rPr>
              <a:t>）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rgbClr val="FFFFFF"/>
                </a:solidFill>
              </a:rPr>
              <a:t>  </a:t>
            </a:r>
            <a:r>
              <a:rPr sz="1200" dirty="0">
                <a:solidFill>
                  <a:srgbClr val="FFFFFF"/>
                </a:solidFill>
              </a:rPr>
              <a:t>• 06-18～06-19：修正 </a:t>
            </a:r>
            <a:r>
              <a:rPr sz="1200" dirty="0" err="1">
                <a:solidFill>
                  <a:srgbClr val="FFFFFF"/>
                </a:solidFill>
              </a:rPr>
              <a:t>IaC</a:t>
            </a:r>
            <a:r>
              <a:rPr sz="1200" dirty="0">
                <a:solidFill>
                  <a:srgbClr val="FFFFFF"/>
                </a:solidFill>
              </a:rPr>
              <a:t>/</a:t>
            </a:r>
            <a:r>
              <a:rPr sz="1200" dirty="0" err="1">
                <a:solidFill>
                  <a:srgbClr val="FFFFFF"/>
                </a:solidFill>
              </a:rPr>
              <a:t>防火牆</a:t>
            </a:r>
            <a:r>
              <a:rPr sz="1200" dirty="0">
                <a:solidFill>
                  <a:srgbClr val="FFFFFF"/>
                </a:solidFill>
              </a:rPr>
              <a:t>/</a:t>
            </a:r>
            <a:r>
              <a:rPr sz="1200" dirty="0" err="1">
                <a:solidFill>
                  <a:srgbClr val="FFFFFF"/>
                </a:solidFill>
              </a:rPr>
              <a:t>YugabyteDB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placement，三家</a:t>
            </a:r>
            <a:r>
              <a:rPr lang="en-US" sz="1200" dirty="0" err="1">
                <a:solidFill>
                  <a:srgbClr val="FFFFFF"/>
                </a:solidFill>
              </a:rPr>
              <a:t>DB</a:t>
            </a:r>
            <a:r>
              <a:rPr lang="en-US" sz="1200" dirty="0">
                <a:solidFill>
                  <a:srgbClr val="FFFFFF"/>
                </a:solidFill>
              </a:rPr>
              <a:t>/</a:t>
            </a:r>
            <a:r>
              <a:rPr sz="1200" dirty="0" err="1">
                <a:solidFill>
                  <a:srgbClr val="FFFFFF"/>
                </a:solidFill>
              </a:rPr>
              <a:t>六節點</a:t>
            </a:r>
            <a:r>
              <a:rPr lang="en-US" sz="1200" dirty="0" err="1">
                <a:solidFill>
                  <a:srgbClr val="FFFFFF"/>
                </a:solidFill>
              </a:rPr>
              <a:t>前期測試驗證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• 06-21～06-22：Determinism v2 — </a:t>
            </a:r>
            <a:r>
              <a:rPr sz="1200" dirty="0" err="1">
                <a:solidFill>
                  <a:srgbClr val="FFFFFF"/>
                </a:solidFill>
              </a:rPr>
              <a:t>同</a:t>
            </a:r>
            <a:r>
              <a:rPr sz="1200" dirty="0">
                <a:solidFill>
                  <a:srgbClr val="FFFFFF"/>
                </a:solidFill>
              </a:rPr>
              <a:t> cluster R1-R5、scheduler/balancer freeze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86200"/>
            <a:ext cx="77724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39C12"/>
                </a:solidFill>
              </a:rPr>
              <a:t>🟡  </a:t>
            </a:r>
            <a:r>
              <a:rPr sz="1500" b="1" dirty="0" err="1">
                <a:solidFill>
                  <a:srgbClr val="F39C12"/>
                </a:solidFill>
              </a:rPr>
              <a:t>待執行</a:t>
            </a:r>
            <a:endParaRPr sz="1500" b="1" dirty="0">
              <a:solidFill>
                <a:srgbClr val="F39C12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•</a:t>
            </a:r>
            <a:r>
              <a:rPr lang="zh-TW" altLang="en-US" sz="1200" dirty="0">
                <a:solidFill>
                  <a:srgbClr val="FFFFFF"/>
                </a:solidFill>
              </a:rPr>
              <a:t>調度 </a:t>
            </a:r>
            <a:r>
              <a:rPr lang="en" sz="1200" dirty="0">
                <a:solidFill>
                  <a:srgbClr val="FFFFFF"/>
                </a:solidFill>
              </a:rPr>
              <a:t>scheduler (</a:t>
            </a:r>
            <a:r>
              <a:rPr lang="zh-TW" altLang="en-US" sz="1200" dirty="0">
                <a:solidFill>
                  <a:srgbClr val="FFFFFF"/>
                </a:solidFill>
              </a:rPr>
              <a:t>開</a:t>
            </a:r>
            <a:r>
              <a:rPr lang="en-US" altLang="zh-TW" sz="1200" dirty="0">
                <a:solidFill>
                  <a:srgbClr val="FFFFFF"/>
                </a:solidFill>
              </a:rPr>
              <a:t>/</a:t>
            </a:r>
            <a:r>
              <a:rPr lang="zh-TW" altLang="en-US" sz="1200" dirty="0">
                <a:solidFill>
                  <a:srgbClr val="FFFFFF"/>
                </a:solidFill>
              </a:rPr>
              <a:t>關</a:t>
            </a:r>
            <a:r>
              <a:rPr lang="en-US" altLang="zh-TW" sz="1200" dirty="0">
                <a:solidFill>
                  <a:srgbClr val="FFFFFF"/>
                </a:solidFill>
              </a:rPr>
              <a:t>) </a:t>
            </a:r>
            <a:r>
              <a:rPr sz="1200" dirty="0">
                <a:solidFill>
                  <a:srgbClr val="FFFFFF"/>
                </a:solidFill>
              </a:rPr>
              <a:t>、round-only </a:t>
            </a:r>
            <a:r>
              <a:rPr sz="1200" dirty="0" err="1">
                <a:solidFill>
                  <a:srgbClr val="FFFFFF"/>
                </a:solidFill>
              </a:rPr>
              <a:t>runner、</a:t>
            </a:r>
            <a:r>
              <a:rPr lang="en-US" sz="1200" dirty="0" err="1">
                <a:solidFill>
                  <a:srgbClr val="FFFFFF"/>
                </a:solidFill>
              </a:rPr>
              <a:t>Warmup</a:t>
            </a:r>
            <a:r>
              <a:rPr sz="1200" dirty="0" err="1">
                <a:solidFill>
                  <a:srgbClr val="FFFFFF"/>
                </a:solidFill>
              </a:rPr>
              <a:t>、</a:t>
            </a:r>
            <a:r>
              <a:rPr lang="en-US" sz="1200" dirty="0" err="1">
                <a:solidFill>
                  <a:srgbClr val="FFFFFF"/>
                </a:solidFill>
              </a:rPr>
              <a:t>P</a:t>
            </a:r>
            <a:r>
              <a:rPr sz="1200" dirty="0" err="1">
                <a:solidFill>
                  <a:srgbClr val="FFFFFF"/>
                </a:solidFill>
              </a:rPr>
              <a:t>lacement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lang="en" sz="1200" dirty="0">
                <a:solidFill>
                  <a:srgbClr val="FFFFFF"/>
                </a:solidFill>
              </a:rPr>
              <a:t>(replica / lease </a:t>
            </a:r>
            <a:r>
              <a:rPr lang="zh-TW" altLang="en-US" sz="1200" dirty="0">
                <a:solidFill>
                  <a:srgbClr val="FFFFFF"/>
                </a:solidFill>
              </a:rPr>
              <a:t>位置</a:t>
            </a:r>
            <a:r>
              <a:rPr lang="en-US" altLang="zh-TW" sz="1200" dirty="0">
                <a:solidFill>
                  <a:srgbClr val="FFFFFF"/>
                </a:solidFill>
              </a:rPr>
              <a:t>) </a:t>
            </a:r>
            <a:r>
              <a:rPr lang="zh-TW" altLang="en-US" sz="1200" dirty="0">
                <a:solidFill>
                  <a:srgbClr val="FFFFFF"/>
                </a:solidFill>
              </a:rPr>
              <a:t>、測試結果彙整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• </a:t>
            </a:r>
            <a:r>
              <a:rPr sz="1200" dirty="0" err="1">
                <a:solidFill>
                  <a:srgbClr val="FFFFFF"/>
                </a:solidFill>
              </a:rPr>
              <a:t>回到</a:t>
            </a:r>
            <a:r>
              <a:rPr sz="1200" dirty="0">
                <a:solidFill>
                  <a:srgbClr val="FFFFFF"/>
                </a:solidFill>
              </a:rPr>
              <a:t> W=128 </a:t>
            </a:r>
            <a:r>
              <a:rPr sz="1200" dirty="0" err="1">
                <a:solidFill>
                  <a:srgbClr val="FFFFFF"/>
                </a:solidFill>
              </a:rPr>
              <a:t>正式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基準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量測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•</a:t>
            </a:r>
            <a:r>
              <a:rPr lang="en-US" sz="1200" dirty="0">
                <a:solidFill>
                  <a:srgbClr val="FFFFFF"/>
                </a:solidFill>
              </a:rPr>
              <a:t> F</a:t>
            </a:r>
            <a:r>
              <a:rPr sz="1200" dirty="0">
                <a:solidFill>
                  <a:srgbClr val="FFFFFF"/>
                </a:solidFill>
              </a:rPr>
              <a:t>ailover </a:t>
            </a:r>
            <a:r>
              <a:rPr sz="1200" dirty="0" err="1">
                <a:solidFill>
                  <a:srgbClr val="FFFFFF"/>
                </a:solidFill>
              </a:rPr>
              <a:t>與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lang="en" sz="1200" dirty="0">
                <a:solidFill>
                  <a:srgbClr val="FFFFFF"/>
                </a:solidFill>
              </a:rPr>
              <a:t>Chaos Engineering </a:t>
            </a:r>
            <a:r>
              <a:rPr sz="1200" dirty="0" err="1">
                <a:solidFill>
                  <a:srgbClr val="FFFFFF"/>
                </a:solidFill>
              </a:rPr>
              <a:t>實際驗證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57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X-CROSS </a:t>
            </a:r>
            <a:r>
              <a:rPr sz="2400" b="1" dirty="0" err="1">
                <a:solidFill>
                  <a:srgbClr val="FFFFFF"/>
                </a:solidFill>
              </a:rPr>
              <a:t>初步結果</a:t>
            </a:r>
            <a:r>
              <a:rPr sz="2400" b="1" dirty="0">
                <a:solidFill>
                  <a:srgbClr val="FFFFFF"/>
                </a:solidFill>
              </a:rPr>
              <a:t>  (06-22 ～ 06-23)</a:t>
            </a:r>
            <a:r>
              <a:rPr lang="en-US" sz="2400" b="1" dirty="0">
                <a:solidFill>
                  <a:srgbClr val="FFFFFF"/>
                </a:solidFill>
              </a:rPr>
              <a:t>.                         </a:t>
            </a:r>
            <a:r>
              <a:rPr sz="1600" b="1" dirty="0">
                <a:solidFill>
                  <a:srgbClr val="FFFFFF"/>
                </a:solidFill>
              </a:rPr>
              <a:t>（W=4 framework </a:t>
            </a:r>
            <a:r>
              <a:rPr sz="1600" b="1" dirty="0" err="1">
                <a:solidFill>
                  <a:srgbClr val="FFFFFF"/>
                </a:solidFill>
              </a:rPr>
              <a:t>驗證；不與</a:t>
            </a:r>
            <a:r>
              <a:rPr sz="1600" b="1" dirty="0">
                <a:solidFill>
                  <a:srgbClr val="FFFFFF"/>
                </a:solidFill>
              </a:rPr>
              <a:t> S-BASE/S-K8S </a:t>
            </a:r>
            <a:r>
              <a:rPr sz="1600" b="1" dirty="0" err="1">
                <a:solidFill>
                  <a:srgbClr val="FFFFFF"/>
                </a:solidFill>
              </a:rPr>
              <a:t>直接對比</a:t>
            </a:r>
            <a:r>
              <a:rPr sz="1600" b="1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rgbClr val="CCCCCC"/>
                </a:solidFill>
              </a:rPr>
              <a:t>同</a:t>
            </a:r>
            <a:r>
              <a:rPr sz="1400" dirty="0">
                <a:solidFill>
                  <a:srgbClr val="CCCCCC"/>
                </a:solidFill>
              </a:rPr>
              <a:t> cluster 5 </a:t>
            </a:r>
            <a:r>
              <a:rPr sz="1400" dirty="0" err="1">
                <a:solidFill>
                  <a:srgbClr val="CCCCCC"/>
                </a:solidFill>
              </a:rPr>
              <a:t>rounds、W</a:t>
            </a:r>
            <a:r>
              <a:rPr sz="1400" dirty="0">
                <a:solidFill>
                  <a:srgbClr val="CCCCCC"/>
                </a:solidFill>
              </a:rPr>
              <a:t>=4、16 </a:t>
            </a:r>
            <a:r>
              <a:rPr sz="1400" dirty="0" err="1">
                <a:solidFill>
                  <a:srgbClr val="CCCCCC"/>
                </a:solidFill>
              </a:rPr>
              <a:t>threads、每</a:t>
            </a:r>
            <a:r>
              <a:rPr sz="1400" dirty="0">
                <a:solidFill>
                  <a:srgbClr val="CCCCCC"/>
                </a:solidFill>
              </a:rPr>
              <a:t> round 5 </a:t>
            </a:r>
            <a:r>
              <a:rPr sz="1400" dirty="0" err="1">
                <a:solidFill>
                  <a:srgbClr val="CCCCCC"/>
                </a:solidFill>
              </a:rPr>
              <a:t>min；controller</a:t>
            </a:r>
            <a:r>
              <a:rPr sz="1400" dirty="0">
                <a:solidFill>
                  <a:srgbClr val="CCCCCC"/>
                </a:solidFill>
              </a:rPr>
              <a:t> = .31（IDC client）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91151"/>
              </p:ext>
            </p:extLst>
          </p:nvPr>
        </p:nvGraphicFramePr>
        <p:xfrm>
          <a:off x="365760" y="1371600"/>
          <a:ext cx="1142999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資料庫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R4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中位數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有效輪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TiDB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 v8.5.2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9,525.5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9,553.2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9,786.9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9,393.2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9,530.8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A623"/>
                          </a:solidFill>
                        </a:rPr>
                        <a:t>9,566.0 (R2-R5)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</a:rPr>
                        <a:t>1.67%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CockroachDB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 v26.2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8,409.5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8,055.3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7,902.5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7,720.9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chemeClr val="tx1"/>
                          </a:solidFill>
                        </a:rPr>
                        <a:t>7,472.3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A623"/>
                          </a:solidFill>
                        </a:rPr>
                        <a:t>7,787.8 (R2-R5)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</a:rPr>
                        <a:t>3.23%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YugabyteDB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 2025.2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102.0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226.9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6,424.2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6,259.3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6,206.2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A623"/>
                          </a:solidFill>
                        </a:rPr>
                        <a:t>6,296.6 (R3-R5)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7AE60"/>
                          </a:solidFill>
                        </a:rPr>
                        <a:t>1.82%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A623"/>
                </a:solidFill>
              </a:rPr>
              <a:t>已確認結論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22191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✔  06-21 </a:t>
            </a:r>
            <a:r>
              <a:rPr sz="1200" dirty="0" err="1">
                <a:solidFill>
                  <a:srgbClr val="FFFFFF"/>
                </a:solidFill>
              </a:rPr>
              <a:t>觀察到的</a:t>
            </a:r>
            <a:r>
              <a:rPr sz="1200" dirty="0">
                <a:solidFill>
                  <a:srgbClr val="FFFFFF"/>
                </a:solidFill>
              </a:rPr>
              <a:t> ±526% / ±50% </a:t>
            </a:r>
            <a:r>
              <a:rPr sz="1200" dirty="0" err="1">
                <a:solidFill>
                  <a:srgbClr val="FFFFFF"/>
                </a:solidFill>
              </a:rPr>
              <a:t>變異主因為「每輪重新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部署」造成</a:t>
            </a:r>
            <a:r>
              <a:rPr sz="1200" dirty="0">
                <a:solidFill>
                  <a:srgbClr val="FFFFFF"/>
                </a:solidFill>
              </a:rPr>
              <a:t> placement/cache/scheduler </a:t>
            </a:r>
            <a:r>
              <a:rPr sz="1200" dirty="0" err="1">
                <a:solidFill>
                  <a:srgbClr val="FFFFFF"/>
                </a:solidFill>
              </a:rPr>
              <a:t>狀態異動，與</a:t>
            </a:r>
            <a:r>
              <a:rPr sz="1200" dirty="0">
                <a:solidFill>
                  <a:srgbClr val="FFFFFF"/>
                </a:solidFill>
              </a:rPr>
              <a:t> W=4 contention </a:t>
            </a:r>
            <a:r>
              <a:rPr sz="1200" dirty="0" err="1">
                <a:solidFill>
                  <a:srgbClr val="FFFFFF"/>
                </a:solidFill>
              </a:rPr>
              <a:t>為兩個獨立來源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✔  </a:t>
            </a:r>
            <a:r>
              <a:rPr sz="1200" dirty="0" err="1">
                <a:solidFill>
                  <a:srgbClr val="FFFFFF"/>
                </a:solidFill>
              </a:rPr>
              <a:t>同一</a:t>
            </a:r>
            <a:r>
              <a:rPr sz="1200" dirty="0">
                <a:solidFill>
                  <a:srgbClr val="FFFFFF"/>
                </a:solidFill>
              </a:rPr>
              <a:t> cluster </a:t>
            </a:r>
            <a:r>
              <a:rPr sz="1200" dirty="0" err="1">
                <a:solidFill>
                  <a:srgbClr val="FFFFFF"/>
                </a:solidFill>
              </a:rPr>
              <a:t>連跑時，三家</a:t>
            </a:r>
            <a:r>
              <a:rPr sz="1200" dirty="0">
                <a:solidFill>
                  <a:srgbClr val="FFFFFF"/>
                </a:solidFill>
              </a:rPr>
              <a:t> W=4 R2-R5（或 YBDB R3-R5）的 CV ≤ 5%，</a:t>
            </a:r>
            <a:r>
              <a:rPr sz="1200" dirty="0" err="1">
                <a:solidFill>
                  <a:srgbClr val="FFFFFF"/>
                </a:solidFill>
              </a:rPr>
              <a:t>重現性已建立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✔  YBDB Idle=0 </a:t>
            </a:r>
            <a:r>
              <a:rPr sz="1200" dirty="0" err="1">
                <a:solidFill>
                  <a:srgbClr val="FFFFFF"/>
                </a:solidFill>
              </a:rPr>
              <a:t>解法：gate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改用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get_load_move_completion</a:t>
            </a:r>
            <a:r>
              <a:rPr sz="1200" dirty="0">
                <a:solidFill>
                  <a:srgbClr val="FFFFFF"/>
                </a:solidFill>
              </a:rPr>
              <a:t>=100%；timed run </a:t>
            </a:r>
            <a:r>
              <a:rPr sz="1200" dirty="0" err="1">
                <a:solidFill>
                  <a:srgbClr val="FFFFFF"/>
                </a:solidFill>
              </a:rPr>
              <a:t>前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set_load_balancer_enabled</a:t>
            </a:r>
            <a:r>
              <a:rPr sz="1200" dirty="0">
                <a:solidFill>
                  <a:srgbClr val="FFFFFF"/>
                </a:solidFill>
              </a:rPr>
              <a:t>=0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✔  CRDB lease gate SQL </a:t>
            </a:r>
            <a:r>
              <a:rPr sz="1200" dirty="0" err="1">
                <a:solidFill>
                  <a:srgbClr val="FFFFFF"/>
                </a:solidFill>
              </a:rPr>
              <a:t>改用</a:t>
            </a:r>
            <a:r>
              <a:rPr sz="1200" dirty="0">
                <a:solidFill>
                  <a:srgbClr val="FFFFFF"/>
                </a:solidFill>
              </a:rPr>
              <a:t> SHOW RANGES FROM DATABASE </a:t>
            </a:r>
            <a:r>
              <a:rPr sz="1200" dirty="0" err="1">
                <a:solidFill>
                  <a:srgbClr val="FFFFFF"/>
                </a:solidFill>
              </a:rPr>
              <a:t>tpcc</a:t>
            </a:r>
            <a:r>
              <a:rPr sz="1200" dirty="0">
                <a:solidFill>
                  <a:srgbClr val="FFFFFF"/>
                </a:solidFill>
              </a:rPr>
              <a:t> WITH TABLES, DETAILS（v26.2 </a:t>
            </a:r>
            <a:r>
              <a:rPr sz="1200" dirty="0" err="1">
                <a:solidFill>
                  <a:srgbClr val="FFFFFF"/>
                </a:solidFill>
              </a:rPr>
              <a:t>相容</a:t>
            </a:r>
            <a:r>
              <a:rPr sz="1200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39C12"/>
                </a:solidFill>
              </a:rPr>
              <a:t>⚠  Caveat：W=4 framework/contention 驗證 ≠ 正式 基準；R2-R5（YBDB R3-R5）CV ≤ 5% 已建立但不可作跨家排名；後續需回 W=128。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建議決策框架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69990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rgbClr val="CCCCCC"/>
                </a:solidFill>
              </a:rPr>
              <a:t>不是選一家，是先界定</a:t>
            </a:r>
            <a:r>
              <a:rPr sz="1400" dirty="0">
                <a:solidFill>
                  <a:srgbClr val="CCCCCC"/>
                </a:solidFill>
              </a:rPr>
              <a:t> application </a:t>
            </a:r>
            <a:r>
              <a:rPr sz="1400" dirty="0" err="1">
                <a:solidFill>
                  <a:srgbClr val="CCCCCC"/>
                </a:solidFill>
              </a:rPr>
              <a:t>條件、再排序候選；</a:t>
            </a:r>
            <a:r>
              <a:rPr lang="en-US" sz="1400" dirty="0" err="1">
                <a:solidFill>
                  <a:srgbClr val="CCCCCC"/>
                </a:solidFill>
              </a:rPr>
              <a:t>僅</a:t>
            </a:r>
            <a:r>
              <a:rPr sz="1400" dirty="0" err="1">
                <a:solidFill>
                  <a:srgbClr val="CCCCCC"/>
                </a:solidFill>
              </a:rPr>
              <a:t>提供</a:t>
            </a:r>
            <a:r>
              <a:rPr lang="en-US" sz="1400" dirty="0" err="1">
                <a:solidFill>
                  <a:srgbClr val="CCCCCC"/>
                </a:solidFill>
              </a:rPr>
              <a:t>做</a:t>
            </a:r>
            <a:r>
              <a:rPr sz="1400" dirty="0" err="1">
                <a:solidFill>
                  <a:srgbClr val="CCCCCC"/>
                </a:solidFill>
              </a:rPr>
              <a:t>決策</a:t>
            </a:r>
            <a:r>
              <a:rPr lang="zh-TW" altLang="en-US" sz="1400" dirty="0">
                <a:solidFill>
                  <a:srgbClr val="CCCCCC"/>
                </a:solidFill>
              </a:rPr>
              <a:t>框架參考依據用</a:t>
            </a:r>
            <a:endParaRPr sz="1400" dirty="0">
              <a:solidFill>
                <a:srgbClr val="CCCCCC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0614"/>
              </p:ext>
            </p:extLst>
          </p:nvPr>
        </p:nvGraphicFramePr>
        <p:xfrm>
          <a:off x="365760" y="1371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分類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處置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0B050"/>
                          </a:solidFill>
                        </a:rPr>
                        <a:t>短期候選</a:t>
                      </a:r>
                      <a:endParaRPr sz="12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B050"/>
                          </a:solidFill>
                        </a:rPr>
                        <a:t>TiDB</a:t>
                      </a:r>
                      <a:endParaRPr sz="1200" b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00B050"/>
                          </a:solidFill>
                        </a:rPr>
                        <a:t>優先進入應用情境對接</a:t>
                      </a:r>
                      <a:r>
                        <a:rPr lang="en-US" sz="1200" b="0" dirty="0" err="1">
                          <a:solidFill>
                            <a:srgbClr val="00B050"/>
                          </a:solidFill>
                        </a:rPr>
                        <a:t>，無門檻</a:t>
                      </a:r>
                      <a:endParaRPr sz="1200" b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保留觀察</a:t>
                      </a:r>
                      <a:endParaRPr sz="1200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CockroachDB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依一致性需求、</a:t>
                      </a:r>
                      <a:r>
                        <a:rPr lang="en-US"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Error</a:t>
                      </a:r>
                      <a:r>
                        <a:rPr lang="en-US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Handling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容忍度、維運成本評估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保留觀察</a:t>
                      </a:r>
                      <a:endParaRPr sz="1200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YugabyteDB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VM 路徑可評估；K8s 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路徑需先完成部署層級調校與驗證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C00000"/>
                          </a:solidFill>
                        </a:rPr>
                        <a:t>暫不作結論</a:t>
                      </a:r>
                      <a:endParaRPr sz="12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C00000"/>
                          </a:solidFill>
                        </a:rPr>
                        <a:t>跨區域場景、K8s </a:t>
                      </a:r>
                      <a:r>
                        <a:rPr sz="1200" b="0" dirty="0" err="1">
                          <a:solidFill>
                            <a:srgbClr val="C00000"/>
                          </a:solidFill>
                        </a:rPr>
                        <a:t>退化未定位項</a:t>
                      </a:r>
                      <a:endParaRPr sz="12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 err="1">
                          <a:solidFill>
                            <a:srgbClr val="C00000"/>
                          </a:solidFill>
                        </a:rPr>
                        <a:t>待下</a:t>
                      </a:r>
                      <a:r>
                        <a:rPr sz="1200" b="0" dirty="0" err="1">
                          <a:solidFill>
                            <a:srgbClr val="C00000"/>
                          </a:solidFill>
                        </a:rPr>
                        <a:t>一階段</a:t>
                      </a:r>
                      <a:r>
                        <a:rPr sz="1200" b="0" dirty="0">
                          <a:solidFill>
                            <a:srgbClr val="C00000"/>
                          </a:solidFill>
                        </a:rPr>
                        <a:t> W=128 </a:t>
                      </a:r>
                      <a:r>
                        <a:rPr lang="zh-TW" altLang="en-US" sz="1200" b="0" dirty="0">
                          <a:solidFill>
                            <a:srgbClr val="C00000"/>
                          </a:solidFill>
                        </a:rPr>
                        <a:t>測試數據</a:t>
                      </a:r>
                      <a:r>
                        <a:rPr sz="1200" b="0" dirty="0" err="1">
                          <a:solidFill>
                            <a:srgbClr val="C00000"/>
                          </a:solidFill>
                        </a:rPr>
                        <a:t>與調校產出再回頭評估</a:t>
                      </a:r>
                      <a:endParaRPr sz="12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94760"/>
            <a:ext cx="23332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A623"/>
                </a:solidFill>
              </a:rPr>
              <a:t>Application </a:t>
            </a:r>
            <a:r>
              <a:rPr sz="1400" b="1" dirty="0" err="1">
                <a:solidFill>
                  <a:srgbClr val="F5A623"/>
                </a:solidFill>
              </a:rPr>
              <a:t>需要確認的議題</a:t>
            </a:r>
            <a:endParaRPr sz="1400" b="1" dirty="0">
              <a:solidFill>
                <a:srgbClr val="F5A62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11430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1. </a:t>
            </a:r>
            <a:r>
              <a:rPr sz="1200" dirty="0" err="1">
                <a:solidFill>
                  <a:srgbClr val="FFFFFF"/>
                </a:solidFill>
              </a:rPr>
              <a:t>交易一致性需求：是否需要</a:t>
            </a:r>
            <a:r>
              <a:rPr sz="1200" dirty="0">
                <a:solidFill>
                  <a:srgbClr val="FFFFFF"/>
                </a:solidFill>
              </a:rPr>
              <a:t> SERIALIZABLE / </a:t>
            </a:r>
            <a:r>
              <a:rPr sz="1200" dirty="0" err="1">
                <a:solidFill>
                  <a:srgbClr val="FFFFFF"/>
                </a:solidFill>
              </a:rPr>
              <a:t>SSI？是否可接受</a:t>
            </a:r>
            <a:r>
              <a:rPr sz="1200" dirty="0">
                <a:solidFill>
                  <a:srgbClr val="FFFFFF"/>
                </a:solidFill>
              </a:rPr>
              <a:t> READ COMMITTED</a:t>
            </a:r>
            <a:r>
              <a:rPr lang="en-US" sz="1200" dirty="0">
                <a:solidFill>
                  <a:srgbClr val="FFFFFF"/>
                </a:solidFill>
              </a:rPr>
              <a:t> &amp; </a:t>
            </a:r>
            <a:r>
              <a:rPr lang="en-US" sz="1200" dirty="0" err="1">
                <a:solidFill>
                  <a:srgbClr val="FFFFFF"/>
                </a:solidFill>
              </a:rPr>
              <a:t>產品設計架構轉</a:t>
            </a:r>
            <a:r>
              <a:rPr lang="en-US" sz="1200" dirty="0">
                <a:solidFill>
                  <a:srgbClr val="FFFFFF"/>
                </a:solidFill>
              </a:rPr>
              <a:t> CAP </a:t>
            </a:r>
            <a:r>
              <a:rPr lang="en-US" sz="1200" dirty="0" err="1">
                <a:solidFill>
                  <a:srgbClr val="FFFFFF"/>
                </a:solidFill>
              </a:rPr>
              <a:t>的複雜度及可行性</a:t>
            </a:r>
            <a:r>
              <a:rPr sz="1200" dirty="0">
                <a:solidFill>
                  <a:srgbClr val="FFFFFF"/>
                </a:solidFill>
              </a:rPr>
              <a:t>？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2. </a:t>
            </a:r>
            <a:r>
              <a:rPr sz="1200" dirty="0" err="1">
                <a:solidFill>
                  <a:srgbClr val="FFFFFF"/>
                </a:solidFill>
              </a:rPr>
              <a:t>可接受延遲：在尖峰</a:t>
            </a:r>
            <a:r>
              <a:rPr sz="1200" dirty="0">
                <a:solidFill>
                  <a:srgbClr val="FFFFFF"/>
                </a:solidFill>
              </a:rPr>
              <a:t> t=128 等級負載下，p99 </a:t>
            </a:r>
            <a:r>
              <a:rPr sz="1200" dirty="0" err="1">
                <a:solidFill>
                  <a:srgbClr val="FFFFFF"/>
                </a:solidFill>
              </a:rPr>
              <a:t>是否需要</a:t>
            </a:r>
            <a:r>
              <a:rPr sz="1200" dirty="0">
                <a:solidFill>
                  <a:srgbClr val="FFFFFF"/>
                </a:solidFill>
              </a:rPr>
              <a:t> 500ms / 1s / 2s </a:t>
            </a:r>
            <a:r>
              <a:rPr sz="1200" dirty="0" err="1">
                <a:solidFill>
                  <a:srgbClr val="FFFFFF"/>
                </a:solidFill>
              </a:rPr>
              <a:t>以內</a:t>
            </a:r>
            <a:r>
              <a:rPr sz="1200" dirty="0">
                <a:solidFill>
                  <a:srgbClr val="FFFFFF"/>
                </a:solidFill>
              </a:rPr>
              <a:t>？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3. retry / timeout </a:t>
            </a:r>
            <a:r>
              <a:rPr sz="1200" dirty="0" err="1">
                <a:solidFill>
                  <a:srgbClr val="FFFFFF"/>
                </a:solidFill>
              </a:rPr>
              <a:t>行為：應用層是否能接受</a:t>
            </a:r>
            <a:r>
              <a:rPr sz="1200" dirty="0">
                <a:solidFill>
                  <a:srgbClr val="FFFFFF"/>
                </a:solidFill>
              </a:rPr>
              <a:t> SI/SSI </a:t>
            </a:r>
            <a:r>
              <a:rPr sz="1200" dirty="0" err="1">
                <a:solidFill>
                  <a:srgbClr val="FFFFFF"/>
                </a:solidFill>
              </a:rPr>
              <a:t>模式下的</a:t>
            </a:r>
            <a:r>
              <a:rPr sz="1200" dirty="0">
                <a:solidFill>
                  <a:srgbClr val="FFFFFF"/>
                </a:solidFill>
              </a:rPr>
              <a:t> retry </a:t>
            </a:r>
            <a:r>
              <a:rPr sz="1200" dirty="0" err="1">
                <a:solidFill>
                  <a:srgbClr val="FFFFFF"/>
                </a:solidFill>
              </a:rPr>
              <a:t>機制</a:t>
            </a:r>
            <a:r>
              <a:rPr sz="1200" dirty="0">
                <a:solidFill>
                  <a:srgbClr val="FFFFFF"/>
                </a:solidFill>
              </a:rPr>
              <a:t>？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4. RTO / </a:t>
            </a:r>
            <a:r>
              <a:rPr sz="1200" dirty="0" err="1">
                <a:solidFill>
                  <a:srgbClr val="FFFFFF"/>
                </a:solidFill>
              </a:rPr>
              <a:t>RPO：跨區域</a:t>
            </a:r>
            <a:r>
              <a:rPr sz="1200" dirty="0">
                <a:solidFill>
                  <a:srgbClr val="FFFFFF"/>
                </a:solidFill>
              </a:rPr>
              <a:t> failover </a:t>
            </a:r>
            <a:r>
              <a:rPr sz="1200" dirty="0" err="1">
                <a:solidFill>
                  <a:srgbClr val="FFFFFF"/>
                </a:solidFill>
              </a:rPr>
              <a:t>是否需要</a:t>
            </a:r>
            <a:r>
              <a:rPr sz="1200" dirty="0">
                <a:solidFill>
                  <a:srgbClr val="FFFFFF"/>
                </a:solidFill>
              </a:rPr>
              <a:t> &lt; 30s </a:t>
            </a:r>
            <a:r>
              <a:rPr sz="1200" dirty="0" err="1">
                <a:solidFill>
                  <a:srgbClr val="FFFFFF"/>
                </a:solidFill>
              </a:rPr>
              <a:t>RTO？是否容許資料</a:t>
            </a:r>
            <a:r>
              <a:rPr sz="1200" dirty="0">
                <a:solidFill>
                  <a:srgbClr val="FFFFFF"/>
                </a:solidFill>
              </a:rPr>
              <a:t> lag？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FFFFFF"/>
                </a:solidFill>
              </a:rPr>
              <a:t>  5. </a:t>
            </a:r>
            <a:r>
              <a:rPr sz="1200" dirty="0" err="1">
                <a:solidFill>
                  <a:srgbClr val="FFFFFF"/>
                </a:solidFill>
              </a:rPr>
              <a:t>連線層</a:t>
            </a:r>
            <a:r>
              <a:rPr sz="1200" dirty="0">
                <a:solidFill>
                  <a:srgbClr val="FFFFFF"/>
                </a:solidFill>
              </a:rPr>
              <a:t> / </a:t>
            </a:r>
            <a:r>
              <a:rPr sz="1200" dirty="0" err="1">
                <a:solidFill>
                  <a:srgbClr val="FFFFFF"/>
                </a:solidFill>
              </a:rPr>
              <a:t>交易模式調整：是否能配合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HAProxy</a:t>
            </a:r>
            <a:r>
              <a:rPr sz="1200" dirty="0">
                <a:solidFill>
                  <a:srgbClr val="FFFFFF"/>
                </a:solidFill>
              </a:rPr>
              <a:t> / </a:t>
            </a:r>
            <a:r>
              <a:rPr lang="en-US" sz="1200" dirty="0" err="1">
                <a:solidFill>
                  <a:srgbClr val="FFFFFF"/>
                </a:solidFill>
              </a:rPr>
              <a:t>P</a:t>
            </a:r>
            <a:r>
              <a:rPr sz="1200" dirty="0" err="1">
                <a:solidFill>
                  <a:srgbClr val="FFFFFF"/>
                </a:solidFill>
              </a:rPr>
              <a:t>g</a:t>
            </a:r>
            <a:r>
              <a:rPr lang="en-US" sz="1200" dirty="0" err="1">
                <a:solidFill>
                  <a:srgbClr val="FFFFFF"/>
                </a:solidFill>
              </a:rPr>
              <a:t>B</a:t>
            </a:r>
            <a:r>
              <a:rPr sz="1200" dirty="0" err="1">
                <a:solidFill>
                  <a:srgbClr val="FFFFFF"/>
                </a:solidFill>
              </a:rPr>
              <a:t>ouncer</a:t>
            </a:r>
            <a:r>
              <a:rPr sz="1200" dirty="0">
                <a:solidFill>
                  <a:srgbClr val="FFFFFF"/>
                </a:solidFill>
              </a:rPr>
              <a:t> / </a:t>
            </a:r>
            <a:r>
              <a:rPr sz="1200" dirty="0" err="1">
                <a:solidFill>
                  <a:srgbClr val="FFFFFF"/>
                </a:solidFill>
              </a:rPr>
              <a:t>連線池與短交易模式</a:t>
            </a:r>
            <a:r>
              <a:rPr sz="1200" dirty="0">
                <a:solidFill>
                  <a:srgbClr val="FFFFFF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後續推進階段</a:t>
            </a:r>
            <a:endParaRPr sz="2800" b="1" dirty="0">
              <a:solidFill>
                <a:srgbClr val="FFFFFF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097280"/>
            <a:ext cx="365760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短期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3657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W=4 </a:t>
            </a:r>
            <a:r>
              <a:rPr sz="1200" dirty="0" err="1">
                <a:solidFill>
                  <a:srgbClr val="FFFFFF"/>
                </a:solidFill>
              </a:rPr>
              <a:t>框架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已驗，接</a:t>
            </a:r>
            <a:r>
              <a:rPr sz="1200" dirty="0">
                <a:solidFill>
                  <a:srgbClr val="FFFFFF"/>
                </a:solidFill>
              </a:rPr>
              <a:t> W=128 </a:t>
            </a:r>
            <a:r>
              <a:rPr sz="1200" dirty="0" err="1">
                <a:solidFill>
                  <a:srgbClr val="FFFFFF"/>
                </a:solidFill>
              </a:rPr>
              <a:t>基準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freeze/</a:t>
            </a:r>
            <a:r>
              <a:rPr sz="1200" dirty="0" err="1">
                <a:solidFill>
                  <a:srgbClr val="FFFFFF"/>
                </a:solidFill>
              </a:rPr>
              <a:t>unfreeze、round-only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runner、暖機、placement</a:t>
            </a:r>
            <a:r>
              <a:rPr sz="1200" dirty="0">
                <a:solidFill>
                  <a:srgbClr val="FFFFFF"/>
                </a:solidFill>
              </a:rPr>
              <a:t> gate </a:t>
            </a:r>
            <a:r>
              <a:rPr sz="1200" dirty="0" err="1">
                <a:solidFill>
                  <a:srgbClr val="FFFFFF"/>
                </a:solidFill>
              </a:rPr>
              <a:t>全部通過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審查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X-CROSS </a:t>
            </a:r>
            <a:r>
              <a:rPr sz="1200" dirty="0" err="1">
                <a:solidFill>
                  <a:srgbClr val="FFFFFF"/>
                </a:solidFill>
              </a:rPr>
              <a:t>完成</a:t>
            </a:r>
            <a:r>
              <a:rPr sz="1200" dirty="0">
                <a:solidFill>
                  <a:srgbClr val="FFFFFF"/>
                </a:solidFill>
              </a:rPr>
              <a:t> determinism </a:t>
            </a:r>
            <a:r>
              <a:rPr sz="1200" dirty="0" err="1">
                <a:solidFill>
                  <a:srgbClr val="FFFFFF"/>
                </a:solidFill>
              </a:rPr>
              <a:t>流程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驗收，啟動正式</a:t>
            </a:r>
            <a:r>
              <a:rPr sz="1200" dirty="0">
                <a:solidFill>
                  <a:srgbClr val="FFFFFF"/>
                </a:solidFill>
              </a:rPr>
              <a:t> W=128 </a:t>
            </a:r>
            <a:r>
              <a:rPr sz="1200" dirty="0" err="1">
                <a:solidFill>
                  <a:srgbClr val="FFFFFF"/>
                </a:solidFill>
              </a:rPr>
              <a:t>基準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量測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6576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中期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6576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sz="1200" dirty="0">
                <a:solidFill>
                  <a:srgbClr val="FF0000"/>
                </a:solidFill>
                <a:highlight>
                  <a:srgbClr val="FFFF00"/>
                </a:highlight>
              </a:rPr>
              <a:t>A-S</a:t>
            </a:r>
            <a:r>
              <a:rPr sz="1200" dirty="0">
                <a:solidFill>
                  <a:srgbClr val="FFFFFF"/>
                </a:solidFill>
              </a:rPr>
              <a:t> / </a:t>
            </a:r>
            <a:r>
              <a:rPr sz="1200" dirty="0">
                <a:solidFill>
                  <a:srgbClr val="FF0000"/>
                </a:solidFill>
                <a:highlight>
                  <a:srgbClr val="FFFF00"/>
                </a:highlight>
              </a:rPr>
              <a:t>A-A-RO</a:t>
            </a:r>
            <a:r>
              <a:rPr sz="1200" dirty="0">
                <a:solidFill>
                  <a:srgbClr val="FFFFFF"/>
                </a:solidFill>
              </a:rPr>
              <a:t> / </a:t>
            </a:r>
            <a:r>
              <a:rPr sz="1200" dirty="0">
                <a:solidFill>
                  <a:srgbClr val="FF0000"/>
                </a:solidFill>
                <a:highlight>
                  <a:srgbClr val="FFFF00"/>
                </a:highlight>
              </a:rPr>
              <a:t>A-A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三個</a:t>
            </a:r>
            <a:r>
              <a:rPr sz="1200" dirty="0">
                <a:solidFill>
                  <a:srgbClr val="FFFFFF"/>
                </a:solidFill>
              </a:rPr>
              <a:t> workload profile × </a:t>
            </a:r>
            <a:r>
              <a:rPr sz="1200" dirty="0">
                <a:solidFill>
                  <a:srgbClr val="FF0000"/>
                </a:solidFill>
                <a:highlight>
                  <a:srgbClr val="FFFF00"/>
                </a:highlight>
              </a:rPr>
              <a:t>P-A/P-B placement</a:t>
            </a:r>
            <a:r>
              <a:rPr sz="1200" dirty="0">
                <a:solidFill>
                  <a:srgbClr val="FFFFFF"/>
                </a:solidFill>
              </a:rPr>
              <a:t> × </a:t>
            </a:r>
            <a:r>
              <a:rPr sz="1200" dirty="0" err="1">
                <a:solidFill>
                  <a:srgbClr val="FFFFFF"/>
                </a:solidFill>
              </a:rPr>
              <a:t>三家資料庫，依</a:t>
            </a:r>
            <a:r>
              <a:rPr lang="en-US" sz="1200" dirty="0" err="1">
                <a:solidFill>
                  <a:srgbClr val="FFFFFF"/>
                </a:solidFill>
              </a:rPr>
              <a:t>檢驗指標</a:t>
            </a:r>
            <a:r>
              <a:rPr sz="1200" dirty="0" err="1">
                <a:solidFill>
                  <a:srgbClr val="FFFFFF"/>
                </a:solidFill>
              </a:rPr>
              <a:t>分批</a:t>
            </a:r>
            <a:r>
              <a:rPr lang="en-US" sz="1200" dirty="0">
                <a:solidFill>
                  <a:srgbClr val="FFFFFF"/>
                </a:solidFill>
              </a:rPr>
              <a:t>/</a:t>
            </a:r>
            <a:r>
              <a:rPr sz="1200" dirty="0" err="1">
                <a:solidFill>
                  <a:srgbClr val="FFFFFF"/>
                </a:solidFill>
              </a:rPr>
              <a:t>量測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F</a:t>
            </a:r>
            <a:r>
              <a:rPr sz="1200" dirty="0">
                <a:solidFill>
                  <a:srgbClr val="FF0000"/>
                </a:solidFill>
                <a:highlight>
                  <a:srgbClr val="FFFF00"/>
                </a:highlight>
              </a:rPr>
              <a:t>ailover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與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lang="en" sz="1200" dirty="0">
                <a:solidFill>
                  <a:srgbClr val="FF0000"/>
                </a:solidFill>
                <a:highlight>
                  <a:srgbClr val="FFFF00"/>
                </a:highlight>
              </a:rPr>
              <a:t>Chaos Engineering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測試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sz="1200" dirty="0" err="1">
                <a:solidFill>
                  <a:srgbClr val="FFFFFF"/>
                </a:solidFill>
              </a:rPr>
              <a:t>跨區域</a:t>
            </a:r>
            <a:r>
              <a:rPr sz="1200" dirty="0">
                <a:solidFill>
                  <a:srgbClr val="FFFFFF"/>
                </a:solidFill>
              </a:rPr>
              <a:t> analytics </a:t>
            </a:r>
            <a:r>
              <a:rPr sz="1200" dirty="0" err="1">
                <a:solidFill>
                  <a:srgbClr val="FFFFFF"/>
                </a:solidFill>
              </a:rPr>
              <a:t>第二份報告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sz="1200" dirty="0" err="1">
                <a:solidFill>
                  <a:srgbClr val="FFFFFF"/>
                </a:solidFill>
              </a:rPr>
              <a:t>補齊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YugabyteDB</a:t>
            </a:r>
            <a:r>
              <a:rPr sz="1200" dirty="0">
                <a:solidFill>
                  <a:srgbClr val="FFFFFF"/>
                </a:solidFill>
              </a:rPr>
              <a:t> K8s </a:t>
            </a:r>
            <a:r>
              <a:rPr sz="1200" dirty="0" err="1">
                <a:solidFill>
                  <a:srgbClr val="FFFFFF"/>
                </a:solidFill>
              </a:rPr>
              <a:t>退化成因調查（P-A</a:t>
            </a:r>
            <a:r>
              <a:rPr sz="1200" dirty="0">
                <a:solidFill>
                  <a:srgbClr val="FFFFFF"/>
                </a:solidFill>
              </a:rPr>
              <a:t>/P-B、A-S/A-A-RO/A-A）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657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決策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6576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Application owner </a:t>
            </a:r>
            <a:r>
              <a:rPr sz="1200" dirty="0" err="1">
                <a:solidFill>
                  <a:srgbClr val="FFFFFF"/>
                </a:solidFill>
              </a:rPr>
              <a:t>完成五項議題確認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• </a:t>
            </a:r>
            <a:r>
              <a:rPr lang="en-US" sz="1200" dirty="0" err="1">
                <a:solidFill>
                  <a:srgbClr val="FFFFFF"/>
                </a:solidFill>
              </a:rPr>
              <a:t>原廠後勤對接狀況說明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三階段 tpmC 彙整概覽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S-BASE（VM）→ S-K8S（K8s）→ X-CROSS（跨區 framework 驗證）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2514600"/>
            <a:ext cx="11457432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834640"/>
            <a:ext cx="32004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S-BASE</a:t>
            </a:r>
          </a:p>
          <a:p>
            <a:r>
              <a:rPr sz="1200" b="0">
                <a:solidFill>
                  <a:srgbClr val="27AE60"/>
                </a:solidFill>
              </a:rPr>
              <a:t>✅ 已完成</a:t>
            </a:r>
          </a:p>
          <a:p>
            <a:r>
              <a:rPr sz="1200" b="0">
                <a:solidFill>
                  <a:srgbClr val="CCCCCC"/>
                </a:solidFill>
              </a:rPr>
              <a:t>VM 基準
W=128, t=128
3-node haproxy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2834640"/>
            <a:ext cx="32004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S-K8S</a:t>
            </a:r>
          </a:p>
          <a:p>
            <a:r>
              <a:rPr sz="1200" b="0">
                <a:solidFill>
                  <a:srgbClr val="27AE60"/>
                </a:solidFill>
              </a:rPr>
              <a:t>✅ 已完成</a:t>
            </a:r>
          </a:p>
          <a:p>
            <a:r>
              <a:rPr sz="1200" b="0">
                <a:solidFill>
                  <a:srgbClr val="CCCCCC"/>
                </a:solidFill>
              </a:rPr>
              <a:t>K8s 額外開銷
W=128, t=128
unlimit / limit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2834640"/>
            <a:ext cx="32004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X-CROSS</a:t>
            </a:r>
          </a:p>
          <a:p>
            <a:r>
              <a:rPr sz="1200" b="0">
                <a:solidFill>
                  <a:srgbClr val="F39C12"/>
                </a:solidFill>
              </a:rPr>
              <a:t>🟡 framework 驗證</a:t>
            </a:r>
          </a:p>
          <a:p>
            <a:r>
              <a:rPr sz="1200" b="0">
                <a:solidFill>
                  <a:srgbClr val="CCCCCC"/>
                </a:solidFill>
              </a:rPr>
              <a:t>W=4, t=16
同 cluster 5 rounds
CV ≤ 5% 已建立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39C12"/>
                </a:solidFill>
              </a:rPr>
              <a:t>⚠  重要 Caveat：S-BASE / S-K8S 為 W=128 t=128；X-CROSS 為 W=4 t=16（framework 驗證）。三者 workload 不同，數字不可直接比較；只能在同 workload 條件內比較 保留率。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Table C：階段對比解讀（可比性框架）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三階段 tpmC 數字的引用邊界與可比條件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2514600"/>
            <a:ext cx="11457432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11091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階段對比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條件可比？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觀察重點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FFFFFF"/>
                          </a:solidFill>
                        </a:rPr>
                        <a:t>S-BASE ↔ S-K8S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AE60"/>
                          </a:solidFill>
                        </a:rPr>
                        <a:t>✅ 可比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K8s overhead：TiDB 高保留率 87% / CRDB 81% / YBDB 19%（YBDB K8s 化大幅退化）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S-K8S ↔ X-CROSS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94F37"/>
                          </a:solidFill>
                        </a:rPr>
                        <a:t>❌ 不可比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workload 不同 (W=128 t=128 vs W=4 t=16)；X-CROSS 為 framework 驗證，不是正式跨家排名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X-CROSS 內部（N-round）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AE60"/>
                          </a:solidFill>
                        </a:rPr>
                        <a:t>✅ 可比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FFFFFF"/>
                          </a:solidFill>
                        </a:rPr>
                        <a:t>重現性</a:t>
                      </a:r>
                      <a:r>
                        <a:rPr sz="1100" b="0" dirty="0">
                          <a:solidFill>
                            <a:srgbClr val="FFFFFF"/>
                          </a:solidFill>
                        </a:rPr>
                        <a:t> CV ≤ 5%：</a:t>
                      </a:r>
                      <a:r>
                        <a:rPr sz="1100" b="0" dirty="0" err="1">
                          <a:solidFill>
                            <a:srgbClr val="FFFFFF"/>
                          </a:solidFill>
                        </a:rPr>
                        <a:t>證實</a:t>
                      </a:r>
                      <a:r>
                        <a:rPr sz="1100" b="0" dirty="0">
                          <a:solidFill>
                            <a:srgbClr val="FFFFFF"/>
                          </a:solidFill>
                        </a:rPr>
                        <a:t> 06-21 ±526% </a:t>
                      </a:r>
                      <a:r>
                        <a:rPr sz="1100" b="0" dirty="0" err="1">
                          <a:solidFill>
                            <a:srgbClr val="FFFFFF"/>
                          </a:solidFill>
                        </a:rPr>
                        <a:t>變異主因為</a:t>
                      </a:r>
                      <a:r>
                        <a:rPr sz="1100" b="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FFFFFF"/>
                          </a:solidFill>
                        </a:rPr>
                        <a:t>redeploy，不是</a:t>
                      </a:r>
                      <a:r>
                        <a:rPr sz="1100" b="0" dirty="0">
                          <a:solidFill>
                            <a:srgbClr val="FFFFFF"/>
                          </a:solidFill>
                        </a:rPr>
                        <a:t> W=4 contention </a:t>
                      </a:r>
                      <a:r>
                        <a:rPr sz="1100" b="0" dirty="0" err="1">
                          <a:solidFill>
                            <a:srgbClr val="FFFFFF"/>
                          </a:solidFill>
                        </a:rPr>
                        <a:t>本身</a:t>
                      </a:r>
                      <a:endParaRPr sz="11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正確引用原則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27AE60"/>
                </a:solidFill>
              </a:rPr>
              <a:t>✅  S-BASE 26,947 / 15,033 / 15,632 — 可作對外 VM 基準 排名參考（TiDB &gt; CRDB ≈ YBDB）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7AE60"/>
                </a:solidFill>
              </a:rPr>
              <a:t>✅  S-K8S unlimit 保留率 87% / 81% / 19% — 可作 K8s 化決策依據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E94F37"/>
                </a:solidFill>
              </a:rPr>
              <a:t>❌  X-CROSS mean 9566 / 7788 / 6297 — 不可作正式排名；僅代表 W=4 框架 重現性已建立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X-CROSS：關鍵修復與執行條件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06-22 Determinism v2 採用的修復與 框架 改動（三家共同條件）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23444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992421"/>
              </p:ext>
            </p:extLst>
          </p:nvPr>
        </p:nvGraphicFramePr>
        <p:xfrm>
          <a:off x="365760" y="1371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修復項目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問題描述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修復方式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YBDB Idle=0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詭異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read_replica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模式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tserver_idle_time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=0，造成 gate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誤判未收斂</a:t>
                      </a:r>
                      <a:endParaRPr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gate 改用 get_load_move_completion=100%；run 前 set_load_balancer_enabled=0，run 後 enable=1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CRDB lease gate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v26.2 crdb_internal.ranges 無 table_name 欄位且禁止存取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改用 SHOW RANGES FROM DATABASE tpcc WITH TABLES,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TiDB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R1 warmup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效應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R1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受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cache/scheduler cold start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影響，mean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取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R2-R5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同 cluster 連跑；R2-R5 作有效輪，CV 1.67%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tx1"/>
                          </a:solidFill>
                        </a:rPr>
                        <a:t>YBDB R1+R2 warmup 效應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Plan B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postgres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backend cache warmup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需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2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輪才穩定</a:t>
                      </a:r>
                      <a:endParaRPr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YBDB mean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取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R3-R5；CV 1.82%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947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A623"/>
                </a:solidFill>
              </a:rPr>
              <a:t>共同執行條件（Determinism v2 完成條件七項）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11430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1. 同一 cluster 執行：不在每輪間重 部署 或 cold reset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2. 測量前收斂：placement gate 通過後才 freeze scheduler/balancer，等 in-flight operator 清空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3. 正式採樣：5 rounds，排除 R1（YBDB 排 R1+R2），以有效輪 median 與 CV 判讀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4. 正式 workload：回到 W=128；W=4 僅能作 framework/contention probe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5. 失敗回復：任何階段失敗依原始 dump 還原 TiDB PD、CRDB settings 與 YBDB load balancer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6. 放行條件：freeze/unfreeze、round-only runner、暖機、placement gate、CV report 全通過 審查 才啟動正式 基準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階段判讀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三階段 PoC 各自的確認結論與後續邊界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2514600"/>
            <a:ext cx="11457432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743200"/>
            <a:ext cx="1109167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7AE60"/>
                </a:solidFill>
              </a:rPr>
              <a:t>① S-BASE 正式 基準</a:t>
            </a:r>
          </a:p>
          <a:p>
            <a:r>
              <a:rPr sz="1200" b="0">
                <a:solidFill>
                  <a:srgbClr val="CCCCCC"/>
                </a:solidFill>
              </a:rPr>
              <a:t>W=128 t=128 數字可作對外排名參考。</a:t>
            </a:r>
          </a:p>
          <a:p>
            <a:r>
              <a:rPr sz="1200" b="0">
                <a:solidFill>
                  <a:srgbClr val="CCCCCC"/>
                </a:solidFill>
              </a:rPr>
              <a:t>TiDB 26,947 &gt; CockroachDB 15,033 ≈ YugabyteDB 15,632（vm-3node-haproxy-3s3r-rc）</a:t>
            </a:r>
          </a:p>
          <a:p>
            <a:r>
              <a:rPr sz="1200" b="0">
                <a:solidFill>
                  <a:srgbClr val="CCCCCC"/>
                </a:solidFill>
              </a:rPr>
              <a:t>全程 N=1；正式採購前需補 N=3 重跑。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1109167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39C12"/>
                </a:solidFill>
              </a:rPr>
              <a:t>② S-K8S 退化模式分歧</a:t>
            </a:r>
          </a:p>
          <a:p>
            <a:r>
              <a:rPr sz="1200" b="0">
                <a:solidFill>
                  <a:srgbClr val="CCCCCC"/>
                </a:solidFill>
              </a:rPr>
              <a:t>TiDB / CockroachDB K8s 額外開銷 在合理範圍（13-19% drop）。</a:t>
            </a:r>
          </a:p>
          <a:p>
            <a:r>
              <a:rPr sz="1200" b="0">
                <a:solidFill>
                  <a:srgbClr val="F39C12"/>
                </a:solidFill>
              </a:rPr>
              <a:t>⚠  YugabyteDB K8s 退化嚴重：unlimit 僅 19.2%，limit 10.3%，p99 +669%。</a:t>
            </a:r>
          </a:p>
          <a:p>
            <a:r>
              <a:rPr sz="1200" b="0">
                <a:solidFill>
                  <a:srgbClr val="CCCCCC"/>
                </a:solidFill>
              </a:rPr>
              <a:t>成因推論：YSQL + DocDB 雙 process 在 K8s pod IPC + CPU contention 放大；成因仍未定位，列後續調校項。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1109167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7AE60"/>
                </a:solidFill>
              </a:rPr>
              <a:t>③ X-CROSS 框架 已驗</a:t>
            </a:r>
          </a:p>
          <a:p>
            <a:r>
              <a:rPr sz="1200" b="0">
                <a:solidFill>
                  <a:srgbClr val="CCCCCC"/>
                </a:solidFill>
              </a:rPr>
              <a:t>部署 → smoke → 清理 鏈跑通，三家 W=4 R2-R5 CV ≤ 5%，重現性已建立。</a:t>
            </a:r>
          </a:p>
          <a:p>
            <a:r>
              <a:rPr sz="1200" b="0">
                <a:solidFill>
                  <a:srgbClr val="F39C12"/>
                </a:solidFill>
              </a:rPr>
              <a:t>⚠  W=4 contention dominates；X-CROSS 數字不可作正式跨家排名。</a:t>
            </a:r>
          </a:p>
          <a:p>
            <a:r>
              <a:rPr sz="1200" b="0">
                <a:solidFill>
                  <a:srgbClr val="CCCCCC"/>
                </a:solidFill>
              </a:rPr>
              <a:t>後續需依「v2 完成條件」回到 W=128（freeze/unfreeze、round-only runner、暖機 gate 全部通過 審查 後）。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限制與風險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224972"/>
              </p:ext>
            </p:extLst>
          </p:nvPr>
        </p:nvGraphicFramePr>
        <p:xfrm>
          <a:off x="365760" y="10515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範例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引用方式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已驗證事實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三家 VM/K8s tpmC 數字、p99、error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可在會議中引用；但不可作為唯一採購或導入決策依據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工程推論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TiDB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K8s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偶發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stall event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推測為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leader transition/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NodePort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 iptables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引用時需附「推論」字樣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1"/>
                          </a:solidFill>
                        </a:rPr>
                        <a:t>待補數據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N=3 重跑、YugabyteDB K8s retention 成因、W=128 跨區域 sweep 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引用前需說明數據尚未產出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3832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A623"/>
                </a:solidFill>
              </a:rPr>
              <a:t>主要 Caveat（v2 更新）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11430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F39C12"/>
                </a:solidFill>
              </a:rPr>
              <a:t>⚠  N=1 </a:t>
            </a:r>
            <a:r>
              <a:rPr sz="1300" dirty="0" err="1">
                <a:solidFill>
                  <a:srgbClr val="F39C12"/>
                </a:solidFill>
              </a:rPr>
              <a:t>量測：第一階段全部</a:t>
            </a:r>
            <a:r>
              <a:rPr sz="1300" dirty="0">
                <a:solidFill>
                  <a:srgbClr val="F39C12"/>
                </a:solidFill>
              </a:rPr>
              <a:t> cell </a:t>
            </a:r>
            <a:r>
              <a:rPr sz="1300" dirty="0" err="1">
                <a:solidFill>
                  <a:srgbClr val="F39C12"/>
                </a:solidFill>
              </a:rPr>
              <a:t>單次跑，流程-log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已標註「下一階段補</a:t>
            </a:r>
            <a:r>
              <a:rPr sz="1300" dirty="0">
                <a:solidFill>
                  <a:srgbClr val="F39C12"/>
                </a:solidFill>
              </a:rPr>
              <a:t> N=3」</a:t>
            </a:r>
          </a:p>
          <a:p>
            <a:r>
              <a:rPr sz="1300" dirty="0">
                <a:solidFill>
                  <a:srgbClr val="F39C12"/>
                </a:solidFill>
              </a:rPr>
              <a:t>⚠  S-K8S YBDB </a:t>
            </a:r>
            <a:r>
              <a:rPr sz="1300" dirty="0" err="1">
                <a:solidFill>
                  <a:srgbClr val="F39C12"/>
                </a:solidFill>
              </a:rPr>
              <a:t>退化</a:t>
            </a:r>
            <a:r>
              <a:rPr sz="1300" dirty="0">
                <a:solidFill>
                  <a:srgbClr val="F39C12"/>
                </a:solidFill>
              </a:rPr>
              <a:t> 80%：K8s </a:t>
            </a:r>
            <a:r>
              <a:rPr sz="1300" dirty="0" err="1">
                <a:solidFill>
                  <a:srgbClr val="F39C12"/>
                </a:solidFill>
              </a:rPr>
              <a:t>unlimit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僅</a:t>
            </a:r>
            <a:r>
              <a:rPr sz="1300" dirty="0">
                <a:solidFill>
                  <a:srgbClr val="F39C12"/>
                </a:solidFill>
              </a:rPr>
              <a:t> 19.2%，p99 +669%；</a:t>
            </a:r>
            <a:r>
              <a:rPr sz="1300" dirty="0" err="1">
                <a:solidFill>
                  <a:srgbClr val="F39C12"/>
                </a:solidFill>
              </a:rPr>
              <a:t>成因尚未定位，列後續調校項</a:t>
            </a:r>
            <a:endParaRPr sz="1300" dirty="0">
              <a:solidFill>
                <a:srgbClr val="F39C12"/>
              </a:solidFill>
            </a:endParaRPr>
          </a:p>
          <a:p>
            <a:r>
              <a:rPr sz="1300" dirty="0">
                <a:solidFill>
                  <a:srgbClr val="F39C12"/>
                </a:solidFill>
              </a:rPr>
              <a:t>⚠  W=4 framework </a:t>
            </a:r>
            <a:r>
              <a:rPr sz="1300" dirty="0" err="1">
                <a:solidFill>
                  <a:srgbClr val="F39C12"/>
                </a:solidFill>
              </a:rPr>
              <a:t>驗證</a:t>
            </a:r>
            <a:r>
              <a:rPr sz="1300" dirty="0">
                <a:solidFill>
                  <a:srgbClr val="F39C12"/>
                </a:solidFill>
              </a:rPr>
              <a:t> ≠ </a:t>
            </a:r>
            <a:r>
              <a:rPr sz="1300" dirty="0" err="1">
                <a:solidFill>
                  <a:srgbClr val="F39C12"/>
                </a:solidFill>
              </a:rPr>
              <a:t>正式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基準：X-CROSS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數字不可作正式跨家排名</a:t>
            </a:r>
            <a:endParaRPr sz="1300" dirty="0">
              <a:solidFill>
                <a:srgbClr val="F39C12"/>
              </a:solidFill>
            </a:endParaRPr>
          </a:p>
          <a:p>
            <a:r>
              <a:rPr sz="1300" dirty="0">
                <a:solidFill>
                  <a:srgbClr val="F39C12"/>
                </a:solidFill>
              </a:rPr>
              <a:t>⚠  X-CROSS </a:t>
            </a:r>
            <a:r>
              <a:rPr sz="1300" dirty="0" err="1">
                <a:solidFill>
                  <a:srgbClr val="F39C12"/>
                </a:solidFill>
              </a:rPr>
              <a:t>數字不可作正式排名：W</a:t>
            </a:r>
            <a:r>
              <a:rPr sz="1300" dirty="0">
                <a:solidFill>
                  <a:srgbClr val="F39C12"/>
                </a:solidFill>
              </a:rPr>
              <a:t>=4 t=16 workload </a:t>
            </a:r>
            <a:r>
              <a:rPr sz="1300" dirty="0" err="1">
                <a:solidFill>
                  <a:srgbClr val="F39C12"/>
                </a:solidFill>
              </a:rPr>
              <a:t>與</a:t>
            </a:r>
            <a:r>
              <a:rPr sz="1300" dirty="0">
                <a:solidFill>
                  <a:srgbClr val="F39C12"/>
                </a:solidFill>
              </a:rPr>
              <a:t> S-BASE/S-K8S W=128 t=128 </a:t>
            </a:r>
            <a:r>
              <a:rPr sz="1300" dirty="0" err="1">
                <a:solidFill>
                  <a:srgbClr val="F39C12"/>
                </a:solidFill>
              </a:rPr>
              <a:t>不可直接比較</a:t>
            </a:r>
            <a:endParaRPr sz="1300" dirty="0">
              <a:solidFill>
                <a:srgbClr val="F39C12"/>
              </a:solidFill>
            </a:endParaRPr>
          </a:p>
          <a:p>
            <a:r>
              <a:rPr sz="1300" dirty="0">
                <a:solidFill>
                  <a:srgbClr val="F39C12"/>
                </a:solidFill>
              </a:rPr>
              <a:t>⚠  </a:t>
            </a:r>
            <a:r>
              <a:rPr sz="1300" dirty="0" err="1">
                <a:solidFill>
                  <a:srgbClr val="F39C12"/>
                </a:solidFill>
              </a:rPr>
              <a:t>YugabyteDB</a:t>
            </a:r>
            <a:r>
              <a:rPr sz="1300" dirty="0">
                <a:solidFill>
                  <a:srgbClr val="F39C12"/>
                </a:solidFill>
              </a:rPr>
              <a:t> K8s </a:t>
            </a:r>
            <a:r>
              <a:rPr sz="1300" dirty="0" err="1">
                <a:solidFill>
                  <a:srgbClr val="F39C12"/>
                </a:solidFill>
              </a:rPr>
              <a:t>保留率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成因：可能涉及</a:t>
            </a:r>
            <a:r>
              <a:rPr sz="1300" dirty="0">
                <a:solidFill>
                  <a:srgbClr val="F39C12"/>
                </a:solidFill>
              </a:rPr>
              <a:t> helm chart </a:t>
            </a:r>
            <a:r>
              <a:rPr sz="1300" dirty="0" err="1">
                <a:solidFill>
                  <a:srgbClr val="F39C12"/>
                </a:solidFill>
              </a:rPr>
              <a:t>預設、tablet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配置、raft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跨</a:t>
            </a:r>
            <a:r>
              <a:rPr sz="1300" dirty="0">
                <a:solidFill>
                  <a:srgbClr val="F39C12"/>
                </a:solidFill>
              </a:rPr>
              <a:t> pod </a:t>
            </a:r>
            <a:r>
              <a:rPr sz="1300" dirty="0" err="1">
                <a:solidFill>
                  <a:srgbClr val="F39C12"/>
                </a:solidFill>
              </a:rPr>
              <a:t>開銷等</a:t>
            </a:r>
            <a:endParaRPr sz="1300" dirty="0">
              <a:solidFill>
                <a:srgbClr val="F39C12"/>
              </a:solidFill>
            </a:endParaRPr>
          </a:p>
          <a:p>
            <a:r>
              <a:rPr sz="1300" dirty="0">
                <a:solidFill>
                  <a:srgbClr val="F39C12"/>
                </a:solidFill>
              </a:rPr>
              <a:t>⚠  </a:t>
            </a:r>
            <a:r>
              <a:rPr sz="1300" dirty="0" err="1">
                <a:solidFill>
                  <a:srgbClr val="F39C12"/>
                </a:solidFill>
              </a:rPr>
              <a:t>採購</a:t>
            </a:r>
            <a:r>
              <a:rPr sz="1300" dirty="0">
                <a:solidFill>
                  <a:srgbClr val="F39C12"/>
                </a:solidFill>
              </a:rPr>
              <a:t> / </a:t>
            </a:r>
            <a:r>
              <a:rPr sz="1300" dirty="0" err="1">
                <a:solidFill>
                  <a:srgbClr val="F39C12"/>
                </a:solidFill>
              </a:rPr>
              <a:t>商業實體層面：候選廠商商業實體狀態、供應鏈與政策考量，需另案</a:t>
            </a:r>
            <a:r>
              <a:rPr sz="1300" dirty="0">
                <a:solidFill>
                  <a:srgbClr val="F39C12"/>
                </a:solidFill>
              </a:rPr>
              <a:t> </a:t>
            </a:r>
            <a:r>
              <a:rPr sz="1300" dirty="0" err="1">
                <a:solidFill>
                  <a:srgbClr val="F39C12"/>
                </a:solidFill>
              </a:rPr>
              <a:t>審查</a:t>
            </a:r>
            <a:endParaRPr sz="1300" dirty="0">
              <a:solidFill>
                <a:srgbClr val="F39C1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Appendix：文件導引與預期問題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160798"/>
              </p:ext>
            </p:extLst>
          </p:nvPr>
        </p:nvGraphicFramePr>
        <p:xfrm>
          <a:off x="365760" y="10058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主題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引用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第一階段數據彙整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1_MeetingMinutes/analytics-S-K8S-2026-06-15.md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跨區域技術決策</a:t>
                      </a:r>
                      <a:endParaRPr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phase-crossregion/decisions-2026-06-08.md（10 道議題）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分散式 DB 非技術議題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1_MeetingMinutes/2026-06-09-distributed-db-adoption-non-technical.md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PoC 設計原則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results/PoC-DESIGN.md（SSOT）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結果索引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results/README.md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X-CROSS 驗證工作階段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phase-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</a:rPr>
                        <a:t>crossregion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</a:rPr>
                        <a:t>/SESSION-2026-06-22-determinism-v2.md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A623"/>
                </a:solidFill>
              </a:rPr>
              <a:t>預期問題與回應方向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475363"/>
              </p:ext>
            </p:extLst>
          </p:nvPr>
        </p:nvGraphicFramePr>
        <p:xfrm>
          <a:off x="365760" y="42519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預期問題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回應方向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為什麼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YugabyteDB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K8s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退化這麼多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成因尚未定位，列為後續調校項；不在第一階段結論範圍內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W=4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數字能排名嗎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不行。W=4 僅為 framework/contention probe；正式排名需 W=128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何時可以給最終建議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待 W=128 sweep 完成 + application owner 五項議題共識 + 採購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K8s 化值得做嗎？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TiDB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/CRDB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在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K8s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不限資源下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retention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約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</a:rPr>
                        <a:t> 80%+；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</a:rPr>
                        <a:t>限制資源情境吞吐砍半，需依情境權衡</a:t>
                      </a:r>
                      <a:endParaRPr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2173</Words>
  <Application>Microsoft Macintosh PowerPoint</Application>
  <PresentationFormat>自訂</PresentationFormat>
  <Paragraphs>338</Paragraphs>
  <Slides>17</Slides>
  <Notes>0</Notes>
  <HiddenSlides>6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Wn Lin 林武男</cp:lastModifiedBy>
  <cp:revision>27</cp:revision>
  <dcterms:created xsi:type="dcterms:W3CDTF">2013-01-27T09:14:16Z</dcterms:created>
  <dcterms:modified xsi:type="dcterms:W3CDTF">2026-06-23T01:44:17Z</dcterms:modified>
  <cp:category/>
</cp:coreProperties>
</file>