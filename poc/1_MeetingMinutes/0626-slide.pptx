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2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-914400"/>
            <a:ext cx="3108960" cy="3108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47120" y="4846320"/>
            <a:ext cx="2377440" cy="2377440"/>
          </a:xfrm>
          <a:prstGeom prst="rect">
            <a:avLst/>
          </a:prstGeom>
          <a:solidFill>
            <a:srgbClr val="2A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Microsoft JhengHei"/>
              </a:rPr>
              <a:t>PROOF OF CONCEPT · 第一階段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PoC 第一階段成果與下一步決策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ADCFC"/>
                </a:solidFill>
                <a:latin typeface="Microsoft JhengHei"/>
              </a:rPr>
              <a:t>第一階段已給出技術證據；下一步由 application owner 與管理層共同界定導入場景。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160520"/>
            <a:ext cx="566928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Microsoft JhengHei"/>
              </a:rPr>
              <a:t>日期　2026-06-22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Microsoft JhengHei"/>
              </a:rPr>
              <a:t>受眾　DBA / 跨部門主管 / application owner（應用負責人）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FB0DA"/>
                </a:solidFill>
                <a:latin typeface="Microsoft JhengHei"/>
              </a:rPr>
              <a:t>本份定位：第一階段成果與決策框架，不是工程細節報告。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PHASE MAP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第一階段成果與下一步決策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第一階段已給出技術證據，下一步需要 application owner 與管理層共同界定導入場景。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進度地圖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39696"/>
          <a:ext cx="5532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000"/>
                <a:gridCol w="2900000"/>
                <a:gridCol w="1352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Phase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範圍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S-BASE（VM baseline）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TiDB / CockroachDB / YugabyteDB × 指定 isolation × 指定拓撲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S-K8S（K8s 對照）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三家 × {unlimit, limit} = 6 cell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已完成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T-THRD（thread control）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thread sweep 行為對標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🟡 待完成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X-CROSS（跨區域）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6-node + GCP 跨區、placement、failover、chaos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🟡 框架完成；sweep 待 determinism gate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060000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Microsoft JhengHei"/>
              </a:rPr>
              <a:t>X-CROSS　三家六節點 smoke 已完成；正式 W=128 sweep 待 determinism gate。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285232" cy="1298448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828800"/>
            <a:ext cx="528523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5080" y="1878800"/>
            <a:ext cx="50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已完成什麼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080" y="2168800"/>
            <a:ext cx="5085232" cy="92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三家於同一 4 vCPU + W=128 TPCC 完成 baseline 對標；VM 與 Kubernetes 部署差異已實測量化；跨區域測試框架（IaC / playbook / suite scripts / chrony drift gate）已就位。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273552"/>
            <a:ext cx="5285232" cy="1298448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273552"/>
            <a:ext cx="528523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5080" y="3323552"/>
            <a:ext cx="50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已觀察到什麼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080" y="3613552"/>
            <a:ext cx="5085232" cy="92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TiDB 與 CockroachDB 在 K8s retention 約八成；YugabyteDB 退化明顯，成因尚未定位（列為後續調校項）；全程 N=1，正式決策前需補 N=3 重跑。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4718304"/>
            <a:ext cx="5285232" cy="1298448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4718304"/>
            <a:ext cx="528523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5080" y="4768304"/>
            <a:ext cx="50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下一步誰決策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080" y="5058304"/>
            <a:ext cx="5085232" cy="92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application owner（一致性 / 延遲 / RTO·RPO）、管理層（商業實體限制 / 預算窗口）、DBA / 維運（依上述決策選擇導入路徑）。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N=1 為單次量測；正式採購或導入前需補 N=3 重跑（已列入下一階段）。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PROJECT TIMELINE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專案歷程：研究到跨家框架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先定義問題與比較口徑，再建立可重複執行的基礎設施與三資料庫共同工具鏈。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00000"/>
          <a:ext cx="11091672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2200000"/>
                <a:gridCol w="5700000"/>
                <a:gridCol w="1691672"/>
              </a:tblGrid>
              <a:tr h="440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重大節點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03-30～04-10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前期研究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定義分散式 SQL、跨區同鍵寫入、follower read、HA/DR 與九項 survey 評估面向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04-21～04-27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IaC 與第一版測試鏈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建立多測項部署、HAProxy、VM / Kubernetes 流程及獨立壓測 client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04-28～05-05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YugabyteDB 首輪除錯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處理 BenchmarkSQL、bulk load、snapshot、RF / schema packing 與 HAProxy 問題；後由 v4.7 取代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05-06～05-14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三資料庫對標成形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納入 TiDB、CockroachDB、YugabyteDB，統一結果結構與 go-tpc 工具鏈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此階段完成的是「可比較的工程框架」，早期測試數字不直接納入 v4.7 正式結果。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PROJECT TIMELINE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專案歷程：Baseline、三節點與治理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將測試從可執行提升為可重現、可追溯、可拆解成本來源。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00000"/>
          <a:ext cx="11091672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2200000"/>
                <a:gridCol w="5700000"/>
                <a:gridCol w="1691672"/>
              </a:tblGrid>
              <a:tr h="440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重大節點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05-18～05-21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v4.7 baseline 重構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建立 PoC-DESIGN SSOT、detached suite、gate、marker、summary 與單節點三隔離級對標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05-22～06-02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三節點 controlled experiment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完成 shard × replica × HAProxy 拓撲、12-cell dry-run 與三家 5-cell 結果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N=1 完成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05-20～06-04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文件與數據治理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建立模板、AI 協作規範、artifact-first 審計與三家 pipeline-log 對齊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06-06～06-07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Phase isolation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分離 S-BASE、S-K8S、T-THRD、X-CROSS，建立 manifest、guard 與 metrics fan-out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完成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正式數字必須能追回測試條件、時間戳、結果檔案與 done marker；缺少來源時不進主表。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PROJECT TIMELINE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專案歷程：Kubernetes 到跨區驗證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已完成 K8s 對照與跨區技術路徑；正式跨區效能仍受 determinism gate 約束。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00000"/>
          <a:ext cx="11091672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2200000"/>
                <a:gridCol w="5700000"/>
                <a:gridCol w="1691672"/>
              </a:tblGrid>
              <a:tr h="440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重大節點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06-08～06-14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Kubernetes v4.7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三資料庫 × limit / unlimit 六組正式 suite 全部完成，含 caveat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6/6 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06-08～06-17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跨區設計與前置開發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GCP 5 VM、六節點部署、placement、WAN、chaos、failover 與 pre-flight 規格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🟡 框架完成；部分僅 dry-run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06-18～06-19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IDC↔GCP 實際驗證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修正 IaC / gate / 防火牆 / YugabyteDB placement；三家完成真六節點 smoke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✅ smoke 完成；非正式效能結論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06-21～06-22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Determinism 收斂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W=4 重跑變異過大（TiDB +526%、CRDB -40%、YBDB -45%）；改採同 cluster freeze + W=128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🟡 進行中；未形成正式結論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決策界線：六節點跨區交易路徑可行；正式跨家排序須等 W=128、R2～R5 median/CV 與完整回復流程驗收。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三家資料庫導入定位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三家有不同導入定位，不適合用單一吞吐排序判讀。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20"/>
            <a:ext cx="5943600" cy="1298448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025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JhengHei"/>
              </a:rPr>
              <a:t>TiDB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020824"/>
            <a:ext cx="2121408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2020824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短期優先候選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VM 與 K8s 吞吐較佳、K8s retention 較高；可優先進入應用情境對接。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5943600" cy="1298448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6557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JhengHei"/>
              </a:rPr>
              <a:t>CockroachDB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3483864"/>
            <a:ext cx="2121408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3483864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保留觀察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04488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一致性語意較強（SSI 預設）；SI / SSI 下 retry 與效能成本明顯，需評估容忍度。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5943600" cy="1298448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286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JhengHei"/>
              </a:rPr>
              <a:t>YugabyteDB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4946904"/>
            <a:ext cx="2121408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4946904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保留觀察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67528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VM + HAProxy 表現可觀；K8s 結果不宜直接作結論，VM 路徑可進入評估。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8288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同硬體 baseline · t=128 mean tpmC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2200000"/>
            <a:ext cx="4846320" cy="500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0000" y="226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TiDB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0000" y="2260000"/>
            <a:ext cx="1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C7293"/>
                </a:solidFill>
                <a:latin typeface="Microsoft JhengHei"/>
              </a:rPr>
              <a:t>≈ 26,900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800000"/>
            <a:ext cx="4846320" cy="500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0000" y="286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YugabyteDB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000" y="2860000"/>
            <a:ext cx="1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C7293"/>
                </a:solidFill>
                <a:latin typeface="Microsoft JhengHei"/>
              </a:rPr>
              <a:t>≈ 15,600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400000"/>
            <a:ext cx="4846320" cy="500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0000" y="3460000"/>
            <a:ext cx="2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CockroachDB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0000" y="3460000"/>
            <a:ext cx="1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C7293"/>
                </a:solidFill>
                <a:latin typeface="Microsoft JhengHei"/>
              </a:rPr>
              <a:t>≈ 15,000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vm-3node-haproxy-3s3r-rc（約值）；controlled experiment baseline，不直接代表各家生產表現。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VM vs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VM 與 Kubernetes 效能差異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K8s 化對 TiDB 與 CockroachDB 屬可接受範圍；YugabyteDB 在 K8s 下退化顯著，列為調校與驗證項。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700000"/>
                <a:gridCol w="2200000"/>
                <a:gridCol w="2200000"/>
                <a:gridCol w="3191672"/>
              </a:tblGrid>
              <a:tr h="4572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資料庫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VM baseline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K8s（不限資源）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K8s retention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K8s（資源限制）retention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TiDB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26,947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23,442.9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約 87%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約 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CockroachDB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15,033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12,196.7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約 81% ✅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約 43%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YugabyteDB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15,632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2,997.6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約 19%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約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800000"/>
            <a:ext cx="11091672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2330"/>
                </a:solidFill>
                <a:latin typeface="Microsoft JhengHei"/>
              </a:rPr>
              <a:t>◆ 資源限制情境　每個資料庫 pod CPU 上限 2 vCPU、記憶體 8 GiB（相對 VM 4 vCPU），觀察緊配額下吞吐表現。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80000"/>
            <a:ext cx="11091672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2330"/>
                </a:solidFill>
                <a:latin typeface="Microsoft JhengHei"/>
              </a:rPr>
              <a:t>◆ 延遲（NEW_ORDER p99）　限制資源下 CockroachDB 約為 VM 的 3 倍、YugabyteDB 更高，建議納入 SLA 設計。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60000"/>
            <a:ext cx="11091672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2330"/>
                </a:solidFill>
                <a:latin typeface="Microsoft JhengHei"/>
              </a:rPr>
              <a:t>◆ 錯誤率　24 組僅一例非零（TiDB-unlimit T16 單一 round 的 16 秒 stall），其餘 99.998% 完成。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40000"/>
            <a:ext cx="11091672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2330"/>
                </a:solidFill>
                <a:latin typeface="Microsoft JhengHei"/>
              </a:rPr>
              <a:t>◆ K8s 部署優化方向　Service Mesh（服務間流量治理層）、Pod 反親和性（避免同節點堆疊）、leader election timeout、CPU pinning 等屬後續工程項。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tpmC / p99 / retention 數字來源：analytics-S-K8S-2026-06-15.md。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CROSS-REGION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跨區域 / 跨專線進度（更新至 06-22）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三家六節點 smoke 已完成；正式 W=128 sweep 待 determinism gate 放行。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75304" cy="41605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75304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640" y="1928800"/>
            <a:ext cx="3375304" cy="3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Done — 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40" y="2448800"/>
            <a:ext cx="3375304" cy="34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10 道技術議題拍板（GCP 5 VM 拓撲、9 cell-track、placement P-A/P-B、chaos C1/C4/C7 等）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非技術議題收斂 9 項（5 待決 + 4 拍板）；含跨區 DR「現行 No、中長期必需」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IaC（Terraform）、ansible playbook、suite scripts、chrony drift gate（10-host，drift_median 0.017 ms）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IDC 端盤點與 K8s 殘留清理；GCP 5 VM 已驗證可建可連並 destroy 釋出（節費）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三家真六節點 P-A smoke 完成（06-19）：TiDB 11112.9 / YugabyteDB 6812.2 / CockroachDB 2145.2 tpmC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1828800"/>
            <a:ext cx="3575304" cy="41605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828800"/>
            <a:ext cx="3575304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6824" y="1928800"/>
            <a:ext cx="3375304" cy="3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Pending — 待執行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6824" y="2448800"/>
            <a:ext cx="3375304" cy="34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Determinism v2 pipeline：同 cluster round-only + scheduler/balancer freeze + R2～R5 CV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W=128 正式 baseline（當前 W=4 run-to-run 差異過大，不可作正式比較）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freeze/unfreeze、round-only runner、warmup、placement gate 全部通過 review 後才啟動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Terraform apply 重建 GCP 5 VM → cross-region dry-run → sweep 實跑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Sweep 量級：約 150 小時（360 rounds × 約 25 分），分批執行並設 review 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1828800"/>
            <a:ext cx="3575304" cy="41605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828800"/>
            <a:ext cx="3575304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5008" y="1928800"/>
            <a:ext cx="3375304" cy="3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Risk — 風險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5008" y="2448800"/>
            <a:ext cx="3375304" cy="34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W=4 結果已確認不具重現性，不得納入正式比較或更新候選排序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Determinism v2 所有工件（Makefile / freeze / runner / HAProxy）尚在 review，未驗收不標示完成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sweep 期間 IDC 端負載連續（建議避開其他維護窗口）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跨區域網路 drift 異常需 fail-closed gate（已實作於 chrony 10-host 版）</a:t>
            </a:r>
          </a:p>
          <a:p>
            <a:pPr algn="l"/>
            <a:r>
              <a:rPr sz="1000" b="0">
                <a:solidFill>
                  <a:srgbClr val="1B2330"/>
                </a:solidFill>
                <a:latin typeface="Microsoft JhengHei"/>
              </a:rPr>
              <a:t>GCP 5 VM 連續開機約 USD 590 / 月；sweep 期間約 USD 40 自然發生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06-19 smoke 數字僅作「技術路徑可行性」證據，不可用於正式跨家排名或採購決策。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DECISION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建議決策框架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不是選一家，而是先界定 application 條件、再排序候選；本份提供框架，不替代決策。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三層候選分類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39696"/>
          <a:ext cx="5623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2600000"/>
                <a:gridCol w="1823560"/>
              </a:tblGrid>
              <a:tr h="566928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分類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處置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短期候選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TiDB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優先進入應用情境對接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保留觀察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CockroachDB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依一致性需求、retry 容忍度評估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保留觀察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YugabyteDB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VM 路徑可評估；K8s 需先調校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暫不作結論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跨區域場景、K8s 退化未定位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等 sweep 與調校產出後再評估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46520" y="18288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Application owner 需確認的五項議題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212848"/>
            <a:ext cx="384048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128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26284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icrosoft JhengHei"/>
              </a:rPr>
              <a:t>交易一致性　需要 SERIALIZABLE / SSI？可接受 READ COMMITTED？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724912"/>
            <a:ext cx="384048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7249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77491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icrosoft JhengHei"/>
              </a:rPr>
              <a:t>可接受延遲　t=128 負載下 p99 需 500ms / 1s / 2s 以內？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236976"/>
            <a:ext cx="384048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36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286976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icrosoft JhengHei"/>
              </a:rPr>
              <a:t>retry / timeout　能接受 SI / SSI 下 retry 機制？timeout 預期值？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749040"/>
            <a:ext cx="384048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49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79904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icrosoft JhengHei"/>
              </a:rPr>
              <a:t>RTO / RPO　跨區域 failover 需 &lt; 30s RTO？容許資料 lag？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4261104"/>
            <a:ext cx="384048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2611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311104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icrosoft JhengHei"/>
              </a:rPr>
              <a:t>連線層 / 交易模式　能配合 HAProxy / pgbouncer / 連線池與短交易模式調整？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上述五項取得共識前，建議不直接拍板採購單一資料庫。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LIMITS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限制與風險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本份簡報的引用邊界與後續補強項。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91672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5000000"/>
                <a:gridCol w="4491672"/>
              </a:tblGrid>
              <a:tr h="530352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類型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範例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引用方式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已驗證事實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三家 VM / K8s tpmC 數字、p99 數字、error count；六節點 smoke tpmC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可在會議中引用；但不可作為唯一採購或導入決策依據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工程推論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TiDB K8s 偶發 stall event 推測為 leader transition / NodePort iptables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引用時需附「推論」字樣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待補數據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N=3 重跑、YugabyteDB K8s retention 成因、跨區域 W=128 sweep 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引用前需說明數據尚未產出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000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主要 caveat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60000"/>
            <a:ext cx="1109167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Microsoft JhengHei"/>
              </a:rPr>
              <a:t>▶ N=1 量測　第一階段全部 cell 單次跑，pipeline-log 已標註下一階段補 N=3。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80000"/>
            <a:ext cx="1109167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Microsoft JhengHei"/>
              </a:rPr>
              <a:t>▶ W=4 不可比　W=4 run-to-run 差異 TiDB +526%、CRDB -40%、YBDB -45%，不得納入正式跨家比較。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00000"/>
            <a:ext cx="1109167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Microsoft JhengHei"/>
              </a:rPr>
              <a:t>▶ YugabyteDB K8s 約 19% retention　成因尚未定位，列為後續調校項；可能涉及 helm chart 預設、tablet 配置等。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20000"/>
            <a:ext cx="1109167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Microsoft JhengHei"/>
              </a:rPr>
              <a:t>▶ 採購 / 商業實體層面　候選廠商之商業實體狀態、供應鏈與政策考量需另案 review，不在本份技術簡報範圍。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40000"/>
            <a:ext cx="1109167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Microsoft JhengHei"/>
              </a:rPr>
              <a:t>▶ 06-22 程式仍在 review　Makefile、freeze/unfreeze、round-only runner 與 HAProxy 尚未驗收，不得標示完成。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後續推進階段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分三階段推進，不是 task list。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575304" cy="39319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64008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Microsoft JhengHei"/>
              </a:rPr>
              <a:t>短期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528" y="2944368"/>
            <a:ext cx="3026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icrosoft JhengHei"/>
              </a:rPr>
              <a:t>完成 determinism pipeline 與 W=128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528" y="3611880"/>
            <a:ext cx="30266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完成 freeze/unfreeze、round-only runner、warmup、placement gate 的 review 與驗收</a:t>
            </a:r>
          </a:p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以 R2～R5 median 與 CV 建立 W=128 正式 baseline</a:t>
            </a:r>
          </a:p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確認三家跨區域結果可作正式跨家比較後再更新候選排序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1920240"/>
            <a:ext cx="3575304" cy="39319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62856" y="2194560"/>
            <a:ext cx="64008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7293"/>
                </a:solidFill>
                <a:latin typeface="Microsoft JhengHei"/>
              </a:rPr>
              <a:t>中期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0712" y="2944368"/>
            <a:ext cx="3026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icrosoft JhengHei"/>
              </a:rPr>
              <a:t>完成跨區域 sweep、failover、chaos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0712" y="3611880"/>
            <a:ext cx="30266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A-S / A-A-RO / A-A × P-A / P-B × 三家，依 review gate 分批 sweep</a:t>
            </a:r>
          </a:p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failover 與 chaos（C1 / C4 / C7）driven 測試</a:t>
            </a:r>
          </a:p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跨區域 analytics 第二份報告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920240"/>
            <a:ext cx="3575304" cy="393192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2194560"/>
            <a:ext cx="640080" cy="640080"/>
          </a:xfrm>
          <a:prstGeom prst="rect">
            <a:avLst/>
          </a:prstGeom>
          <a:solidFill>
            <a:srgbClr val="5A3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2212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3E85"/>
                </a:solidFill>
                <a:latin typeface="Microsoft JhengHei"/>
              </a:rPr>
              <a:t>決策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8896" y="2944368"/>
            <a:ext cx="3026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Microsoft JhengHei"/>
              </a:rPr>
              <a:t>與 application 共同定義導入候選場景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8896" y="3611880"/>
            <a:ext cx="30266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application owner 完成 Slide 6 五項議題確認</a:t>
            </a:r>
          </a:p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採購 / 商業實體層面 review 完成</a:t>
            </a:r>
          </a:p>
          <a:p>
            <a:pPr algn="l"/>
            <a:r>
              <a:rPr sz="1100" b="0">
                <a:solidFill>
                  <a:srgbClr val="1B2330"/>
                </a:solidFill>
                <a:latin typeface="Microsoft JhengHei"/>
              </a:rPr>
              <a:t>選定一個或多個短期候選進入導入規劃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Microsoft JhengHei"/>
              </a:rPr>
              <a:t>議題確認與採購 review 可平行進行，不需等技術數據全齊才開始。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</a:rPr>
              <a:t>文件導引與預期問題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11091672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E2761"/>
                </a:solidFill>
                <a:latin typeface="Microsoft JhengHei"/>
              </a:rPr>
              <a:t>本頁核心　細節文件導引；主簡報不塞 path。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2026-06-22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Microsoft Jheng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文件導引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39696"/>
          <a:ext cx="5532120" cy="335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3332120"/>
              </a:tblGrid>
              <a:tr h="37248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Microsoft JhengHei"/>
                        </a:rPr>
                        <a:t>引用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7248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第一階段數據彙整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analytics-S-K8S-2026-06-15.md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48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跨區域技術決策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phase-crossregion/decisions-2026-06-08.md（10 道議題）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7248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分散式 DB 非技術議題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2026-06-09-distributed-db-adoption-non-technical.md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48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PoC 設計原則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results/PoC-DESIGN.md（SSOT）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7248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結果索引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results/README.md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48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06-19 smoke 報告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phase-crossregion/SESSION-2026-06-19-3db-smoke.md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72487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06-21 determinism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phase-crossregion/SESSION-2026-06-21-determinism.md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4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06-22 determinism v2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B2330"/>
                          </a:solidFill>
                          <a:latin typeface="Microsoft JhengHei"/>
                        </a:rPr>
                        <a:t>phase-crossregion/SESSION-2026-06-22-determinism-v2.md（進行中）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18288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</a:rPr>
              <a:t>預期問題與回應方向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133162"/>
            <a:ext cx="5285232" cy="750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9316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Q　為什麼 YugabyteDB K8s 退化這麼多？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83162"/>
            <a:ext cx="4983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A　成因尚未定位，列為後續調校項；不在第一階段結論範圍內。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913162"/>
            <a:ext cx="5285232" cy="750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97316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Q　何時可以給出最終建議？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63162"/>
            <a:ext cx="4983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A　待跨區域 sweep 完成 + application owner 五項議題共識 + 採購 review 完成。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693162"/>
            <a:ext cx="5285232" cy="750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5316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Q　K8s 化值得做嗎？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43162"/>
            <a:ext cx="4983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A　TiDB / CockroachDB 不限資源下 retention 約八成、屬可接受；限制資源下吞吐砍半、p99 明顯惡化，須依應用情境權衡。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473162"/>
            <a:ext cx="5285232" cy="750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53316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Q　是否需要等所有數據齊全才能決策？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23162"/>
            <a:ext cx="4983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A　議題確認與採購 review 可平行進行，不需等技術數據全齊才開始。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5253162"/>
            <a:ext cx="5285232" cy="750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531316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293"/>
                </a:solidFill>
                <a:latin typeface="Microsoft JhengHei"/>
              </a:rPr>
              <a:t>Q　W=4 的 smoke 數字可以用嗎？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603162"/>
            <a:ext cx="4983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Microsoft JhengHei"/>
              </a:rPr>
              <a:t>A　不可。W=4 run-to-run 差異過大（最高 +526%），只能作為「路徑可行性」證據，不可作正式排名或更新候選。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