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-914400"/>
            <a:ext cx="3108960" cy="3108960"/>
          </a:xfrm>
          <a:prstGeom prst="ellipse">
            <a:avLst/>
          </a:prstGeom>
          <a:solidFill>
            <a:srgbClr val="2C3A78"/>
          </a:solidFill>
          <a:ln/>
        </p:spPr>
      </p:sp>
      <p:sp>
        <p:nvSpPr>
          <p:cNvPr id="3" name="Shape 1"/>
          <p:cNvSpPr/>
          <p:nvPr/>
        </p:nvSpPr>
        <p:spPr>
          <a:xfrm>
            <a:off x="11247120" y="4846320"/>
            <a:ext cx="2377440" cy="2377440"/>
          </a:xfrm>
          <a:prstGeom prst="ellipse">
            <a:avLst/>
          </a:prstGeom>
          <a:solidFill>
            <a:srgbClr val="2C3A78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234440"/>
            <a:ext cx="1417320" cy="502920"/>
          </a:xfrm>
          <a:prstGeom prst="roundRect">
            <a:avLst>
              <a:gd name="adj" fmla="val 18182"/>
            </a:avLst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23444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權重 35%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377440" y="1325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DATABASE · 架構決策評估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196596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分散式資料庫架構決策評估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822960" y="3200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建立分散式資料庫選型決策依據,透過 PoC 對照驗證,產出可落地執行計畫與預算評估。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68680" y="4206240"/>
            <a:ext cx="5669280" cy="0"/>
          </a:xfrm>
          <a:prstGeom prst="line">
            <a:avLst/>
          </a:prstGeom>
          <a:noFill/>
          <a:ln w="12700">
            <a:solidFill>
              <a:srgbClr val="4755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4389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三大產出　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對照驗證報告　·　可落地執行計畫　·　預算評估報告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54406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FB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2026-06-16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評估總覽與三大產出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25296"/>
            <a:ext cx="11091672" cy="457200"/>
          </a:xfrm>
          <a:prstGeom prst="roundRect">
            <a:avLst>
              <a:gd name="adj" fmla="val 12000"/>
            </a:avLst>
          </a:prstGeom>
          <a:solidFill>
            <a:srgbClr val="EEF2FB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225296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本頁核心　</a:t>
            </a:r>
            <a:pPr indent="0" marL="0">
              <a:buNone/>
            </a:pPr>
            <a:r>
              <a:rPr lang="en-US" sz="1300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建立選型決策依據,透過 PoC 對照驗證,產出可落地執行計畫與預算評估。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3575304" cy="3931920"/>
          </a:xfrm>
          <a:prstGeom prst="roundRect">
            <a:avLst>
              <a:gd name="adj" fmla="val 2046"/>
            </a:avLst>
          </a:prstGeom>
          <a:solidFill>
            <a:srgbClr val="F4F6FB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224028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42316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3154680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產出 1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22960" y="3401568"/>
            <a:ext cx="3026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PoC 對照驗證報告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822960" y="3977640"/>
            <a:ext cx="302666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含導入〔已知或可能發生〕風險、一致性 / 延遲 / 可用性測試結果,以 104 產品資料庫應用場景適性為評估基準。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306824" y="1920240"/>
            <a:ext cx="3575304" cy="3931920"/>
          </a:xfrm>
          <a:prstGeom prst="roundRect">
            <a:avLst>
              <a:gd name="adj" fmla="val 2046"/>
            </a:avLst>
          </a:prstGeom>
          <a:solidFill>
            <a:srgbClr val="F4F6FB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81144" y="224028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4024" y="242316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581144" y="3154680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產出 2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4581144" y="3401568"/>
            <a:ext cx="3026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可落地執行計畫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4581144" y="3977640"/>
            <a:ext cx="302666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涵蓋架構設計、部署流程、資料遷移策略、HA / DR 策略(含 A/A、A/A-RO、A/S),備份架構與方式。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8065008" y="1920240"/>
            <a:ext cx="3575304" cy="3931920"/>
          </a:xfrm>
          <a:prstGeom prst="roundRect">
            <a:avLst>
              <a:gd name="adj" fmla="val 2046"/>
            </a:avLst>
          </a:prstGeom>
          <a:solidFill>
            <a:srgbClr val="F4F6FB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339328" y="2240280"/>
            <a:ext cx="731520" cy="731520"/>
          </a:xfrm>
          <a:prstGeom prst="ellipse">
            <a:avLst/>
          </a:prstGeom>
          <a:solidFill>
            <a:srgbClr val="5A3E85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208" y="2423160"/>
            <a:ext cx="365760" cy="3657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339328" y="3154680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3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產出 3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8339328" y="3401568"/>
            <a:ext cx="3026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預算評估報告</a:t>
            </a:r>
            <a:endParaRPr lang="en-US" sz="1700" dirty="0"/>
          </a:p>
        </p:txBody>
      </p:sp>
      <p:sp>
        <p:nvSpPr>
          <p:cNvPr id="23" name="Text 18"/>
          <p:cNvSpPr/>
          <p:nvPr/>
        </p:nvSpPr>
        <p:spPr>
          <a:xfrm>
            <a:off x="8339328" y="3977640"/>
            <a:ext cx="302666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涵蓋建置、維運與擴展之成本分析,提出後續專案啟動之最低成本策略與依據。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54864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分散式資料庫架構決策評估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 1 · PoC 對照驗證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PoC 對照驗證報告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25296"/>
            <a:ext cx="11091672" cy="457200"/>
          </a:xfrm>
          <a:prstGeom prst="roundRect">
            <a:avLst>
              <a:gd name="adj" fmla="val 12000"/>
            </a:avLst>
          </a:prstGeom>
          <a:solidFill>
            <a:srgbClr val="EEF2FB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225296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本頁核心　</a:t>
            </a:r>
            <a:pPr indent="0" marL="0">
              <a:buNone/>
            </a:pPr>
            <a:r>
              <a:rPr lang="en-US" sz="1300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 104 產品資料庫應用場景適性為基準;part 1 同硬體對照、part 2 跨區災難復原。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3575304" cy="1097280"/>
          </a:xfrm>
          <a:prstGeom prst="roundRect">
            <a:avLst>
              <a:gd name="adj" fmla="val 6667"/>
            </a:avLst>
          </a:prstGeom>
          <a:solidFill>
            <a:srgbClr val="F4F6FB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103120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61872" y="2029968"/>
            <a:ext cx="2752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導入風險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261872" y="2377440"/>
            <a:ext cx="2706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〔已知或可能發生〕風險盤點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306824" y="1874520"/>
            <a:ext cx="3575304" cy="1097280"/>
          </a:xfrm>
          <a:prstGeom prst="roundRect">
            <a:avLst>
              <a:gd name="adj" fmla="val 6667"/>
            </a:avLst>
          </a:prstGeom>
          <a:solidFill>
            <a:srgbClr val="F4F6FB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7992" y="2103120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020056" y="2029968"/>
            <a:ext cx="2752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三大指標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020056" y="2377440"/>
            <a:ext cx="2706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一致性 / 延遲 / 可用性測試結果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065008" y="1874520"/>
            <a:ext cx="3575304" cy="1097280"/>
          </a:xfrm>
          <a:prstGeom prst="roundRect">
            <a:avLst>
              <a:gd name="adj" fmla="val 6667"/>
            </a:avLst>
          </a:prstGeom>
          <a:solidFill>
            <a:srgbClr val="F4F6FB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6176" y="2103120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778240" y="2029968"/>
            <a:ext cx="2752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評估基準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8778240" y="2377440"/>
            <a:ext cx="2706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104 產品資料庫應用場景適性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548640" y="3246120"/>
            <a:ext cx="5486400" cy="2651760"/>
          </a:xfrm>
          <a:prstGeom prst="roundRect">
            <a:avLst>
              <a:gd name="adj" fmla="val 2759"/>
            </a:avLst>
          </a:prstGeom>
          <a:solidFill>
            <a:srgbClr val="F4F6FB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Text 14"/>
          <p:cNvSpPr/>
          <p:nvPr/>
        </p:nvSpPr>
        <p:spPr>
          <a:xfrm>
            <a:off x="777240" y="34290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　同硬體對照驗證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777240" y="3840480"/>
            <a:ext cx="5029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三家於同一 4 vCPU 硬體 + W=128 TPCC 對照</a:t>
            </a:r>
            <a:endParaRPr lang="en-US" sz="11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步驟一:isolation 選擇(RC 0 error 為對照基準)</a:t>
            </a:r>
            <a:endParaRPr lang="en-US" sz="11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步驟二:1-node → 3-node scale-out 與 HAProxy 入口分散</a:t>
            </a:r>
            <a:endParaRPr lang="en-US" sz="1100" dirty="0"/>
          </a:p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步驟三:VM 與 Kubernetes 部署平面效能對照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6153912" y="3246120"/>
            <a:ext cx="5486400" cy="2651760"/>
          </a:xfrm>
          <a:prstGeom prst="roundRect">
            <a:avLst>
              <a:gd name="adj" fmla="val 2759"/>
            </a:avLst>
          </a:prstGeom>
          <a:solidFill>
            <a:srgbClr val="F4F6FB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Text 17"/>
          <p:cNvSpPr/>
          <p:nvPr/>
        </p:nvSpPr>
        <p:spPr>
          <a:xfrm>
            <a:off x="6382512" y="34290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　跨區域 / 跨專線災難復原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6382512" y="3840480"/>
            <a:ext cx="5029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自有機房(IDC)↔ GCP 跨區災難復原(DR)路線</a:t>
            </a:r>
            <a:endParaRPr lang="en-US" sz="11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現行 No、中長期必需;先累積地端維運與架構穩定性</a:t>
            </a:r>
            <a:endParaRPr lang="en-US" sz="11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跨區框架保留作能力儲備(IaC / ansible / 校時 gate)</a:t>
            </a:r>
            <a:endParaRPr lang="en-US" sz="1100" dirty="0"/>
          </a:p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與原廠建議邊界交叉核對(延遲 ~10ms、failover 30 秒內)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54864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分散式資料庫架構決策評估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步驟一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選定對照基準:Read Committed(零錯誤)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25296"/>
            <a:ext cx="11091672" cy="457200"/>
          </a:xfrm>
          <a:prstGeom prst="roundRect">
            <a:avLst>
              <a:gd name="adj" fmla="val 12000"/>
            </a:avLst>
          </a:prstGeom>
          <a:solidFill>
            <a:srgbClr val="EEF2FB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225296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本頁核心　</a:t>
            </a:r>
            <a:pPr indent="0" marL="0">
              <a:buNone/>
            </a:pPr>
            <a:r>
              <a:rPr lang="en-US" sz="1300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 在三家皆零錯誤;RR / SSI 因 first-committer-wins 出現 retry 錯誤,故統一以 RC 對照。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11091672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828800"/>
                <a:gridCol w="1371600"/>
                <a:gridCol w="6153912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資料庫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RC 峰值 tpmC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RC 錯誤率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強隔離(RR/SSI)觀察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</a:rPr>
                        <a:t>TiDB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330"/>
                          </a:solidFill>
                        </a:rPr>
                        <a:t>13,064 (t128)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</a:rPr>
                        <a:t>0.00% 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330"/>
                          </a:solidFill>
                        </a:rPr>
                        <a:t>RR(悲觀鎖)13,874、0 error;無原生 SERIALIZABLE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</a:rPr>
                        <a:t>CockroachDB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330"/>
                          </a:solidFill>
                        </a:rPr>
                        <a:t>9,134 (t64)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8860B"/>
                          </a:solidFill>
                        </a:rPr>
                        <a:t>0.00% 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330"/>
                          </a:solidFill>
                        </a:rPr>
                        <a:t>SSI 預設 10,830 但 retry 0.108%;RR(SI)retry 0.300%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</a:rPr>
                        <a:t>YugabyteDB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330"/>
                          </a:solidFill>
                        </a:rPr>
                        <a:t>11,436 (t32)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8860B"/>
                          </a:solidFill>
                        </a:rPr>
                        <a:t>0.00% 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330"/>
                          </a:solidFill>
                        </a:rPr>
                        <a:t>SSI 1,130 / RR(SI)1,879,retry 0.149–0.248%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41605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為何選 RC 作對照基準</a:t>
            </a:r>
            <a:endParaRPr lang="en-US" sz="13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498848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32688" y="4443984"/>
            <a:ext cx="10698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三家 RC 皆零錯誤　</a:t>
            </a:r>
            <a:pPr indent="0" marL="0">
              <a:buNone/>
            </a:pPr>
            <a:r>
              <a:rPr lang="en-US" sz="1100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 在三家都拿到 0% 錯誤率,提供乾淨可比的吞吐基準。</a:t>
            </a:r>
            <a:endParaRPr lang="en-US" sz="11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4974336"/>
            <a:ext cx="274320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32688" y="4919472"/>
            <a:ext cx="10698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強隔離帶 retry 成本　</a:t>
            </a:r>
            <a:pPr indent="0" marL="0">
              <a:buNone/>
            </a:pPr>
            <a:r>
              <a:rPr lang="en-US" sz="1100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/ SSI 採 first-committer-wins,熱點列觸發 retry 風暴並產生錯誤;TiDB 悲觀鎖排隊不 retry 故 0 error。</a:t>
            </a:r>
            <a:endParaRPr lang="en-US" sz="11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5449824"/>
            <a:ext cx="274320" cy="27432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32688" y="5394960"/>
            <a:ext cx="10698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術語對齊　</a:t>
            </a:r>
            <a:pPr indent="0" marL="0">
              <a:buNone/>
            </a:pPr>
            <a:r>
              <a:rPr lang="en-US" sz="1100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TiDB 無原生 SERIALIZABLE,其 RR(悲觀鎖)為最強隔離;跨家強隔離不直接互比。</a:t>
            </a:r>
            <a:endParaRPr lang="en-US" sz="1100" dirty="0"/>
          </a:p>
        </p:txBody>
      </p:sp>
      <p:sp>
        <p:nvSpPr>
          <p:cNvPr id="14" name="Text 8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9"/>
          <p:cNvSpPr/>
          <p:nvPr/>
        </p:nvSpPr>
        <p:spPr>
          <a:xfrm>
            <a:off x="54864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分散式資料庫架構決策評估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步驟二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Scale-out 策略與 HAProxy 入口分散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25296"/>
            <a:ext cx="11091672" cy="457200"/>
          </a:xfrm>
          <a:prstGeom prst="roundRect">
            <a:avLst>
              <a:gd name="adj" fmla="val 12000"/>
            </a:avLst>
          </a:prstGeom>
          <a:solidFill>
            <a:srgbClr val="EEF2FB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225296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本頁核心　</a:t>
            </a:r>
            <a:pPr indent="0" marL="0">
              <a:buNone/>
            </a:pPr>
            <a:r>
              <a:rPr lang="en-US" sz="1300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加副本 / 分片各有成本;HAProxy 分散 SQL 入口是三家共同 sweet spot。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Sub-topology Δ tpmC（vs 1s1r 同家）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39696"/>
          <a:ext cx="64008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188720"/>
                <a:gridCol w="1188720"/>
                <a:gridCol w="118872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變因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TiDB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CockroachDB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YugabyteDB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</a:rPr>
                        <a:t>加副本 RF:1s1r→1s3r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330"/>
                          </a:solidFill>
                        </a:rPr>
                        <a:t>−16.9%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330"/>
                          </a:solidFill>
                        </a:rPr>
                        <a:t>−25.1%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330"/>
                          </a:solidFill>
                        </a:rPr>
                        <a:t>−25.4%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</a:rPr>
                        <a:t>加分片:1s1r→3s1r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330"/>
                          </a:solidFill>
                        </a:rPr>
                        <a:t>−15.6%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330"/>
                          </a:solidFill>
                        </a:rPr>
                        <a:t>−3.5%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330"/>
                          </a:solidFill>
                        </a:rPr>
                        <a:t>−12.7%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</a:rPr>
                        <a:t>完整 3s3r vs 1s1r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330"/>
                          </a:solidFill>
                        </a:rPr>
                        <a:t>−23.3%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330"/>
                          </a:solidFill>
                        </a:rPr>
                        <a:t>−23.6%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330"/>
                          </a:solidFill>
                        </a:rPr>
                        <a:t>−36.3%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</a:rPr>
                        <a:t>+ HAProxy(vs direct 3s3r)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</a:rPr>
                        <a:t>+78.7%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</a:rPr>
                        <a:t>+37.5%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</a:rPr>
                        <a:t>+79.1%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178040" y="2139696"/>
            <a:ext cx="4462272" cy="1216152"/>
          </a:xfrm>
          <a:prstGeom prst="roundRect">
            <a:avLst>
              <a:gd name="adj" fmla="val 601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2286000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772400" y="225856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加副本 / 分片都有代價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7379208" y="2633472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RF=3 quorum 寫入成本三家近一致(−17~−25%);分片成本 CockroachDB 最低。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7178040" y="3474720"/>
            <a:ext cx="4462272" cy="1216152"/>
          </a:xfrm>
          <a:prstGeom prst="roundRect">
            <a:avLst>
              <a:gd name="adj" fmla="val 601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0" y="3621024"/>
            <a:ext cx="292608" cy="2926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772400" y="359359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HAProxy 是共同 sweet spot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7379208" y="3968496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分散 SQL 入口後 tpmC +37~79%、p99 同步降;否則單一入口變成雙重熱點。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7178040" y="4809744"/>
            <a:ext cx="4462272" cy="1216152"/>
          </a:xfrm>
          <a:prstGeom prst="roundRect">
            <a:avLst>
              <a:gd name="adj" fmla="val 601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4956048"/>
            <a:ext cx="292608" cy="29260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772400" y="492861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scale-out 實效</a:t>
            </a:r>
            <a:endParaRPr lang="en-US" sz="1250" dirty="0"/>
          </a:p>
        </p:txBody>
      </p:sp>
      <p:sp>
        <p:nvSpPr>
          <p:cNvPr id="19" name="Text 13"/>
          <p:cNvSpPr/>
          <p:nvPr/>
        </p:nvSpPr>
        <p:spPr>
          <a:xfrm>
            <a:off x="7379208" y="5303520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TiDB haproxy-3s3r 26,947 tpmC 為三家最大,對 1-node +106%(實際 2.06×)。</a:t>
            </a:r>
            <a:endParaRPr lang="en-US" sz="1050" dirty="0"/>
          </a:p>
        </p:txBody>
      </p:sp>
      <p:sp>
        <p:nvSpPr>
          <p:cNvPr id="20" name="Text 14"/>
          <p:cNvSpPr/>
          <p:nvPr/>
        </p:nvSpPr>
        <p:spPr>
          <a:xfrm>
            <a:off x="548640" y="59436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HAProxy 化後 YugabyteDB 穩定度也改善(t=128 振幅 range/mean 由 ≥17.1% 降至 ≤8.9%);故 PoC 對照拓撲收斂為 vm-3node-haproxy-3s3r-rc。</a:t>
            </a:r>
            <a:endParaRPr lang="en-US" sz="950" dirty="0"/>
          </a:p>
        </p:txBody>
      </p:sp>
      <p:sp>
        <p:nvSpPr>
          <p:cNvPr id="21" name="Text 15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54864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分散式資料庫架構決策評估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步驟三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VM 與 Kubernetes 部署平面對照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25296"/>
            <a:ext cx="11091672" cy="457200"/>
          </a:xfrm>
          <a:prstGeom prst="roundRect">
            <a:avLst>
              <a:gd name="adj" fmla="val 12000"/>
            </a:avLst>
          </a:prstGeom>
          <a:solidFill>
            <a:srgbClr val="EEF2FB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225296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本頁核心　</a:t>
            </a:r>
            <a:pPr indent="0" marL="0">
              <a:buNone/>
            </a:pPr>
            <a:r>
              <a:rPr lang="en-US" sz="1300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化對 TiDB / CockroachDB 屬可接受範圍;YugabyteDB 退化顯著,列為調校與驗證項。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11091672" cy="914400"/>
        </p:xfrm>
        <a:graphic>
          <a:graphicData uri="http://schemas.openxmlformats.org/drawingml/2006/table">
            <a:tbl>
              <a:tblPr/>
              <a:tblGrid>
                <a:gridCol w="2221992"/>
                <a:gridCol w="2194560"/>
                <a:gridCol w="2286000"/>
                <a:gridCol w="2194560"/>
                <a:gridCol w="21945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資料庫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VM baseline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K8s(不限資源)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K8s retention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資源限制 retention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</a:rPr>
                        <a:t>TiDB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330"/>
                          </a:solidFill>
                        </a:rPr>
                        <a:t>26,947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330"/>
                          </a:solidFill>
                        </a:rPr>
                        <a:t>23,442.9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2E7D32"/>
                          </a:solidFill>
                        </a:rPr>
                        <a:t>約 87% ✅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330"/>
                          </a:solidFill>
                        </a:rPr>
                        <a:t>約 58%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</a:rPr>
                        <a:t>CockroachDB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330"/>
                          </a:solidFill>
                        </a:rPr>
                        <a:t>15,033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330"/>
                          </a:solidFill>
                        </a:rPr>
                        <a:t>12,196.7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2E7D32"/>
                          </a:solidFill>
                        </a:rPr>
                        <a:t>約 81% ✅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330"/>
                          </a:solidFill>
                        </a:rPr>
                        <a:t>約 43%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</a:rPr>
                        <a:t>YugabyteDB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330"/>
                          </a:solidFill>
                        </a:rPr>
                        <a:t>15,632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330"/>
                          </a:solidFill>
                        </a:rPr>
                        <a:t>2,997.6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B8860B"/>
                          </a:solidFill>
                        </a:rPr>
                        <a:t>約 19% ⚠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330"/>
                          </a:solidFill>
                        </a:rPr>
                        <a:t>約 10%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3675888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32688" y="3621024"/>
            <a:ext cx="10698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資源限制情境　</a:t>
            </a:r>
            <a:pPr indent="0" marL="0">
              <a:buNone/>
            </a:pPr>
            <a:r>
              <a:rPr lang="en-US" sz="1130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每個資料庫 pod CPU 上限 2 vCPU、記憶體 8 GiB(相對 VM 4 vCPU),吞吐緊跟 CPU 預算降約半。</a:t>
            </a:r>
            <a:endParaRPr lang="en-US" sz="113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4187952"/>
            <a:ext cx="274320" cy="2743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32688" y="4133088"/>
            <a:ext cx="10698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延遲(NEW_ORDER p99)　</a:t>
            </a:r>
            <a:pPr indent="0" marL="0">
              <a:buNone/>
            </a:pPr>
            <a:r>
              <a:rPr lang="en-US" sz="1130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限制資源下 CockroachDB 約為 VM 的 3 倍、YugabyteDB 更高,建議納入 SLA 設計。</a:t>
            </a:r>
            <a:endParaRPr lang="en-US" sz="113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4700016"/>
            <a:ext cx="274320" cy="27432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32688" y="4645152"/>
            <a:ext cx="10698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錯誤率　</a:t>
            </a:r>
            <a:pPr indent="0" marL="0">
              <a:buNone/>
            </a:pPr>
            <a:r>
              <a:rPr lang="en-US" sz="1130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組 (cell, thread) 僅一例非零(TiDB 單一 round 的 16 秒 stall),其餘 99.998% 完成。</a:t>
            </a:r>
            <a:endParaRPr lang="en-US" sz="113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5212080"/>
            <a:ext cx="274320" cy="27432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932688" y="5157216"/>
            <a:ext cx="10698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部署優化方向　</a:t>
            </a:r>
            <a:pPr indent="0" marL="0">
              <a:buNone/>
            </a:pPr>
            <a:r>
              <a:rPr lang="en-US" sz="1130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服務網格(Service Mesh,服務間流量治理層)、Pod 反親和性(避免同節點堆疊)、leader election timeout、CPU pinning。</a:t>
            </a:r>
            <a:endParaRPr lang="en-US" sz="1130" dirty="0"/>
          </a:p>
        </p:txBody>
      </p:sp>
      <p:sp>
        <p:nvSpPr>
          <p:cNvPr id="15" name="Text 8"/>
          <p:cNvSpPr/>
          <p:nvPr/>
        </p:nvSpPr>
        <p:spPr>
          <a:xfrm>
            <a:off x="548640" y="598932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導入定位:TiDB 為短期優先候選;CockroachDB / YugabyteDB 保留觀察(YugabyteDB K8s 路徑需先完成部署層級調校與驗證)。</a:t>
            </a:r>
            <a:endParaRPr lang="en-US" sz="950" dirty="0"/>
          </a:p>
        </p:txBody>
      </p:sp>
      <p:sp>
        <p:nvSpPr>
          <p:cNvPr id="16" name="Text 9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7" name="Text 10"/>
          <p:cNvSpPr/>
          <p:nvPr/>
        </p:nvSpPr>
        <p:spPr>
          <a:xfrm>
            <a:off x="54864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分散式資料庫架構決策評估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跨區域災難復原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跨區災難復原:現行 No、中長期必需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25296"/>
            <a:ext cx="11091672" cy="457200"/>
          </a:xfrm>
          <a:prstGeom prst="roundRect">
            <a:avLst>
              <a:gd name="adj" fmla="val 12000"/>
            </a:avLst>
          </a:prstGeom>
          <a:solidFill>
            <a:srgbClr val="EEF2FB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225296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本頁核心　</a:t>
            </a:r>
            <a:pPr indent="0" marL="0">
              <a:buNone/>
            </a:pPr>
            <a:r>
              <a:rPr lang="en-US" sz="1300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分散式資料庫導入主範圍在自有機房;先累積地端維運與架構穩定性,跨區框架保留為能力儲備。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2148840" cy="1691640"/>
          </a:xfrm>
          <a:prstGeom prst="roundRect">
            <a:avLst>
              <a:gd name="adj" fmla="val 4324"/>
            </a:avLst>
          </a:prstGeom>
          <a:solidFill>
            <a:srgbClr val="F4F6FB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965960"/>
            <a:ext cx="214884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2194560"/>
            <a:ext cx="2148840" cy="2286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9659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54203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IDC Only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58368" y="3017520"/>
            <a:ext cx="1929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自有機房單區,累積維運經驗</a:t>
            </a:r>
            <a:endParaRPr lang="en-US" sz="95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70048" y="2697480"/>
            <a:ext cx="201168" cy="201168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2775204" y="1965960"/>
            <a:ext cx="2148840" cy="1691640"/>
          </a:xfrm>
          <a:prstGeom prst="roundRect">
            <a:avLst>
              <a:gd name="adj" fmla="val 4324"/>
            </a:avLst>
          </a:prstGeom>
          <a:solidFill>
            <a:srgbClr val="F4F6FB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775204" y="1965960"/>
            <a:ext cx="2148840" cy="457200"/>
          </a:xfrm>
          <a:prstGeom prst="roundRect">
            <a:avLst>
              <a:gd name="adj" fmla="val 16000"/>
            </a:avLst>
          </a:prstGeom>
          <a:solidFill>
            <a:srgbClr val="1C7293"/>
          </a:solidFill>
          <a:ln/>
        </p:spPr>
      </p:sp>
      <p:sp>
        <p:nvSpPr>
          <p:cNvPr id="15" name="Shape 12"/>
          <p:cNvSpPr/>
          <p:nvPr/>
        </p:nvSpPr>
        <p:spPr>
          <a:xfrm>
            <a:off x="2775204" y="2194560"/>
            <a:ext cx="2148840" cy="2286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Text 13"/>
          <p:cNvSpPr/>
          <p:nvPr/>
        </p:nvSpPr>
        <p:spPr>
          <a:xfrm>
            <a:off x="2775204" y="19659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phase-n+1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2866644" y="254203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IDC + EDC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2884932" y="3017520"/>
            <a:ext cx="1929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建立跨機房連線基礎</a:t>
            </a:r>
            <a:endParaRPr lang="en-US" sz="95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6612" y="2697480"/>
            <a:ext cx="201168" cy="201168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5001768" y="1965960"/>
            <a:ext cx="2148840" cy="1691640"/>
          </a:xfrm>
          <a:prstGeom prst="roundRect">
            <a:avLst>
              <a:gd name="adj" fmla="val 4324"/>
            </a:avLst>
          </a:prstGeom>
          <a:solidFill>
            <a:srgbClr val="F4F6FB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5001768" y="1965960"/>
            <a:ext cx="2148840" cy="457200"/>
          </a:xfrm>
          <a:prstGeom prst="roundRect">
            <a:avLst>
              <a:gd name="adj" fmla="val 16000"/>
            </a:avLst>
          </a:prstGeom>
          <a:solidFill>
            <a:srgbClr val="1C7293"/>
          </a:solidFill>
          <a:ln/>
        </p:spPr>
      </p:sp>
      <p:sp>
        <p:nvSpPr>
          <p:cNvPr id="22" name="Shape 18"/>
          <p:cNvSpPr/>
          <p:nvPr/>
        </p:nvSpPr>
        <p:spPr>
          <a:xfrm>
            <a:off x="5001768" y="2194560"/>
            <a:ext cx="2148840" cy="2286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3" name="Text 19"/>
          <p:cNvSpPr/>
          <p:nvPr/>
        </p:nvSpPr>
        <p:spPr>
          <a:xfrm>
            <a:off x="5001768" y="19659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phase-n+2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5093208" y="254203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A/S</a:t>
            </a:r>
            <a:endParaRPr lang="en-US" sz="1700" dirty="0"/>
          </a:p>
        </p:txBody>
      </p:sp>
      <p:sp>
        <p:nvSpPr>
          <p:cNvPr id="25" name="Text 21"/>
          <p:cNvSpPr/>
          <p:nvPr/>
        </p:nvSpPr>
        <p:spPr>
          <a:xfrm>
            <a:off x="5111496" y="3017520"/>
            <a:ext cx="1929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主備模式(Active / Standby)</a:t>
            </a:r>
            <a:endParaRPr lang="en-US" sz="95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3176" y="2697480"/>
            <a:ext cx="201168" cy="201168"/>
          </a:xfrm>
          <a:prstGeom prst="rect">
            <a:avLst/>
          </a:prstGeom>
        </p:spPr>
      </p:pic>
      <p:sp>
        <p:nvSpPr>
          <p:cNvPr id="27" name="Shape 22"/>
          <p:cNvSpPr/>
          <p:nvPr/>
        </p:nvSpPr>
        <p:spPr>
          <a:xfrm>
            <a:off x="7228332" y="1965960"/>
            <a:ext cx="2148840" cy="1691640"/>
          </a:xfrm>
          <a:prstGeom prst="roundRect">
            <a:avLst>
              <a:gd name="adj" fmla="val 4324"/>
            </a:avLst>
          </a:prstGeom>
          <a:solidFill>
            <a:srgbClr val="F4F6FB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7228332" y="1965960"/>
            <a:ext cx="2148840" cy="457200"/>
          </a:xfrm>
          <a:prstGeom prst="roundRect">
            <a:avLst>
              <a:gd name="adj" fmla="val 16000"/>
            </a:avLst>
          </a:prstGeom>
          <a:solidFill>
            <a:srgbClr val="5A3E85"/>
          </a:solidFill>
          <a:ln/>
        </p:spPr>
      </p:sp>
      <p:sp>
        <p:nvSpPr>
          <p:cNvPr id="29" name="Shape 24"/>
          <p:cNvSpPr/>
          <p:nvPr/>
        </p:nvSpPr>
        <p:spPr>
          <a:xfrm>
            <a:off x="7228332" y="2194560"/>
            <a:ext cx="2148840" cy="228600"/>
          </a:xfrm>
          <a:prstGeom prst="rect">
            <a:avLst/>
          </a:prstGeom>
          <a:solidFill>
            <a:srgbClr val="5A3E85"/>
          </a:solidFill>
          <a:ln/>
        </p:spPr>
      </p:sp>
      <p:sp>
        <p:nvSpPr>
          <p:cNvPr id="30" name="Text 25"/>
          <p:cNvSpPr/>
          <p:nvPr/>
        </p:nvSpPr>
        <p:spPr>
          <a:xfrm>
            <a:off x="7228332" y="19659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phase-n+3</a:t>
            </a:r>
            <a:endParaRPr lang="en-US" sz="1200" dirty="0"/>
          </a:p>
        </p:txBody>
      </p:sp>
      <p:sp>
        <p:nvSpPr>
          <p:cNvPr id="31" name="Text 26"/>
          <p:cNvSpPr/>
          <p:nvPr/>
        </p:nvSpPr>
        <p:spPr>
          <a:xfrm>
            <a:off x="7319772" y="254203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A/A(RO)</a:t>
            </a:r>
            <a:endParaRPr lang="en-US" sz="1700" dirty="0"/>
          </a:p>
        </p:txBody>
      </p:sp>
      <p:sp>
        <p:nvSpPr>
          <p:cNvPr id="32" name="Text 27"/>
          <p:cNvSpPr/>
          <p:nvPr/>
        </p:nvSpPr>
        <p:spPr>
          <a:xfrm>
            <a:off x="7338060" y="3017520"/>
            <a:ext cx="1929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雙活唯讀(Active-Active Read Only)</a:t>
            </a:r>
            <a:endParaRPr lang="en-US" sz="950" dirty="0"/>
          </a:p>
        </p:txBody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9740" y="2697480"/>
            <a:ext cx="201168" cy="201168"/>
          </a:xfrm>
          <a:prstGeom prst="rect">
            <a:avLst/>
          </a:prstGeom>
        </p:spPr>
      </p:pic>
      <p:sp>
        <p:nvSpPr>
          <p:cNvPr id="34" name="Shape 28"/>
          <p:cNvSpPr/>
          <p:nvPr/>
        </p:nvSpPr>
        <p:spPr>
          <a:xfrm>
            <a:off x="9454896" y="1965960"/>
            <a:ext cx="2148840" cy="1691640"/>
          </a:xfrm>
          <a:prstGeom prst="roundRect">
            <a:avLst>
              <a:gd name="adj" fmla="val 4324"/>
            </a:avLst>
          </a:prstGeom>
          <a:solidFill>
            <a:srgbClr val="F4F6FB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35" name="Shape 29"/>
          <p:cNvSpPr/>
          <p:nvPr/>
        </p:nvSpPr>
        <p:spPr>
          <a:xfrm>
            <a:off x="9454896" y="1965960"/>
            <a:ext cx="2148840" cy="457200"/>
          </a:xfrm>
          <a:prstGeom prst="roundRect">
            <a:avLst>
              <a:gd name="adj" fmla="val 16000"/>
            </a:avLst>
          </a:prstGeom>
          <a:solidFill>
            <a:srgbClr val="5A3E85"/>
          </a:solidFill>
          <a:ln/>
        </p:spPr>
      </p:sp>
      <p:sp>
        <p:nvSpPr>
          <p:cNvPr id="36" name="Shape 30"/>
          <p:cNvSpPr/>
          <p:nvPr/>
        </p:nvSpPr>
        <p:spPr>
          <a:xfrm>
            <a:off x="9454896" y="2194560"/>
            <a:ext cx="2148840" cy="228600"/>
          </a:xfrm>
          <a:prstGeom prst="rect">
            <a:avLst/>
          </a:prstGeom>
          <a:solidFill>
            <a:srgbClr val="5A3E85"/>
          </a:solidFill>
          <a:ln/>
        </p:spPr>
      </p:sp>
      <p:sp>
        <p:nvSpPr>
          <p:cNvPr id="37" name="Text 31"/>
          <p:cNvSpPr/>
          <p:nvPr/>
        </p:nvSpPr>
        <p:spPr>
          <a:xfrm>
            <a:off x="9454896" y="19659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phase-n+4</a:t>
            </a:r>
            <a:endParaRPr lang="en-US" sz="1200" dirty="0"/>
          </a:p>
        </p:txBody>
      </p:sp>
      <p:sp>
        <p:nvSpPr>
          <p:cNvPr id="38" name="Text 32"/>
          <p:cNvSpPr/>
          <p:nvPr/>
        </p:nvSpPr>
        <p:spPr>
          <a:xfrm>
            <a:off x="9546336" y="254203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A/S</a:t>
            </a:r>
            <a:endParaRPr lang="en-US" sz="1700" dirty="0"/>
          </a:p>
        </p:txBody>
      </p:sp>
      <p:sp>
        <p:nvSpPr>
          <p:cNvPr id="39" name="Text 33"/>
          <p:cNvSpPr/>
          <p:nvPr/>
        </p:nvSpPr>
        <p:spPr>
          <a:xfrm>
            <a:off x="9564624" y="3017520"/>
            <a:ext cx="1929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跨區成熟運作</a:t>
            </a:r>
            <a:endParaRPr lang="en-US" sz="950" dirty="0"/>
          </a:p>
        </p:txBody>
      </p:sp>
      <p:sp>
        <p:nvSpPr>
          <p:cNvPr id="40" name="Shape 34"/>
          <p:cNvSpPr/>
          <p:nvPr/>
        </p:nvSpPr>
        <p:spPr>
          <a:xfrm>
            <a:off x="548640" y="3931920"/>
            <a:ext cx="5486400" cy="1965960"/>
          </a:xfrm>
          <a:prstGeom prst="roundRect">
            <a:avLst>
              <a:gd name="adj" fmla="val 372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pic>
        <p:nvPicPr>
          <p:cNvPr id="4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4114800"/>
            <a:ext cx="310896" cy="310896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1152144" y="407822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框架保留作能力儲備</a:t>
            </a:r>
            <a:endParaRPr lang="en-US" sz="1350" dirty="0"/>
          </a:p>
        </p:txBody>
      </p:sp>
      <p:sp>
        <p:nvSpPr>
          <p:cNvPr id="43" name="Text 36"/>
          <p:cNvSpPr/>
          <p:nvPr/>
        </p:nvSpPr>
        <p:spPr>
          <a:xfrm>
            <a:off x="777240" y="4526280"/>
            <a:ext cx="5029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 5 台機器 IaC 程式(基礎建設即程式碼)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tidb-vm6 ansible + placement SQL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dry-run gate + chrony 跨區校時 gate(fail-closed)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不拆除;業務面就緒時隨時啟動</a:t>
            </a:r>
            <a:endParaRPr lang="en-US" sz="1050" dirty="0"/>
          </a:p>
        </p:txBody>
      </p:sp>
      <p:sp>
        <p:nvSpPr>
          <p:cNvPr id="44" name="Shape 37"/>
          <p:cNvSpPr/>
          <p:nvPr/>
        </p:nvSpPr>
        <p:spPr>
          <a:xfrm>
            <a:off x="6153912" y="3931920"/>
            <a:ext cx="5486400" cy="1965960"/>
          </a:xfrm>
          <a:prstGeom prst="roundRect">
            <a:avLst>
              <a:gd name="adj" fmla="val 372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4114800"/>
            <a:ext cx="310896" cy="310896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6757416" y="407822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與原廠建議邊界交叉核對</a:t>
            </a:r>
            <a:endParaRPr lang="en-US" sz="1350" dirty="0"/>
          </a:p>
        </p:txBody>
      </p:sp>
      <p:sp>
        <p:nvSpPr>
          <p:cNvPr id="47" name="Text 39"/>
          <p:cNvSpPr/>
          <p:nvPr/>
        </p:nvSpPr>
        <p:spPr>
          <a:xfrm>
            <a:off x="6382512" y="4526280"/>
            <a:ext cx="5074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副本間延遲建議 ~10 ms;PoC 校時 gate 門檻 100 ms,實測 drift_median 0.017 ms(遠低於兩者)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自動容災 failover 停機 30 秒內(Raft 多數派);跨區 F1 failover 之 RTO 待實跑回饋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抖動 80–100 ms 可能拉長 commit;與 PoC fail-closed 門檻一致</a:t>
            </a:r>
            <a:endParaRPr lang="en-US" sz="1050" dirty="0"/>
          </a:p>
        </p:txBody>
      </p:sp>
      <p:sp>
        <p:nvSpPr>
          <p:cNvPr id="48" name="Text 40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49" name="Text 41"/>
          <p:cNvSpPr/>
          <p:nvPr/>
        </p:nvSpPr>
        <p:spPr>
          <a:xfrm>
            <a:off x="54864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分散式資料庫架構決策評估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 2 · 可落地執行計畫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可落地執行計畫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25296"/>
            <a:ext cx="11091672" cy="457200"/>
          </a:xfrm>
          <a:prstGeom prst="roundRect">
            <a:avLst>
              <a:gd name="adj" fmla="val 12000"/>
            </a:avLst>
          </a:prstGeom>
          <a:solidFill>
            <a:srgbClr val="EEF2FB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225296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本頁核心　</a:t>
            </a:r>
            <a:pPr indent="0" marL="0">
              <a:buNone/>
            </a:pPr>
            <a:r>
              <a:rPr lang="en-US" sz="1300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從架構設計到資料遷移、HA / DR 與備份,逐項定義可執行步驟。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3575304" cy="1920240"/>
          </a:xfrm>
          <a:prstGeom prst="roundRect">
            <a:avLst>
              <a:gd name="adj" fmla="val 381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05740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25296" y="2020824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架構設計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68096" y="2478024"/>
            <a:ext cx="3136392" cy="1152144"/>
          </a:xfrm>
          <a:prstGeom prst="roundRect">
            <a:avLst>
              <a:gd name="adj" fmla="val 4762"/>
            </a:avLst>
          </a:prstGeom>
          <a:solidFill>
            <a:srgbClr val="FBFCFE"/>
          </a:solidFill>
          <a:ln w="12700">
            <a:solidFill>
              <a:srgbClr val="AEB7C8"/>
            </a:solidFill>
            <a:prstDash val="dash"/>
          </a:ln>
        </p:spPr>
      </p:sp>
      <p:sp>
        <p:nvSpPr>
          <p:cNvPr id="10" name="Text 7"/>
          <p:cNvSpPr/>
          <p:nvPr/>
        </p:nvSpPr>
        <p:spPr>
          <a:xfrm>
            <a:off x="950976" y="2478024"/>
            <a:ext cx="2770632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補充內容區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306824" y="1874520"/>
            <a:ext cx="3575304" cy="1920240"/>
          </a:xfrm>
          <a:prstGeom prst="roundRect">
            <a:avLst>
              <a:gd name="adj" fmla="val 381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7992" y="205740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983480" y="2020824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部署流程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4526280" y="2478024"/>
            <a:ext cx="3136392" cy="1152144"/>
          </a:xfrm>
          <a:prstGeom prst="roundRect">
            <a:avLst>
              <a:gd name="adj" fmla="val 4762"/>
            </a:avLst>
          </a:prstGeom>
          <a:solidFill>
            <a:srgbClr val="FBFCFE"/>
          </a:solidFill>
          <a:ln w="12700">
            <a:solidFill>
              <a:srgbClr val="AEB7C8"/>
            </a:solidFill>
            <a:prstDash val="dash"/>
          </a:ln>
        </p:spPr>
      </p:sp>
      <p:sp>
        <p:nvSpPr>
          <p:cNvPr id="15" name="Text 11"/>
          <p:cNvSpPr/>
          <p:nvPr/>
        </p:nvSpPr>
        <p:spPr>
          <a:xfrm>
            <a:off x="4709160" y="2478024"/>
            <a:ext cx="2770632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補充內容區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8065008" y="1874520"/>
            <a:ext cx="3575304" cy="1920240"/>
          </a:xfrm>
          <a:prstGeom prst="roundRect">
            <a:avLst>
              <a:gd name="adj" fmla="val 381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6176" y="205740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741664" y="2020824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資料遷移策略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8284464" y="2478024"/>
            <a:ext cx="3136392" cy="1152144"/>
          </a:xfrm>
          <a:prstGeom prst="roundRect">
            <a:avLst>
              <a:gd name="adj" fmla="val 4762"/>
            </a:avLst>
          </a:prstGeom>
          <a:solidFill>
            <a:srgbClr val="FBFCFE"/>
          </a:solidFill>
          <a:ln w="12700">
            <a:solidFill>
              <a:srgbClr val="AEB7C8"/>
            </a:solidFill>
            <a:prstDash val="dash"/>
          </a:ln>
        </p:spPr>
      </p:sp>
      <p:sp>
        <p:nvSpPr>
          <p:cNvPr id="20" name="Text 15"/>
          <p:cNvSpPr/>
          <p:nvPr/>
        </p:nvSpPr>
        <p:spPr>
          <a:xfrm>
            <a:off x="8467344" y="2478024"/>
            <a:ext cx="2770632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補充內容區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548640" y="3977640"/>
            <a:ext cx="3575304" cy="1920240"/>
          </a:xfrm>
          <a:prstGeom prst="roundRect">
            <a:avLst>
              <a:gd name="adj" fmla="val 381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4160520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225296" y="4123944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/ DR 策略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768096" y="4581144"/>
            <a:ext cx="3118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含 A/A、A/A(Read Only)、A/S 模式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768096" y="4892040"/>
            <a:ext cx="3136392" cy="841248"/>
          </a:xfrm>
          <a:prstGeom prst="roundRect">
            <a:avLst>
              <a:gd name="adj" fmla="val 6522"/>
            </a:avLst>
          </a:prstGeom>
          <a:solidFill>
            <a:srgbClr val="FBFCFE"/>
          </a:solidFill>
          <a:ln w="12700">
            <a:solidFill>
              <a:srgbClr val="AEB7C8"/>
            </a:solidFill>
            <a:prstDash val="dash"/>
          </a:ln>
        </p:spPr>
      </p:sp>
      <p:sp>
        <p:nvSpPr>
          <p:cNvPr id="26" name="Text 20"/>
          <p:cNvSpPr/>
          <p:nvPr/>
        </p:nvSpPr>
        <p:spPr>
          <a:xfrm>
            <a:off x="950976" y="4892040"/>
            <a:ext cx="27706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補充內容區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4306824" y="3977640"/>
            <a:ext cx="3575304" cy="1920240"/>
          </a:xfrm>
          <a:prstGeom prst="roundRect">
            <a:avLst>
              <a:gd name="adj" fmla="val 381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7992" y="4160520"/>
            <a:ext cx="365760" cy="36576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4983480" y="4123944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備份架構與方式</a:t>
            </a:r>
            <a:endParaRPr lang="en-US" sz="1400" dirty="0"/>
          </a:p>
        </p:txBody>
      </p:sp>
      <p:sp>
        <p:nvSpPr>
          <p:cNvPr id="30" name="Shape 23"/>
          <p:cNvSpPr/>
          <p:nvPr/>
        </p:nvSpPr>
        <p:spPr>
          <a:xfrm>
            <a:off x="4526280" y="4581144"/>
            <a:ext cx="3136392" cy="1152144"/>
          </a:xfrm>
          <a:prstGeom prst="roundRect">
            <a:avLst>
              <a:gd name="adj" fmla="val 4762"/>
            </a:avLst>
          </a:prstGeom>
          <a:solidFill>
            <a:srgbClr val="FBFCFE"/>
          </a:solidFill>
          <a:ln w="12700">
            <a:solidFill>
              <a:srgbClr val="AEB7C8"/>
            </a:solidFill>
            <a:prstDash val="dash"/>
          </a:ln>
        </p:spPr>
      </p:sp>
      <p:sp>
        <p:nvSpPr>
          <p:cNvPr id="31" name="Text 24"/>
          <p:cNvSpPr/>
          <p:nvPr/>
        </p:nvSpPr>
        <p:spPr>
          <a:xfrm>
            <a:off x="4709160" y="4581144"/>
            <a:ext cx="2770632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補充內容區</a:t>
            </a:r>
            <a:endParaRPr lang="en-US" sz="1100" dirty="0"/>
          </a:p>
        </p:txBody>
      </p:sp>
      <p:sp>
        <p:nvSpPr>
          <p:cNvPr id="32" name="Shape 25"/>
          <p:cNvSpPr/>
          <p:nvPr/>
        </p:nvSpPr>
        <p:spPr>
          <a:xfrm>
            <a:off x="8065008" y="3977640"/>
            <a:ext cx="3575304" cy="1920240"/>
          </a:xfrm>
          <a:prstGeom prst="roundRect">
            <a:avLst>
              <a:gd name="adj" fmla="val 2857"/>
            </a:avLst>
          </a:prstGeom>
          <a:solidFill>
            <a:srgbClr val="FBFCFE"/>
          </a:solidFill>
          <a:ln w="12700">
            <a:solidFill>
              <a:srgbClr val="AEB7C8"/>
            </a:solidFill>
            <a:prstDash val="dash"/>
          </a:ln>
        </p:spPr>
      </p:sp>
      <p:sp>
        <p:nvSpPr>
          <p:cNvPr id="33" name="Text 26"/>
          <p:cNvSpPr/>
          <p:nvPr/>
        </p:nvSpPr>
        <p:spPr>
          <a:xfrm>
            <a:off x="8266176" y="4114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/ DR 三模式</a:t>
            </a:r>
            <a:endParaRPr lang="en-US" sz="1300" dirty="0"/>
          </a:p>
        </p:txBody>
      </p:sp>
      <p:sp>
        <p:nvSpPr>
          <p:cNvPr id="34" name="Text 27"/>
          <p:cNvSpPr/>
          <p:nvPr/>
        </p:nvSpPr>
        <p:spPr>
          <a:xfrm>
            <a:off x="8266176" y="449884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A/A　·　A/A(Read Only)　·　A/S</a:t>
            </a:r>
            <a:endParaRPr lang="en-US" sz="1100" dirty="0"/>
          </a:p>
        </p:txBody>
      </p:sp>
      <p:sp>
        <p:nvSpPr>
          <p:cNvPr id="35" name="Text 28"/>
          <p:cNvSpPr/>
          <p:nvPr/>
        </p:nvSpPr>
        <p:spPr>
          <a:xfrm>
            <a:off x="8266176" y="48920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對接 part 2 跨區路線(phase-n+2 A/S → n+3 A/A-RO);補充三模式適用場景、RTO·RPO 與切換策略。</a:t>
            </a:r>
            <a:endParaRPr lang="en-US" sz="1000" dirty="0"/>
          </a:p>
        </p:txBody>
      </p:sp>
      <p:sp>
        <p:nvSpPr>
          <p:cNvPr id="36" name="Text 29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7" name="Text 30"/>
          <p:cNvSpPr/>
          <p:nvPr/>
        </p:nvSpPr>
        <p:spPr>
          <a:xfrm>
            <a:off x="54864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分散式資料庫架構決策評估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 3 · 預算評估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預算評估報告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25296"/>
            <a:ext cx="11091672" cy="457200"/>
          </a:xfrm>
          <a:prstGeom prst="roundRect">
            <a:avLst>
              <a:gd name="adj" fmla="val 12000"/>
            </a:avLst>
          </a:prstGeom>
          <a:solidFill>
            <a:srgbClr val="EEF2FB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225296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本頁核心　</a:t>
            </a:r>
            <a:pPr indent="0" marL="0">
              <a:buNone/>
            </a:pPr>
            <a:r>
              <a:rPr lang="en-US" sz="1300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建置 / 維運 / 擴展三段成本分析,導出後續專案啟動的最低成本策略。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3575304" cy="1051560"/>
          </a:xfrm>
          <a:prstGeom prst="roundRect">
            <a:avLst>
              <a:gd name="adj" fmla="val 6957"/>
            </a:avLst>
          </a:prstGeom>
          <a:solidFill>
            <a:srgbClr val="F4F6FB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075688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61872" y="2011680"/>
            <a:ext cx="2752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建置成本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261872" y="2359152"/>
            <a:ext cx="2706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硬體 / 授權 / 導入工時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48640" y="3063240"/>
            <a:ext cx="3575304" cy="1600200"/>
          </a:xfrm>
          <a:prstGeom prst="roundRect">
            <a:avLst>
              <a:gd name="adj" fmla="val 3429"/>
            </a:avLst>
          </a:prstGeom>
          <a:solidFill>
            <a:srgbClr val="FBFCFE"/>
          </a:solidFill>
          <a:ln w="12700">
            <a:solidFill>
              <a:srgbClr val="AEB7C8"/>
            </a:solidFill>
            <a:prstDash val="dash"/>
          </a:ln>
        </p:spPr>
      </p:sp>
      <p:sp>
        <p:nvSpPr>
          <p:cNvPr id="11" name="Text 8"/>
          <p:cNvSpPr/>
          <p:nvPr/>
        </p:nvSpPr>
        <p:spPr>
          <a:xfrm>
            <a:off x="731520" y="3063240"/>
            <a:ext cx="320954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補充內容區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306824" y="1874520"/>
            <a:ext cx="3575304" cy="1051560"/>
          </a:xfrm>
          <a:prstGeom prst="roundRect">
            <a:avLst>
              <a:gd name="adj" fmla="val 6957"/>
            </a:avLst>
          </a:prstGeom>
          <a:solidFill>
            <a:srgbClr val="F4F6FB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7992" y="2075688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020056" y="2011680"/>
            <a:ext cx="2752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維運成本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5020056" y="2359152"/>
            <a:ext cx="2706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原廠支援 / 專業服務 / 監控升級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4306824" y="3063240"/>
            <a:ext cx="3575304" cy="1600200"/>
          </a:xfrm>
          <a:prstGeom prst="roundRect">
            <a:avLst>
              <a:gd name="adj" fmla="val 3429"/>
            </a:avLst>
          </a:prstGeom>
          <a:solidFill>
            <a:srgbClr val="FBFCFE"/>
          </a:solidFill>
          <a:ln w="12700">
            <a:solidFill>
              <a:srgbClr val="AEB7C8"/>
            </a:solidFill>
            <a:prstDash val="dash"/>
          </a:ln>
        </p:spPr>
      </p:sp>
      <p:sp>
        <p:nvSpPr>
          <p:cNvPr id="17" name="Text 13"/>
          <p:cNvSpPr/>
          <p:nvPr/>
        </p:nvSpPr>
        <p:spPr>
          <a:xfrm>
            <a:off x="4489704" y="3063240"/>
            <a:ext cx="320954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補充內容區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8065008" y="1874520"/>
            <a:ext cx="3575304" cy="1051560"/>
          </a:xfrm>
          <a:prstGeom prst="roundRect">
            <a:avLst>
              <a:gd name="adj" fmla="val 6957"/>
            </a:avLst>
          </a:prstGeom>
          <a:solidFill>
            <a:srgbClr val="F4F6FB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6176" y="2075688"/>
            <a:ext cx="384048" cy="38404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778240" y="2011680"/>
            <a:ext cx="2752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擴展成本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8778240" y="2359152"/>
            <a:ext cx="2706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水平擴充 / 跨區 / 容量成長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8065008" y="3063240"/>
            <a:ext cx="3575304" cy="1600200"/>
          </a:xfrm>
          <a:prstGeom prst="roundRect">
            <a:avLst>
              <a:gd name="adj" fmla="val 3429"/>
            </a:avLst>
          </a:prstGeom>
          <a:solidFill>
            <a:srgbClr val="FBFCFE"/>
          </a:solidFill>
          <a:ln w="12700">
            <a:solidFill>
              <a:srgbClr val="AEB7C8"/>
            </a:solidFill>
            <a:prstDash val="dash"/>
          </a:ln>
        </p:spPr>
      </p:sp>
      <p:sp>
        <p:nvSpPr>
          <p:cNvPr id="23" name="Text 18"/>
          <p:cNvSpPr/>
          <p:nvPr/>
        </p:nvSpPr>
        <p:spPr>
          <a:xfrm>
            <a:off x="8247888" y="3063240"/>
            <a:ext cx="320954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補充內容區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548640" y="4846320"/>
            <a:ext cx="11091672" cy="1005840"/>
          </a:xfrm>
          <a:prstGeom prst="roundRect">
            <a:avLst>
              <a:gd name="adj" fmla="val 727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Text 20"/>
          <p:cNvSpPr/>
          <p:nvPr/>
        </p:nvSpPr>
        <p:spPr>
          <a:xfrm>
            <a:off x="822960" y="4983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後續專案啟動 — 最低成本策略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822960" y="5376672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依三段成本分析導出最低成本啟動方案;原廠專業服務 US$2,000/人天、TiDB Cloud 訂閱層級可作維運與擴展段輸入(見原廠後勤頁)。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54864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分散式資料庫架構決策評估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OPERATIONS · 原廠維運後勤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原廠技術支援與維運後勤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25296"/>
            <a:ext cx="11091672" cy="457200"/>
          </a:xfrm>
          <a:prstGeom prst="roundRect">
            <a:avLst>
              <a:gd name="adj" fmla="val 12000"/>
            </a:avLst>
          </a:prstGeom>
          <a:solidFill>
            <a:srgbClr val="EEF2FB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225296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本頁核心　</a:t>
            </a:r>
            <a:pPr indent="0" marL="0">
              <a:buNone/>
            </a:pPr>
            <a:r>
              <a:rPr lang="en-US" sz="1300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TiDB 原廠在技術支援、台灣在地資源與專業服務的後勤就緒度(2026-06-11 對焦)。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3575304" cy="4069080"/>
          </a:xfrm>
          <a:prstGeom prst="roundRect">
            <a:avLst>
              <a:gd name="adj" fmla="val 2046"/>
            </a:avLst>
          </a:prstGeom>
          <a:solidFill>
            <a:srgbClr val="F4F6FB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2084832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43584" y="2048256"/>
            <a:ext cx="2752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技術支援與 SLA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86384" y="2697480"/>
            <a:ext cx="311810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24×7 中文技術支援、線上工單系統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配技術顧問(TAM)即時協助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SLA:Premier S1(生產影響)30 分鐘、Enterprise 1 小時;實際常十幾分鐘內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駐點以遠端會議為主;現場支援之中文團隊多為大陸籍,需申請商務簽證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06824" y="1874520"/>
            <a:ext cx="3575304" cy="4069080"/>
          </a:xfrm>
          <a:prstGeom prst="roundRect">
            <a:avLst>
              <a:gd name="adj" fmla="val 2046"/>
            </a:avLst>
          </a:prstGeom>
          <a:solidFill>
            <a:srgbClr val="F4F6FB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2084832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001768" y="2048256"/>
            <a:ext cx="2752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台灣在地資源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544568" y="2697480"/>
            <a:ext cx="311810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商務 / 合約透過總代理商(麥塔等)處理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月將有台灣本地 SA(解決方案架構師)到職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065008" y="1874520"/>
            <a:ext cx="3575304" cy="4069080"/>
          </a:xfrm>
          <a:prstGeom prst="roundRect">
            <a:avLst>
              <a:gd name="adj" fmla="val 2046"/>
            </a:avLst>
          </a:prstGeom>
          <a:solidFill>
            <a:srgbClr val="F4F6FB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4464" y="2084832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759952" y="2048256"/>
            <a:ext cx="2752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專業服務(按人天)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8302752" y="2697480"/>
            <a:ext cx="311810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計費:US$ 2,000 / 人天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六大類:架構設計、資料遷移、效能調優、巡檢保障、客製化培訓、人員外包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54864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分散式資料庫架構決策評估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MIGRATION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多地多中心架構、容災與遷移後勤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25296"/>
            <a:ext cx="11091672" cy="457200"/>
          </a:xfrm>
          <a:prstGeom prst="roundRect">
            <a:avLst>
              <a:gd name="adj" fmla="val 12000"/>
            </a:avLst>
          </a:prstGeom>
          <a:solidFill>
            <a:srgbClr val="EEF2FB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225296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本頁核心　</a:t>
            </a:r>
            <a:pPr indent="0" marL="0">
              <a:buNone/>
            </a:pPr>
            <a:r>
              <a:rPr lang="en-US" sz="1300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跨區副本延遲、自動容災參數與五步驟遷移流程。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5486400" cy="182880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066544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70432" y="20299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多地多中心架構參數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68096" y="2487168"/>
            <a:ext cx="5074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副本間延遲建議　</a:t>
            </a:r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約 10 ms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跨雲連線　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Peering / Private Link,延遲無差異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抖動敏感度　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80–100 ms 抖動可能拉長 commit 或觸發重路由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3840480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411480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80160" y="3840480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自動容災 Failover　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Raft 多數派;專線中斷自動切健康副本,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停機 30 秒內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。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6400800" y="1874520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資料遷移服務流程(五步驟)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400800" y="228600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1"/>
          <p:cNvSpPr/>
          <p:nvPr/>
        </p:nvSpPr>
        <p:spPr>
          <a:xfrm>
            <a:off x="6400800" y="2286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6903720" y="2249424"/>
            <a:ext cx="4709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環境準備　</a:t>
            </a:r>
            <a:pPr indent="0" marL="0">
              <a:buNone/>
            </a:pPr>
            <a:r>
              <a:rPr lang="en-US" sz="1100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打通 VPC 連線;跨雲 / 跨地專線延遲符合 HA 要求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583680" y="2651760"/>
            <a:ext cx="0" cy="384048"/>
          </a:xfrm>
          <a:prstGeom prst="line">
            <a:avLst/>
          </a:prstGeom>
          <a:noFill/>
          <a:ln w="19050">
            <a:solidFill>
              <a:srgbClr val="BFD0E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400800" y="3035808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5"/>
          <p:cNvSpPr/>
          <p:nvPr/>
        </p:nvSpPr>
        <p:spPr>
          <a:xfrm>
            <a:off x="6400800" y="30358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6903720" y="2999232"/>
            <a:ext cx="4709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功能驗證　</a:t>
            </a:r>
            <a:pPr indent="0" marL="0">
              <a:buNone/>
            </a:pPr>
            <a:r>
              <a:rPr lang="en-US" sz="1100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測試環境或原廠清單(加密解密、備份恢復、Online DDL)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6583680" y="3401568"/>
            <a:ext cx="0" cy="384048"/>
          </a:xfrm>
          <a:prstGeom prst="line">
            <a:avLst/>
          </a:prstGeom>
          <a:noFill/>
          <a:ln w="19050">
            <a:solidFill>
              <a:srgbClr val="BFD0E0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400800" y="3785616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19"/>
          <p:cNvSpPr/>
          <p:nvPr/>
        </p:nvSpPr>
        <p:spPr>
          <a:xfrm>
            <a:off x="6400800" y="37856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6903720" y="3749040"/>
            <a:ext cx="4709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效能測試　</a:t>
            </a:r>
            <a:pPr indent="0" marL="0">
              <a:buNone/>
            </a:pPr>
            <a:r>
              <a:rPr lang="en-US" sz="1100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支援客戶壓測程式或標準 Benchmark(SysBench 等)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6583680" y="4151376"/>
            <a:ext cx="0" cy="384048"/>
          </a:xfrm>
          <a:prstGeom prst="line">
            <a:avLst/>
          </a:prstGeom>
          <a:noFill/>
          <a:ln w="19050">
            <a:solidFill>
              <a:srgbClr val="BFD0E0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6400800" y="4535424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7" name="Text 23"/>
          <p:cNvSpPr/>
          <p:nvPr/>
        </p:nvSpPr>
        <p:spPr>
          <a:xfrm>
            <a:off x="6400800" y="45354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4"/>
          <p:cNvSpPr/>
          <p:nvPr/>
        </p:nvSpPr>
        <p:spPr>
          <a:xfrm>
            <a:off x="6903720" y="4498848"/>
            <a:ext cx="4709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遷移演練　</a:t>
            </a:r>
            <a:pPr indent="0" marL="0">
              <a:buNone/>
            </a:pPr>
            <a:r>
              <a:rPr lang="en-US" sz="1100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DM(Data Migration)全量 + 增量同步;演練切換與回滾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6583680" y="4901184"/>
            <a:ext cx="0" cy="384048"/>
          </a:xfrm>
          <a:prstGeom prst="line">
            <a:avLst/>
          </a:prstGeom>
          <a:noFill/>
          <a:ln w="19050">
            <a:solidFill>
              <a:srgbClr val="BFD0E0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6400800" y="5285232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1" name="Text 27"/>
          <p:cNvSpPr/>
          <p:nvPr/>
        </p:nvSpPr>
        <p:spPr>
          <a:xfrm>
            <a:off x="6400800" y="5285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2" name="Text 28"/>
          <p:cNvSpPr/>
          <p:nvPr/>
        </p:nvSpPr>
        <p:spPr>
          <a:xfrm>
            <a:off x="6903720" y="5248656"/>
            <a:ext cx="4709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輸出報告　</a:t>
            </a:r>
            <a:pPr indent="0" marL="0">
              <a:buNone/>
            </a:pPr>
            <a:r>
              <a:rPr lang="en-US" sz="1100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架構建議、驗證結果、風險評估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48640" y="59436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交叉核對:原廠建議副本延遲 ~10 ms、failover 30 秒內,與本 PoC 跨區校時 gate 設計一致(實測 drift_median 0.017 ms);F1 failover 之 RTO 待跨區實跑回饋。</a:t>
            </a:r>
            <a:endParaRPr lang="en-US" sz="950" dirty="0"/>
          </a:p>
        </p:txBody>
      </p:sp>
      <p:sp>
        <p:nvSpPr>
          <p:cNvPr id="34" name="Text 30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35" name="Text 31"/>
          <p:cNvSpPr/>
          <p:nvPr/>
        </p:nvSpPr>
        <p:spPr>
          <a:xfrm>
            <a:off x="54864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分散式資料庫架構決策評估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COMPATIBILITY &amp; SUBSCRIPTION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相容性與 TiDB Cloud 訂閱層級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25296"/>
            <a:ext cx="11091672" cy="457200"/>
          </a:xfrm>
          <a:prstGeom prst="roundRect">
            <a:avLst>
              <a:gd name="adj" fmla="val 12000"/>
            </a:avLst>
          </a:prstGeom>
          <a:solidFill>
            <a:srgbClr val="EEF2FB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225296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本頁核心　</a:t>
            </a:r>
            <a:pPr indent="0" marL="0">
              <a:buNone/>
            </a:pPr>
            <a:r>
              <a:rPr lang="en-US" sz="1300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遷移相容性結論與雲端訂閱層級;另列待原廠補充事項。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相容性結論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39696"/>
          <a:ext cx="54864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3832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來源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結論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E7D32"/>
                          </a:solidFill>
                        </a:rPr>
                        <a:t>MySQL 5.7 / 8.0 / 8.4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330"/>
                          </a:solidFill>
                        </a:rPr>
                        <a:t>相容主流版本;獨立實現,非基於 MySQL 內核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B8860B"/>
                          </a:solidFill>
                        </a:rPr>
                        <a:t>PostgreSQL / MongoDB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330"/>
                          </a:solidFill>
                        </a:rPr>
                        <a:t>可遷移,需人工介入改造,無法無感遷移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B6472"/>
                          </a:solidFill>
                        </a:rPr>
                        <a:t>MariaDB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330"/>
                          </a:solidFill>
                        </a:rPr>
                        <a:t>需線下評估(10.4 / 10.11)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7293"/>
                          </a:solidFill>
                        </a:rPr>
                        <a:t>AI 場景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330"/>
                          </a:solidFill>
                        </a:rPr>
                        <a:t>向量搜索(HNSW)/ RAG / 圖搜索 / BM25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355080" y="182880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TiDB Cloud 訂閱層級</a:t>
            </a:r>
            <a:endParaRPr lang="en-US" sz="1300" dirty="0"/>
          </a:p>
        </p:txBody>
      </p:sp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2139696"/>
          <a:ext cx="5285232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73075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層級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規格 / 計費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A3E85"/>
                          </a:solidFill>
                        </a:rPr>
                        <a:t>Starter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330"/>
                          </a:solidFill>
                        </a:rPr>
                        <a:t>前 5 個資料庫免費;5 GB 上限;按 RU(請求單位)計費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A3E85"/>
                          </a:solidFill>
                        </a:rPr>
                        <a:t>Essential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330"/>
                          </a:solidFill>
                        </a:rPr>
                        <a:t>GB ~ TB;按用量計費;雙層加密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A3E85"/>
                          </a:solidFill>
                        </a:rPr>
                        <a:t>Premium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330"/>
                          </a:solidFill>
                        </a:rPr>
                        <a:t>TB ~ PB;4 個九可靠性;BYOK(客戶自有金鑰)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A3E85"/>
                          </a:solidFill>
                        </a:rPr>
                        <a:t>Dedicated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330"/>
                          </a:solidFill>
                        </a:rPr>
                        <a:t>預置資源方案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548640" y="4617720"/>
            <a:ext cx="11091672" cy="1234440"/>
          </a:xfrm>
          <a:prstGeom prst="roundRect">
            <a:avLst>
              <a:gd name="adj" fmla="val 5926"/>
            </a:avLst>
          </a:prstGeom>
          <a:solidFill>
            <a:srgbClr val="FBF6E9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4773168"/>
            <a:ext cx="292608" cy="2926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15568" y="4736592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待原廠補充事項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1115568" y="5074920"/>
            <a:ext cx="10332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Self-Managed(地端自建)訂閱方案與計費細節──104 採地端自建(IDC + GCP 跨區),評估採購需此資訊。</a:t>
            </a:r>
            <a:endParaRPr lang="en-US" sz="10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Serializable 效能異常分析──原廠所述「Serializable &gt; Read Committed」對應 TiDB 之 REPEATABLE READ(悲觀鎖);TiDB 無原生 SERIALIZABLE,建議下次對焦會澄清術語對齊。</a:t>
            </a:r>
            <a:endParaRPr lang="en-US" sz="10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MariaDB 10.4 / 10.11 相容性細節──線下評估。</a:t>
            </a:r>
            <a:endParaRPr lang="en-US" sz="1030" dirty="0"/>
          </a:p>
        </p:txBody>
      </p:sp>
      <p:sp>
        <p:nvSpPr>
          <p:cNvPr id="14" name="Text 9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54864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分散式資料庫架構決策評估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分散式資料庫架構決策評估</dc:title>
  <dc:subject>PptxGenJS Presentation</dc:subject>
  <dc:creator>分散式資料庫架構決策評估</dc:creator>
  <cp:lastModifiedBy>分散式資料庫架構決策評估</cp:lastModifiedBy>
  <cp:revision>1</cp:revision>
  <dcterms:created xsi:type="dcterms:W3CDTF">2026-06-16T03:02:15Z</dcterms:created>
  <dcterms:modified xsi:type="dcterms:W3CDTF">2026-06-16T03:02:15Z</dcterms:modified>
</cp:coreProperties>
</file>