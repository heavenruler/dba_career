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4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tpmC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82-B545-93F6-252BA20FCD11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82-B545-93F6-252BA20FCD11}"/>
              </c:ext>
            </c:extLst>
          </c:dPt>
          <c:dPt>
            <c:idx val="2"/>
            <c:invertIfNegative val="0"/>
            <c:bubble3D val="0"/>
            <c:spPr>
              <a:solidFill>
                <a:srgbClr val="8593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82-B545-93F6-252BA20FCD1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2330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TiDB</c:v>
                </c:pt>
                <c:pt idx="1">
                  <c:v>YugabyteDB</c:v>
                </c:pt>
                <c:pt idx="2">
                  <c:v>CockroachDB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26900</c:v>
                </c:pt>
                <c:pt idx="1">
                  <c:v>15600</c:v>
                </c:pt>
                <c:pt idx="2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82-B545-93F6-252BA20FCD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00"/>
        </c:scaling>
        <c:delete val="0"/>
        <c:axPos val="l"/>
        <c:majorGridlines>
          <c:spPr>
            <a:ln w="6350" cap="flat">
              <a:solidFill>
                <a:srgbClr val="EAEE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19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914400"/>
            <a:ext cx="3108960" cy="3108960"/>
          </a:xfrm>
          <a:prstGeom prst="ellipse">
            <a:avLst/>
          </a:prstGeom>
          <a:solidFill>
            <a:srgbClr val="2C3A7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1247120" y="4846320"/>
            <a:ext cx="2377440" cy="2377440"/>
          </a:xfrm>
          <a:prstGeom prst="ellipse">
            <a:avLst/>
          </a:prstGeom>
          <a:solidFill>
            <a:srgbClr val="2C3A7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第一階段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第一階段成果與下一步決策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第一階段已給出技術證據;下一步由 application owner 與管理層共同界定導入場景。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5669280" cy="0"/>
          </a:xfrm>
          <a:prstGeom prst="line">
            <a:avLst/>
          </a:prstGeom>
          <a:noFill/>
          <a:ln w="12700">
            <a:solidFill>
              <a:srgbClr val="4755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受眾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C-level / 跨部門主管 / 業務 / application owner（應用負責人）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本份定位:第一階段成果與決策框架,不是工程細節報告。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MAP &amp; 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第一階段成果與下一步決策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r>
              <a:rPr lang="en-US" sz="13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第一階段已給出技術證據,下一步需要 application owner 與管理層共同界定導入場景。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進度地圖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39696"/>
          <a:ext cx="5532120" cy="210312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範圍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狀態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S-BASE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三家 × 指定 isolation × 指定拓撲(VM baseline)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T-THRD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thread sweep 行為對標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S-K8S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三家 × {unlimit, limit} = 6 cell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X-CROSS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6-node TiDB + 跨區、placement、failover、chaos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🟡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43484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X-CROSS　</a:t>
            </a: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框架已就位,sweep 數據待執行。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85232" cy="1298448"/>
          </a:xfrm>
          <a:prstGeom prst="roundRect">
            <a:avLst>
              <a:gd name="adj" fmla="val 5634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7510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67728" y="1947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已完成什麼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65392" y="234086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三家於同一 4 vCPU + W=128 TPCC 完成 baseline 對標;VM 與 Kubernetes 部署差異已實測量化;跨區域測試框架已就位。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55080" y="3273552"/>
            <a:ext cx="5285232" cy="1298448"/>
          </a:xfrm>
          <a:prstGeom prst="roundRect">
            <a:avLst>
              <a:gd name="adj" fmla="val 5634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41985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67728" y="33924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已觀察到什麼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565392" y="378561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 與 CockroachDB 在 K8s retention 約八成;YugabyteDB 退化明顯,成因尚未定位、列為後續調校項;全程 N=1,決策前需補 N=3。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355080" y="4718304"/>
            <a:ext cx="5285232" cy="1298448"/>
          </a:xfrm>
          <a:prstGeom prst="roundRect">
            <a:avLst>
              <a:gd name="adj" fmla="val 5634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86460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67728" y="48371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下一步誰決策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565392" y="52303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owner(一致性 / 延遲 / RTO·RPO)、管理層(商業實體限制 / 預算窗口)、DBA 維運(導入路徑)。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 為單次量測;正式採購或導入前需補 N=3 重跑(已列入下一階段)。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三家資料庫導入定位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r>
              <a:rPr lang="en-US" sz="13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三家有不同導入定位,不適合用單一吞吐排序判讀。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943600" cy="1298448"/>
          </a:xfrm>
          <a:prstGeom prst="roundRect">
            <a:avLst>
              <a:gd name="adj" fmla="val 5634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77240" y="2002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60520" y="2020824"/>
            <a:ext cx="2121408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160520" y="202082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短期優先候選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與 K8s 吞吐較佳、K8s retention 較高;可優先進入應用情境對接。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943600" cy="1298448"/>
          </a:xfrm>
          <a:prstGeom prst="roundRect">
            <a:avLst>
              <a:gd name="adj" fmla="val 5634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77240" y="34655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CockroachDB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60520" y="3483864"/>
            <a:ext cx="2121408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160520" y="348386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保留觀察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90448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一致性語意較強(SSI 預設);SI / SSI 下 retry 與效能成本明顯,需評估容忍度。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943600" cy="1298448"/>
          </a:xfrm>
          <a:prstGeom prst="roundRect">
            <a:avLst>
              <a:gd name="adj" fmla="val 5634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77240" y="49286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YugabyteDB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60520" y="4946904"/>
            <a:ext cx="2121408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160520" y="494690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保留觀察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36752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+ HAProxy 表現可觀;K8s 結果不宜直接作結論,VM 路徑可進入評估。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同硬體 baseline · t=128 mean tpmC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675120" y="219456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6675120" y="4956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vm-3node-haproxy-3s3r-rc(≈ 約值)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 baseline(拓撲全部鎖定 sharding / replication 參數):觀察拆解後純效應,不直接代表各家「拿出來就跑」的生產表現(見 results/PoC-DESIGN.md §6)。商業實體 / 授權議題見後頁風險頁。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vs KUBERNETES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 與 Kubernetes 效能差異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r>
              <a:rPr lang="en-US" sz="13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化對 TiDB 與 CockroachDB 屬可接受範圍;YugabyteDB 在 K8s 下退化顯著,列為調校與驗證項。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1828800"/>
        </p:xfrm>
        <a:graphic>
          <a:graphicData uri="http://schemas.openxmlformats.org/drawingml/2006/table">
            <a:tbl>
              <a:tblPr/>
              <a:tblGrid>
                <a:gridCol w="222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資料庫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VM baseline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K8s(不限資源)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K8s retention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資源限制 retention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TiDB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26,947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23,442.9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約 87% ✅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約 58%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CockroachDB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15,033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12,196.7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約 81% ✅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約 43%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YugabyteDB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15,632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2,997.6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</a:rPr>
                        <a:t>約 19% ⚠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約 10%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8736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4032504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資源限制情境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每個資料庫 pod CPU 上限 2 vCPU、記憶體 8 GiB(相對 VM 4 vCPU),觀察緊配額下吞吐。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562856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" y="4507992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延遲(NEW_ORDER p99)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限制資源下 CockroachDB 約為 VM 的 3 倍、YugabyteDB 更高,建議納入 SLA 設計。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03834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2688" y="498348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錯誤率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組僅一例非零(TiDB-unlimit T16 單一 round 的 16 秒 stall),其餘 99.998% 完成。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513832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32688" y="545896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部署優化方向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Mesh(服務間流量治理層)、Pod 反親和性(避免同節點堆疊)、leader election timeout、CPU pinning。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 / p99 / retention 數字來源:analytics-S-K8S-2026-06-15.md。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跨區域 / 跨專線進度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r>
              <a:rPr lang="en-US" sz="13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框架與規劃已建立;dry-run blocker 修正後才能進入 sweep。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75304" cy="4160520"/>
          </a:xfrm>
          <a:prstGeom prst="roundRect">
            <a:avLst>
              <a:gd name="adj" fmla="val 1790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75304" cy="566928"/>
          </a:xfrm>
          <a:prstGeom prst="roundRect">
            <a:avLst>
              <a:gd name="adj" fmla="val 1129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3575304" cy="2743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751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704" y="182880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已完成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2542032"/>
            <a:ext cx="317296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道技術議題拍板(GCP 5 VM 拓撲、9 cell-track、placement、chaos、A-A 全 W=128)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非技術議題收斂 9 項(5 待決 + 4 拍板);含跨區 DR(災難復原)「現行 No、中長期必需」、PG→TiDB「TiDB 為主」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IaC(基礎建設即程式碼)、ansible playbook、suite scripts、chrony drift gate(drift_median 0.017 ms)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IDC(自有機房)盤點與 K8s 殘留清理;GCP 5 VM 已驗證可建可連並 destroy 釋出(節費)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4306824" y="1828800"/>
            <a:ext cx="3575304" cy="4160520"/>
          </a:xfrm>
          <a:prstGeom prst="roundRect">
            <a:avLst>
              <a:gd name="adj" fmla="val 1790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0"/>
          <p:cNvSpPr/>
          <p:nvPr/>
        </p:nvSpPr>
        <p:spPr>
          <a:xfrm>
            <a:off x="4306824" y="1828800"/>
            <a:ext cx="3575304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4306824" y="2121408"/>
            <a:ext cx="3575304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9751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18888" y="182880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— 待執行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07992" y="2542032"/>
            <a:ext cx="317296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修兩處 blocker:ansible hostname mapping(B1,10 分)、IDC HAProxy IP(B2,5 分)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重建(28 秒)→ cross-region dry-run → sweep 實跑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量級約 150 小時(360 rounds × 平均 25 分),連續約 6.25 天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實務分批排程約 19 個工作天並設 review gate;GCP 5 VM 約 USD 590 / 月、sweep 期間約 USD 40</a:t>
            </a:r>
            <a:endParaRPr lang="en-US" sz="1030" dirty="0"/>
          </a:p>
        </p:txBody>
      </p:sp>
      <p:sp>
        <p:nvSpPr>
          <p:cNvPr id="18" name="Shape 14"/>
          <p:cNvSpPr/>
          <p:nvPr/>
        </p:nvSpPr>
        <p:spPr>
          <a:xfrm>
            <a:off x="8065008" y="1828800"/>
            <a:ext cx="3575304" cy="4160520"/>
          </a:xfrm>
          <a:prstGeom prst="roundRect">
            <a:avLst>
              <a:gd name="adj" fmla="val 1790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5"/>
          <p:cNvSpPr/>
          <p:nvPr/>
        </p:nvSpPr>
        <p:spPr>
          <a:xfrm>
            <a:off x="8065008" y="1828800"/>
            <a:ext cx="3575304" cy="566928"/>
          </a:xfrm>
          <a:prstGeom prst="roundRect">
            <a:avLst>
              <a:gd name="adj" fmla="val 1129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6"/>
          <p:cNvSpPr/>
          <p:nvPr/>
        </p:nvSpPr>
        <p:spPr>
          <a:xfrm>
            <a:off x="8065008" y="2121408"/>
            <a:ext cx="3575304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97510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77072" y="182880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— 風險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66176" y="2542032"/>
            <a:ext cx="317296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期間 IDC 端負載連續(建議避開其他維護)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strike="sngStrike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 K8s cap 情境 TPCC client 可能 hang(列為觀察項)</a:t>
            </a:r>
            <a:endParaRPr lang="en-US" sz="1030" strike="sngStrike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跨區域網路 drift 異常需 fail-closed gate(已實作)</a:t>
            </a:r>
            <a:endParaRPr lang="en-US" sz="1030" dirty="0"/>
          </a:p>
        </p:txBody>
      </p:sp>
      <p:sp>
        <p:nvSpPr>
          <p:cNvPr id="24" name="Text 19"/>
          <p:cNvSpPr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數據尚未產出;時間與費用為估計值。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建議決策框架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r>
              <a:rPr lang="en-US" sz="13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不是選一家,而是先界定 application 條件、再排序候選;本份提供框架,不替代決策。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三層候選分類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39696"/>
          <a:ext cx="5623560" cy="2834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分類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內容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處置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短期候選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30"/>
                          </a:solidFill>
                        </a:rPr>
                        <a:t>TiDB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優先進入應用情境對接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</a:rPr>
                        <a:t>保留觀察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30"/>
                          </a:solidFill>
                        </a:rPr>
                        <a:t>CockroachDB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依一致性 / retry 容忍度 / 維運成本評估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</a:rPr>
                        <a:t>保留觀察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30"/>
                          </a:solidFill>
                        </a:rPr>
                        <a:t>YugabyteDB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VM 可評估;K8s 需先完成部署層級調校與驗證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B6472"/>
                          </a:solidFill>
                        </a:rPr>
                        <a:t>暫不作結論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30"/>
                          </a:solidFill>
                        </a:rPr>
                        <a:t>跨區域場景、K8s 退化未定位項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等下一階段 sweep 與調校產出再評估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46520" y="1828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owner 需確認的五項議題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46520" y="22128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64465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67728" y="217627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交易一致性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SERIALIZABLE / SSI?可接受 READ COMMITTED?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46520" y="2724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644652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67728" y="268833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可接受延遲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t=128 負載下 p99 需 500ms / 1s / 2s 以內?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46520" y="32369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644652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967728" y="32004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timeout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能接受 SI / SSI 下 retry 機制?timeout 預期值?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46520" y="3749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64465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67728" y="371246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/ RPO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跨區域 failover 需 &lt; 30s RTO?容許資料 lag?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46520" y="4261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/>
          <p:nvPr/>
        </p:nvSpPr>
        <p:spPr>
          <a:xfrm>
            <a:off x="644652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967728" y="422452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連線層 / 交易模式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能配合 HAProxy / pgbouncer / 連線池與短交易調整?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上述五項取得共識前,建議不直接拍板採購單一資料庫。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限制與風險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r>
              <a:rPr lang="en-US" sz="13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本份簡報的引用邊界與後續補強項。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212140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類型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範例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引用方式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已驗證事實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30"/>
                          </a:solidFill>
                        </a:rPr>
                        <a:t>三家 VM / K8s tpmC、p99、error count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30"/>
                          </a:solidFill>
                        </a:rPr>
                        <a:t>可引用,但不可作為唯一採購或導入依據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</a:rPr>
                        <a:t>工程推論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30"/>
                          </a:solidFill>
                        </a:rPr>
                        <a:t>TiDB K8s 偶發 stall 推測為 leader transition / 連接埠轉發層行為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30"/>
                          </a:solidFill>
                        </a:rPr>
                        <a:t>引用需附「推論」字樣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</a:rPr>
                        <a:t>待補數據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30"/>
                          </a:solidFill>
                        </a:rPr>
                        <a:t>N=3 重跑、YugabyteDB K8s retention 成因、跨區域 sweep 結果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30"/>
                          </a:solidFill>
                        </a:rPr>
                        <a:t>引用前須說明數據尚未產出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297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 caveat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6634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4608576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 量測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第一階段全部 cell 單次跑,已標註下一階段補 N=3。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13892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5084064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YugabyteDB K8s 約 19% retention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成因尚未定位,列為後續調校項。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61441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5559552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 / 商業實體層面　</a:t>
            </a: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候選廠商之商業實體狀態(含中資與否)、供應鏈與政策考量需另案 review,不在本份技術簡報範圍內。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後續推進階段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r>
              <a:rPr lang="en-US" sz="13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分三階段推進,不是 task list。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04672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500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短期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294436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 blocker、完成 cross-region dry-run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修補 ansible inventory / playbook 兩處 blocker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重建 GCP 5 VM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跑通 cross-region dry-run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06824" y="192024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0"/>
          <p:cNvSpPr/>
          <p:nvPr/>
        </p:nvSpPr>
        <p:spPr>
          <a:xfrm>
            <a:off x="4562856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3500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30952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中期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581144" y="294436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完成跨區域 sweep、failover、chaos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81144" y="361188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A-S / A-A-RO / A-A × P-A / P-B × 三家,依 review gate 分批 sweep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與 chaos(C1 / C4 / C7)driven 測試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跨區域 analytics 第二份報告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65008" y="192024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5"/>
          <p:cNvSpPr/>
          <p:nvPr/>
        </p:nvSpPr>
        <p:spPr>
          <a:xfrm>
            <a:off x="8321040" y="2194560"/>
            <a:ext cx="640080" cy="640080"/>
          </a:xfrm>
          <a:prstGeom prst="ellipse">
            <a:avLst/>
          </a:prstGeom>
          <a:solidFill>
            <a:srgbClr val="5A3E85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235000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89136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A3E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決策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339328" y="294436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application 共同定義導入候選場景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339328" y="361188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owner 完成五項議題確認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 / 商業實體層面 review 完成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選定一個或多個短期候選進入導入規劃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議題確認與採購 review 可平行進行,不需等技術數據全齊才開始。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文件導引與預期問題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r>
              <a:rPr lang="en-US" sz="13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細節文件導引;主簡報不塞 path。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文件導引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39696"/>
          <a:ext cx="5532120" cy="307238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主題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引用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第一階段數據彙整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1_MeetingMinutes/analytics-S-K8S-2026-06-15.md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跨區域技術決策(10 道)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phase-crossregion/decisions-2026-06-08.md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分散式 DB 非技術議題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...2026-06-09-distributed-db-adoption-non-technical.md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PoC 設計原則(SSOT)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results/PoC-DESIGN.md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結果索引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results/README.md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55080" y="1828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預期問題與回應方向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55080" y="2133162"/>
            <a:ext cx="5285232" cy="877824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6537960" y="220631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　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何時可給最終建議?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37960" y="2498922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　</a:t>
            </a: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待跨區域 sweep 完成 + application owner 五項共識 + 採購 review 完成。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55080" y="3084138"/>
            <a:ext cx="5285232" cy="877824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6537960" y="315729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　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化值得做嗎?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37960" y="344989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　</a:t>
            </a: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 / CockroachDB 不限資源下 retention 約八成、屬可接受;限制資源下吞吐砍半、p99 惡化,須依情境權衡。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55080" y="4035114"/>
            <a:ext cx="5285232" cy="877824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6537960" y="410826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　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須等所有數據齊全才能決策?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7960" y="4400874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　</a:t>
            </a: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議題確認與採購 review 可平行進行,不需等技術數據全齊。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1053</Words>
  <Application>Microsoft Macintosh PowerPoint</Application>
  <PresentationFormat>寬螢幕</PresentationFormat>
  <Paragraphs>211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第一階段成果與下一步決策</dc:title>
  <dc:subject>PptxGenJS Presentation</dc:subject>
  <dc:creator>PoC 第一階段</dc:creator>
  <cp:lastModifiedBy>Wn Lin 林武男</cp:lastModifiedBy>
  <cp:revision>3</cp:revision>
  <dcterms:created xsi:type="dcterms:W3CDTF">2026-06-15T08:33:36Z</dcterms:created>
  <dcterms:modified xsi:type="dcterms:W3CDTF">2026-06-15T08:49:59Z</dcterms:modified>
</cp:coreProperties>
</file>