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MILESTONES.md#%E5%B0%88%E6%A1%88%E6%99%82%E7%A8%8B" TargetMode="External"/><Relationship Id="rId3" Type="http://schemas.openxmlformats.org/officeDocument/2006/relationships/hyperlink" Target="https://github.com/heavenruler/dba_career/blob/master/poc/MILESTONES.md#2-%E5%96%AE%E7%AF%80%E9%BB%9E%E4%B8%89%E9%9A%94%E9%9B%A2%E7%B4%9A%E5%9F%BA%E6%BA%96" TargetMode="External"/><Relationship Id="rId4" Type="http://schemas.openxmlformats.org/officeDocument/2006/relationships/hyperlink" Target="https://github.com/heavenruler/dba_career/blob/master/poc/phase-crossregion/XCROSS-PA-VS-PB-FINAL-COMPARISON.md" TargetMode="External"/><Relationship Id="rId5" Type="http://schemas.openxmlformats.org/officeDocument/2006/relationships/hyperlink" Target="https://github.com/heavenruler/dba_career/blob/master/poc/DISTRIBUTED-DB-SCORING-INTRO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6" Type="http://schemas.openxmlformats.org/officeDocument/2006/relationships/hyperlink" Target="https://github.com/heavenruler/dba_career/blob/master/poc/DISTRIBUTED-DB-SCORING.md#331a-mysql-%E7%9B%B8%E5%AE%B9%E7%BE%A4%E7%B5%84galerapxc-84chaosfailover-%E5%AF%A6%E6%B8%AC2026-08-13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Relationship Id="rId9" Type="http://schemas.openxmlformats.org/officeDocument/2006/relationships/hyperlink" Target="https://github.com/heavenruler/dba_career/blob/master/poc/DISTRIBUTED-DB-SCORING.md#35-tidb-htaptiflash-%E8%88%87-yugabytedbcockroachdb-geo-distributi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6" Type="http://schemas.openxmlformats.org/officeDocument/2006/relationships/hyperlink" Target="https://github.com/heavenruler/dba_career/blob/master/poc/DISTRIBUTED-DB-SCORING.md#331-failover-rtorpo--2026-08-11-%E7%9C%9F%E5%AF%A6%E9%87%8D%E8%B7%91%E5%AE%8C%E6%88%90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ingcap.com/tidb/stable/support/" TargetMode="External"/><Relationship Id="rId3" Type="http://schemas.openxmlformats.org/officeDocument/2006/relationships/hyperlink" Target="https://www.percona.com/support-policies/" TargetMode="External"/><Relationship Id="rId4" Type="http://schemas.openxmlformats.org/officeDocument/2006/relationships/hyperlink" Target="https://www.yugabyte.com/yugabyte-software-support-services-agreement/" TargetMode="External"/><Relationship Id="rId5" Type="http://schemas.openxmlformats.org/officeDocument/2006/relationships/hyperlink" Target="https://www.cockroachlabs.com/terms-and-conditions/cockroachdb-support-policy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gitbook/deliverables/budget-assessment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results/tidb-tc1/S-BASE/vm-1node-rc/tidb-vm-1node-rc-20260518T202009+0800/summary.json" TargetMode="External"/><Relationship Id="rId3" Type="http://schemas.openxmlformats.org/officeDocument/2006/relationships/hyperlink" Target="https://github.com/heavenruler/dba_career/blob/master/poc/results/tidb-tc1/S-BASE/vm-3node-haproxy-3s3r-rc-pd-sched-l4r4/tidb-vm-3node-haproxy-3s3r-rc-20260601T003316+0800/summary.json" TargetMode="External"/><Relationship Id="rId4" Type="http://schemas.openxmlformats.org/officeDocument/2006/relationships/hyperlink" Target="https://github.com/heavenruler/dba_career/blob/master/poc/results/galera-tc1/S-BASE/vm-1node-rc/galera-vm-1node-rc-20260813T073744+0800/summary.json" TargetMode="External"/><Relationship Id="rId5" Type="http://schemas.openxmlformats.org/officeDocument/2006/relationships/hyperlink" Target="https://github.com/heavenruler/dba_career/blob/master/poc/results/galera-tc1/S-BASE/vm-3node-haproxy-3s3r-rc/galera-vm-3node-haproxy-3s3r-rc-20260813T112044+0800/summary.json" TargetMode="External"/><Relationship Id="rId6" Type="http://schemas.openxmlformats.org/officeDocument/2006/relationships/hyperlink" Target="https://github.com/heavenruler/dba_career/blob/master/poc/results/yuga-tc1/S-BASE/vm-1node-rc/ybdb-vm-1node-rc-20260520T134929+0800/summary.json" TargetMode="External"/><Relationship Id="rId7" Type="http://schemas.openxmlformats.org/officeDocument/2006/relationships/hyperlink" Target="https://github.com/heavenruler/dba_career/blob/master/poc/results/yuga-tc1/S-BASE/vm-3node-haproxy-3s3r-rc/ybdb-vm-3node-haproxy-3s3r-rc-20260525T193740+0800/summary.json" TargetMode="External"/><Relationship Id="rId8" Type="http://schemas.openxmlformats.org/officeDocument/2006/relationships/hyperlink" Target="https://github.com/heavenruler/dba_career/blob/master/poc/results/crdb-tc1/S-BASE/vm-1node-rc/crdb-vm-1node-rc-20260519T085346+0800/summary.json" TargetMode="External"/><Relationship Id="rId9" Type="http://schemas.openxmlformats.org/officeDocument/2006/relationships/hyperlink" Target="https://github.com/heavenruler/dba_career/blob/master/poc/results/crdb-tc1/S-BASE/vm-3node-haproxy-3s3r-rc/crdb-vm-3node-haproxy-3s3r-rc-20260602T051500+0800/summary.json" TargetMode="External"/><Relationship Id="rId10" Type="http://schemas.openxmlformats.org/officeDocument/2006/relationships/hyperlink" Target="https://github.com/heavenruler/dba_career/blob/master/poc/results/x-cross/README.md" TargetMode="External"/><Relationship Id="rId11" Type="http://schemas.openxmlformats.org/officeDocument/2006/relationships/hyperlink" Target="https://github.com/heavenruler/dba_career/blob/master/poc/phase-crossregion/XCROSS-PA-VS-PB-FINAL-COMPARISON.md" TargetMode="External"/><Relationship Id="rId12" Type="http://schemas.openxmlformats.org/officeDocument/2006/relationships/hyperlink" Target="https://github.com/heavenruler/dba_career/blob/master/poc/phase-crossregion/XCROSS-CHAOS-FAILOVER-3DB-COMPARISON.md" TargetMode="External"/><Relationship Id="rId13" Type="http://schemas.openxmlformats.org/officeDocument/2006/relationships/hyperlink" Target="https://github.com/heavenruler/dba_career/blob/master/poc/DISTRIBUTED-DB-SCORING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ingcap.com/tidb/stable/mysql-compatibility/" TargetMode="External"/><Relationship Id="rId3" Type="http://schemas.openxmlformats.org/officeDocument/2006/relationships/hyperlink" Target="https://docs.pingcap.com/tidb/stable/br-pitr-guide/" TargetMode="External"/><Relationship Id="rId4" Type="http://schemas.openxmlformats.org/officeDocument/2006/relationships/hyperlink" Target="https://docs.pingcap.com/best-practices/ddl-introduction/" TargetMode="External"/><Relationship Id="rId5" Type="http://schemas.openxmlformats.org/officeDocument/2006/relationships/hyperlink" Target="https://docs.pingcap.com/tidb/stable/support/" TargetMode="External"/><Relationship Id="rId6" Type="http://schemas.openxmlformats.org/officeDocument/2006/relationships/hyperlink" Target="https://www.pingcap.com/tidb-release-support-policy/" TargetMode="External"/><Relationship Id="rId7" Type="http://schemas.openxmlformats.org/officeDocument/2006/relationships/hyperlink" Target="https://docs.percona.com/percona-operator-for-mysql/pxc/backups-pitr.html" TargetMode="External"/><Relationship Id="rId8" Type="http://schemas.openxmlformats.org/officeDocument/2006/relationships/hyperlink" Target="https://docs.percona.com/percona-xtrabackup/8.0/point-in-time-recovery.html" TargetMode="External"/><Relationship Id="rId9" Type="http://schemas.openxmlformats.org/officeDocument/2006/relationships/hyperlink" Target="https://www.percona.com/blog/various-ways-to-perform-schema-upgrades-with-percona-xtradb-cluster/" TargetMode="External"/><Relationship Id="rId10" Type="http://schemas.openxmlformats.org/officeDocument/2006/relationships/hyperlink" Target="https://www.percona.com/support-policies/" TargetMode="External"/><Relationship Id="rId11" Type="http://schemas.openxmlformats.org/officeDocument/2006/relationships/hyperlink" Target="https://www.percona.com/release-lifecycle-overview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yugabyte.com/stable/faq/compatibility/" TargetMode="External"/><Relationship Id="rId3" Type="http://schemas.openxmlformats.org/officeDocument/2006/relationships/hyperlink" Target="https://docs.yugabyte.com/stable/manage/backup-restore/point-in-time-recovery/" TargetMode="External"/><Relationship Id="rId4" Type="http://schemas.openxmlformats.org/officeDocument/2006/relationships/hyperlink" Target="https://www.yugabyte.com/yugabyte-software-support-services-agreement/" TargetMode="External"/><Relationship Id="rId5" Type="http://schemas.openxmlformats.org/officeDocument/2006/relationships/hyperlink" Target="https://docs.yugabyte.com/stable/releases/ybdb-releases/" TargetMode="External"/><Relationship Id="rId6" Type="http://schemas.openxmlformats.org/officeDocument/2006/relationships/hyperlink" Target="https://www.cockroachlabs.com/docs/v26.2/postgresql-compatibility" TargetMode="External"/><Relationship Id="rId7" Type="http://schemas.openxmlformats.org/officeDocument/2006/relationships/hyperlink" Target="https://www.cockroachlabs.com/docs/stable/take-backups-with-revision-history-and-restore-from-a-point-in-time" TargetMode="External"/><Relationship Id="rId8" Type="http://schemas.openxmlformats.org/officeDocument/2006/relationships/hyperlink" Target="https://www.cockroachlabs.com/docs/v26.2/online-schema-changes" TargetMode="External"/><Relationship Id="rId9" Type="http://schemas.openxmlformats.org/officeDocument/2006/relationships/hyperlink" Target="https://www.cockroachlabs.com/terms-and-conditions/cockroachdb-support-policy/" TargetMode="External"/><Relationship Id="rId10" Type="http://schemas.openxmlformats.org/officeDocument/2006/relationships/hyperlink" Target="https://www.cockroachlabs.com/docs/releases/release-support-polic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11880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導覽｜本次簡報六個段落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2527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081"/>
                <a:gridCol w="977975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段落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這一段回答什麼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背景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PoC 從 4 月到 8 月建立了哪些可追溯的證據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評分規則、證據等級，以及兩條相容路線的逐項評分明細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主張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為何建議下一階段聚焦 MySQL 相容路線、由 TiDB 先行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比較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原廠技術支援與版本生命週期這個導入前提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建議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技術面與產品面各自要驗證什麼、如何對齊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決策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可執行選項、投資報酬判準與本次需要確認的事項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182110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後續每頁標題皆以所屬段落開頭；附錄集中放證據入口、官方來源與判讀限制。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8211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背景｜從 4 月建立框架，到 8 月形成可推進的候選方向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93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328"/>
                <a:gridCol w="2717883"/>
                <a:gridCol w="735362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主要里程碑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成果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範圍與測試環境建立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確定評估面向，建好可重現的測試環境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共同基準完成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三家改用同一套壓測條件，結果可互相對照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多節點與跨機房框架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完成多節點、容器化部署與跨機房前置驗證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跨機房工作負載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完成跨機房各種讀寫情境，並修正量測有效性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故障演練與評分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完成故障切換實測，補上 MySQL 對照，形成兩條路線評估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3860292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里程碑的共同成果：把「產品功能宣稱」轉成可追溯的設定、量測、故障與限制證據。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6029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證據｜評分規則與證據等級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評分規則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星等只在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同一相容群組內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依實測數值相對排序，最佳＝⭐⭐⭐⭐⭐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MySQL 與 PostgreSQL 群組的星等與分數不互相比較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458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證據等級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48228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✅ PoC 實測：go-tpc TPC-C-derived stress workload 的可追溯結果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📄 官方文件：只佐證產品設計、版本或支援能力，不計入實測分數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⏳ 待驗證：尚未完成公司情境下的實跑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43806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Failover 欄位一律只列實測秒數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：MySQL 群組兩家的故障注入與恢復流程不等價，不宜換算星等；PostgreSQL 群組雖為同一方法論，仍以秒數直接呈現，避免與其他項目的相對星等混淆。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證據｜MySQL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6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544"/>
                <a:gridCol w="4041211"/>
                <a:gridCol w="969544"/>
                <a:gridCol w="1442826"/>
                <a:gridCol w="1547321"/>
                <a:gridCol w="969544"/>
                <a:gridCol w="1117849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39.1–44.3s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8.240s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HTAP／TiFlash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n/a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⏳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§3.5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證據｜PostgreSQL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57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646"/>
                <a:gridCol w="4063535"/>
                <a:gridCol w="960646"/>
                <a:gridCol w="1497007"/>
                <a:gridCol w="1611484"/>
                <a:gridCol w="960646"/>
                <a:gridCol w="100387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PostgreSQL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29%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2.99–3.65s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7.01–7.12s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主張｜先選協定路線：兩條路線回答的是不同遷移問題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3219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457"/>
                <a:gridCol w="3975340"/>
                <a:gridCol w="3916809"/>
                <a:gridCol w="2344233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面向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MySQL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PostgreSQL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對決策的影響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候選順序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、PXC／Galera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YugabyteDB、CockroachDB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只在同一群組內比較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現行規模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28 個叢集、商務邏輯約 95%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個叢集、商務邏輯約 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路線可先形成較大覆蓋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應用變更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仍須驗 MySQL 語法差異，但協定遷移較小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應用需改 SQL／ORM／Driver／交易行為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相容性是導入門檻，不是普通效能分數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架構差異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為計算／儲存分離；PXC 為完整副本與 writeset certification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兩家皆為 PostgreSQL wire protocol，但 SQL 引擎與相容程度不同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同名功能不能直接視為同一機制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應用觀察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應用數較多、關鍵度需另盤點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部分頭部／AI 應用使用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「數量」與「業務關鍵度」必須分開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5149342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現況統計日期 2026/08/14；來源為 Prod 監控彙整。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14934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主張｜所以下一階段聚焦 MySQL 相容，由 TiDB 先行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建議下一階段聚焦 MySQL 相容路線，由 TiDB 先做快速驗證，再導入代表性應用 Pilot。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12264"/>
          <a:ext cx="11057839" cy="128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6215"/>
                <a:gridCol w="10031624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支撐理由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階段性判讀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業務適配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現行商務邏輯約 95% 使用 MySQL 路線，可先降低協定遷移與應用改造範圍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技術方向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在本 PoC 的水平擴展與高併發穩定性較有利；PXC／Galera 保留原生相容與低延遲對照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回饋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目前重視一致性、服務恢復速度、故障範圍隔離及 Database Self-Service，未要求直接推進跨區 A/A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582416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本階段輸出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：應用相容性、PITR／還原、Online DDL、服務恢復、資源隔離、原廠支援與成本效益的可驗收結果。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4350258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這是下一階段的驗證與推進順序；正式擴大導入由 Pilot 驗收結果決定。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350258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比較｜原廠技術支援是 Promotion 門檻，不是效能加分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8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3706"/>
                <a:gridCol w="1765940"/>
                <a:gridCol w="4844494"/>
                <a:gridCol w="3243699"/>
              </a:tblGrid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官方可追溯的支援入口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PoC 版本維護狀態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Pilot 前需向原廠確認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Enterprise ticket／Community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v8.5 LTS；Community 維護 2027-12-19／延伸 2028-12-19，Enterprise 維護 2029-12-19／延伸 2030-12-19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台灣時區／語言、P1 事故的回應與解決時限、根因分析、升級及現場協作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Percona Support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8.4 持續發版中（最新 8.4.10-10，2026-07-27）；官方尚未公布 8.4 的 EOL 日期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現有維運人力已可覆蓋，不需原廠協助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；僅需追蹤 8.4 EOL 公告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2025.2 LTS 維護至 2027-12-11、EOL 2028-06-11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自管環境的支援範圍、回應窗口、根因分析與升級協作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Essentials／Enterprise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v26.2 GA 維護至 2027-04-27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 YugabyteDB 困境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827524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「有原廠支援方案」不等於符合公司需求；回應時間也不等於問題解決時間。正式結論需以原廠正式詢價（RFI）、報價與合約條款為準。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7524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建議｜技術面：先驗證可營運邊界，再談擴大部署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以服務故障範圍決定隔離層級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先辨識強耦合與共同故障域，再決定單叢集、多叢集、或跨機房配置。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下一階段 TiDB 聚焦五項營運能力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MySQL 相容性、PITR／還原、Online DDL、服務層 Failover、資源管理與多租戶隔離。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所有設定值都要回讀驗證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指令執行成功不等於實際生效；隔離級、副本數、資料放置、就近讀取與故障注入，都要再查一次系統實際狀態。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以服務恢復時間取代單一的叢集健康燈號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量測叢集恢復、資料可讀寫、終端服務恢復，以及交易是否遺失。還是 RTO ; 只是更換另一方式描述。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A/A 不作預設起點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先完成單區營運與災難復原就緒能力；只有業務提出雙區讀寫需求時才啟動 A/A 驗證。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建議｜產品與業務面：以 TSD 使用情境定義 Pilot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7683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88"/>
                <a:gridCol w="4723341"/>
                <a:gridCol w="4959510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分組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TSD 討論觀察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對下一階段的轉換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選題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｜挑哪個服務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故障影響範圍的重要性提高（AWS 下雲、地端集中）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需選可驗證隔離與恢復的代表性服務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DR Site／EDC 具活化價值，但跨區 A/A 尚無強需求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可先挑能移至 EDC 持續運作的定期批次或低風險服務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驗收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｜怎麼算通過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在意最快恢復服務，而非只有抽象 RTO／RPO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定義使用者可感知的恢復驗收點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一致性優先（C &gt; A）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先驗證一致性、拒寫與恢復，不以持續寫入為唯一目標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協作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｜誰來做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產品期待 Database Self-Service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Pilot 同步驗證申請、權限、配額、備份、監控與退場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應用端協作可行，但需清楚 R&amp;R、效益與回復程序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協作 TSD 其產品 Owner，確認依賴與改造上限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697730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Infra 改造必須同時說明產品效益、應用改造量與投資報酬；技術可行不等於推進理由。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9773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決策｜Next Action：PoC 後有五種可執行選項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962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35"/>
                <a:gridCol w="4433326"/>
                <a:gridCol w="2750671"/>
                <a:gridCol w="2710007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Option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做法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優點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代價／限制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0｜保留現況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結束本輪 PoC、封存 framework，依既有架構營運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不增加遷移與平台成本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不解決既有故障域、擴展或服務化問題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A｜技術補件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 TiDB 相容性、PITR、Online DDL 與支援資料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投入最低、快速補足評分缺口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無真實應用與服務生命週期證據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B｜快速驗證＋Pilot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 完成技術門檻，再導入一個代表性 MySQL 應用／批次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最快取得應用、維運、Self-Service 與投資報酬證據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 SSD Infra ; TSD/產品單位 協作共識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C｜目標式替代驗證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不適配時驗 PXC；有 PostgreSQL 需求時再驗 YugabyteDB／CockroachDB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只補與需求直接相關的證據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不形成四產品完整排名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D｜平台與跨區擴展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通過後建 Self-Service；有 DR／EDC 需求再做 A/S 或 A/A-RO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可把一次性 PoC 轉為長期平台能力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需多團隊 owner、治理與持續成本；A/A 不作預設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854956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建議採 Option B。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 PXC／Galera 保留相容與低延遲對照；PostgreSQL 路線等待 TSD 提供高關鍵度／AI 應用需求後再做目標式驗證。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決策｜投資報酬判準：先確認問題，再決定投入深度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57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5785"/>
                <a:gridCol w="2539863"/>
                <a:gridCol w="5122191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判斷情境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條件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出口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沒有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明確業務問題、受影響服務與 owner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Option 0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：保留現況與 PoC framework，定期重審需求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MySQL 應用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為主要範圍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相容性／還原／DDL 尚未知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Option A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：技術補件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技術門檻通過且效益可量化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Option B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：TiDB Pilot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不適配或極低延遲優先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Option C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：PXC 目標式對照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PostgreSQL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 高關鍵度／AI 應用有需求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Option C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：依需求驗 YugabyteDB 或 CockroachDB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平台化或跨區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需求成立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重複申請／維運成本高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Option D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：Database Self-Service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DR／EDC 活化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Option D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：先 A/S，需異地讀再評估 A/A-RO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503928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不以已投入的 PoC 工時作為繼續理由；每個出口都須回到需求、風險降低與可量化收益。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503928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決策｜本次需要確認的事項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是否採 Option B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：TiDB 快速驗證＋代表性應用 Pilot。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2.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由 TSD 指派應用 owner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，提供真實 SQL／ORM／Driver／Transaction 與改造限制。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3.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確認 Pilot 情境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：一般 MySQL 應用、可移至 EDC 的定期批次，或故障影響範圍較明確的服務。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4.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定義服務驗收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：一致性優先條件、可接受中斷、資料延遲、降級與回復方式。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5.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啟動原廠正式詢價與成本資料蒐集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：支援、授權、維運人力及基礎設施。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745357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Pilot 驗收完成後，再決定擴大 TiDB、轉向 PXC 對照，或啟動 PostgreSQL 路線的目標式 Pilot。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45357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附錄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A：三年投資報酬模型與放行條件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8311"/>
                <a:gridCol w="6971796"/>
                <a:gridCol w="21977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投資報酬構成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應量化內容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 owner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服務風險降低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事故次數、影響人數／交易、恢復時間、可避免損失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產品／SRE／TSD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應用交付效益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擴展等待、改造工時、發版與 schema change 時間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RD／TSD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維運與服務化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 人工時數、申請交付時間、備份／還原與擴縮工時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DBA／Infra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基礎設施與商務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主機、儲存、專線、授權、原廠支援與年度 run-rate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Infra／採購／財務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導入與退出成本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Pilot、遷移、雙軌、教育、回復、資料搬遷與 vendor exit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專案 owner／架構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58184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Consolas"/>
              </a:rPr>
              <a:t>三年投資報酬率 =（三年量化收益 − 三年增量成本）÷ 三年增量成本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4208526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採三年為短中期效益檢視窗口，與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的三年總持有成本口徑一致。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208526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600067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放行條件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：技術硬 Gate 通過、假設有 owner 與範圍、敏感度分析完成，且投資報酬／回收期達公司門檻。現階段價格仍為 TBD，不宣稱已達成正向投資報酬。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5336159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詳細模型與最低成本啟動策略：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36159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B：實際測試數據入口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同機房 S-BASE canonical </a:t>
            </a:r>
            <a:r>
              <a:rPr sz="1700" b="1">
                <a:solidFill>
                  <a:srgbClr val="C0392B"/>
                </a:solidFill>
                <a:latin typeface="Consolas"/>
              </a:rPr>
              <a:t>summary.json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TiDB：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2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3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PXC／Galera：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4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5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YugabyteDB：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6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7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CockroachDB：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8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9"/>
              </a:rPr>
              <a:t>vm-3node HAProxy 3s3r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062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跨區與故障入口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0862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0"/>
              </a:rPr>
              <a:t>X-CROSS 結果索引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1"/>
              </a:rPr>
              <a:t>P-A／P-B 最終比較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2"/>
              </a:rPr>
              <a:t>三家 Chaos／Failover 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3"/>
              </a:rPr>
              <a:t>評分 SSOT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C：MySQL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689"/>
                <a:gridCol w="4093409"/>
                <a:gridCol w="5577741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MySQL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Online DDL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Support Resources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Release Support Policy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XtraBackup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TOI／RSU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1"/>
                        </a:rPr>
                        <a:t>Release Lifecycle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D：PostgreSQL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9041"/>
                <a:gridCol w="5149683"/>
                <a:gridCol w="455911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2025.2 LTS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Online Schema Changes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Release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E：證據限制與判讀邊界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本 PoC 使用 go-tpc 執行 TPC-C-derived stress workload，不是 audited TPC-C 認證。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目前多數效能 cell 為 </a:t>
            </a:r>
            <a:r>
              <a:rPr sz="1800" b="0">
                <a:solidFill>
                  <a:srgbClr val="22303F"/>
                </a:solidFill>
                <a:latin typeface="Consolas"/>
              </a:rPr>
              <a:t>N=1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，可用於方向性建議，不宣稱統計顯著或正式容量。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跨區結果屬探索性 scope（</a:t>
            </a:r>
            <a:r>
              <a:rPr sz="1800" b="0">
                <a:solidFill>
                  <a:srgbClr val="22303F"/>
                </a:solidFill>
                <a:latin typeface="Consolas"/>
              </a:rPr>
              <a:t>baseline_eligible=false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），不得併入 S-BASE 跨家排名。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PXC／Galera 與 TiDB 的複寫、擴展、Failover 情境不同；本輪 Failover 計時口徑不等價，暫不排名。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官方文件星等不計入已測項目加權分數；真正導入結論以應用相容性、營運演練、原廠條款與總持有成本為準。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完整限制、公式與 Fact／Inference 分層以</a:t>
            </a:r>
            <a:r>
              <a:rPr sz="1800" b="0" u="sng">
                <a:solidFill>
                  <a:srgbClr val="1B5EA8"/>
                </a:solidFill>
                <a:latin typeface="Microsoft JhengHei"/>
                <a:hlinkClick r:id="rId2"/>
              </a:rPr>
              <a:t>評分 SSOT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