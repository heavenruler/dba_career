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MILESTONES.md#%E5%B0%88%E6%A1%88%E6%99%82%E7%A8%8B" TargetMode="External"/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4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DISTRIBUTED-DB-SCORING-INTRO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support/" TargetMode="External"/><Relationship Id="rId3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www.cockroachlabs.com/terms-and-conditions/cockroachdb-support-policy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gitbook/deliverables/budget-assessment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13" Type="http://schemas.openxmlformats.org/officeDocument/2006/relationships/hyperlink" Target="https://github.com/heavenruler/dba_career/blob/master/poc/DISTRIBUTED-DB-SCORING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mysql-compatibility/" TargetMode="External"/><Relationship Id="rId3" Type="http://schemas.openxmlformats.org/officeDocument/2006/relationships/hyperlink" Target="https://docs.pingcap.com/tidb/stable/br-pitr-guide/" TargetMode="External"/><Relationship Id="rId4" Type="http://schemas.openxmlformats.org/officeDocument/2006/relationships/hyperlink" Target="https://docs.pingcap.com/best-practices/ddl-introduction/" TargetMode="External"/><Relationship Id="rId5" Type="http://schemas.openxmlformats.org/officeDocument/2006/relationships/hyperlink" Target="https://docs.pingcap.com/tidb/stable/support/" TargetMode="External"/><Relationship Id="rId6" Type="http://schemas.openxmlformats.org/officeDocument/2006/relationships/hyperlink" Target="https://www.pingcap.com/tidb-release-support-policy/" TargetMode="External"/><Relationship Id="rId7" Type="http://schemas.openxmlformats.org/officeDocument/2006/relationships/hyperlink" Target="https://docs.percona.com/percona-operator-for-mysql/pxc/backups-pitr.html" TargetMode="External"/><Relationship Id="rId8" Type="http://schemas.openxmlformats.org/officeDocument/2006/relationships/hyperlink" Target="https://docs.percona.com/percona-xtrabackup/8.0/point-in-time-recovery.html" TargetMode="External"/><Relationship Id="rId9" Type="http://schemas.openxmlformats.org/officeDocument/2006/relationships/hyperlink" Target="https://www.percona.com/blog/various-ways-to-perform-schema-upgrades-with-percona-xtradb-cluster/" TargetMode="External"/><Relationship Id="rId10" Type="http://schemas.openxmlformats.org/officeDocument/2006/relationships/hyperlink" Target="https://www.percona.com/support-policies/" TargetMode="External"/><Relationship Id="rId11" Type="http://schemas.openxmlformats.org/officeDocument/2006/relationships/hyperlink" Target="https://www.percona.com/release-lifecycle-overview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yugabyte.com/stable/faq/compatibility/" TargetMode="External"/><Relationship Id="rId3" Type="http://schemas.openxmlformats.org/officeDocument/2006/relationships/hyperlink" Target="https://docs.yugabyte.com/stable/manage/backup-restore/point-in-time-recovery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docs.yugabyte.com/stable/releases/ybdb-releases/" TargetMode="External"/><Relationship Id="rId6" Type="http://schemas.openxmlformats.org/officeDocument/2006/relationships/hyperlink" Target="https://www.cockroachlabs.com/docs/v26.2/postgresql-compatibility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8" Type="http://schemas.openxmlformats.org/officeDocument/2006/relationships/hyperlink" Target="https://www.cockroachlabs.com/docs/v26.2/online-schema-changes" TargetMode="External"/><Relationship Id="rId9" Type="http://schemas.openxmlformats.org/officeDocument/2006/relationships/hyperlink" Target="https://www.cockroachlabs.com/terms-and-conditions/cockroachdb-support-policy/" TargetMode="External"/><Relationship Id="rId10" Type="http://schemas.openxmlformats.org/officeDocument/2006/relationships/hyperlink" Target="https://www.cockroachlabs.com/docs/releases/release-support-polic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/>
                <a:gridCol w="977975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/>
                <a:gridCol w="2717883"/>
                <a:gridCol w="735362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欄位一律只列實測秒數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群組兩家的故障注入與恢復流程不等價，不宜換算星等；PostgreSQL 群組雖為同一方法論，仍以秒數直接呈現，避免與其他項目的相對星等混淆。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/>
                <a:gridCol w="4041211"/>
                <a:gridCol w="969544"/>
                <a:gridCol w="1442826"/>
                <a:gridCol w="1547321"/>
                <a:gridCol w="969544"/>
                <a:gridCol w="111784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646"/>
                <a:gridCol w="4063535"/>
                <a:gridCol w="960646"/>
                <a:gridCol w="1497007"/>
                <a:gridCol w="1611484"/>
                <a:gridCol w="960646"/>
                <a:gridCol w="100387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775"/>
                <a:gridCol w="3947846"/>
                <a:gridCol w="3889720"/>
                <a:gridCol w="240449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相容性是導入 Gate，不是普通效能分數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為計算／儲存分離；PXC 為完整副本與 writeset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「數量」與「業務關鍵度」必須分開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/>
                <a:gridCol w="10031624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58241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本階段輸出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：應用相容性、PITR／還原、Online DDL、服務恢復、資源隔離、原廠支援與成本效益的可驗收結果。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350258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5025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門檻，不是效能加分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8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3706"/>
                <a:gridCol w="1765940"/>
                <a:gridCol w="4844494"/>
                <a:gridCol w="3243699"/>
              </a:tblGrid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v8.5 LTS；Community 維護 2027-12-19／延伸 2028-12-19，Enterprise 維護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台灣時區／語言、P1 事故的回應與解決時限、根因分析、升級及現場協作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 YugabyteDB 困境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827524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752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81606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先辨識強耦合與共同故障域，再決定單叢集、多叢集、或跨機房配置。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9537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67050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MySQL 相容性、PITR／還原、Online DDL、服務層 Failover、資源管理與多租戶隔離。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48081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952494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5201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23688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量測叢集恢復、資料可讀寫、終端服務恢復，以及交易是否遺失。還是 RTO ; 只是更換另一方式描述。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53745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009132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先完成單區主辦與災難復原就緒能力；只有業務提出雙區讀寫需求時才啟動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8211"/>
                <a:gridCol w="569962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AWS 工作負載下雲、地端集中，故障影響範圍的重要性提高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產品更在意最快恢復服務，而非只有抽象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CAP 取捨目前傾向一致性優先（C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可先挑選能移至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同步驗證申請、權限、配額、備份、監控與退場生命週期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協作 TSD 其產品 Owner，確認依賴與改造上限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3901"/>
                <a:gridCol w="4029054"/>
                <a:gridCol w="2495891"/>
                <a:gridCol w="2458993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（即主張段落提出的方向）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 Gate，再導入一個代表性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SSD Infra ; TSD/產品單位 協作共識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11276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決策｜投資報酬決策樹：先確認問題，再決定投入深度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09928"/>
            <a:ext cx="11057839" cy="3547872"/>
          </a:xfrm>
          <a:prstGeom prst="rect">
            <a:avLst/>
          </a:prstGeom>
          <a:solidFill>
            <a:srgbClr val="F7F9FA"/>
          </a:solidFill>
          <a:ln>
            <a:solidFill>
              <a:srgbClr val="D6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19656"/>
            <a:ext cx="10801807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沒有明確業務問題、受影響服務與 owner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→ Option 0：保留現況與 PoC framework，定期重審需求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MySQL 應用為主要範圍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相容性／還原／DDL 尚未知     → Option A：技術補件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技術 Gate 通過且效益可量化    → Option B：TiDB Pilot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TiDB 不適配或極低延遲優先     → Option C：PXC 目標式對照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PostgreSQL 高關鍵度／AI 應用有需求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→ Option C：依需求驗 YugabyteDB 或 CockroachDB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平台化或跨區需求成立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重複申請／維運成本高         → Option D：Database Self-Service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DR／EDC 活化                → Option D：先 A/S，需異地讀再評估 A/A-RO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5440680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工時作為繼續理由；每個出口都須回到需求、風險降低與可量化收益。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440680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是否採 Option B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：TiDB 快速驗證＋代表性應用 Pilot。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由 TSD 指派應用 owner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，提供真實 SQL／ORM／Driver／Transaction 與改造限制。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3.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確認 Pilot 情境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：一般 MySQL 應用、可移至 EDC 的定期批次，或故障影響範圍較明確的服務。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4.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定義服務驗收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：一致性優先條件、可接受中斷、資料延遲、降級與回復方式。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5.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啟動原廠正式詢價與成本資料蒐集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：支援、授權、維運人力及基礎設施。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745357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Pilot 驗收完成後，再決定擴大 TiDB、轉向 PXC 對照，或啟動 PostgreSQL 路線的目標式 Pilot。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45357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/>
                <a:gridCol w="6971796"/>
                <a:gridCol w="21977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/>
                <a:gridCol w="4093409"/>
                <a:gridCol w="5577741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/>
                <a:gridCol w="5149683"/>
                <a:gridCol w="455911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