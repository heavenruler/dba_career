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62"/>
    <p:restoredTop sz="94589"/>
  </p:normalViewPr>
  <p:slideViewPr>
    <p:cSldViewPr snapToGrid="0" snapToObjects="1">
      <p:cViewPr varScale="1">
        <p:scale>
          <a:sx n="119" d="100"/>
          <a:sy n="119" d="100"/>
        </p:scale>
        <p:origin x="144" y="1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7DE87-9D03-8F49-85F2-F0D36C2C3E61}" type="datetimeFigureOut">
              <a:rPr kumimoji="1" lang="zh-TW" altLang="en-US" smtClean="0"/>
              <a:t>2026/8/21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555F2A-F49A-4B47-8680-2E923866E792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902387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8/E DBA </a:t>
            </a:r>
            <a:r>
              <a:rPr kumimoji="1" lang="zh-TW" altLang="en-US" dirty="0"/>
              <a:t>同步比較表對照</a:t>
            </a: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9/M SSD </a:t>
            </a:r>
            <a:r>
              <a:rPr kumimoji="1" lang="zh-TW" altLang="en-US" dirty="0"/>
              <a:t>主管會議同步</a:t>
            </a:r>
            <a:r>
              <a:rPr kumimoji="1" lang="en-US" altLang="zh-TW" dirty="0"/>
              <a:t> ; recap </a:t>
            </a:r>
            <a:r>
              <a:rPr kumimoji="1" lang="zh-TW" altLang="en-US" dirty="0"/>
              <a:t>先前驗證結果</a:t>
            </a: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ITPM Ellen </a:t>
            </a:r>
            <a:r>
              <a:rPr kumimoji="1" lang="zh-TW" altLang="en-US" dirty="0"/>
              <a:t>取得歷史紀錄</a:t>
            </a: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zh-TW" altLang="en-US" dirty="0"/>
              <a:t>各團隊主管</a:t>
            </a:r>
            <a:r>
              <a:rPr kumimoji="1" lang="en-US" altLang="zh-TW" dirty="0"/>
              <a:t> 9 </a:t>
            </a:r>
            <a:r>
              <a:rPr kumimoji="1" lang="zh-TW" altLang="en-US" dirty="0"/>
              <a:t>月初提前</a:t>
            </a:r>
            <a:r>
              <a:rPr kumimoji="1" lang="en-US" altLang="zh-TW" dirty="0"/>
              <a:t> pre-view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zh-TW" dirty="0"/>
              <a:t>Ellen / Tom / Ed / Adam / </a:t>
            </a:r>
            <a:r>
              <a:rPr kumimoji="1" lang="zh-TW" altLang="en-US" dirty="0"/>
              <a:t>仁智</a:t>
            </a: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555F2A-F49A-4B47-8680-2E923866E792}" type="slidenum">
              <a:rPr kumimoji="1" lang="zh-TW" altLang="en-US" smtClean="0"/>
              <a:t>11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21893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eavenruler/dba_career/blob/master/poc/MILESTONES.md#2-%E5%96%AE%E7%AF%80%E9%BB%9E%E4%B8%89%E9%9A%94%E9%9B%A2%E7%B4%9A%E5%9F%BA%E6%BA%96" TargetMode="External"/><Relationship Id="rId2" Type="http://schemas.openxmlformats.org/officeDocument/2006/relationships/hyperlink" Target="https://github.com/heavenruler/dba_career/blob/master/poc/MILESTONES.md#%E5%B0%88%E6%A1%88%E6%99%82%E7%A8%8B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heavenruler/dba_career/blob/master/poc/DISTRIBUTED-DB-SCORING-INTRO.md" TargetMode="External"/><Relationship Id="rId4" Type="http://schemas.openxmlformats.org/officeDocument/2006/relationships/hyperlink" Target="https://github.com/heavenruler/dba_career/blob/master/poc/phase-crossregion/XCROSS-PA-VS-PB-FINAL-COMPARISON.md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a-mysql-%E7%9B%B8%E5%AE%B9%E7%BE%A4%E7%B5%84galerapxc-84chaosfailover-%E5%AF%A6%E6%B8%AC2026-08-13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Relationship Id="rId9" Type="http://schemas.openxmlformats.org/officeDocument/2006/relationships/hyperlink" Target="https://github.com/heavenruler/dba_career/blob/master/poc/DISTRIBUTED-DB-SCORING.md#35-tidb-htaptiflash-%E8%88%87-yugabytedbcockroachdb-geo-distribution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DISTRIBUTED-DB-SCORING.md#34-online-ddl-%E8%88%87%E7%B6%AD%E9%81%8B%E5%B7%A5%E5%85%B7" TargetMode="External"/><Relationship Id="rId3" Type="http://schemas.openxmlformats.org/officeDocument/2006/relationships/hyperlink" Target="https://github.com/heavenruler/dba_career/blob/master/poc/DISTRIBUTED-DB-SCORING.md#321-%E5%96%AE%E7%AF%80%E9%BB%9E%E4%BD%8E%E4%BD%B5%E7%99%BC%E5%BB%B6%E9%81%B2vm-1node-rc" TargetMode="External"/><Relationship Id="rId7" Type="http://schemas.openxmlformats.org/officeDocument/2006/relationships/hyperlink" Target="https://github.com/heavenruler/dba_career/blob/master/poc/DISTRIBUTED-DB-SCORING.md#332-pitr%E5%82%99%E4%BB%BD%E9%82%84%E5%8E%9F" TargetMode="External"/><Relationship Id="rId2" Type="http://schemas.openxmlformats.org/officeDocument/2006/relationships/hyperlink" Target="https://github.com/heavenruler/dba_career/blob/master/poc/DISTRIBUTED-DB-SCORING.md#31-mysqlpostgresql-%E7%9B%B8%E5%AE%B9%E6%80%A7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DISTRIBUTED-DB-SCORING.md#331-failover-rtorpo--2026-08-11-%E7%9C%9F%E5%AF%A6%E9%87%8D%E8%B7%91%E5%AE%8C%E6%88%90" TargetMode="External"/><Relationship Id="rId5" Type="http://schemas.openxmlformats.org/officeDocument/2006/relationships/hyperlink" Target="https://github.com/heavenruler/dba_career/blob/master/poc/DISTRIBUTED-DB-SCORING.md#323-%E9%AB%98%E4%BD%B5%E7%99%BC%E7%A9%A9%E5%AE%9A%E6%80%A7t1285-round-rangemean-%E8%88%87-error-rate" TargetMode="External"/><Relationship Id="rId4" Type="http://schemas.openxmlformats.org/officeDocument/2006/relationships/hyperlink" Target="https://github.com/heavenruler/dba_career/blob/master/poc/DISTRIBUTED-DB-SCORING.md#322-%E6%B0%B4%E5%B9%B3%E6%93%B4%E5%B1%95%E8%83%BD%E5%8A%9Bvm-1node--vm-3node-haproxy-3s3r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rcona.com/support-policies/" TargetMode="External"/><Relationship Id="rId2" Type="http://schemas.openxmlformats.org/officeDocument/2006/relationships/hyperlink" Target="https://docs.pingcap.com/tidb/stable/support/" TargetMode="Externa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cockroachlabs.com/terms-and-conditions/cockroachdb-support-policy/" TargetMode="External"/><Relationship Id="rId4" Type="http://schemas.openxmlformats.org/officeDocument/2006/relationships/hyperlink" Target="https://www.yugabyte.com/yugabyte-software-support-services-agreement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gitbook/deliverables/budget-assessment.md" TargetMode="Externa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heavenruler/dba_career/blob/master/poc/results/crdb-tc1/S-BASE/vm-1node-rc/crdb-vm-1node-rc-20260519T085346+0800/summary.json" TargetMode="External"/><Relationship Id="rId13" Type="http://schemas.openxmlformats.org/officeDocument/2006/relationships/hyperlink" Target="https://github.com/heavenruler/dba_career/blob/master/poc/DISTRIBUTED-DB-SCORING.md" TargetMode="External"/><Relationship Id="rId3" Type="http://schemas.openxmlformats.org/officeDocument/2006/relationships/hyperlink" Target="https://github.com/heavenruler/dba_career/blob/master/poc/results/tidb-tc1/S-BASE/vm-3node-haproxy-3s3r-rc-pd-sched-l4r4/tidb-vm-3node-haproxy-3s3r-rc-20260601T003316+0800/summary.json" TargetMode="External"/><Relationship Id="rId7" Type="http://schemas.openxmlformats.org/officeDocument/2006/relationships/hyperlink" Target="https://github.com/heavenruler/dba_career/blob/master/poc/results/yuga-tc1/S-BASE/vm-3node-haproxy-3s3r-rc/ybdb-vm-3node-haproxy-3s3r-rc-20260525T193740+0800/summary.json" TargetMode="External"/><Relationship Id="rId12" Type="http://schemas.openxmlformats.org/officeDocument/2006/relationships/hyperlink" Target="https://github.com/heavenruler/dba_career/blob/master/poc/phase-crossregion/XCROSS-CHAOS-FAILOVER-3DB-COMPARISON.md" TargetMode="External"/><Relationship Id="rId2" Type="http://schemas.openxmlformats.org/officeDocument/2006/relationships/hyperlink" Target="https://github.com/heavenruler/dba_career/blob/master/poc/results/tidb-tc1/S-BASE/vm-1node-rc/tidb-vm-1node-rc-20260518T202009+0800/summary.json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heavenruler/dba_career/blob/master/poc/results/yuga-tc1/S-BASE/vm-1node-rc/ybdb-vm-1node-rc-20260520T134929+0800/summary.json" TargetMode="External"/><Relationship Id="rId11" Type="http://schemas.openxmlformats.org/officeDocument/2006/relationships/hyperlink" Target="https://github.com/heavenruler/dba_career/blob/master/poc/phase-crossregion/XCROSS-PA-VS-PB-FINAL-COMPARISON.md" TargetMode="External"/><Relationship Id="rId5" Type="http://schemas.openxmlformats.org/officeDocument/2006/relationships/hyperlink" Target="https://github.com/heavenruler/dba_career/blob/master/poc/results/galera-tc1/S-BASE/vm-3node-haproxy-3s3r-rc/galera-vm-3node-haproxy-3s3r-rc-20260813T112044+0800/summary.json" TargetMode="External"/><Relationship Id="rId10" Type="http://schemas.openxmlformats.org/officeDocument/2006/relationships/hyperlink" Target="https://github.com/heavenruler/dba_career/blob/master/poc/results/x-cross/README.md" TargetMode="External"/><Relationship Id="rId4" Type="http://schemas.openxmlformats.org/officeDocument/2006/relationships/hyperlink" Target="https://github.com/heavenruler/dba_career/blob/master/poc/results/galera-tc1/S-BASE/vm-1node-rc/galera-vm-1node-rc-20260813T073744+0800/summary.json" TargetMode="External"/><Relationship Id="rId9" Type="http://schemas.openxmlformats.org/officeDocument/2006/relationships/hyperlink" Target="https://github.com/heavenruler/dba_career/blob/master/poc/results/crdb-tc1/S-BASE/vm-3node-haproxy-3s3r-rc/crdb-vm-3node-haproxy-3s3r-rc-20260602T051500+0800/summary.json" TargetMode="Externa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docs.percona.com/percona-xtrabackup/8.0/point-in-time-recovery.html" TargetMode="External"/><Relationship Id="rId3" Type="http://schemas.openxmlformats.org/officeDocument/2006/relationships/hyperlink" Target="https://docs.pingcap.com/tidb/stable/br-pitr-guide/" TargetMode="External"/><Relationship Id="rId7" Type="http://schemas.openxmlformats.org/officeDocument/2006/relationships/hyperlink" Target="https://docs.percona.com/percona-operator-for-mysql/pxc/backups-pitr.html" TargetMode="External"/><Relationship Id="rId2" Type="http://schemas.openxmlformats.org/officeDocument/2006/relationships/hyperlink" Target="https://docs.pingcap.com/tidb/stable/mysql-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pingcap.com/tidb-release-support-policy/" TargetMode="External"/><Relationship Id="rId11" Type="http://schemas.openxmlformats.org/officeDocument/2006/relationships/hyperlink" Target="https://www.percona.com/release-lifecycle-overview/" TargetMode="External"/><Relationship Id="rId5" Type="http://schemas.openxmlformats.org/officeDocument/2006/relationships/hyperlink" Target="https://docs.pingcap.com/tidb/stable/support/" TargetMode="External"/><Relationship Id="rId10" Type="http://schemas.openxmlformats.org/officeDocument/2006/relationships/hyperlink" Target="https://www.percona.com/support-policies/" TargetMode="External"/><Relationship Id="rId4" Type="http://schemas.openxmlformats.org/officeDocument/2006/relationships/hyperlink" Target="https://docs.pingcap.com/best-practices/ddl-introduction/" TargetMode="External"/><Relationship Id="rId9" Type="http://schemas.openxmlformats.org/officeDocument/2006/relationships/hyperlink" Target="https://www.percona.com/blog/various-ways-to-perform-schema-upgrades-with-percona-xtradb-cluster/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cockroachlabs.com/docs/v26.2/online-schema-changes" TargetMode="External"/><Relationship Id="rId3" Type="http://schemas.openxmlformats.org/officeDocument/2006/relationships/hyperlink" Target="https://docs.yugabyte.com/stable/manage/backup-restore/point-in-time-recovery/" TargetMode="External"/><Relationship Id="rId7" Type="http://schemas.openxmlformats.org/officeDocument/2006/relationships/hyperlink" Target="https://www.cockroachlabs.com/docs/stable/take-backups-with-revision-history-and-restore-from-a-point-in-time" TargetMode="External"/><Relationship Id="rId2" Type="http://schemas.openxmlformats.org/officeDocument/2006/relationships/hyperlink" Target="https://docs.yugabyte.com/stable/faq/compatibility/" TargetMode="Externa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cockroachlabs.com/docs/v26.2/postgresql-compatibility" TargetMode="External"/><Relationship Id="rId5" Type="http://schemas.openxmlformats.org/officeDocument/2006/relationships/hyperlink" Target="https://docs.yugabyte.com/stable/releases/ybdb-releases/" TargetMode="External"/><Relationship Id="rId10" Type="http://schemas.openxmlformats.org/officeDocument/2006/relationships/hyperlink" Target="https://www.cockroachlabs.com/docs/releases/release-support-policy" TargetMode="External"/><Relationship Id="rId4" Type="http://schemas.openxmlformats.org/officeDocument/2006/relationships/hyperlink" Target="https://www.yugabyte.com/yugabyte-software-support-services-agreement/" TargetMode="External"/><Relationship Id="rId9" Type="http://schemas.openxmlformats.org/officeDocument/2006/relationships/hyperlink" Target="https://www.cockroachlabs.com/terms-and-conditions/cockroachdb-support-policy/" TargetMode="Externa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venruler/dba_career/blob/master/poc/DISTRIBUTED-DB-SCORING.md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611880"/>
            <a:ext cx="1105783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導覽｜本次簡報六個段落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2527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0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797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段落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這一段回答什麼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背景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PoC 從 4 月到 8 月建立了哪些可追溯的證據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評分規則、證據等級，以及兩條相容路線的逐項評分明細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主張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為何建議下一階段聚焦 MySQL 相容路線、由 TiDB 先行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比較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原廠技術支援與版本生命週期這個導入前提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建議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技術面與產品面各自要驗證什麼、如何對齊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決策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可執行選項、投資報酬判準與本次需要確認的事項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18211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後續每頁標題皆以所屬段落開頭；附錄集中放證據入口、官方來源與判讀限制。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18211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背景｜從 4 月建立框架，到 8 月形成可推進的候選方向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93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63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178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536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時間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主要里程碑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成果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範圍與測試環境建立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確定評估面向，建好可重現的測試環境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共同基準完成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三家改用同一套壓測條件，結果可互相對照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多節點與跨機房框架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完成多節點、容器化部署與跨機房前置驗證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 月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跨機房工作負載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完成跨機房各種讀寫情境，並修正量測有效性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 月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故障演練與評分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完成故障切換實測，補上 MySQL 對照，形成兩條路線評估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38602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里程碑的共同成果：把「產品功能宣稱」轉成可追溯的設定、量測、故障與限制證據。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8602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證據｜評分規則與證據等級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評分規則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星等只在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同一相容群組內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依實測數值相對排序，最佳＝⭐⭐⭐⭐⭐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MySQL 與 PostgreSQL 群組的星等與分數不互相比較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9458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證據等級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348228"/>
            <a:ext cx="11057839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✅ PoC 實測：go-tpc TPC-C-derived stress workload 的可追溯結果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📄 官方文件：只佐證產品設計、版本或支援能力，不計入實測分數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⏳ 待驗證：尚未完成公司情境下的實跑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543806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Failover 欄位一律只列實測秒數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：MySQL 群組兩家的故障注入與恢復流程不等價，不宜換算星等；PostgreSQL 群組雖為同一方法論，仍以秒數直接呈現，避免與其他項目的相對星等混淆。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證據｜MySQL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96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95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412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282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473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95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78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19%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⭐☆☆☆☆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39.1–44.3s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8.240s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⭐⭐☆☆☆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HTAP／TiFlash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待測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n/a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⏳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§3.5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證據｜PostgreSQL 相容群組評分明細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5745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6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35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7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114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64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8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#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項目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權重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SSOT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PostgreSQL 協定相容性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10%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§3.1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單節點／低併發延遲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⭐⭐⭐☆☆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§3.2.1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水平擴展能力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29%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§3.2.2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高併發穩定性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24%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§3.2.3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Failover 恢復（重啟→首次寫入）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2.99–3.65s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7.01–7.12s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✅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§3.3.1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6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PITR／備份還原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3%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§3.3.2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7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Online DDL 與維運工具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5%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⭐⭐⭐⭐☆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⭐⭐⭐⭐⭐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📄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§3.4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主張｜先選協定路線：兩條路線回答的是不同遷移問題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32199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4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5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16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442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面向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MySQL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PostgreSQL 相容路線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對決策的影響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候選順序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、PXC／Galera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YugabyteDB、CockroachDB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只在同一群組內比較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現行規模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28 個叢集、商務邏輯約 95%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4 個叢集、商務邏輯約 5%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MySQL 路線可先形成較大覆蓋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應用變更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仍須驗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MySQL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語法差異，但協定遷移較小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MySQL 應用需改 SQL／ORM／Driver／交易行為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相容性是導入門檻，不是普通效能分數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架構差異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為計算／儲存分離；PXC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為完整副本與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writeset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certification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兩家皆為 PostgreSQL wire protocol，但 SQL 引擎與相容程度不同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同名功能不能直接視為同一機制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應用觀察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應用數較多、關鍵度需另盤點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部分頭部／AI 應用使用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「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數量」與「業務關鍵度」必須分開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14934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現況統計日期 2026/08/14；來源為 Prod 監控彙整。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14934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主張｜所以下一階段聚焦 MySQL 相容，由 TiDB 先行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建議下一階段聚焦 MySQL 相容路線，由 TiDB 先做快速驗證，再導入代表性應用 Pilot。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112264"/>
          <a:ext cx="11057839" cy="1287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6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1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支撐理由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階段性判讀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業務適配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現行商務邏輯約 95% 使用 MySQL 路線，可先降低協定遷移與應用改造範圍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技術方向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在本 PoC 的水平擴展與高併發穩定性較有利；PXC／Galera 保留原生相容與低延遲對照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TSD 回饋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目前重視一致性、服務恢復速度、故障範圍隔離及 Database Self-Service，未要求直接推進跨區 A/A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4944" y="3618992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這是下一階段的驗證與推進順序；正式擴大導入由 Pilot 驗收結果決定。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618992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比較｜原廠技術支援是 Promotion 門檻，不是效能加分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261816"/>
              </p:ext>
            </p:extLst>
          </p:nvPr>
        </p:nvGraphicFramePr>
        <p:xfrm>
          <a:off x="566928" y="1709928"/>
          <a:ext cx="11057839" cy="32804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0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30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769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24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官方可追溯的支援入口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PoC 版本維護狀態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Pilot 前需向原廠確認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743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Enterprise ticket／Community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v8.5 LTS Launch @ 2024-12；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Community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2027-12-19／延伸 2028-12-19，</a:t>
                      </a:r>
                      <a:endParaRPr lang="en-US"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  <a:p>
                      <a:pPr algn="l"/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Enterprise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維護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2029-12-19／延伸 2030-12-19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台灣時區／語言、事故的回應與解決時限、根因分析、升級及現場協作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Percona Support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8.4 持續發版中（最新 8.4.10-10，2026-07-27）；官方尚未公布 8.4 的 EOL 日期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現有維運人力已可覆蓋，不需原廠協助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；僅需追蹤 8.4 EOL 公告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2025.2 LTS 維護至 2027-12-11、EOL 2028-06-11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自管環境的支援範圍、回應窗口、根因分析與升級協作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Essentials／Enterprise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v26.2 GA 維護至 2027-04-27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同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  <a:r>
                        <a:rPr sz="1400" b="0" dirty="0">
                          <a:solidFill>
                            <a:srgbClr val="22303F"/>
                          </a:solidFill>
                          <a:latin typeface="Microsoft JhengHei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22303F"/>
                          </a:solidFill>
                          <a:latin typeface="Microsoft JhengHei"/>
                        </a:rPr>
                        <a:t>困境</a:t>
                      </a:r>
                      <a:endParaRPr sz="1400" b="0" dirty="0">
                        <a:solidFill>
                          <a:srgbClr val="22303F"/>
                        </a:solidFill>
                        <a:latin typeface="Microsoft JhengHei"/>
                      </a:endParaRP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5085334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「有原廠支援方案」不等於符合公司需求；回應時間也不等於問題解決時間。正式結論需以原廠正式詢價（RFI）、報價與合約條款為準。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5085334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建議｜技術面：先驗證可營運邊界，再談擴大部署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以服務故障範圍決定隔離層級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先辨識強耦合與共同故障域，再決定單叢集、多叢集、或跨機房配置。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下一階段 TiDB 聚焦五項營運能力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MySQL 相容性、PITR／還原、Online DDL、服務層 Failover、資源管理與多租戶隔離。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所有設定值都要回讀驗證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指令執行成功不等於實際生效；隔離級、副本數、資料放置、就近讀取與故障注入，都要再查一次系統實際狀態。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以服務恢復時間取代單一的叢集健康燈號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量測叢集恢復、資料可讀寫、終端服務恢復，以及交易是否遺失。還是 RTO ; 只是更換另一方式描述。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1">
                <a:solidFill>
                  <a:srgbClr val="C0392B"/>
                </a:solidFill>
                <a:latin typeface="Microsoft JhengHei"/>
              </a:rPr>
              <a:t>A/A 不作預設起點</a:t>
            </a:r>
          </a:p>
          <a:p>
            <a:pPr>
              <a:spcAft>
                <a:spcPts val="600"/>
              </a:spcAft>
            </a:pPr>
            <a:r>
              <a:rPr sz="1800"/>
              <a:t>     </a:t>
            </a:r>
            <a:r>
              <a:rPr sz="1700" b="0">
                <a:solidFill>
                  <a:srgbClr val="8A96A3"/>
                </a:solidFill>
                <a:latin typeface="Microsoft JhengHei"/>
              </a:rPr>
              <a:t>先完成單區營運與災難復原就緒能力；只有業務提出雙區讀寫需求時才啟動 A/A 驗證。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建議｜產品與業務面：以 TSD 使用情境定義 Pilot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28178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4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233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95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分組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TSD 討論觀察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對下一階段的轉換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選題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｜挑哪個服務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故障影響範圍的重要性提高（AWS 下雲、地端集中）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需選可驗證隔離與恢復的代表性服務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DR Site／EDC 具活化價值，但跨區 A/A 尚無強需求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可先挑能移至 EDC 持續運作的定期批次或低風險服務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驗收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｜怎麼算通過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在意最快恢復服務，而非只有抽象 RTO／RPO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定義使用者可感知的恢復驗收點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一致性優先（C &gt; A）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先驗證一致性、拒寫與恢復，不以持續寫入為唯一目標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協作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｜誰來做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產品期待 Database Self-Service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Pilot 同步驗證申請、權限、配額、備份、監控與退場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應用端協作可行，但需清楚 R&amp;R、效益與回復程序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協作 TSD 其產品 Owner，確認依賴與改造上限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4697730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Infra 改造必須同時說明產品效益、應用改造量與投資報酬；技術可行不等於推進理由。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4697730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決策｜Next Action：PoC 後有五種可執行選項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6032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900" b="1">
                <a:solidFill>
                  <a:srgbClr val="C0392B"/>
                </a:solidFill>
                <a:latin typeface="Microsoft JhengHei"/>
              </a:rPr>
              <a:t>建議採 Option B。</a:t>
            </a:r>
            <a:r>
              <a:rPr sz="1900" b="0">
                <a:solidFill>
                  <a:srgbClr val="22303F"/>
                </a:solidFill>
                <a:latin typeface="Microsoft JhengHei"/>
              </a:rPr>
              <a:t> PXC／Galera 保留相容與低延遲對照；PostgreSQL 路線等待 TSD 提供高關鍵度／AI 應用需求後再做目標式驗證。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2441194"/>
          <a:ext cx="11057839" cy="2962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38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33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50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100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Option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做法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優點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代價／限制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0｜保留現況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結束本輪 PoC、封存 framework，依既有架構營運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不增加遷移與平台成本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不解決既有故障域、擴展或服務化問題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A｜技術補件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 TiDB 相容性、PITR、Online DDL 與支援資料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投入最低、快速補足評分缺口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無真實應用與服務生命週期證據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B｜快速驗證＋Pilot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TiDB 完成技術門檻，再導入一個代表性 MySQL 應用／批次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0392B"/>
                          </a:solidFill>
                          <a:latin typeface="Microsoft JhengHei"/>
                        </a:rPr>
                        <a:t>最快取得應用、維運、Self-Service 與投資報酬證據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 SSD Infra ; TSD/產品單位 協作共識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C｜目標式替代驗證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 不適配時驗 PXC；有 PostgreSQL 需求時再驗 YugabyteDB／CockroachDB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只補與需求直接相關的證據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不形成四產品完整排名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62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D｜平台與跨區擴展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 通過後建 Self-Service；有 DR／EDC 需求再做 A/S 或 A/A-RO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可把一次性 PoC 轉為長期平台能力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需多團隊 owner、治理與持續成本；A/A 不作預設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決策｜如果只看 ROI：先確認問題，再決定投入深度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099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沒有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明確業務問題、維持現狀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28164"/>
            <a:ext cx="3206773" cy="133502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MySQL 應用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為主要範圍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754628"/>
            <a:ext cx="3206773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PostgreSQL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 高關鍵度／AI 應用有需求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372864"/>
            <a:ext cx="3206773" cy="85953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平台化或跨區</a:t>
            </a:r>
            <a:r>
              <a:rPr sz="1400" b="1">
                <a:solidFill>
                  <a:srgbClr val="22303F"/>
                </a:solidFill>
                <a:latin typeface="Microsoft JhengHei"/>
              </a:rPr>
              <a:t>需求成立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19421" y="19230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085950" y="17099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0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：保留現況與 PoC framework，定期重審需求; 無明顯技術管理急迫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19421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102885" y="23281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相容性／還原／DDL 尚未知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802486" y="24698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85950" y="23281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A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：技術補件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19421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102885" y="28036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技術門檻通過且效益可量化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802486" y="29453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085950" y="2803652"/>
            <a:ext cx="4538817" cy="384048"/>
          </a:xfrm>
          <a:prstGeom prst="roundRect">
            <a:avLst/>
          </a:prstGeom>
          <a:solidFill>
            <a:srgbClr val="FDF1E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B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：TiDB Pilot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3819421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02885" y="3279140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TiDB 不適配或極低延遲優先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02486" y="3420872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085950" y="3279140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：PXC 目標式對照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819421" y="3967734"/>
            <a:ext cx="2983065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7085950" y="3754628"/>
            <a:ext cx="4538817" cy="526796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C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：依需求驗 YugabyteDB 或 CockroachDB ; 或延用現有 PostgreSQL 架構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819421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4102885" y="4372864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重複申請／維運成本高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802486" y="4514596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085950" y="4372864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：Database Self-Service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819421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4102885" y="4848352"/>
            <a:ext cx="2653881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300" b="0">
                <a:solidFill>
                  <a:srgbClr val="22303F"/>
                </a:solidFill>
                <a:latin typeface="Microsoft JhengHei"/>
              </a:rPr>
              <a:t>DR／EDC 活化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802486" y="4990084"/>
            <a:ext cx="237744" cy="100584"/>
          </a:xfrm>
          <a:prstGeom prst="rightArrow">
            <a:avLst/>
          </a:prstGeom>
          <a:solidFill>
            <a:srgbClr val="B9C4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7085950" y="4848352"/>
            <a:ext cx="4538817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B9C4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l"/>
            <a:r>
              <a:rPr sz="1400" b="1">
                <a:solidFill>
                  <a:srgbClr val="C0392B"/>
                </a:solidFill>
                <a:latin typeface="Microsoft JhengHei"/>
              </a:rPr>
              <a:t>Option D</a:t>
            </a:r>
            <a:r>
              <a:rPr sz="1400" b="0">
                <a:solidFill>
                  <a:srgbClr val="22303F"/>
                </a:solidFill>
                <a:latin typeface="Microsoft JhengHei"/>
              </a:rPr>
              <a:t>：先 A/S，需異地讀再評估 A/A-RO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" y="5451856"/>
            <a:ext cx="10929823" cy="279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不以已投入的 PoC 工時作為繼續理由；每個出口都須回到需求、降低無謂技術研究與可量化收益。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5451856"/>
            <a:ext cx="26000" cy="2794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決策｜本次需要確認的事項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1.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是否採</a:t>
            </a:r>
            <a:r>
              <a:rPr sz="1900" b="1" dirty="0">
                <a:solidFill>
                  <a:srgbClr val="C0392B"/>
                </a:solidFill>
                <a:latin typeface="Microsoft JhengHei"/>
              </a:rPr>
              <a:t> Option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B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：TiDB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</a:t>
            </a:r>
            <a:r>
              <a:rPr sz="1900" b="0" dirty="0" err="1">
                <a:solidFill>
                  <a:srgbClr val="22303F"/>
                </a:solidFill>
                <a:latin typeface="Microsoft JhengHei"/>
              </a:rPr>
              <a:t>快速驗證＋代表性應用</a:t>
            </a:r>
            <a:r>
              <a:rPr sz="1900" b="0" dirty="0">
                <a:solidFill>
                  <a:srgbClr val="22303F"/>
                </a:solidFill>
                <a:latin typeface="Microsoft JhengHei"/>
              </a:rPr>
              <a:t> Pilot。</a:t>
            </a:r>
          </a:p>
          <a:p>
            <a:pPr>
              <a:spcAft>
                <a:spcPts val="600"/>
              </a:spcAft>
            </a:pPr>
            <a:r>
              <a:rPr sz="1900" dirty="0">
                <a:solidFill>
                  <a:srgbClr val="8A96A3"/>
                </a:solidFill>
                <a:latin typeface="Microsoft JhengHei"/>
              </a:rPr>
              <a:t>2. </a:t>
            </a:r>
            <a:r>
              <a:rPr sz="1900" b="1" dirty="0" err="1">
                <a:solidFill>
                  <a:srgbClr val="C0392B"/>
                </a:solidFill>
                <a:latin typeface="Microsoft JhengHei"/>
              </a:rPr>
              <a:t>其他待討論事項</a:t>
            </a:r>
            <a:endParaRPr sz="1900" b="1" dirty="0">
              <a:solidFill>
                <a:srgbClr val="C0392B"/>
              </a:solidFill>
              <a:latin typeface="Microsoft JhengHei"/>
            </a:endParaRP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由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TSD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指派應用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owner，提供真實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SQL／ORM／Driver／Transaction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與改造限制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確認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Pilot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情境：一般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MySQL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應用、可移至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 EDC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的定期批次，或故障影響範圍較明確的服務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定義服務驗收：一致性優先條件、可接受中斷、資料延遲、降級與回復方式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  <a:p>
            <a:pPr>
              <a:spcAft>
                <a:spcPts val="600"/>
              </a:spcAft>
            </a:pPr>
            <a:r>
              <a:rPr sz="1900" dirty="0"/>
              <a:t>     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- </a:t>
            </a:r>
            <a:r>
              <a:rPr sz="1800" b="0" dirty="0" err="1">
                <a:solidFill>
                  <a:srgbClr val="8A96A3"/>
                </a:solidFill>
                <a:latin typeface="Microsoft JhengHei"/>
              </a:rPr>
              <a:t>啟動原廠正式詢價與成本資料蒐集：支援、授權、維運人力及基礎設施</a:t>
            </a:r>
            <a:r>
              <a:rPr sz="1800" b="0" dirty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468880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1A2B3C"/>
                </a:solidFill>
                <a:latin typeface="Microsoft JhengHei"/>
              </a:rPr>
              <a:t>附錄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A：三年投資報酬模型與放行條件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83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71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77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投資報酬構成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應量化內容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A2B3C"/>
                          </a:solidFill>
                          <a:latin typeface="Microsoft JhengHei"/>
                        </a:rPr>
                        <a:t>證據 owner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服務風險降低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事故次數、影響人數／交易、恢復時間、可避免損失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產品／SRE／TSD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應用交付效益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擴展等待、改造工時、發版與 schema change 時間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RD／TSD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維運與服務化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 人工時數、申請交付時間、備份／還原與擴縮工時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DBA／Infra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基礎設施與商務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主機、儲存、專線、授權、原廠支援與年度 run-rate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Infra／採購／財務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導入與退出成本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Pilot、遷移、雙軌、教育、回復、資料搬遷與 vendor exit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303F"/>
                          </a:solidFill>
                          <a:latin typeface="Microsoft JhengHei"/>
                        </a:rPr>
                        <a:t>專案 owner／架構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3758184"/>
            <a:ext cx="11057839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0">
                <a:solidFill>
                  <a:srgbClr val="22303F"/>
                </a:solidFill>
                <a:latin typeface="Consolas"/>
              </a:rPr>
              <a:t>三年投資報酬率 =（三年量化收益 − 三年增量成本）÷ 三年增量成本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208526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採三年為短中期效益檢視窗口，與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的三年總持有成本口徑一致。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4208526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66928" y="4600067"/>
            <a:ext cx="11057839" cy="571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800" b="1">
                <a:solidFill>
                  <a:srgbClr val="C0392B"/>
                </a:solidFill>
                <a:latin typeface="Microsoft JhengHei"/>
              </a:rPr>
              <a:t>放行條件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：技術硬 Gate 通過、假設有 owner 與範圍、敏感度分析完成，且投資報酬／回收期達公司門檻。現階段價格仍為 TBD，不宣稱已達成正向投資報酬。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5336159"/>
            <a:ext cx="10929823" cy="2635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500" b="0">
                <a:solidFill>
                  <a:srgbClr val="8A96A3"/>
                </a:solidFill>
                <a:latin typeface="Microsoft JhengHei"/>
              </a:rPr>
              <a:t>詳細模型與最低成本啟動策略：</a:t>
            </a:r>
            <a:r>
              <a:rPr sz="1500" b="0" u="sng">
                <a:solidFill>
                  <a:srgbClr val="1B5EA8"/>
                </a:solidFill>
                <a:latin typeface="Microsoft JhengHei"/>
                <a:hlinkClick r:id="rId2"/>
              </a:rPr>
              <a:t>預算評估報告</a:t>
            </a:r>
            <a:r>
              <a:rPr sz="1500" b="0">
                <a:solidFill>
                  <a:srgbClr val="8A96A3"/>
                </a:solidFill>
                <a:latin typeface="Microsoft JhengHei"/>
              </a:rPr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336159"/>
            <a:ext cx="26000" cy="26352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B：實際測試數據入口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同機房 S-BASE canonical </a:t>
            </a:r>
            <a:r>
              <a:rPr sz="1700" b="1">
                <a:solidFill>
                  <a:srgbClr val="C0392B"/>
                </a:solidFill>
                <a:latin typeface="Consolas"/>
              </a:rPr>
              <a:t>summary.json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112264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TiDB：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2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3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PXC／Galera：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4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5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YugabyteDB：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6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7"/>
              </a:rPr>
              <a:t>vm-3node HAProxy 3s3r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CockroachDB：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8"/>
              </a:rPr>
              <a:t>vm-1node</a:t>
            </a:r>
            <a:r>
              <a:rPr sz="1700" b="0">
                <a:solidFill>
                  <a:srgbClr val="22303F"/>
                </a:solidFill>
                <a:latin typeface="Microsoft JhengHei"/>
              </a:rPr>
              <a:t>／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9"/>
              </a:rPr>
              <a:t>vm-3node HAProxy 3s3r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06292"/>
            <a:ext cx="11057839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1">
                <a:solidFill>
                  <a:srgbClr val="C0392B"/>
                </a:solidFill>
                <a:latin typeface="Microsoft JhengHei"/>
              </a:rPr>
              <a:t>跨區與故障入口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008628"/>
            <a:ext cx="11057839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0"/>
              </a:rPr>
              <a:t>X-CROSS 結果索引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1"/>
              </a:rPr>
              <a:t>P-A／P-B 最終比較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2"/>
              </a:rPr>
              <a:t>三家 Chaos／Failover 比較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700" b="0" u="sng">
                <a:solidFill>
                  <a:srgbClr val="1B5EA8"/>
                </a:solidFill>
                <a:latin typeface="Microsoft JhengHei"/>
                <a:hlinkClick r:id="rId13"/>
              </a:rPr>
              <a:t>評分 SSOT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C：MySQL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6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934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777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TiDB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MySQL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Online DDL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Support Resources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Release Support Policy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PXC／Galera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XtraBackup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TOI／RSU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1"/>
                        </a:rPr>
                        <a:t>Release Lifecycle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D：PostgreSQL 路線官方來源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09928"/>
          <a:ext cx="11057839" cy="965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90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96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591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產品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架構／能力來源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A2B3C"/>
                          </a:solidFill>
                          <a:latin typeface="Microsoft JhengHei"/>
                        </a:rPr>
                        <a:t>版本與支援來源</a:t>
                      </a:r>
                    </a:p>
                  </a:txBody>
                  <a:tcPr marL="64008" marR="64008" marT="32004" marB="32004" anchor="ctr">
                    <a:solidFill>
                      <a:srgbClr val="ECEF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YugabyteDB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2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3"/>
                        </a:rPr>
                        <a:t>PITR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4"/>
                        </a:rPr>
                        <a:t>Software Support Agreement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5"/>
                        </a:rPr>
                        <a:t>2025.2 LTS</a:t>
                      </a:r>
                    </a:p>
                  </a:txBody>
                  <a:tcPr marL="64008" marR="64008" marT="32004" marB="3200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1818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CockroachDB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6"/>
                        </a:rPr>
                        <a:t>PostgreSQL 相容性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7"/>
                        </a:rPr>
                        <a:t>PITR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8"/>
                        </a:rPr>
                        <a:t>Online Schema Changes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9"/>
                        </a:rPr>
                        <a:t>Support Policy</a:t>
                      </a:r>
                      <a:r>
                        <a:rPr sz="1400" b="0">
                          <a:solidFill>
                            <a:srgbClr val="22303F"/>
                          </a:solidFill>
                          <a:latin typeface="Microsoft JhengHei"/>
                        </a:rPr>
                        <a:t>／</a:t>
                      </a:r>
                      <a:r>
                        <a:rPr sz="1400" b="0" u="sng">
                          <a:solidFill>
                            <a:srgbClr val="1B5EA8"/>
                          </a:solidFill>
                          <a:latin typeface="Microsoft JhengHei"/>
                          <a:hlinkClick r:id="rId10"/>
                        </a:rPr>
                        <a:t>Release Policy</a:t>
                      </a:r>
                    </a:p>
                  </a:txBody>
                  <a:tcPr marL="64008" marR="64008" marT="32004" marB="32004" anchor="ctr">
                    <a:solidFill>
                      <a:srgbClr val="F7F9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" y="2894838"/>
            <a:ext cx="10929823" cy="55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0">
                <a:solidFill>
                  <a:srgbClr val="8A96A3"/>
                </a:solidFill>
                <a:latin typeface="Microsoft JhengHei"/>
              </a:rPr>
              <a:t>官方文件只證明功能、版本或支援方案存在；公司環境的相容性、營運效果與合約適用性仍需 Pilot 與原廠正式詢價驗證。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894838"/>
            <a:ext cx="26000" cy="558800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6928" y="237744"/>
            <a:ext cx="110578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分散式資料庫 PoC：階段性結論與第二階段決策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0">
                <a:solidFill>
                  <a:srgbClr val="8A96A3"/>
                </a:solidFill>
                <a:latin typeface="Microsoft JhengHei"/>
              </a:rPr>
              <a:t>2026-08-21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2910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0">
                <a:solidFill>
                  <a:srgbClr val="8A96A3"/>
                </a:solidFill>
                <a:latin typeface="Microsoft JhengHe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11057839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500" b="1">
                <a:solidFill>
                  <a:srgbClr val="1A2B3C"/>
                </a:solidFill>
                <a:latin typeface="Microsoft JhengHei"/>
              </a:rPr>
              <a:t>附錄 E：證據限制與判讀邊界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09928"/>
            <a:ext cx="11057839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本 PoC 使用 go-tpc 執行 TPC-C-derived stress workload，不是 audited TPC-C 認證。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目前多數效能 cell 為 </a:t>
            </a:r>
            <a:r>
              <a:rPr sz="1800" b="0">
                <a:solidFill>
                  <a:srgbClr val="22303F"/>
                </a:solidFill>
                <a:latin typeface="Consolas"/>
              </a:rPr>
              <a:t>N=1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，可用於方向性建議，不宣稱統計顯著或正式容量。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跨區結果屬探索性 scope（</a:t>
            </a:r>
            <a:r>
              <a:rPr sz="1800" b="0">
                <a:solidFill>
                  <a:srgbClr val="22303F"/>
                </a:solidFill>
                <a:latin typeface="Consolas"/>
              </a:rPr>
              <a:t>baseline_eligible=false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），不得併入 S-BASE 跨家排名。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PXC／Galera 與 TiDB 的複寫、擴展、Failover 情境不同；本輪 Failover 計時口徑不等價，暫不排名。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官方文件星等不計入已測項目加權分數；真正導入結論以應用相容性、營運演練、原廠條款與總持有成本為準。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8A96A3"/>
                </a:solidFill>
                <a:latin typeface="Microsoft JhengHei"/>
              </a:rPr>
              <a:t>•  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完整限制、公式與 Fact／Inference 分層以</a:t>
            </a:r>
            <a:r>
              <a:rPr sz="1800" b="0" u="sng">
                <a:solidFill>
                  <a:srgbClr val="1B5EA8"/>
                </a:solidFill>
                <a:latin typeface="Microsoft JhengHei"/>
                <a:hlinkClick r:id="rId2"/>
              </a:rPr>
              <a:t>評分 SSOT</a:t>
            </a:r>
            <a:r>
              <a:rPr sz="1800" b="0">
                <a:solidFill>
                  <a:srgbClr val="22303F"/>
                </a:solidFill>
                <a:latin typeface="Microsoft JhengHei"/>
              </a:rPr>
              <a:t>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1615</Words>
  <Application>Microsoft Macintosh PowerPoint</Application>
  <PresentationFormat>寬螢幕</PresentationFormat>
  <Paragraphs>441</Paragraphs>
  <Slides>20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26" baseType="lpstr">
      <vt:lpstr>Microsoft JhengHei</vt:lpstr>
      <vt:lpstr>Aptos</vt:lpstr>
      <vt:lpstr>Arial</vt:lpstr>
      <vt:lpstr>Calibri</vt:lpstr>
      <vt:lpstr>Consolas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Wn Lin 林武男</cp:lastModifiedBy>
  <cp:revision>5</cp:revision>
  <dcterms:created xsi:type="dcterms:W3CDTF">2013-01-27T09:14:16Z</dcterms:created>
  <dcterms:modified xsi:type="dcterms:W3CDTF">2026-08-21T04:07:34Z</dcterms:modified>
  <cp:category/>
</cp:coreProperties>
</file>