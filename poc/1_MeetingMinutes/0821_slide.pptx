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&#23560;&#26696;&#26178;&#31243;" TargetMode="External"/><Relationship Id="rId3" Type="http://schemas.openxmlformats.org/officeDocument/2006/relationships/hyperlink" Target="https://github.com/heavenruler/dba_career/blob/master/poc/MILESTONES.md#2-&#21934;&#31680;&#40670;&#19977;&#38548;&#38626;&#32026;&#22522;&#28310;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&#30456;&#23481;&#24615;" TargetMode="External"/><Relationship Id="rId3" Type="http://schemas.openxmlformats.org/officeDocument/2006/relationships/hyperlink" Target="https://github.com/heavenruler/dba_career/blob/master/poc/DISTRIBUTED-DB-SCORING.md#321-&#21934;&#31680;&#40670;&#20302;&#20341;&#30332;&#24310;&#36978;vm-1node-rc" TargetMode="External"/><Relationship Id="rId4" Type="http://schemas.openxmlformats.org/officeDocument/2006/relationships/hyperlink" Target="https://github.com/heavenruler/dba_career/blob/master/poc/DISTRIBUTED-DB-SCORING.md#322-&#27700;&#24179;&#25844;&#23637;&#33021;&#21147;vm-1node--vm-3node-haproxy-3s3r" TargetMode="External"/><Relationship Id="rId5" Type="http://schemas.openxmlformats.org/officeDocument/2006/relationships/hyperlink" Target="https://github.com/heavenruler/dba_career/blob/master/poc/DISTRIBUTED-DB-SCORING.md#323-&#39640;&#20341;&#30332;&#31337;&#23450;&#24615;t1285-round-rangemean-&#33287;-error-rate" TargetMode="External"/><Relationship Id="rId6" Type="http://schemas.openxmlformats.org/officeDocument/2006/relationships/hyperlink" Target="https://github.com/heavenruler/dba_career/blob/master/poc/DISTRIBUTED-DB-SCORING.md#331a-mysql-&#30456;&#23481;&#32676;&#32068;galerapxc-84chaosfailover-&#23526;&#28204;2026-08-13" TargetMode="External"/><Relationship Id="rId7" Type="http://schemas.openxmlformats.org/officeDocument/2006/relationships/hyperlink" Target="https://github.com/heavenruler/dba_career/blob/master/poc/DISTRIBUTED-DB-SCORING.md#332-pitr&#20633;&#20221;&#36996;&#21407;" TargetMode="External"/><Relationship Id="rId8" Type="http://schemas.openxmlformats.org/officeDocument/2006/relationships/hyperlink" Target="https://github.com/heavenruler/dba_career/blob/master/poc/DISTRIBUTED-DB-SCORING.md#34-online-ddl-&#33287;&#32173;&#36939;&#24037;&#20855;" TargetMode="External"/><Relationship Id="rId9" Type="http://schemas.openxmlformats.org/officeDocument/2006/relationships/hyperlink" Target="https://github.com/heavenruler/dba_career/blob/master/poc/DISTRIBUTED-DB-SCORING.md#35-tidb-htaptiflash-&#33287;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&#30456;&#23481;&#24615;" TargetMode="External"/><Relationship Id="rId3" Type="http://schemas.openxmlformats.org/officeDocument/2006/relationships/hyperlink" Target="https://github.com/heavenruler/dba_career/blob/master/poc/DISTRIBUTED-DB-SCORING.md#321-&#21934;&#31680;&#40670;&#20302;&#20341;&#30332;&#24310;&#36978;vm-1node-rc" TargetMode="External"/><Relationship Id="rId4" Type="http://schemas.openxmlformats.org/officeDocument/2006/relationships/hyperlink" Target="https://github.com/heavenruler/dba_career/blob/master/poc/DISTRIBUTED-DB-SCORING.md#322-&#27700;&#24179;&#25844;&#23637;&#33021;&#21147;vm-1node--vm-3node-haproxy-3s3r" TargetMode="External"/><Relationship Id="rId5" Type="http://schemas.openxmlformats.org/officeDocument/2006/relationships/hyperlink" Target="https://github.com/heavenruler/dba_career/blob/master/poc/DISTRIBUTED-DB-SCORING.md#323-&#39640;&#20341;&#30332;&#31337;&#23450;&#24615;t1285-round-rangemean-&#33287;-error-rate" TargetMode="External"/><Relationship Id="rId6" Type="http://schemas.openxmlformats.org/officeDocument/2006/relationships/hyperlink" Target="https://github.com/heavenruler/dba_career/blob/master/poc/DISTRIBUTED-DB-SCORING.md#331-failover-rtorpo--2026-08-11-&#30495;&#23526;&#37325;&#36305;&#23436;&#25104;" TargetMode="External"/><Relationship Id="rId7" Type="http://schemas.openxmlformats.org/officeDocument/2006/relationships/hyperlink" Target="https://github.com/heavenruler/dba_career/blob/master/poc/DISTRIBUTED-DB-SCORING.md#332-pitr&#20633;&#20221;&#36996;&#21407;" TargetMode="External"/><Relationship Id="rId8" Type="http://schemas.openxmlformats.org/officeDocument/2006/relationships/hyperlink" Target="https://github.com/heavenruler/dba_career/blob/master/poc/DISTRIBUTED-DB-SCORING.md#34-online-ddl-&#33287;&#32173;&#36939;&#24037;&#20855;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-INTRO.md#&#19968;&#38913;&#32080;&#35542;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753"/>
                <a:gridCol w="9794085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361688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61688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3127"/>
                <a:gridCol w="2369536"/>
                <a:gridCol w="7635174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014216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14216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2549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27832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62856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欄位以實測秒數呈現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群組兩家的故障注入與恢復流程不等價，只列數據、不給星等；PostgreSQL 群組兩家為同一方法論，數據與星等並列。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684"/>
                <a:gridCol w="3748420"/>
                <a:gridCol w="749684"/>
                <a:gridCol w="1874210"/>
                <a:gridCol w="1874210"/>
                <a:gridCol w="749684"/>
                <a:gridCol w="1311947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6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1876"/>
                <a:gridCol w="3159382"/>
                <a:gridCol w="631876"/>
                <a:gridCol w="2527506"/>
                <a:gridCol w="2527506"/>
                <a:gridCol w="631876"/>
                <a:gridCol w="947814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 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 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7189"/>
                <a:gridCol w="4330986"/>
                <a:gridCol w="4146689"/>
                <a:gridCol w="1842973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 Gate，不是普通效能分數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014216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監控彙整，見</a:t>
            </a:r>
            <a:r>
              <a:rPr sz="1600" b="0" u="sng">
                <a:solidFill>
                  <a:srgbClr val="1B5EA8"/>
                </a:solidFill>
                <a:latin typeface="Microsoft JhengHei"/>
                <a:hlinkClick r:id="rId2"/>
              </a:rPr>
              <a:t>評分導讀</a:t>
            </a:r>
            <a:r>
              <a:rPr sz="16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14216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8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672"/>
                <a:gridCol w="10021166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85032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434840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434840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Gate，不是效能加分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9849"/>
                <a:gridCol w="1959617"/>
                <a:gridCol w="5948837"/>
                <a:gridCol w="2379534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授權、支援時區、P1／P2 事故等級、根因分析、版本升級與自管限制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666744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666744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先辨識強耦合與共同故障域，再決定單叢集、多叢集、資源池或跨機房配置。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169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MySQL 相容性、PITR／還原、Online DDL、服務層 Failover、資源與租戶隔離。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3192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216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2394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2628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分開量測叢集恢復、資料可讀寫、終端服務恢復，以及交易是否遺失。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92861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30952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Microsoft JhengHei"/>
              </a:rPr>
              <a:t>先完成單區主辦與災難復原就緒能力；只有業務提出雙區讀寫需求時才啟動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8919"/>
                <a:gridCol w="5528919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AWS 工作負載下雲、地端集中，故障影響範圍的重要性提高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產品更在意最快恢復服務，而非只有抽象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CAP 取捨目前傾向一致性優先（C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可先挑選能移至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同步驗證申請、權限、配額、備份、監控與退場生命週期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由 TSD 指派 owner，先確認依賴與改造上限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361688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61688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7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9"/>
                <a:gridCol w="4519992"/>
                <a:gridCol w="2421424"/>
                <a:gridCol w="2179282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（即主張段落提出的方向）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 Gate，再導入一個代表性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TSD owner、應用樣本與回復窗口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77640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決策｜投資報酬決策樹：先確認問題，再決定投入深度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9928"/>
            <a:ext cx="11057839" cy="3547872"/>
          </a:xfrm>
          <a:prstGeom prst="rect">
            <a:avLst/>
          </a:prstGeom>
          <a:solidFill>
            <a:srgbClr val="F7F9FA"/>
          </a:solidFill>
          <a:ln>
            <a:solidFill>
              <a:srgbClr val="D6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9656"/>
            <a:ext cx="10801807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沒有明確業務問題、受影響服務與 owner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0：保留現況與 PoC framework，定期重審需求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MySQL 應用為主要範圍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相容性／還原／DDL 尚未知     → Option A：技術補件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技術 Gate 通過且效益可量化    → Option B：TiDB Pilot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TiDB 不適配或極低延遲優先     → Option C：PXC 目標式對照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PostgreSQL 高關鍵度／AI 應用有需求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→ Option C：依需求驗 YugabyteDB 或 CockroachDB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平台化或跨區需求成立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重複申請／維運成本高         → Option D：Database Self-Service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2303F"/>
                </a:solidFill>
                <a:latin typeface="Consolas"/>
              </a:rPr>
              <a:t>    DR／EDC 活化                → Option D：先 A/S，需異地讀再評估 A/A-RO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440680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工時作為繼續理由；每個出口都須回到需求、風險降低與可量化收益。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440680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014216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14216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469"/>
                <a:gridCol w="7302346"/>
                <a:gridCol w="2295023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97764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416552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16552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818888"/>
            <a:ext cx="11057839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568696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568696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41480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43816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378"/>
                <a:gridCol w="3685946"/>
                <a:gridCol w="5897514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971800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71800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99"/>
                <a:gridCol w="5094060"/>
                <a:gridCol w="4597079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971800"/>
            <a:ext cx="109298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71800"/>
            <a:ext cx="26000" cy="27432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700" b="0">
                <a:solidFill>
                  <a:srgbClr val="22303F"/>
                </a:solidFill>
                <a:latin typeface="Consolas"/>
              </a:rPr>
              <a:t>N=1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7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