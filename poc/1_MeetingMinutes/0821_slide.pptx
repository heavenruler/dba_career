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%E5%B0%88%E6%A1%88%E6%99%82%E7%A8%8B" TargetMode="External"/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/>
                <a:gridCol w="977975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/>
                <a:gridCol w="2717883"/>
                <a:gridCol w="735362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/>
                <a:gridCol w="4041211"/>
                <a:gridCol w="969544"/>
                <a:gridCol w="1442826"/>
                <a:gridCol w="1547321"/>
                <a:gridCol w="969544"/>
                <a:gridCol w="111784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/>
                <a:gridCol w="4063535"/>
                <a:gridCol w="960646"/>
                <a:gridCol w="1497007"/>
                <a:gridCol w="1611484"/>
                <a:gridCol w="960646"/>
                <a:gridCol w="100387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775"/>
                <a:gridCol w="3947846"/>
                <a:gridCol w="3889720"/>
                <a:gridCol w="240449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 Gate，不是普通效能分數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/>
                <a:gridCol w="1003162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706"/>
                <a:gridCol w="1765940"/>
                <a:gridCol w="4844494"/>
                <a:gridCol w="3243699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 YugabyteDB 困境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7524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752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768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/>
                <a:gridCol w="4723341"/>
                <a:gridCol w="4959510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粗體三列是本次 Pilot 最關鍵的約束：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選題落在 EDC 定期批次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、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驗收以一致性優先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、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服務化（Self-Service）與效能同等重要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。Infra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098"/>
                <a:gridCol w="4437523"/>
                <a:gridCol w="2748928"/>
                <a:gridCol w="2708290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 Gate，再導入一個代表性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5495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決策｜投資報酬決策樹：先確認問題，再決定投入深度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9928"/>
            <a:ext cx="11057839" cy="3547872"/>
          </a:xfrm>
          <a:prstGeom prst="rect">
            <a:avLst/>
          </a:prstGeom>
          <a:solidFill>
            <a:srgbClr val="F7F9FA"/>
          </a:solidFill>
          <a:ln>
            <a:solidFill>
              <a:srgbClr val="D6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9656"/>
            <a:ext cx="10801807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沒有明確業務問題、受影響服務與 owner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0：保留現況與 PoC framework，定期重審需求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MySQL 應用為主要範圍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相容性／還原／DDL 尚未知     → Option A：技術補件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技術 Gate 通過且效益可量化    → Option B：TiDB Pilot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TiDB 不適配或極低延遲優先     → Option C：PXC 目標式對照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PostgreSQL 高關鍵度／AI 應用有需求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C：依需求驗 YugabyteDB 或 CockroachDB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平台化或跨區需求成立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重複申請／維運成本高         → Option D：Database Self-Service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DR／EDC 活化                → Option D：先 A/S，需異地讀再評估 A/A-RO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440680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工時作為繼續理由；每個出口都須回到需求、風險降低與可量化收益。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440680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/>
                <a:gridCol w="6971796"/>
                <a:gridCol w="21977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/>
                <a:gridCol w="4093409"/>
                <a:gridCol w="557774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/>
                <a:gridCol w="5149683"/>
                <a:gridCol w="455911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