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3"/>
  </p:normalViewPr>
  <p:slideViewPr>
    <p:cSldViewPr snapToGrid="0" snapToObjects="1">
      <p:cViewPr>
        <p:scale>
          <a:sx n="116" d="100"/>
          <a:sy n="116" d="100"/>
        </p:scale>
        <p:origin x="176" y="1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PingFang TC"/>
              </a:rPr>
              <a:t>第一階段 PoC 成果與下一步決策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A0A8B8"/>
                </a:solidFill>
                <a:latin typeface="PingFang TC"/>
              </a:rPr>
              <a:t>分散式資料庫架構 × 跨區域驗證 × 決策框架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4572000"/>
            <a:ext cx="301752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0" y="475488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E8EAED"/>
                </a:solidFill>
                <a:latin typeface="PingFang TC"/>
              </a:rPr>
              <a:t>2026-06-26    |    DBA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Outline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91440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buChar char="•"/>
            </a:pPr>
            <a:r>
              <a:rPr sz="2200">
                <a:solidFill>
                  <a:srgbClr val="E8EAED"/>
                </a:solidFill>
                <a:latin typeface="PingFang TC"/>
              </a:rPr>
              <a:t>專案迄今歷程</a:t>
            </a:r>
          </a:p>
          <a:p>
            <a:pPr marL="228600" indent="-228600" algn="l">
              <a:buChar char="•"/>
            </a:pPr>
            <a:r>
              <a:rPr sz="2200">
                <a:solidFill>
                  <a:srgbClr val="E8EAED"/>
                </a:solidFill>
                <a:latin typeface="PingFang TC"/>
              </a:rPr>
              <a:t>第一階段 PoC 測試數據彙整</a:t>
            </a:r>
          </a:p>
          <a:p>
            <a:pPr marL="228600" indent="-228600" algn="l">
              <a:buChar char="•"/>
            </a:pPr>
            <a:r>
              <a:rPr sz="2200">
                <a:solidFill>
                  <a:srgbClr val="E8EAED"/>
                </a:solidFill>
                <a:latin typeface="PingFang TC"/>
              </a:rPr>
              <a:t>第二階段 跨區域 / 跨專線執行進度</a:t>
            </a:r>
          </a:p>
          <a:p>
            <a:pPr marL="228600" indent="-228600" algn="l">
              <a:buChar char="•"/>
            </a:pPr>
            <a:r>
              <a:rPr sz="2200">
                <a:solidFill>
                  <a:srgbClr val="E8EAED"/>
                </a:solidFill>
                <a:latin typeface="PingFang TC"/>
              </a:rPr>
              <a:t>決策框架說明</a:t>
            </a:r>
          </a:p>
          <a:p>
            <a:pPr marL="228600" indent="-228600" algn="l">
              <a:buChar char="•"/>
            </a:pPr>
            <a:r>
              <a:rPr sz="2200">
                <a:solidFill>
                  <a:srgbClr val="E8EAED"/>
                </a:solidFill>
                <a:latin typeface="PingFang TC"/>
              </a:rPr>
              <a:t>後續推進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專案歷程 ① 研究定義到跨家框架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A0A8B8"/>
                </a:solidFill>
                <a:latin typeface="PingFang TC"/>
              </a:rPr>
              <a:t>先定義問題與比較口徑，再建立可重複執行的基礎設施與三資料庫共同工具鏈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82880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時間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階段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重大節點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狀態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2026-03-30～04-10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前期研究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定義分散式 SQL、跨區同鍵寫入、follower read、HA/DR 與九項 survey 評估面向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完成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2026-04-21～04-27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IaC 與第一版測試鏈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建立多測項部署及獨立壓測流程 (Flow Chain)
</a:t>
                      </a:r>
                      <a:r>
                        <a:rPr sz="1100" b="0">
                          <a:solidFill>
                            <a:srgbClr val="F39C12"/>
                          </a:solidFill>
                          <a:latin typeface="PingFang TC"/>
                        </a:rPr>
                        <a:t>gate → prepare → gate-iso → dry-run → run → collect → summary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完成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2026-04-28～05-05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YugabyteDB 首輪除錯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處理 BenchmarkSQL、bulk load、RF / schema packing 與 HAProxy 問題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完成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2026-05-06～05-14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三資料庫對標成形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納入 TiDB、CockroachDB、YugabyteDB，統一結果結構與 go-tpc 工具鏈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完成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603504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8640" y="60350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A0A8B8"/>
                </a:solidFill>
                <a:latin typeface="PingFang TC"/>
              </a:rPr>
              <a:t>此階段完成的是「可比較的工程框架」，早期測試數字不直接納入 v4.7 正式結果。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專案歷程 ② 基準、三節點與治理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A0A8B8"/>
                </a:solidFill>
                <a:latin typeface="PingFang TC"/>
              </a:rPr>
              <a:t>將測試從可執行提升為可重現、可追溯、可拆解成本來源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82880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時間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階段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重大節點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狀態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2026-05-18～05-21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v4.7 baseline 重構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建立 PoC-DESIGN SSOT、detached suite、gate、marker、summary 與單節點三隔離級對標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完成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2026-05-22～06-02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三節點 controlled experiment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完成 shard × replica × HAProxy 拓樸、12-cell dry-run 與三家 5-cell 結果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N=1 完成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2026-05-20～06-04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文件與數據治理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建立模板、AI 協作規範、artifact-first 審計與三家 pipeline-log 對齊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完成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2026-06-06～06-07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Phase isolation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分離 S-BASE、S-K8S、T-THRD、X-CROSS，建立配置宣告、基礎指標確認及指標配置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完成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603504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8640" y="60350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A0A8B8"/>
                </a:solidFill>
                <a:latin typeface="PingFang TC"/>
              </a:rPr>
              <a:t>正式數字必須能追回測試條件、時間戳、結果檔案與完成標記；缺少來源資料 (測試階段) 時不予納入參考。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專案歷程 ③ Kubernetes 到跨區驗證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A0A8B8"/>
                </a:solidFill>
                <a:latin typeface="PingFang TC"/>
              </a:rPr>
              <a:t>已完成 Kubernetes 對照與跨區技術路徑；正式跨區效能仍受實測結果約束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82880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時間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階段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重大節點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狀態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2026-06-08～06-14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Kubernetes v4.7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由單 cell dry-run 擴充至三資料庫 × limit/unlimit 六組正式 suite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6/6 完成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2026-06-08～06-17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跨區設計與前置開發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建立 GCP VM、六節點部署、placement、WAN、chaos、failover 與 pre-flight 規格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1C40F"/>
                          </a:solidFill>
                          <a:latin typeface="PingFang TC"/>
                        </a:rPr>
                        <a:t>● 框架完成
部分僅 dry-run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2026-06-18～06-19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IDC↔GCP 實際驗證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修正 IaC、gate、防火牆與 YugabyteDB placement，三家完成真六節點前期測試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smoke 完成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2026-06-21～06-22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Determinism 收斂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W=4 重跑浮動過大，改採同 cluster、freeze/unfreeze、變異量/變異參數 與 W=128 baseline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1C40F"/>
                          </a:solidFill>
                          <a:latin typeface="PingFang TC"/>
                        </a:rPr>
                        <a:t>● 進行中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603504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8640" y="60350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A0A8B8"/>
                </a:solidFill>
                <a:latin typeface="PingFang TC"/>
              </a:rPr>
              <a:t>決策界線：可確認六節點跨區交易路徑可行；正式跨家排序須等 W=128、R2～R5 中位數 / 變異係數與回復流程驗收結論。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三家資料庫導入定位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17320"/>
          <a:ext cx="11064238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資料庫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第一階段觀察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導入定位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TiDB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VM 與 K8s 吞吐表現較佳；K8s retention 較高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方便優先進入應用情境對接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CockroachDB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一致性需求較強（SSI 預設）；SI / SSI 模式下 retry 與效能成本明顯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B03A14"/>
                          </a:solidFill>
                          <a:latin typeface="PingFang TC"/>
                        </a:rPr>
                        <a:t>保留觀察</a:t>
                      </a:r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：應用層需評估 Error Handling 容忍度與交易模式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YugabyteDB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VM + HAProxy 表現為佳；K8s 結果目前不宜直接作為導入結論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B03A14"/>
                          </a:solidFill>
                          <a:latin typeface="PingFang TC"/>
                        </a:rPr>
                        <a:t>保留觀察</a:t>
                      </a:r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：K8s 部署仍需調校與驗證，VM 路徑可進入評估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520440"/>
            <a:ext cx="1143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39C12"/>
                </a:solidFill>
                <a:latin typeface="PingFang TC"/>
              </a:rPr>
              <a:t>同 IDC / 同硬體 基準 — vm-3node-haproxy-3s3r-rc, t=128 mean tpmC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 err="1">
                <a:solidFill>
                  <a:srgbClr val="A0A8B8"/>
                </a:solidFill>
                <a:latin typeface="PingFang TC"/>
              </a:rPr>
              <a:t>三家架構與元件介紹見後續</a:t>
            </a:r>
            <a:r>
              <a:rPr sz="1400" b="0" dirty="0">
                <a:solidFill>
                  <a:srgbClr val="A0A8B8"/>
                </a:solidFill>
                <a:latin typeface="PingFang TC"/>
              </a:rPr>
              <a:t> Slide 7-9</a:t>
            </a:r>
            <a:endParaRPr sz="1400" b="0" dirty="0">
              <a:solidFill>
                <a:srgbClr val="B03A14"/>
              </a:solidFill>
              <a:latin typeface="PingFang TC"/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434840"/>
          <a:ext cx="64008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TiDB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YugabyteDB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CockroachDB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11418"/>
                          </a:solidFill>
                          <a:latin typeface="PingFang TC"/>
                        </a:rPr>
                        <a:t>≈ 26,900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11418"/>
                          </a:solidFill>
                          <a:latin typeface="PingFang TC"/>
                        </a:rPr>
                        <a:t>≈ 15,600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11418"/>
                          </a:solidFill>
                          <a:latin typeface="PingFang TC"/>
                        </a:rPr>
                        <a:t>≈ 15,000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669280"/>
            <a:ext cx="11430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本組數字為 controlled experiment 基準（VM 現況資源 × 3 node 拓樸）；不直接代表各家「拿出來就跑」的生產表現；不具任何採購驗收指標用。</a:t>
            </a:r>
          </a:p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商業實體 / 授權 / 採購層面議題需另案審查。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YugabyteDB 架構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rch-ybdb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417320"/>
            <a:ext cx="9235440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212080"/>
            <a:ext cx="11064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buChar char="•"/>
            </a:pPr>
            <a:r>
              <a:rPr sz="1200" b="1">
                <a:solidFill>
                  <a:srgbClr val="F39C12"/>
                </a:solidFill>
                <a:latin typeface="PingFang TC"/>
              </a:rPr>
              <a:t>YSQL：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PostgreSQL-compatible SQL API；處理 query planning 與 transaction request</a:t>
            </a:r>
          </a:p>
          <a:p>
            <a:pPr marL="228600" indent="-228600" algn="l">
              <a:buChar char="•"/>
            </a:pPr>
            <a:r>
              <a:rPr sz="1200" b="1">
                <a:solidFill>
                  <a:srgbClr val="F39C12"/>
                </a:solidFill>
                <a:latin typeface="PingFang TC"/>
              </a:rPr>
              <a:t>DocDB：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distributed document store；負責資料儲存、MVCC、tablet 管理與 Raft 複寫</a:t>
            </a:r>
          </a:p>
          <a:p>
            <a:pPr marL="228600" indent="-228600" algn="l">
              <a:buChar char="•"/>
            </a:pPr>
            <a:r>
              <a:rPr sz="1200" b="1">
                <a:solidFill>
                  <a:srgbClr val="F39C12"/>
                </a:solidFill>
                <a:latin typeface="PingFang TC"/>
              </a:rPr>
              <a:t>YB-TServer：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資料服務節點；承載 YSQL request path 與 DocDB tablet（SQL 與儲存同在 tserver 內，與 TiDB SQL/storage 分離不同）</a:t>
            </a:r>
          </a:p>
          <a:p>
            <a:pPr marL="228600" indent="-228600" algn="l">
              <a:buChar char="•"/>
            </a:pPr>
            <a:r>
              <a:rPr sz="1200" b="1">
                <a:solidFill>
                  <a:srgbClr val="F39C12"/>
                </a:solidFill>
                <a:latin typeface="PingFang TC"/>
              </a:rPr>
              <a:t>YB-Master：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叢集 metadata 管理；負責 tablet placement、schema metadata 與 cluster coordination</a:t>
            </a:r>
          </a:p>
          <a:p>
            <a:pPr marL="228600" indent="-228600" algn="l">
              <a:buChar char="•"/>
            </a:pPr>
            <a:r>
              <a:rPr sz="1200" b="1">
                <a:solidFill>
                  <a:srgbClr val="B03A14"/>
                </a:solidFill>
                <a:latin typeface="PingFang TC"/>
              </a:rPr>
              <a:t>架構重點：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tserver 一體式；加節點時 SQL 接收能力與 tablet capacity 一起增加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CockroachDB 架構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rch-crdb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417320"/>
            <a:ext cx="5760720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212080"/>
            <a:ext cx="11064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buChar char="•"/>
            </a:pPr>
            <a:r>
              <a:rPr sz="1200" b="1">
                <a:solidFill>
                  <a:srgbClr val="F39C12"/>
                </a:solidFill>
                <a:latin typeface="PingFang TC"/>
              </a:rPr>
              <a:t>SQL layer：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每個節點都能接 SQL request、產生 query plan、處理 transaction coordination</a:t>
            </a:r>
          </a:p>
          <a:p>
            <a:pPr marL="228600" indent="-228600" algn="l">
              <a:buChar char="•"/>
            </a:pPr>
            <a:r>
              <a:rPr sz="1200" b="1">
                <a:solidFill>
                  <a:srgbClr val="F39C12"/>
                </a:solidFill>
                <a:latin typeface="PingFang TC"/>
              </a:rPr>
              <a:t>Transactional KV / Distribution：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SQL 轉成 KV operation；distribution layer 路由到 range 所在節點</a:t>
            </a:r>
          </a:p>
          <a:p>
            <a:pPr marL="228600" indent="-228600" algn="l">
              <a:buChar char="•"/>
            </a:pPr>
            <a:r>
              <a:rPr sz="1200" b="1">
                <a:solidFill>
                  <a:srgbClr val="F39C12"/>
                </a:solidFill>
                <a:latin typeface="PingFang TC"/>
              </a:rPr>
              <a:t>Replication / Raft：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資料以 range 為單位複寫；replica 數直接影響寫入 quorum 與 commit latency</a:t>
            </a:r>
          </a:p>
          <a:p>
            <a:pPr marL="228600" indent="-228600" algn="l">
              <a:buChar char="•"/>
            </a:pPr>
            <a:r>
              <a:rPr sz="1200" b="1">
                <a:solidFill>
                  <a:srgbClr val="F39C12"/>
                </a:solidFill>
                <a:latin typeface="PingFang TC"/>
              </a:rPr>
              <a:t>Storage：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每節點同時保存資料並處理查詢；無獨立 SQL node / storage node 分層</a:t>
            </a:r>
          </a:p>
          <a:p>
            <a:pPr marL="228600" indent="-228600" algn="l">
              <a:buChar char="•"/>
            </a:pPr>
            <a:r>
              <a:rPr sz="1200" b="1">
                <a:solidFill>
                  <a:srgbClr val="B03A14"/>
                </a:solidFill>
                <a:latin typeface="PingFang TC"/>
              </a:rPr>
              <a:t>架構重點：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對稱式架構；任一節點同時具備 SQL / txn / distribution / replication / storage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TiDB 架構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rch-tidb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417320"/>
            <a:ext cx="7589520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212080"/>
            <a:ext cx="11064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buChar char="•"/>
            </a:pPr>
            <a:r>
              <a:rPr sz="1200" b="1">
                <a:solidFill>
                  <a:srgbClr val="F39C12"/>
                </a:solidFill>
                <a:latin typeface="PingFang TC"/>
              </a:rPr>
              <a:t>TiDB server：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SQL 接收層；解析 SQL、產生執行計畫、處理 transaction coordination（不保存主要資料）</a:t>
            </a:r>
          </a:p>
          <a:p>
            <a:pPr marL="228600" indent="-228600" algn="l">
              <a:buChar char="•"/>
            </a:pPr>
            <a:r>
              <a:rPr sz="1200" b="1">
                <a:solidFill>
                  <a:srgbClr val="F39C12"/>
                </a:solidFill>
                <a:latin typeface="PingFang TC"/>
              </a:rPr>
              <a:t>TiKV：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分散式 row store；資料以 Region 切分並透過 Raft 複寫</a:t>
            </a:r>
          </a:p>
          <a:p>
            <a:pPr marL="228600" indent="-228600" algn="l">
              <a:buChar char="•"/>
            </a:pPr>
            <a:r>
              <a:rPr sz="1200" b="1">
                <a:solidFill>
                  <a:srgbClr val="F39C12"/>
                </a:solidFill>
                <a:latin typeface="PingFang TC"/>
              </a:rPr>
              <a:t>PD (Placement Driver)：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叢集 metadata 與排程控制中心；負責 timestamp oracle、Region placement 與負載調度</a:t>
            </a:r>
          </a:p>
          <a:p>
            <a:pPr marL="228600" indent="-228600" algn="l">
              <a:buChar char="•"/>
            </a:pPr>
            <a:r>
              <a:rPr sz="1200" b="1">
                <a:solidFill>
                  <a:srgbClr val="F39C12"/>
                </a:solidFill>
                <a:latin typeface="PingFang TC"/>
              </a:rPr>
              <a:t>TiFlash：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columnar replica，HTAP / analytical query；本輪 OLTP 測試不以 TiFlash 為主路徑</a:t>
            </a:r>
          </a:p>
          <a:p>
            <a:pPr marL="228600" indent="-228600" algn="l">
              <a:buChar char="•"/>
            </a:pPr>
            <a:r>
              <a:rPr sz="1200" b="1">
                <a:solidFill>
                  <a:srgbClr val="B03A14"/>
                </a:solidFill>
                <a:latin typeface="PingFang TC"/>
              </a:rPr>
              <a:t>架構重點：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SQL 層與儲存層分離；TiDB server 擴 SQL 接收、TiKV 擴儲存與 Raft 複寫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FFFFFF"/>
                </a:solidFill>
                <a:latin typeface="PingFang TC"/>
              </a:rPr>
              <a:t>Commit 路徑 × 跨區延遲開銷 × 一致性</a:t>
            </a:r>
            <a:r>
              <a:rPr sz="3000" b="1" dirty="0" err="1">
                <a:solidFill>
                  <a:srgbClr val="FFFFFF"/>
                </a:solidFill>
                <a:latin typeface="PingFang TC"/>
              </a:rPr>
              <a:t/>
            </a:r>
            <a:r>
              <a:rPr sz="3000" b="1" dirty="0">
                <a:solidFill>
                  <a:srgbClr val="FFFFFF"/>
                </a:solidFill>
                <a:latin typeface="PingFang TC"/>
              </a:rPr>
              <a:t/>
            </a:r>
            <a:r>
              <a:rPr sz="3000" b="1" dirty="0" err="1">
                <a:solidFill>
                  <a:srgbClr val="FFFFFF"/>
                </a:solidFill>
                <a:latin typeface="PingFang TC"/>
              </a:rPr>
              <a:t/>
            </a:r>
            <a:r>
              <a:rPr lang="zh-TW" altLang="en-US" sz="3000" b="1" dirty="0">
                <a:solidFill>
                  <a:srgbClr val="FFFFFF"/>
                </a:solidFill>
                <a:latin typeface="PingFang TC"/>
              </a:rPr>
              <a:t/>
            </a:r>
            <a:r>
              <a:rPr sz="3000" b="1" dirty="0">
                <a:solidFill>
                  <a:srgbClr val="FFFFFF"/>
                </a:solidFill>
                <a:latin typeface="PingFang TC"/>
              </a:rPr>
              <a:t/>
            </a:r>
            <a:r>
              <a:rPr sz="3000" b="1" dirty="0" err="1">
                <a:solidFill>
                  <a:srgbClr val="FFFFFF"/>
                </a:solidFill>
                <a:latin typeface="PingFang TC"/>
              </a:rPr>
              <a:t/>
            </a:r>
            <a:endParaRPr sz="3000" b="1" dirty="0">
              <a:solidFill>
                <a:srgbClr val="FFFFFF"/>
              </a:solidFill>
              <a:latin typeface="PingFang TC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A0A8B8"/>
                </a:solidFill>
                <a:latin typeface="PingFang TC"/>
              </a:rPr>
              <a:t>分散式 DB 跨區後，延遲開銷集中在 commit 路徑上「必跨 WAN 的節點」且設計機制不同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74519"/>
            <a:ext cx="3657600" cy="2286000"/>
          </a:xfrm>
          <a:prstGeom prst="roundRect">
            <a:avLst/>
          </a:prstGeom>
          <a:solidFill>
            <a:srgbClr val="262F46"/>
          </a:solidFill>
          <a:ln w="12700">
            <a:solidFill>
              <a:srgbClr val="E74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947671"/>
            <a:ext cx="33284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39C12"/>
                </a:solidFill>
                <a:latin typeface="PingFang TC"/>
              </a:rPr>
              <a:t>TiDB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377439"/>
            <a:ext cx="332841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74C3C"/>
                </a:solidFill>
                <a:latin typeface="PingFang TC"/>
              </a:rPr>
              <a:t>時序：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578607"/>
            <a:ext cx="332841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E8EAED"/>
                </a:solidFill>
                <a:latin typeface="PingFang TC"/>
              </a:rPr>
              <a:t>中央 PD TSO</a:t>
            </a:r>
          </a:p>
          <a:p>
            <a:pPr algn="l"/>
            <a:r>
              <a:rPr sz="1000" b="0">
                <a:solidFill>
                  <a:srgbClr val="E8EAED"/>
                </a:solidFill>
                <a:latin typeface="PingFang TC"/>
              </a:rPr>
              <a:t>每 txn 取 ts +1 RTT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944367"/>
            <a:ext cx="332841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74C3C"/>
                </a:solidFill>
                <a:latin typeface="PingFang TC"/>
              </a:rPr>
              <a:t>Commit：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145535"/>
            <a:ext cx="332841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E8EAED"/>
                </a:solidFill>
                <a:latin typeface="PingFang TC"/>
              </a:rPr>
              <a:t>2PC (Percolator)</a:t>
            </a:r>
          </a:p>
          <a:p>
            <a:pPr algn="l"/>
            <a:r>
              <a:rPr sz="1000" b="0">
                <a:solidFill>
                  <a:srgbClr val="E8EAED"/>
                </a:solidFill>
                <a:latin typeface="PingFang TC"/>
              </a:rPr>
              <a:t>prewrite → commit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511295"/>
            <a:ext cx="332841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74C3C"/>
                </a:solidFill>
                <a:latin typeface="PingFang TC"/>
              </a:rPr>
              <a:t>延遲開銷集中：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712463"/>
            <a:ext cx="332841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E8EAED"/>
                </a:solidFill>
                <a:latin typeface="PingFang TC"/>
              </a:rPr>
              <a:t>PD TSO 跨區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874519"/>
            <a:ext cx="3657600" cy="2286000"/>
          </a:xfrm>
          <a:prstGeom prst="roundRect">
            <a:avLst/>
          </a:prstGeom>
          <a:solidFill>
            <a:srgbClr val="262F46"/>
          </a:solidFill>
          <a:ln w="12700">
            <a:solidFill>
              <a:srgbClr val="E74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07992" y="1947671"/>
            <a:ext cx="33284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39C12"/>
                </a:solidFill>
                <a:latin typeface="PingFang TC"/>
              </a:rPr>
              <a:t>CockroachDB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2377439"/>
            <a:ext cx="332841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74C3C"/>
                </a:solidFill>
                <a:latin typeface="PingFang TC"/>
              </a:rPr>
              <a:t>時序：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2578607"/>
            <a:ext cx="332841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E8EAED"/>
                </a:solidFill>
                <a:latin typeface="PingFang TC"/>
              </a:rPr>
              <a:t>HLC（本地時鐘 + counter）</a:t>
            </a:r>
          </a:p>
          <a:p>
            <a:pPr algn="l"/>
            <a:r>
              <a:rPr sz="1000" b="0">
                <a:solidFill>
                  <a:srgbClr val="E8EAED"/>
                </a:solidFill>
                <a:latin typeface="PingFang TC"/>
              </a:rPr>
              <a:t>無 TSO RTT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992" y="2944367"/>
            <a:ext cx="332841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74C3C"/>
                </a:solidFill>
                <a:latin typeface="PingFang TC"/>
              </a:rPr>
              <a:t>Commit：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7992" y="3145535"/>
            <a:ext cx="332841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E8EAED"/>
                </a:solidFill>
                <a:latin typeface="PingFang TC"/>
              </a:rPr>
              <a:t>gateway 為 txn coord</a:t>
            </a:r>
          </a:p>
          <a:p>
            <a:pPr algn="l"/>
            <a:r>
              <a:rPr sz="1000" b="0">
                <a:solidFill>
                  <a:srgbClr val="E8EAED"/>
                </a:solidFill>
                <a:latin typeface="PingFang TC"/>
              </a:rPr>
              <a:t>intent → resolve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7992" y="3511295"/>
            <a:ext cx="332841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74C3C"/>
                </a:solidFill>
                <a:latin typeface="PingFang TC"/>
              </a:rPr>
              <a:t>延遲開銷集中：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3712463"/>
            <a:ext cx="332841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E8EAED"/>
                </a:solidFill>
                <a:latin typeface="PingFang TC"/>
              </a:rPr>
              <a:t>leaseholder + intent resolve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1874519"/>
            <a:ext cx="3657600" cy="2286000"/>
          </a:xfrm>
          <a:prstGeom prst="roundRect">
            <a:avLst/>
          </a:prstGeom>
          <a:solidFill>
            <a:srgbClr val="262F46"/>
          </a:solidFill>
          <a:ln w="12700">
            <a:solidFill>
              <a:srgbClr val="E74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02752" y="1947671"/>
            <a:ext cx="33284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39C12"/>
                </a:solidFill>
                <a:latin typeface="PingFang TC"/>
              </a:rPr>
              <a:t>YugabyteDB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2377439"/>
            <a:ext cx="332841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74C3C"/>
                </a:solidFill>
                <a:latin typeface="PingFang TC"/>
              </a:rPr>
              <a:t>時序：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2578607"/>
            <a:ext cx="332841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E8EAED"/>
                </a:solidFill>
                <a:latin typeface="PingFang TC"/>
              </a:rPr>
              <a:t>HLC（類 CRDB）</a:t>
            </a:r>
          </a:p>
          <a:p>
            <a:pPr algn="l"/>
            <a:r>
              <a:rPr sz="1000" b="0">
                <a:solidFill>
                  <a:srgbClr val="E8EAED"/>
                </a:solidFill>
                <a:latin typeface="PingFang TC"/>
              </a:rPr>
              <a:t>無 TSO RTT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2944367"/>
            <a:ext cx="332841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74C3C"/>
                </a:solidFill>
                <a:latin typeface="PingFang TC"/>
              </a:rPr>
              <a:t>Commit：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2752" y="3145535"/>
            <a:ext cx="332841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E8EAED"/>
                </a:solidFill>
                <a:latin typeface="PingFang TC"/>
              </a:rPr>
              <a:t>YSQL → DocDB tablet</a:t>
            </a:r>
          </a:p>
          <a:p>
            <a:pPr algn="l"/>
            <a:r>
              <a:rPr sz="1000" b="0">
                <a:solidFill>
                  <a:srgbClr val="E8EAED"/>
                </a:solidFill>
                <a:latin typeface="PingFang TC"/>
              </a:rPr>
              <a:t>raft + 狀態表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2" y="3511295"/>
            <a:ext cx="332841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74C3C"/>
                </a:solidFill>
                <a:latin typeface="PingFang TC"/>
              </a:rPr>
              <a:t>延遲開銷集中：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3712463"/>
            <a:ext cx="332841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E8EAED"/>
                </a:solidFill>
                <a:latin typeface="PingFang TC"/>
              </a:rPr>
              <a:t>YSQL ↔ DocDB IPC</a:t>
            </a:r>
          </a:p>
          <a:p>
            <a:pPr algn="l"/>
            <a:r>
              <a:rPr sz="1000" b="0">
                <a:solidFill>
                  <a:srgbClr val="E8EAED"/>
                </a:solidFill>
                <a:latin typeface="PingFang TC"/>
              </a:rPr>
              <a:t>+ tablet leader 跨區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39C12"/>
                </a:solidFill>
                <a:latin typeface="PingFang TC"/>
              </a:rPr>
              <a:t>降稅的兩個關鍵動作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663440"/>
            <a:ext cx="1124712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buChar char="•"/>
            </a:pPr>
            <a:r>
              <a:rPr sz="1300" b="1">
                <a:solidFill>
                  <a:srgbClr val="F39C12"/>
                </a:solidFill>
                <a:latin typeface="PingFang TC"/>
              </a:rPr>
              <a:t>Placement P-A：</a:t>
            </a:r>
            <a:r>
              <a:rPr sz="1300" b="0">
                <a:solidFill>
                  <a:srgbClr val="E8EAED"/>
                </a:solidFill>
                <a:latin typeface="PingFang TC"/>
              </a:rPr>
              <a:t>把 voter 多數拉回 IDC，quorum 不跨 WAN → 寫入稅從 RTT 降到 0</a:t>
            </a:r>
          </a:p>
          <a:p>
            <a:pPr marL="228600" indent="-228600" algn="l">
              <a:buChar char="•"/>
            </a:pPr>
            <a:r>
              <a:rPr sz="1300" b="1">
                <a:solidFill>
                  <a:srgbClr val="F39C12"/>
                </a:solidFill>
                <a:latin typeface="PingFang TC"/>
              </a:rPr>
              <a:t>Follower / stale read：</a:t>
            </a:r>
            <a:r>
              <a:rPr sz="1300" b="0">
                <a:solidFill>
                  <a:srgbClr val="E8EAED"/>
                </a:solidFill>
                <a:latin typeface="PingFang TC"/>
              </a:rPr>
              <a:t>讀本地 follower，bounded staleness 換 0 RTT → 適用 A-A-RO workload</a:t>
            </a:r>
          </a:p>
          <a:p>
            <a:pPr marL="228600" indent="-228600" algn="l">
              <a:buChar char="•"/>
            </a:pPr>
            <a:r>
              <a:rPr sz="1300" b="1">
                <a:solidFill>
                  <a:srgbClr val="B03A14"/>
                </a:solidFill>
                <a:latin typeface="PingFang TC"/>
              </a:rPr>
              <a:t>YugabyteDB 多一筆稅：</a:t>
            </a:r>
            <a:r>
              <a:rPr sz="1300" b="0">
                <a:solidFill>
                  <a:srgbClr val="E8EAED"/>
                </a:solidFill>
                <a:latin typeface="PingFang TC"/>
              </a:rPr>
              <a:t>YSQL postgres backend ↔ DocDB tablet 是兩 process；跨區 IPC + RTT 雙重放大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080760"/>
            <a:ext cx="1143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F1C40F"/>
                </a:solidFill>
                <a:latin typeface="PingFang TC"/>
              </a:rPr>
              <a:t>⚠ 強一致與跨區效能無法同時最佳化</a:t>
            </a:r>
            <a:r>
              <a:rPr sz="1300" b="0">
                <a:solidFill>
                  <a:srgbClr val="A0A8B8"/>
                </a:solidFill>
                <a:latin typeface="PingFang TC"/>
              </a:rPr>
              <a:t> — 必須選 workload 模式（A-S / A-A-RO / A-A）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Range vs Hash Sharding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A0A8B8"/>
                </a:solidFill>
                <a:latin typeface="PingFang TC"/>
              </a:rPr>
              <a:t>「row 屬哪個 shard」的兩種演算法 — 直接影響 locality / hotspot / range scan 效能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74519"/>
            <a:ext cx="5486400" cy="2377440"/>
          </a:xfrm>
          <a:prstGeom prst="roundRect">
            <a:avLst/>
          </a:prstGeom>
          <a:solidFill>
            <a:srgbClr val="262F46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965959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7AE60"/>
                </a:solidFill>
                <a:latin typeface="PingFang TC"/>
              </a:rPr>
              <a:t>Range Sharding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39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7AE60"/>
                </a:solidFill>
                <a:latin typeface="PingFang TC"/>
              </a:rPr>
              <a:t>演算法：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依 key 區間切（id 1-1000 → shard-1）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16351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7AE60"/>
                </a:solidFill>
                <a:latin typeface="PingFang TC"/>
              </a:rPr>
              <a:t>優點：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範圍掃描快、locality 高、index/排序自然對齊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55263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7AE60"/>
                </a:solidFill>
                <a:latin typeface="PingFang TC"/>
              </a:rPr>
              <a:t>缺點：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Sequential write (auto_inc / timestamp) 集中熱點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94175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7AE60"/>
                </a:solidFill>
                <a:latin typeface="PingFang TC"/>
              </a:rPr>
              <a:t>代表 DB：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TiDB / CockroachDB / YBDB secondary index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874519"/>
            <a:ext cx="5486400" cy="2377440"/>
          </a:xfrm>
          <a:prstGeom prst="roundRect">
            <a:avLst/>
          </a:prstGeom>
          <a:solidFill>
            <a:srgbClr val="262F46"/>
          </a:solidFill>
          <a:ln w="19050">
            <a:solidFill>
              <a:srgbClr val="F39C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1965959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39C12"/>
                </a:solidFill>
                <a:latin typeface="PingFang TC"/>
              </a:rPr>
              <a:t>Hash Sharding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377439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39C12"/>
                </a:solidFill>
                <a:latin typeface="PingFang TC"/>
              </a:rPr>
              <a:t>演算法：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hash(key) % N → shard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816351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39C12"/>
                </a:solidFill>
                <a:latin typeface="PingFang TC"/>
              </a:rPr>
              <a:t>優點：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寫入分散、無熱點、shard 容量均勻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255263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39C12"/>
                </a:solidFill>
                <a:latin typeface="PingFang TC"/>
              </a:rPr>
              <a:t>缺點：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範圍掃描需 fan-out 全 shard；跨 shard JOIN 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694175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39C12"/>
                </a:solidFill>
                <a:latin typeface="PingFang TC"/>
              </a:rPr>
              <a:t>代表 DB：</a:t>
            </a:r>
            <a:r>
              <a:rPr sz="1200" b="0">
                <a:solidFill>
                  <a:srgbClr val="E8EAED"/>
                </a:solidFill>
                <a:latin typeface="PingFang TC"/>
              </a:rPr>
              <a:t>YugabyteDB (YSQL PK 預設) / Cassandra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452628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06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418"/>
                          </a:solidFill>
                          <a:latin typeface="PingFang TC"/>
                        </a:rPr>
                        <a:t>觀察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418"/>
                          </a:solidFill>
                          <a:latin typeface="PingFang TC"/>
                        </a:rPr>
                        <a:t>解釋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TiDB tpmC ≈ 26,900（最高）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Range + warehouse-aware split + leader balance 對 OLTP locality 最友善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CockroachDB tpmC ≈ 15,000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Range 但 SSI 預設 + retry 成本拉低吞吐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YugabyteDB tpmC ≈ 15,600 (VM)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Hash 預設打散；無熱點但 cross-tablet txn 比例高，吞吐受限於 commit fanout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48640" y="6172200"/>
            <a:ext cx="11430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39C12"/>
                </a:solidFill>
                <a:latin typeface="PingFang TC"/>
              </a:rPr>
              <a:t>TPC-C warehouse-centric workload</a:t>
            </a:r>
            <a:r>
              <a:rPr sz="1200" b="0">
                <a:solidFill>
                  <a:srgbClr val="E8EAED"/>
                </a:solidFill>
                <a:latin typeface="PingFang TC"/>
              </a:rPr>
              <a:t> 偏好 range（同 warehouse row co-located）；hash 在 hot warehouse 場景反能避開單 shard 飽和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VM 與 Kubernetes 效能差異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A0A8B8"/>
                </a:solidFill>
                <a:latin typeface="PingFang TC"/>
              </a:rPr>
              <a:t>K8s 化對 TiDB 與 CockroachDB 屬可接受範圍；YugabyteDB 在 K8s 下退化顯著，列為調校與驗證項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82880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資料庫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S-BASE (VM)
tpmC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S-K8S unlimit
tpmC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S-K8S limit
tpmC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unlimit / VM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limit / VM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p99 unlimit Δ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p99 limit Δ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418"/>
                          </a:solidFill>
                          <a:latin typeface="PingFang TC"/>
                        </a:rPr>
                        <a:t>TiDB v8.5.2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26,947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23,442.9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15,751.9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B03A14"/>
                          </a:solidFill>
                          <a:latin typeface="PingFang TC"/>
                        </a:rPr>
                        <a:t>87.0 %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58.5 %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+17 %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+111 %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418"/>
                          </a:solidFill>
                          <a:latin typeface="PingFang TC"/>
                        </a:rPr>
                        <a:t>CockroachDB v26.2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15,033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12,196.7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6,493.5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B03A14"/>
                          </a:solidFill>
                          <a:latin typeface="PingFang TC"/>
                        </a:rPr>
                        <a:t>81.1 %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43.2 %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+27 %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+192 %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418"/>
                          </a:solidFill>
                          <a:latin typeface="PingFang TC"/>
                        </a:rPr>
                        <a:t>YugabyteDB 2025.2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15,632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2,997.6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1,604.5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B03A14"/>
                          </a:solidFill>
                          <a:latin typeface="PingFang TC"/>
                        </a:rPr>
                        <a:t>19.2 % ⚠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10.3 % ⚠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+669 %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+1556 %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4348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39C12"/>
                </a:solidFill>
                <a:latin typeface="PingFang TC"/>
              </a:rPr>
              <a:t>觀察解讀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46320"/>
            <a:ext cx="10972800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buChar char="•"/>
            </a:pPr>
            <a:r>
              <a:rPr sz="1500" dirty="0" err="1">
                <a:solidFill>
                  <a:srgbClr val="E8EAED"/>
                </a:solidFill>
                <a:latin typeface="PingFang TC"/>
              </a:rPr>
              <a:t>TiDB</a:t>
            </a:r>
            <a:r>
              <a:rPr sz="1500" dirty="0">
                <a:solidFill>
                  <a:srgbClr val="E8EAED"/>
                </a:solidFill>
                <a:latin typeface="PingFang TC"/>
              </a:rPr>
              <a:t> / CockroachDB：K8s </a:t>
            </a:r>
            <a:r>
              <a:rPr sz="1500" dirty="0" err="1">
                <a:solidFill>
                  <a:srgbClr val="E8EAED"/>
                </a:solidFill>
                <a:latin typeface="PingFang TC"/>
              </a:rPr>
              <a:t>unlimit</a:t>
            </a:r>
            <a:r>
              <a:rPr sz="1500" dirty="0">
                <a:solidFill>
                  <a:srgbClr val="E8EAED"/>
                </a:solidFill>
                <a:latin typeface="PingFang TC"/>
              </a:rPr>
              <a:t> </a:t>
            </a:r>
            <a:r>
              <a:rPr sz="1500" dirty="0" err="1">
                <a:solidFill>
                  <a:srgbClr val="E8EAED"/>
                </a:solidFill>
                <a:latin typeface="PingFang TC"/>
              </a:rPr>
              <a:t>保留率</a:t>
            </a:r>
            <a:r>
              <a:rPr sz="1500" dirty="0">
                <a:solidFill>
                  <a:srgbClr val="E8EAED"/>
                </a:solidFill>
                <a:latin typeface="PingFang TC"/>
              </a:rPr>
              <a:t> 81-87 %，</a:t>
            </a:r>
            <a:r>
              <a:rPr sz="1500" dirty="0" err="1">
                <a:solidFill>
                  <a:srgbClr val="E8EAED"/>
                </a:solidFill>
                <a:latin typeface="PingFang TC"/>
              </a:rPr>
              <a:t>屬可接受範圍；limit</a:t>
            </a:r>
            <a:r>
              <a:rPr sz="1500" dirty="0">
                <a:solidFill>
                  <a:srgbClr val="E8EAED"/>
                </a:solidFill>
                <a:latin typeface="PingFang TC"/>
              </a:rPr>
              <a:t> </a:t>
            </a:r>
            <a:r>
              <a:rPr sz="1500" dirty="0" err="1">
                <a:solidFill>
                  <a:srgbClr val="E8EAED"/>
                </a:solidFill>
                <a:latin typeface="PingFang TC"/>
              </a:rPr>
              <a:t>情境大幅衰退反映資源壓縮</a:t>
            </a:r>
            <a:r>
              <a:rPr lang="en-US" sz="1500" dirty="0" err="1">
                <a:solidFill>
                  <a:srgbClr val="E8EAED"/>
                </a:solidFill>
                <a:latin typeface="PingFang TC"/>
              </a:rPr>
              <a:t>，但可預期</a:t>
            </a:r>
            <a:r>
              <a:rPr lang="en-US" sz="1500" dirty="0">
                <a:solidFill>
                  <a:srgbClr val="E8EAED"/>
                </a:solidFill>
                <a:latin typeface="PingFang TC"/>
              </a:rPr>
              <a:t> Scale </a:t>
            </a:r>
            <a:endParaRPr sz="15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1500" b="0" dirty="0">
                <a:solidFill>
                  <a:srgbClr val="E8EAED"/>
                </a:solidFill>
                <a:latin typeface="PingFang TC"/>
              </a:rPr>
              <a:t>YugabyteDB：K8s </a:t>
            </a:r>
            <a:r>
              <a:rPr sz="1500" b="0" dirty="0" err="1">
                <a:solidFill>
                  <a:srgbClr val="E8EAED"/>
                </a:solidFill>
                <a:latin typeface="PingFang TC"/>
              </a:rPr>
              <a:t>unlimit</a:t>
            </a:r>
            <a:r>
              <a:rPr sz="1500" b="0" dirty="0">
                <a:solidFill>
                  <a:srgbClr val="E8EAED"/>
                </a:solidFill>
                <a:latin typeface="PingFang TC"/>
              </a:rPr>
              <a:t> </a:t>
            </a:r>
            <a:r>
              <a:rPr sz="1500" b="0" dirty="0" err="1">
                <a:solidFill>
                  <a:srgbClr val="E8EAED"/>
                </a:solidFill>
                <a:latin typeface="PingFang TC"/>
              </a:rPr>
              <a:t>僅</a:t>
            </a:r>
            <a:r>
              <a:rPr sz="1500" b="0" dirty="0">
                <a:solidFill>
                  <a:srgbClr val="E8EAED"/>
                </a:solidFill>
                <a:latin typeface="PingFang TC"/>
              </a:rPr>
              <a:t> 19.2 %、p99 +669 %。</a:t>
            </a:r>
            <a:r>
              <a:rPr sz="1500" b="0" dirty="0" err="1">
                <a:solidFill>
                  <a:srgbClr val="E8EAED"/>
                </a:solidFill>
                <a:latin typeface="PingFang TC"/>
              </a:rPr>
              <a:t>成因推論：YSQL</a:t>
            </a:r>
            <a:r>
              <a:rPr sz="1500" b="0" dirty="0">
                <a:solidFill>
                  <a:srgbClr val="E8EAED"/>
                </a:solidFill>
                <a:latin typeface="PingFang TC"/>
              </a:rPr>
              <a:t> + </a:t>
            </a:r>
            <a:r>
              <a:rPr sz="1500" b="0" dirty="0" err="1">
                <a:solidFill>
                  <a:srgbClr val="E8EAED"/>
                </a:solidFill>
                <a:latin typeface="PingFang TC"/>
              </a:rPr>
              <a:t>DocDB</a:t>
            </a:r>
            <a:r>
              <a:rPr sz="1500" b="0" dirty="0">
                <a:solidFill>
                  <a:srgbClr val="E8EAED"/>
                </a:solidFill>
                <a:latin typeface="PingFang TC"/>
              </a:rPr>
              <a:t> </a:t>
            </a:r>
            <a:r>
              <a:rPr sz="1500" b="0" dirty="0" err="1">
                <a:solidFill>
                  <a:srgbClr val="E8EAED"/>
                </a:solidFill>
                <a:latin typeface="PingFang TC"/>
              </a:rPr>
              <a:t>雙</a:t>
            </a:r>
            <a:r>
              <a:rPr sz="1500" b="0" dirty="0">
                <a:solidFill>
                  <a:srgbClr val="E8EAED"/>
                </a:solidFill>
                <a:latin typeface="PingFang TC"/>
              </a:rPr>
              <a:t> process </a:t>
            </a:r>
            <a:r>
              <a:rPr sz="1500" b="0" dirty="0" err="1">
                <a:solidFill>
                  <a:srgbClr val="E8EAED"/>
                </a:solidFill>
                <a:latin typeface="PingFang TC"/>
              </a:rPr>
              <a:t>在</a:t>
            </a:r>
            <a:r>
              <a:rPr sz="1500" b="0" dirty="0">
                <a:solidFill>
                  <a:srgbClr val="E8EAED"/>
                </a:solidFill>
                <a:latin typeface="PingFang TC"/>
              </a:rPr>
              <a:t> K8s pod IPC + CPU contention </a:t>
            </a:r>
            <a:r>
              <a:rPr sz="1500" b="0" dirty="0" err="1">
                <a:solidFill>
                  <a:srgbClr val="E8EAED"/>
                </a:solidFill>
                <a:latin typeface="PingFang TC"/>
              </a:rPr>
              <a:t>放大。</a:t>
            </a:r>
            <a:r>
              <a:rPr sz="1500" b="1" dirty="0" err="1">
                <a:solidFill>
                  <a:srgbClr val="B03A14"/>
                </a:solidFill>
                <a:latin typeface="PingFang TC"/>
              </a:rPr>
              <a:t>成因未定位，列後續調校項</a:t>
            </a:r>
            <a:endParaRPr sz="1500" b="1" dirty="0">
              <a:solidFill>
                <a:srgbClr val="B03A14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1500" dirty="0">
                <a:solidFill>
                  <a:srgbClr val="E8EAED"/>
                </a:solidFill>
                <a:latin typeface="PingFang TC"/>
              </a:rPr>
              <a:t>S-BASE ↔ S-K8S </a:t>
            </a:r>
            <a:r>
              <a:rPr sz="1500" dirty="0" err="1">
                <a:solidFill>
                  <a:srgbClr val="E8EAED"/>
                </a:solidFill>
                <a:latin typeface="PingFang TC"/>
              </a:rPr>
              <a:t>可直接比較（同</a:t>
            </a:r>
            <a:r>
              <a:rPr sz="1500" dirty="0">
                <a:solidFill>
                  <a:srgbClr val="E8EAED"/>
                </a:solidFill>
                <a:latin typeface="PingFang TC"/>
              </a:rPr>
              <a:t> workload W=128 t=128）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跨區域 / 跨專線進度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A0A8B8"/>
                </a:solidFill>
                <a:latin typeface="PingFang TC"/>
              </a:rPr>
              <a:t>IaC、playbook、suite scripts、chrony drift gate 已就位；正式量測待 W=128 + Determinism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288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7AE60"/>
                </a:solidFill>
                <a:latin typeface="PingFang TC"/>
              </a:rPr>
              <a:t>✅ 已完成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86000"/>
            <a:ext cx="10972800" cy="17235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buChar char="•"/>
            </a:pPr>
            <a:r>
              <a:rPr sz="1600" dirty="0" err="1">
                <a:solidFill>
                  <a:srgbClr val="E8EAED"/>
                </a:solidFill>
                <a:latin typeface="PingFang TC"/>
              </a:rPr>
              <a:t>技術議題定案（GCP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5 VM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拓樸、placement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P-A/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P-B、Chaos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Engineering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等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）</a:t>
            </a:r>
            <a:endParaRPr lang="en-US" sz="16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endParaRPr sz="1600" dirty="0">
              <a:solidFill>
                <a:srgbClr val="E8EAED"/>
              </a:solidFill>
              <a:latin typeface="PingFang TC"/>
            </a:endParaRPr>
          </a:p>
          <a:p>
            <a:pPr marL="228600" indent="-228600">
              <a:buChar char="•"/>
            </a:pPr>
            <a:r>
              <a:rPr sz="1600" dirty="0" err="1">
                <a:solidFill>
                  <a:srgbClr val="E8EAED"/>
                </a:solidFill>
                <a:latin typeface="PingFang TC"/>
              </a:rPr>
              <a:t>IaC、playbook、suite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scripts、chrony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drift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gate（IDC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&amp; GCP</a:t>
            </a:r>
            <a:r>
              <a:rPr lang="en-US" sz="1600" dirty="0">
                <a:solidFill>
                  <a:srgbClr val="E8EAED"/>
                </a:solidFill>
                <a:latin typeface="PingFang TC"/>
              </a:rPr>
              <a:t> </a:t>
            </a:r>
            <a:r>
              <a:rPr lang="zh-TW" altLang="en-US" sz="1600" dirty="0">
                <a:solidFill>
                  <a:srgbClr val="E8EAED"/>
                </a:solidFill>
                <a:latin typeface="PingFang TC"/>
              </a:rPr>
              <a:t>時間偏移</a:t>
            </a:r>
            <a:r>
              <a:rPr lang="en-US" altLang="zh-TW" sz="1600" dirty="0">
                <a:solidFill>
                  <a:srgbClr val="E8EAED"/>
                </a:solidFill>
                <a:latin typeface="PingFang TC"/>
              </a:rPr>
              <a:t> </a:t>
            </a:r>
            <a:r>
              <a:rPr lang="en" altLang="zh-TW" sz="1600" dirty="0">
                <a:solidFill>
                  <a:srgbClr val="E8EAED"/>
                </a:solidFill>
                <a:latin typeface="PingFang TC"/>
              </a:rPr>
              <a:t>0.017 </a:t>
            </a:r>
            <a:r>
              <a:rPr lang="en" altLang="zh-TW" sz="1600" dirty="0" err="1">
                <a:solidFill>
                  <a:srgbClr val="E8EAED"/>
                </a:solidFill>
                <a:latin typeface="PingFang TC"/>
              </a:rPr>
              <a:t>ms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）</a:t>
            </a:r>
            <a:endParaRPr lang="en-US" sz="16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endParaRPr sz="16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1600" dirty="0">
                <a:solidFill>
                  <a:srgbClr val="E8EAED"/>
                </a:solidFill>
                <a:latin typeface="PingFang TC"/>
              </a:rPr>
              <a:t>06-18〜06-19：修正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IaC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/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防火牆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/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YugabyteDB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placement，三家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DB /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六節點前期測試驗證</a:t>
            </a:r>
            <a:endParaRPr lang="en-US" sz="16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endParaRPr sz="16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1600" dirty="0">
                <a:solidFill>
                  <a:srgbClr val="E8EAED"/>
                </a:solidFill>
                <a:latin typeface="PingFang TC"/>
              </a:rPr>
              <a:t>06-21〜06-22：Determinism v2 —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同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cluster R1-R5、scheduler / balancer freeze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89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1C40F"/>
                </a:solidFill>
                <a:latin typeface="PingFang TC"/>
              </a:rPr>
              <a:t>● 待執行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10972800" cy="12311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buChar char="•"/>
            </a:pPr>
            <a:r>
              <a:rPr sz="1600" dirty="0" err="1">
                <a:solidFill>
                  <a:srgbClr val="E8EAED"/>
                </a:solidFill>
                <a:latin typeface="PingFang TC"/>
              </a:rPr>
              <a:t>調度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scheduler (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開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/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關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)、round-only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runner、Warmup、Placement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(replica / lease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位置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)、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測試結果彙整</a:t>
            </a:r>
            <a:endParaRPr lang="en-US" sz="16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endParaRPr sz="16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1600" dirty="0" err="1">
                <a:solidFill>
                  <a:srgbClr val="E8EAED"/>
                </a:solidFill>
                <a:latin typeface="PingFang TC"/>
              </a:rPr>
              <a:t>回到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W=128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正式基準量測</a:t>
            </a:r>
            <a:endParaRPr lang="en-US" sz="16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endParaRPr sz="1600" dirty="0">
              <a:solidFill>
                <a:srgbClr val="E8EAED"/>
              </a:solidFill>
              <a:latin typeface="PingFang TC"/>
            </a:endParaRPr>
          </a:p>
          <a:p>
            <a:pPr marL="228600" indent="-228600" algn="l">
              <a:buChar char="•"/>
            </a:pPr>
            <a:r>
              <a:rPr sz="1600" dirty="0">
                <a:solidFill>
                  <a:srgbClr val="E8EAED"/>
                </a:solidFill>
                <a:latin typeface="PingFang TC"/>
              </a:rPr>
              <a:t>Failover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與</a:t>
            </a:r>
            <a:r>
              <a:rPr sz="1600" dirty="0">
                <a:solidFill>
                  <a:srgbClr val="E8EAED"/>
                </a:solidFill>
                <a:latin typeface="PingFang TC"/>
              </a:rPr>
              <a:t> Chaos Engineering </a:t>
            </a:r>
            <a:r>
              <a:rPr sz="1600" dirty="0" err="1">
                <a:solidFill>
                  <a:srgbClr val="E8EAED"/>
                </a:solidFill>
                <a:latin typeface="PingFang TC"/>
              </a:rPr>
              <a:t>實際驗證</a:t>
            </a:r>
            <a:endParaRPr sz="1600" dirty="0">
              <a:solidFill>
                <a:srgbClr val="E8EAED"/>
              </a:solidFill>
              <a:latin typeface="PingFang TC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P-A / P-B Placement — 跨區寫入路徑的兩種設定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A0A8B8"/>
                </a:solidFill>
                <a:latin typeface="PingFang TC"/>
              </a:rPr>
              <a:t>6-node cluster (3 IDC + 3 GCP) 下，voter 與 leader 的分布決定 raft commit 是否走 WAN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5486400" cy="3108960"/>
          </a:xfrm>
          <a:prstGeom prst="roundRect">
            <a:avLst/>
          </a:prstGeom>
          <a:solidFill>
            <a:srgbClr val="262F46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92024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7AE60"/>
                </a:solidFill>
                <a:latin typeface="PingFang TC"/>
              </a:rPr>
              <a:t>P-A · 多數 voter 在 IDC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3172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情境：正常營運（IDC 為主，GCP 為備）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788920"/>
            <a:ext cx="2240280" cy="640080"/>
          </a:xfrm>
          <a:prstGeom prst="rect">
            <a:avLst/>
          </a:prstGeom>
          <a:solidFill>
            <a:srgbClr val="1A4A2F"/>
          </a:solidFill>
          <a:ln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788920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</a:rPr>
              <a:t>IDC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PingFang TC"/>
              </a:rPr>
              <a:t>2 voter/shard · leader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2788920"/>
            <a:ext cx="2240280" cy="640080"/>
          </a:xfrm>
          <a:prstGeom prst="rect">
            <a:avLst/>
          </a:prstGeom>
          <a:solidFill>
            <a:srgbClr val="333D55"/>
          </a:solidFill>
          <a:ln>
            <a:solidFill>
              <a:srgbClr val="A0A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91840" y="2788920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E8EAED"/>
                </a:solidFill>
                <a:latin typeface="PingFang TC"/>
              </a:rPr>
              <a:t>GCP</a:t>
            </a:r>
          </a:p>
          <a:p>
            <a:pPr algn="ctr"/>
            <a:r>
              <a:rPr sz="1200" b="0">
                <a:solidFill>
                  <a:srgbClr val="E8EAED"/>
                </a:solidFill>
                <a:latin typeface="PingFang TC"/>
              </a:rPr>
              <a:t>1 voter/shard · follower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657600"/>
            <a:ext cx="502920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buChar char="•"/>
            </a:pPr>
            <a:r>
              <a:rPr sz="1300" dirty="0">
                <a:solidFill>
                  <a:srgbClr val="E8EAED"/>
                </a:solidFill>
                <a:latin typeface="PingFang TC"/>
              </a:rPr>
              <a:t>Quorum </a:t>
            </a:r>
            <a:r>
              <a:rPr sz="1300" dirty="0" err="1">
                <a:solidFill>
                  <a:srgbClr val="E8EAED"/>
                </a:solidFill>
                <a:latin typeface="PingFang TC"/>
              </a:rPr>
              <a:t>在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 IDC，GCP </a:t>
            </a:r>
            <a:r>
              <a:rPr sz="1300" dirty="0" err="1">
                <a:solidFill>
                  <a:srgbClr val="E8EAED"/>
                </a:solidFill>
                <a:latin typeface="PingFang TC"/>
              </a:rPr>
              <a:t>不擋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 commit</a:t>
            </a:r>
          </a:p>
          <a:p>
            <a:pPr marL="228600" indent="-228600" algn="l">
              <a:buChar char="•"/>
            </a:pPr>
            <a:r>
              <a:rPr sz="1300" dirty="0" err="1">
                <a:solidFill>
                  <a:srgbClr val="E8EAED"/>
                </a:solidFill>
                <a:latin typeface="PingFang TC"/>
              </a:rPr>
              <a:t>適用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 </a:t>
            </a:r>
            <a:r>
              <a:rPr sz="1300" dirty="0" err="1">
                <a:solidFill>
                  <a:srgbClr val="E8EAED"/>
                </a:solidFill>
                <a:latin typeface="PingFang TC"/>
              </a:rPr>
              <a:t>workload：A-S（IDC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 main / GCP standby）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828800"/>
            <a:ext cx="5303520" cy="3108960"/>
          </a:xfrm>
          <a:prstGeom prst="roundRect">
            <a:avLst/>
          </a:prstGeom>
          <a:solidFill>
            <a:srgbClr val="262F46"/>
          </a:solidFill>
          <a:ln w="19050">
            <a:solidFill>
              <a:srgbClr val="F1C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0" y="192024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  <a:latin typeface="PingFang TC"/>
              </a:rPr>
              <a:t>P-B · leader 散在兩區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3317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情境：退化 / failover 後 / chaos 測試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0" y="2788920"/>
            <a:ext cx="2148840" cy="640080"/>
          </a:xfrm>
          <a:prstGeom prst="rect">
            <a:avLst/>
          </a:prstGeom>
          <a:solidFill>
            <a:srgbClr val="4A3A1A"/>
          </a:solidFill>
          <a:ln>
            <a:solidFill>
              <a:srgbClr val="F1C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75120" y="2788920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</a:rPr>
              <a:t>IDC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PingFang TC"/>
              </a:rPr>
              <a:t>leader + voter + arbiter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61120" y="2788920"/>
            <a:ext cx="2148840" cy="640080"/>
          </a:xfrm>
          <a:prstGeom prst="rect">
            <a:avLst/>
          </a:prstGeom>
          <a:solidFill>
            <a:srgbClr val="4A3A1A"/>
          </a:solidFill>
          <a:ln>
            <a:solidFill>
              <a:srgbClr val="F1C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61120" y="2788920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</a:rPr>
              <a:t>GCP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PingFang TC"/>
              </a:rPr>
              <a:t>leader + voter + arbiter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447288"/>
            <a:ext cx="4434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F1C40F"/>
                </a:solidFill>
                <a:latin typeface="PingFang TC"/>
              </a:rPr>
              <a:t>↔ WAN 必擋 raft commit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657600"/>
            <a:ext cx="484632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buChar char="•"/>
            </a:pPr>
            <a:r>
              <a:rPr sz="1300" dirty="0" err="1">
                <a:solidFill>
                  <a:srgbClr val="E8EAED"/>
                </a:solidFill>
                <a:latin typeface="PingFang TC"/>
              </a:rPr>
              <a:t>寫入需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 WAN </a:t>
            </a:r>
            <a:r>
              <a:rPr sz="1300" dirty="0" err="1">
                <a:solidFill>
                  <a:srgbClr val="E8EAED"/>
                </a:solidFill>
                <a:latin typeface="PingFang TC"/>
              </a:rPr>
              <a:t>quorum，commit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 latency = RTT</a:t>
            </a:r>
          </a:p>
          <a:p>
            <a:pPr marL="228600" indent="-228600" algn="l">
              <a:buChar char="•"/>
            </a:pPr>
            <a:r>
              <a:rPr sz="1300" dirty="0" err="1">
                <a:solidFill>
                  <a:srgbClr val="E8EAED"/>
                </a:solidFill>
                <a:latin typeface="PingFang TC"/>
              </a:rPr>
              <a:t>適用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 </a:t>
            </a:r>
            <a:r>
              <a:rPr sz="1300" dirty="0" err="1">
                <a:solidFill>
                  <a:srgbClr val="E8EAED"/>
                </a:solidFill>
                <a:latin typeface="PingFang TC"/>
              </a:rPr>
              <a:t>workload：A-A（雙寫</a:t>
            </a:r>
            <a:r>
              <a:rPr sz="1300" dirty="0">
                <a:solidFill>
                  <a:srgbClr val="E8EAED"/>
                </a:solidFill>
                <a:latin typeface="PingFang TC"/>
              </a:rPr>
              <a:t>）/ A-A-RO（IDC write, GCP read）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212080"/>
            <a:ext cx="1143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39C12"/>
                </a:solidFill>
                <a:latin typeface="PingFang TC"/>
              </a:rPr>
              <a:t>對標重點：</a:t>
            </a:r>
            <a:r>
              <a:rPr sz="1400" b="0">
                <a:solidFill>
                  <a:srgbClr val="E8EAED"/>
                </a:solidFill>
                <a:latin typeface="PingFang TC"/>
              </a:rPr>
              <a:t>P-A 量「正常營運下的跨區 cost」；P-B 量「退化/failover 後的跨區 cost」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X-CROSS 初步結果 (06-22〜06-23)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A0A8B8"/>
                </a:solidFill>
                <a:latin typeface="PingFang TC"/>
              </a:rPr>
              <a:t>W=4 framework 驗證；不與 S-BASE/S-K8S 直接對比 · 同 cluster 5 rounds、W=4、16 threads、每 round 5 min、controller = .31 (IDC client)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783080"/>
          <a:ext cx="1106423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0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83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83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83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83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83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1284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07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資料庫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R1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R2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R3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R4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R5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中位數 (有效輪)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CV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TiDB v8.5.2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9,525.5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9,553.2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9,786.9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9,393.2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9,530.8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03A14"/>
                          </a:solidFill>
                          <a:latin typeface="PingFang TC"/>
                        </a:rPr>
                        <a:t>9,566.0 (R2-R5)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7AE60"/>
                          </a:solidFill>
                          <a:latin typeface="PingFang TC"/>
                        </a:rPr>
                        <a:t>1.67 % ✅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CockroachDB v26.2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8,409.5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8,055.3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7,902.5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7,720.9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7,472.3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03A14"/>
                          </a:solidFill>
                          <a:latin typeface="PingFang TC"/>
                        </a:rPr>
                        <a:t>7,787.8 (R2-R5)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7AE60"/>
                          </a:solidFill>
                          <a:latin typeface="PingFang TC"/>
                        </a:rPr>
                        <a:t>3.23 % ✅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YugabyteDB 2025.2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102.0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226.9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6,424.2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6,259.3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6,206.2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03A14"/>
                          </a:solidFill>
                          <a:latin typeface="PingFang TC"/>
                        </a:rPr>
                        <a:t>6,296.6 (R3-R5)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7AE60"/>
                          </a:solidFill>
                          <a:latin typeface="PingFang TC"/>
                        </a:rPr>
                        <a:t>1.82 % ✅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3977639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39C12"/>
                </a:solidFill>
                <a:latin typeface="PingFang TC"/>
              </a:rPr>
              <a:t>已確認結論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89120"/>
            <a:ext cx="112471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buChar char="•"/>
            </a:pPr>
            <a:r>
              <a:rPr sz="1300">
                <a:solidFill>
                  <a:srgbClr val="E8EAED"/>
                </a:solidFill>
                <a:latin typeface="PingFang TC"/>
              </a:rPr>
              <a:t>06-21 觀察到的 ±526 % / ±50 % 變異主因為「每輪重新部署」造成 placement / cache / scheduler 狀態異動，與 W=4 contention 為兩個獨立來源</a:t>
            </a:r>
          </a:p>
          <a:p>
            <a:pPr marL="228600" indent="-228600" algn="l">
              <a:buChar char="•"/>
            </a:pPr>
            <a:r>
              <a:rPr sz="1300">
                <a:solidFill>
                  <a:srgbClr val="E8EAED"/>
                </a:solidFill>
                <a:latin typeface="PingFang TC"/>
              </a:rPr>
              <a:t>同一 cluster 連跑時，三家 W=4 R2-R5（或 YBDB R3-R5）的 CV ≤ 5 %，重現性已建立</a:t>
            </a:r>
          </a:p>
          <a:p>
            <a:pPr marL="228600" indent="-228600" algn="l">
              <a:buChar char="•"/>
            </a:pPr>
            <a:r>
              <a:rPr sz="1300">
                <a:solidFill>
                  <a:srgbClr val="E8EAED"/>
                </a:solidFill>
                <a:latin typeface="PingFang TC"/>
              </a:rPr>
              <a:t>YBDB Idle=0 解法：gate 改用 get_load_move_completion=100%；timed run 前 set_load_balancer_enabled=0</a:t>
            </a:r>
          </a:p>
          <a:p>
            <a:pPr marL="228600" indent="-228600" algn="l">
              <a:buChar char="•"/>
            </a:pPr>
            <a:r>
              <a:rPr sz="1300">
                <a:solidFill>
                  <a:srgbClr val="E8EAED"/>
                </a:solidFill>
                <a:latin typeface="PingFang TC"/>
              </a:rPr>
              <a:t>CRDB lease gate SQL 改用 SHOW RANGES FROM DATABASE tpcc WITH TABLES, DETAILS（v26.2 相容）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4300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F1C40F"/>
                </a:solidFill>
                <a:latin typeface="PingFang TC"/>
              </a:rPr>
              <a:t>⚠ </a:t>
            </a:r>
            <a:r>
              <a:rPr sz="1300" b="1" dirty="0" err="1">
                <a:solidFill>
                  <a:srgbClr val="F1C40F"/>
                </a:solidFill>
                <a:latin typeface="PingFang TC"/>
              </a:rPr>
              <a:t>Caveat：</a:t>
            </a:r>
            <a:r>
              <a:rPr sz="1300" b="0" dirty="0" err="1">
                <a:solidFill>
                  <a:srgbClr val="A0A8B8"/>
                </a:solidFill>
                <a:latin typeface="PingFang TC"/>
              </a:rPr>
              <a:t>W</a:t>
            </a:r>
            <a:r>
              <a:rPr sz="1300" b="0" dirty="0">
                <a:solidFill>
                  <a:srgbClr val="A0A8B8"/>
                </a:solidFill>
                <a:latin typeface="PingFang TC"/>
              </a:rPr>
              <a:t>=4 framework </a:t>
            </a:r>
            <a:r>
              <a:rPr sz="1300" b="0" dirty="0" err="1">
                <a:solidFill>
                  <a:srgbClr val="A0A8B8"/>
                </a:solidFill>
                <a:latin typeface="PingFang TC"/>
              </a:rPr>
              <a:t>驗證</a:t>
            </a:r>
            <a:r>
              <a:rPr sz="1300" b="0" dirty="0">
                <a:solidFill>
                  <a:srgbClr val="A0A8B8"/>
                </a:solidFill>
                <a:latin typeface="PingFang TC"/>
              </a:rPr>
              <a:t> ≠ 正式基準；R2-R5（YBDB R3-R5）CV ≤ 5 % </a:t>
            </a:r>
            <a:r>
              <a:rPr sz="1300" b="0" dirty="0" err="1">
                <a:solidFill>
                  <a:srgbClr val="A0A8B8"/>
                </a:solidFill>
                <a:latin typeface="PingFang TC"/>
              </a:rPr>
              <a:t>已建立；後續需回</a:t>
            </a:r>
            <a:r>
              <a:rPr sz="1300" b="0" dirty="0">
                <a:solidFill>
                  <a:srgbClr val="A0A8B8"/>
                </a:solidFill>
                <a:latin typeface="PingFang TC"/>
              </a:rPr>
              <a:t> W=128。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建議決策框架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A0A8B8"/>
                </a:solidFill>
                <a:latin typeface="PingFang TC"/>
              </a:rPr>
              <a:t>不是選一家，是先界定 application 條件、再排序候選；僅提供做決策框架參考依據用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8288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分類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內容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處置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短期候選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418"/>
                          </a:solidFill>
                          <a:latin typeface="PingFang TC"/>
                        </a:rPr>
                        <a:t>TiDB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優先進入應用情境對接，無門檻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保留觀察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CockroachDB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依一致性需求、Error Handling 容忍度、維運成本評估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保留觀察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YugabyteDB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VM 路徑可評估；K8s 路徑需先完成部署層級調校與驗證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B03A14"/>
                          </a:solidFill>
                          <a:latin typeface="PingFang TC"/>
                        </a:rPr>
                        <a:t>暫不作結論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跨區域場景、K8s 退化未定位項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待下一階段 W=128 測試數據與調校產出再回頭評估</a:t>
                      </a:r>
                    </a:p>
                  </a:txBody>
                  <a:tcPr marL="73152" marR="73152" anchor="ctr">
                    <a:solidFill>
                      <a:srgbClr val="F1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39C12"/>
                </a:solidFill>
                <a:latin typeface="PingFang TC"/>
              </a:rPr>
              <a:t>Application 需要確認的議題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89120"/>
            <a:ext cx="1124712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buChar char="•"/>
            </a:pPr>
            <a:r>
              <a:rPr sz="1300" b="1">
                <a:solidFill>
                  <a:srgbClr val="F39C12"/>
                </a:solidFill>
                <a:latin typeface="PingFang TC"/>
              </a:rPr>
              <a:t>1. 交易一致性需求：</a:t>
            </a:r>
            <a:r>
              <a:rPr sz="1300" b="0">
                <a:solidFill>
                  <a:srgbClr val="E8EAED"/>
                </a:solidFill>
                <a:latin typeface="PingFang TC"/>
              </a:rPr>
              <a:t>是否需要 SERIALIZABLE / SSI？是否可接受 READ COMMITTED &amp; 產品設計架構轉 CAP 的複雜度及可行性？</a:t>
            </a:r>
          </a:p>
          <a:p>
            <a:pPr marL="228600" indent="-228600" algn="l">
              <a:buChar char="•"/>
            </a:pPr>
            <a:r>
              <a:rPr sz="1300" b="1">
                <a:solidFill>
                  <a:srgbClr val="F39C12"/>
                </a:solidFill>
                <a:latin typeface="PingFang TC"/>
              </a:rPr>
              <a:t>2. 可接受延遲：</a:t>
            </a:r>
            <a:r>
              <a:rPr sz="1300" b="0">
                <a:solidFill>
                  <a:srgbClr val="E8EAED"/>
                </a:solidFill>
                <a:latin typeface="PingFang TC"/>
              </a:rPr>
              <a:t>在尖峰 t=128 等級負載下，p99 是否需要 500ms / 1s / 2s 以內？</a:t>
            </a:r>
          </a:p>
          <a:p>
            <a:pPr marL="228600" indent="-228600" algn="l">
              <a:buChar char="•"/>
            </a:pPr>
            <a:r>
              <a:rPr sz="1300" b="1">
                <a:solidFill>
                  <a:srgbClr val="F39C12"/>
                </a:solidFill>
                <a:latin typeface="PingFang TC"/>
              </a:rPr>
              <a:t>3. retry / timeout 行為：</a:t>
            </a:r>
            <a:r>
              <a:rPr sz="1300" b="0">
                <a:solidFill>
                  <a:srgbClr val="E8EAED"/>
                </a:solidFill>
                <a:latin typeface="PingFang TC"/>
              </a:rPr>
              <a:t>應用層是否能接受 SI / SSI 模式下的 retry 機制？</a:t>
            </a:r>
          </a:p>
          <a:p>
            <a:pPr marL="228600" indent="-228600" algn="l">
              <a:buChar char="•"/>
            </a:pPr>
            <a:r>
              <a:rPr sz="1300" b="1">
                <a:solidFill>
                  <a:srgbClr val="F39C12"/>
                </a:solidFill>
                <a:latin typeface="PingFang TC"/>
              </a:rPr>
              <a:t>4. RTO / RPO：</a:t>
            </a:r>
            <a:r>
              <a:rPr sz="1300" b="0">
                <a:solidFill>
                  <a:srgbClr val="E8EAED"/>
                </a:solidFill>
                <a:latin typeface="PingFang TC"/>
              </a:rPr>
              <a:t>跨區域 failover 是否需要 &lt; 30s RTO？是否容許資料 lag？</a:t>
            </a:r>
          </a:p>
          <a:p>
            <a:pPr marL="228600" indent="-228600" algn="l">
              <a:buChar char="•"/>
            </a:pPr>
            <a:r>
              <a:rPr sz="1300" b="1">
                <a:solidFill>
                  <a:srgbClr val="F39C12"/>
                </a:solidFill>
                <a:latin typeface="PingFang TC"/>
              </a:rPr>
              <a:t>5. 連線層 / 交易模式調整：</a:t>
            </a:r>
            <a:r>
              <a:rPr sz="1300" b="0">
                <a:solidFill>
                  <a:srgbClr val="E8EAED"/>
                </a:solidFill>
                <a:latin typeface="PingFang TC"/>
              </a:rPr>
              <a:t>是否能配合 HAProxy / PgBouncer / 連線池與短交易模式？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後續推進階段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6921610"/>
              </p:ext>
            </p:extLst>
          </p:nvPr>
        </p:nvGraphicFramePr>
        <p:xfrm>
          <a:off x="548640" y="1463040"/>
          <a:ext cx="1106424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84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84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73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32688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111418"/>
                          </a:solidFill>
                          <a:latin typeface="PingFang TC"/>
                        </a:rPr>
                        <a:t>Y26/07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TW" sz="1400" b="1" dirty="0">
                          <a:solidFill>
                            <a:srgbClr val="111418"/>
                          </a:solidFill>
                          <a:latin typeface="PingFang TC"/>
                        </a:rPr>
                        <a:t>Y26/08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zh-TW" sz="1400" b="1" dirty="0">
                          <a:solidFill>
                            <a:srgbClr val="111418"/>
                          </a:solidFill>
                          <a:latin typeface="PingFang TC"/>
                        </a:rPr>
                        <a:t>Y26/09</a:t>
                      </a:r>
                    </a:p>
                  </a:txBody>
                  <a:tcPr marL="73152" marR="73152" anchor="ctr">
                    <a:solidFill>
                      <a:srgbClr val="D8D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2688">
                <a:tc>
                  <a:txBody>
                    <a:bodyPr/>
                    <a:lstStyle/>
                    <a:p>
                      <a:pPr algn="l"/>
                      <a:r>
                        <a:rPr 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- 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Cross Region W=4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框架已完成初步流程驗收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
</a:t>
                      </a:r>
                      <a:r>
                        <a:rPr 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-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啟動正式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W=128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基準量測</a:t>
                      </a:r>
                      <a:endParaRPr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en-US"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各</a:t>
                      </a:r>
                      <a:r>
                        <a:rPr 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DB </a:t>
                      </a:r>
                      <a:r>
                        <a:rPr lang="en-US"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根據</a:t>
                      </a:r>
                      <a:r>
                        <a:rPr 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Workload: </a:t>
                      </a:r>
                      <a:r>
                        <a:rPr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A-S / A-A-RO / A-A × P-A/P-B placement </a:t>
                      </a:r>
                      <a:r>
                        <a:rPr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依檢驗</a:t>
                      </a:r>
                      <a:r>
                        <a:rPr lang="en-US"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流程進行測試</a:t>
                      </a:r>
                      <a:endParaRPr lang="en-US"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  <a:p>
                      <a:pPr marL="285750" marR="0" lvl="0" indent="-28575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" altLang="zh-TW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Failover </a:t>
                      </a:r>
                      <a:r>
                        <a:rPr lang="zh-TW" alt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與 </a:t>
                      </a:r>
                      <a:r>
                        <a:rPr lang="en" altLang="zh-TW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Chaos Engineering </a:t>
                      </a:r>
                      <a:r>
                        <a:rPr lang="zh-TW" alt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測試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endParaRPr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- </a:t>
                      </a:r>
                      <a:r>
                        <a:rPr lang="en-US"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報告產出</a:t>
                      </a:r>
                      <a:r>
                        <a:rPr lang="en-US" sz="1300" b="0" dirty="0">
                          <a:solidFill>
                            <a:srgbClr val="111418"/>
                          </a:solidFill>
                          <a:latin typeface="PingFang TC"/>
                        </a:rPr>
                        <a:t> &amp; </a:t>
                      </a:r>
                      <a:r>
                        <a:rPr lang="en-US" sz="1300" b="0" dirty="0" err="1">
                          <a:solidFill>
                            <a:srgbClr val="111418"/>
                          </a:solidFill>
                          <a:latin typeface="PingFang TC"/>
                        </a:rPr>
                        <a:t>相關議題待確認</a:t>
                      </a:r>
                      <a:endParaRPr sz="1300" b="0" dirty="0">
                        <a:solidFill>
                          <a:srgbClr val="111418"/>
                        </a:solidFill>
                        <a:latin typeface="PingFang TC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1907</Words>
  <Application>Microsoft Macintosh PowerPoint</Application>
  <PresentationFormat>寬螢幕</PresentationFormat>
  <Paragraphs>370</Paragraphs>
  <Slides>17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1" baseType="lpstr">
      <vt:lpstr>PingFang TC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Wn Lin 林武男</cp:lastModifiedBy>
  <cp:revision>5</cp:revision>
  <dcterms:created xsi:type="dcterms:W3CDTF">2013-01-27T09:14:16Z</dcterms:created>
  <dcterms:modified xsi:type="dcterms:W3CDTF">2026-06-25T20:34:28Z</dcterms:modified>
  <cp:category/>
</cp:coreProperties>
</file>