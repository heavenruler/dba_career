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8" r:id="rId9"/>
    <p:sldId id="269" r:id="rId10"/>
    <p:sldId id="270" r:id="rId11"/>
    <p:sldId id="271" r:id="rId12"/>
    <p:sldId id="262" r:id="rId13"/>
    <p:sldId id="263" r:id="rId14"/>
    <p:sldId id="272" r:id="rId15"/>
    <p:sldId id="264" r:id="rId16"/>
    <p:sldId id="265" r:id="rId17"/>
    <p:sldId id="266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643"/>
  </p:normalViewPr>
  <p:slideViewPr>
    <p:cSldViewPr snapToGrid="0" snapToObjects="1">
      <p:cViewPr varScale="1">
        <p:scale>
          <a:sx n="112" d="100"/>
          <a:sy n="112" d="100"/>
        </p:scale>
        <p:origin x="224" y="2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yugabyte.com/stable/benchmark/tpcc/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743200"/>
            <a:ext cx="121916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400" b="1" dirty="0" err="1">
                <a:solidFill>
                  <a:srgbClr val="FFFFFF"/>
                </a:solidFill>
                <a:latin typeface="PingFang TC"/>
              </a:rPr>
              <a:t>第一階段</a:t>
            </a:r>
            <a:r>
              <a:rPr sz="4400" b="1" dirty="0">
                <a:solidFill>
                  <a:srgbClr val="FFFFFF"/>
                </a:solidFill>
                <a:latin typeface="PingFang TC"/>
              </a:rPr>
              <a:t> PoC </a:t>
            </a:r>
            <a:r>
              <a:rPr sz="4400" b="1" dirty="0" err="1">
                <a:solidFill>
                  <a:srgbClr val="FFFFFF"/>
                </a:solidFill>
                <a:latin typeface="PingFang TC"/>
              </a:rPr>
              <a:t>成果與下一步決策</a:t>
            </a:r>
            <a:endParaRPr sz="4400" b="1" dirty="0">
              <a:solidFill>
                <a:srgbClr val="FFFFFF"/>
              </a:solidFill>
              <a:latin typeface="PingFang T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A0A8B8"/>
                </a:solidFill>
                <a:latin typeface="PingFang TC"/>
              </a:rPr>
              <a:t>分散式資料庫架構 × 跨區域驗證 × 決策框架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4572000"/>
            <a:ext cx="301752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0" y="475488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E8EAED"/>
                </a:solidFill>
                <a:latin typeface="PingFang TC"/>
              </a:rPr>
              <a:t>2026-06-26    |    DBA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Outline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91440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 algn="l">
              <a:buChar char="•"/>
            </a:pPr>
            <a:r>
              <a:rPr sz="2200" dirty="0" err="1">
                <a:solidFill>
                  <a:srgbClr val="E8EAED"/>
                </a:solidFill>
                <a:latin typeface="PingFang TC"/>
              </a:rPr>
              <a:t>專案迄今歷程</a:t>
            </a:r>
            <a:endParaRPr sz="2200" dirty="0">
              <a:solidFill>
                <a:srgbClr val="E8EAED"/>
              </a:solidFill>
              <a:latin typeface="PingFang TC"/>
            </a:endParaRPr>
          </a:p>
          <a:p>
            <a:pPr marL="228600" indent="-228600" algn="l">
              <a:buChar char="•"/>
            </a:pPr>
            <a:r>
              <a:rPr sz="2200" dirty="0" err="1">
                <a:solidFill>
                  <a:srgbClr val="E8EAED"/>
                </a:solidFill>
                <a:latin typeface="PingFang TC"/>
              </a:rPr>
              <a:t>第一階段</a:t>
            </a:r>
            <a:r>
              <a:rPr sz="2200" dirty="0">
                <a:solidFill>
                  <a:srgbClr val="E8EAED"/>
                </a:solidFill>
                <a:latin typeface="PingFang TC"/>
              </a:rPr>
              <a:t> PoC </a:t>
            </a:r>
            <a:r>
              <a:rPr sz="2200" dirty="0" err="1">
                <a:solidFill>
                  <a:srgbClr val="E8EAED"/>
                </a:solidFill>
                <a:latin typeface="PingFang TC"/>
              </a:rPr>
              <a:t>測試數據彙整</a:t>
            </a:r>
            <a:endParaRPr sz="2200" dirty="0">
              <a:solidFill>
                <a:srgbClr val="E8EAED"/>
              </a:solidFill>
              <a:latin typeface="PingFang TC"/>
            </a:endParaRPr>
          </a:p>
          <a:p>
            <a:pPr marL="228600" indent="-228600" algn="l">
              <a:buChar char="•"/>
            </a:pPr>
            <a:r>
              <a:rPr sz="2200" dirty="0" err="1">
                <a:solidFill>
                  <a:srgbClr val="E8EAED"/>
                </a:solidFill>
                <a:latin typeface="PingFang TC"/>
              </a:rPr>
              <a:t>第二階段</a:t>
            </a:r>
            <a:r>
              <a:rPr sz="2200" dirty="0">
                <a:solidFill>
                  <a:srgbClr val="E8EAED"/>
                </a:solidFill>
                <a:latin typeface="PingFang TC"/>
              </a:rPr>
              <a:t> </a:t>
            </a:r>
            <a:r>
              <a:rPr sz="2200" dirty="0" err="1">
                <a:solidFill>
                  <a:srgbClr val="E8EAED"/>
                </a:solidFill>
                <a:latin typeface="PingFang TC"/>
              </a:rPr>
              <a:t>跨區域</a:t>
            </a:r>
            <a:r>
              <a:rPr sz="2200" dirty="0">
                <a:solidFill>
                  <a:srgbClr val="E8EAED"/>
                </a:solidFill>
                <a:latin typeface="PingFang TC"/>
              </a:rPr>
              <a:t> / </a:t>
            </a:r>
            <a:r>
              <a:rPr sz="2200" dirty="0" err="1">
                <a:solidFill>
                  <a:srgbClr val="E8EAED"/>
                </a:solidFill>
                <a:latin typeface="PingFang TC"/>
              </a:rPr>
              <a:t>跨專線執行進度</a:t>
            </a:r>
            <a:endParaRPr sz="2200" dirty="0">
              <a:solidFill>
                <a:srgbClr val="E8EAED"/>
              </a:solidFill>
              <a:latin typeface="PingFang TC"/>
            </a:endParaRPr>
          </a:p>
          <a:p>
            <a:pPr marL="228600" indent="-228600" algn="l">
              <a:buChar char="•"/>
            </a:pPr>
            <a:r>
              <a:rPr sz="2200" dirty="0" err="1">
                <a:solidFill>
                  <a:srgbClr val="E8EAED"/>
                </a:solidFill>
                <a:latin typeface="PingFang TC"/>
              </a:rPr>
              <a:t>決策框架說明</a:t>
            </a:r>
            <a:endParaRPr sz="2200" dirty="0">
              <a:solidFill>
                <a:srgbClr val="E8EAED"/>
              </a:solidFill>
              <a:latin typeface="PingFang TC"/>
            </a:endParaRPr>
          </a:p>
          <a:p>
            <a:pPr marL="228600" indent="-228600" algn="l">
              <a:buChar char="•"/>
            </a:pPr>
            <a:r>
              <a:rPr sz="2200" dirty="0" err="1">
                <a:solidFill>
                  <a:srgbClr val="E8EAED"/>
                </a:solidFill>
                <a:latin typeface="PingFang TC"/>
              </a:rPr>
              <a:t>後續推進</a:t>
            </a:r>
            <a:endParaRPr sz="2200" dirty="0">
              <a:solidFill>
                <a:srgbClr val="E8EAED"/>
              </a:solidFill>
              <a:latin typeface="PingFang TC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專案歷程 ① 研究定義到跨家框架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280160"/>
            <a:ext cx="38100" cy="36576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864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A0A8B8"/>
                </a:solidFill>
                <a:latin typeface="PingFang TC"/>
              </a:rPr>
              <a:t>先定義問題與比較口徑，再建立可重複執行的基礎設施與三資料庫共同工具鏈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1502638"/>
              </p:ext>
            </p:extLst>
          </p:nvPr>
        </p:nvGraphicFramePr>
        <p:xfrm>
          <a:off x="548640" y="182880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時間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階段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111418"/>
                          </a:solidFill>
                          <a:latin typeface="PingFang TC"/>
                        </a:rPr>
                        <a:t>重大節點</a:t>
                      </a:r>
                      <a:endParaRPr sz="1400" b="1" dirty="0">
                        <a:solidFill>
                          <a:srgbClr val="111418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111418"/>
                          </a:solidFill>
                          <a:latin typeface="PingFang TC"/>
                        </a:rPr>
                        <a:t>狀態</a:t>
                      </a:r>
                      <a:endParaRPr sz="1400" b="1" dirty="0">
                        <a:solidFill>
                          <a:srgbClr val="111418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2026-03-30～04-10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dirty="0" err="1">
                          <a:solidFill>
                            <a:srgbClr val="F39C12"/>
                          </a:solidFill>
                          <a:latin typeface="PingFang TC"/>
                        </a:rPr>
                        <a:t>前期研究</a:t>
                      </a:r>
                      <a:endParaRPr sz="1300" b="1" dirty="0">
                        <a:solidFill>
                          <a:srgbClr val="F39C12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定義分散式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SQL、跨區同鍵寫入、</a:t>
                      </a:r>
                      <a:r>
                        <a:rPr lang="en-US"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F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ollower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</a:t>
                      </a:r>
                      <a:r>
                        <a:rPr lang="en-US"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R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ead、HA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/DR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評估面向</a:t>
                      </a:r>
                      <a:endParaRPr sz="1300" b="0" dirty="0">
                        <a:solidFill>
                          <a:srgbClr val="111418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dirty="0">
                          <a:solidFill>
                            <a:srgbClr val="27AE60"/>
                          </a:solidFill>
                          <a:latin typeface="PingFang TC"/>
                        </a:rPr>
                        <a:t>✅ </a:t>
                      </a:r>
                      <a:r>
                        <a:rPr sz="1300" b="1" dirty="0" err="1">
                          <a:solidFill>
                            <a:srgbClr val="27AE60"/>
                          </a:solidFill>
                          <a:latin typeface="PingFang TC"/>
                        </a:rPr>
                        <a:t>完成</a:t>
                      </a:r>
                      <a:endParaRPr sz="1300" b="1" dirty="0">
                        <a:solidFill>
                          <a:srgbClr val="27AE60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2026-04-21～04-27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IaC 與第一版測試鏈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建立</a:t>
                      </a:r>
                      <a:r>
                        <a:rPr sz="1300" b="0" kern="1200" dirty="0" err="1">
                          <a:solidFill>
                            <a:srgbClr val="111418"/>
                          </a:solidFill>
                          <a:latin typeface="PingFang TC"/>
                          <a:ea typeface="+mn-ea"/>
                          <a:cs typeface="+mn-cs"/>
                        </a:rPr>
                        <a:t>多測項部署及獨立壓測</a:t>
                      </a:r>
                      <a:r>
                        <a:rPr lang="zh-TW" altLang="en-US" sz="1300" b="0" kern="1200" dirty="0">
                          <a:solidFill>
                            <a:srgbClr val="111418"/>
                          </a:solidFill>
                          <a:latin typeface="PingFang TC"/>
                          <a:ea typeface="+mn-ea"/>
                          <a:cs typeface="+mn-cs"/>
                        </a:rPr>
                        <a:t>流程</a:t>
                      </a:r>
                      <a:r>
                        <a:rPr lang="en-US" altLang="zh-TW" sz="1300" b="0" kern="1200" dirty="0">
                          <a:solidFill>
                            <a:srgbClr val="111418"/>
                          </a:solidFill>
                          <a:latin typeface="PingFang TC"/>
                          <a:ea typeface="+mn-ea"/>
                          <a:cs typeface="+mn-cs"/>
                        </a:rPr>
                        <a:t> (Flow Chain)</a:t>
                      </a:r>
                    </a:p>
                    <a:p>
                      <a:pPr algn="l"/>
                      <a:r>
                        <a:rPr lang="en-US" sz="1300" b="0" kern="1200">
                          <a:solidFill>
                            <a:srgbClr val="111418"/>
                          </a:solidFill>
                          <a:latin typeface="PingFang TC"/>
                          <a:ea typeface="+mn-ea"/>
                          <a:cs typeface="+mn-cs"/>
                        </a:rPr>
                        <a:t>A -&gt; B -&gt; C -&gt; D -&gt; E</a:t>
                      </a:r>
                      <a:endParaRPr sz="1300" b="0" kern="1200" dirty="0">
                        <a:solidFill>
                          <a:srgbClr val="111418"/>
                        </a:solidFill>
                        <a:latin typeface="PingFang TC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dirty="0">
                          <a:solidFill>
                            <a:srgbClr val="27AE60"/>
                          </a:solidFill>
                          <a:latin typeface="PingFang TC"/>
                        </a:rPr>
                        <a:t>✅ </a:t>
                      </a:r>
                      <a:r>
                        <a:rPr sz="1300" b="1" dirty="0" err="1">
                          <a:solidFill>
                            <a:srgbClr val="27AE60"/>
                          </a:solidFill>
                          <a:latin typeface="PingFang TC"/>
                        </a:rPr>
                        <a:t>完成</a:t>
                      </a:r>
                      <a:endParaRPr sz="1300" b="1" dirty="0">
                        <a:solidFill>
                          <a:srgbClr val="27AE60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2026-04-28～05-05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YugabyteDB 首輪除錯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處理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BenchmarkSQL、bulk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load、RF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/ schema packing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與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HAProxy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</a:t>
                      </a:r>
                      <a:r>
                        <a:rPr lang="en-US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issue</a:t>
                      </a:r>
                      <a:endParaRPr sz="1300" b="0" dirty="0">
                        <a:solidFill>
                          <a:srgbClr val="111418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dirty="0">
                          <a:solidFill>
                            <a:srgbClr val="27AE60"/>
                          </a:solidFill>
                          <a:latin typeface="PingFang TC"/>
                        </a:rPr>
                        <a:t>✅ </a:t>
                      </a:r>
                      <a:r>
                        <a:rPr sz="1300" b="1" dirty="0" err="1">
                          <a:solidFill>
                            <a:srgbClr val="27AE60"/>
                          </a:solidFill>
                          <a:latin typeface="PingFang TC"/>
                        </a:rPr>
                        <a:t>完成</a:t>
                      </a:r>
                      <a:endParaRPr sz="1300" b="1" dirty="0">
                        <a:solidFill>
                          <a:srgbClr val="27AE60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2026-05-06～05-14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三資料庫對標成形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納入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TiDB、CockroachDB、YugabyteDB，統一結果結構與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go-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tpc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工具鏈</a:t>
                      </a:r>
                      <a:endParaRPr sz="1300" b="0" dirty="0">
                        <a:solidFill>
                          <a:srgbClr val="111418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dirty="0">
                          <a:solidFill>
                            <a:srgbClr val="27AE60"/>
                          </a:solidFill>
                          <a:latin typeface="PingFang TC"/>
                        </a:rPr>
                        <a:t>✅ </a:t>
                      </a:r>
                      <a:r>
                        <a:rPr sz="1300" b="1" dirty="0" err="1">
                          <a:solidFill>
                            <a:srgbClr val="27AE60"/>
                          </a:solidFill>
                          <a:latin typeface="PingFang TC"/>
                        </a:rPr>
                        <a:t>完成</a:t>
                      </a:r>
                      <a:endParaRPr sz="1300" b="1" dirty="0">
                        <a:solidFill>
                          <a:srgbClr val="27AE60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48640" y="6035040"/>
            <a:ext cx="38100" cy="36576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8640" y="60350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A0A8B8"/>
                </a:solidFill>
                <a:latin typeface="PingFang TC"/>
              </a:rPr>
              <a:t>此階段完成的是「可比較的工程框架」，早期測試數字不直接納入 v4.7 正式結果。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專案歷程 ② 基準、三節點與治理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280160"/>
            <a:ext cx="38100" cy="36576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864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A0A8B8"/>
                </a:solidFill>
                <a:latin typeface="PingFang TC"/>
              </a:rPr>
              <a:t>將測試從可執行提升為可重現、可追溯、可拆解成本來源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7878157"/>
              </p:ext>
            </p:extLst>
          </p:nvPr>
        </p:nvGraphicFramePr>
        <p:xfrm>
          <a:off x="548640" y="182880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時間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階段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重大節點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狀態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2026-05-18～05-21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v4.7 baseline 重構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建立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PoC-DESIGN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SSOT、detached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suite、gate、marker、summary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與單節點三隔離級對標</a:t>
                      </a:r>
                      <a:endParaRPr sz="1300" b="0" dirty="0">
                        <a:solidFill>
                          <a:srgbClr val="111418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7AE60"/>
                          </a:solidFill>
                          <a:latin typeface="PingFang TC"/>
                        </a:rPr>
                        <a:t>✅ 完成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2026-05-22～06-02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三節點 controlled experiment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完成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shard × replica ×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HAProxy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拓樸、12-cell dry-run </a:t>
                      </a:r>
                      <a:r>
                        <a:rPr lang="zh-TW" altLang="en-US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與資料庫數據初步彙整</a:t>
                      </a:r>
                      <a:endParaRPr sz="1300" b="0" dirty="0">
                        <a:solidFill>
                          <a:srgbClr val="111418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dirty="0">
                          <a:solidFill>
                            <a:srgbClr val="27AE60"/>
                          </a:solidFill>
                          <a:latin typeface="PingFang TC"/>
                        </a:rPr>
                        <a:t>✅ </a:t>
                      </a:r>
                      <a:r>
                        <a:rPr sz="1300" b="1" dirty="0" err="1">
                          <a:solidFill>
                            <a:srgbClr val="27AE60"/>
                          </a:solidFill>
                          <a:latin typeface="PingFang TC"/>
                        </a:rPr>
                        <a:t>完成</a:t>
                      </a:r>
                      <a:endParaRPr sz="1300" b="1" dirty="0">
                        <a:solidFill>
                          <a:srgbClr val="27AE60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2026-05-20～06-04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文件與數據治理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建立模板、</a:t>
                      </a:r>
                      <a:r>
                        <a:rPr lang="en-US"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Agents</a:t>
                      </a:r>
                      <a:r>
                        <a:rPr lang="en-US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協作規範、artifact-first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</a:t>
                      </a:r>
                      <a:r>
                        <a:rPr lang="zh-TW" altLang="en-US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實測數據校驗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與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pipeline-log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對齊</a:t>
                      </a:r>
                      <a:endParaRPr sz="1300" b="0" dirty="0">
                        <a:solidFill>
                          <a:srgbClr val="111418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7AE60"/>
                          </a:solidFill>
                          <a:latin typeface="PingFang TC"/>
                        </a:rPr>
                        <a:t>✅ 完成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2026-06-06～06-07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Phase isolation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分離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S-BASE、S-K8S、T-THRD、X-CROSS，建立配置宣告、基礎指標確認及指標配置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dirty="0">
                          <a:solidFill>
                            <a:srgbClr val="27AE60"/>
                          </a:solidFill>
                          <a:latin typeface="PingFang TC"/>
                        </a:rPr>
                        <a:t>✅ </a:t>
                      </a:r>
                      <a:r>
                        <a:rPr sz="1300" b="1" dirty="0" err="1">
                          <a:solidFill>
                            <a:srgbClr val="27AE60"/>
                          </a:solidFill>
                          <a:latin typeface="PingFang TC"/>
                        </a:rPr>
                        <a:t>完成</a:t>
                      </a:r>
                      <a:endParaRPr sz="1300" b="1" dirty="0">
                        <a:solidFill>
                          <a:srgbClr val="27AE60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48640" y="6035040"/>
            <a:ext cx="38100" cy="36576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8640" y="60350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A0A8B8"/>
                </a:solidFill>
                <a:latin typeface="PingFang TC"/>
              </a:rPr>
              <a:t>正式數字必須能追回測試條件、時間戳、結果檔案與完成標記；缺少來源資料 (測試階段) 時不予納入參考。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專案歷程 ③ Kubernetes 到跨區驗證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280160"/>
            <a:ext cx="38100" cy="36576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864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A0A8B8"/>
                </a:solidFill>
                <a:latin typeface="PingFang TC"/>
              </a:rPr>
              <a:t>已完成 Kubernetes 對照與跨區技術路徑；正式跨區效能仍受實測結果約束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5280896"/>
              </p:ext>
            </p:extLst>
          </p:nvPr>
        </p:nvGraphicFramePr>
        <p:xfrm>
          <a:off x="548640" y="182880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時間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階段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重大節點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狀態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2026-06-08～06-14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dirty="0">
                          <a:solidFill>
                            <a:srgbClr val="F39C12"/>
                          </a:solidFill>
                          <a:latin typeface="PingFang TC"/>
                        </a:rPr>
                        <a:t>Kubernetes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由單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cell dry-run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擴充至三資料庫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× limit/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unlimit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六組正式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suite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7AE60"/>
                          </a:solidFill>
                          <a:latin typeface="PingFang TC"/>
                        </a:rPr>
                        <a:t>✅ 6/6 完成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2026-06-08～06-17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跨區設計與前置開發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建立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</a:t>
                      </a:r>
                      <a:r>
                        <a:rPr lang="en-US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IDC + 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GCP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六節點部署、placement、WAN、chaos、failover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與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pre-flight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規格</a:t>
                      </a:r>
                      <a:endParaRPr sz="1300" b="0" dirty="0">
                        <a:solidFill>
                          <a:srgbClr val="111418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dirty="0">
                          <a:solidFill>
                            <a:srgbClr val="F1C40F"/>
                          </a:solidFill>
                          <a:latin typeface="PingFang TC"/>
                        </a:rPr>
                        <a:t>● </a:t>
                      </a:r>
                      <a:r>
                        <a:rPr sz="1300" b="1" dirty="0" err="1">
                          <a:solidFill>
                            <a:srgbClr val="F1C40F"/>
                          </a:solidFill>
                          <a:latin typeface="PingFang TC"/>
                        </a:rPr>
                        <a:t>框架完成</a:t>
                      </a:r>
                      <a:r>
                        <a:rPr sz="1300" b="1" dirty="0">
                          <a:solidFill>
                            <a:srgbClr val="F1C40F"/>
                          </a:solidFill>
                          <a:latin typeface="PingFang TC"/>
                        </a:rPr>
                        <a:t>
</a:t>
                      </a:r>
                      <a:r>
                        <a:rPr sz="1300" b="1" dirty="0" err="1">
                          <a:solidFill>
                            <a:srgbClr val="F1C40F"/>
                          </a:solidFill>
                          <a:latin typeface="PingFang TC"/>
                        </a:rPr>
                        <a:t>部分僅</a:t>
                      </a:r>
                      <a:r>
                        <a:rPr sz="1300" b="1" dirty="0">
                          <a:solidFill>
                            <a:srgbClr val="F1C40F"/>
                          </a:solidFill>
                          <a:latin typeface="PingFang TC"/>
                        </a:rPr>
                        <a:t> dry-run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2026-06-18～06-19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IDC↔GCP 實際驗證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修正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IaC、防火牆與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YugabyteDB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placement，</a:t>
                      </a:r>
                      <a:r>
                        <a:rPr lang="zh-TW" altLang="en-US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各</a:t>
                      </a:r>
                      <a:r>
                        <a:rPr lang="en-US" altLang="zh-TW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DB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完成六節點前期測試</a:t>
                      </a:r>
                      <a:endParaRPr sz="1300" b="0" dirty="0">
                        <a:solidFill>
                          <a:srgbClr val="111418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dirty="0">
                          <a:solidFill>
                            <a:srgbClr val="27AE60"/>
                          </a:solidFill>
                          <a:latin typeface="PingFang TC"/>
                        </a:rPr>
                        <a:t>✅ smoke </a:t>
                      </a:r>
                      <a:r>
                        <a:rPr sz="1300" b="1" dirty="0" err="1">
                          <a:solidFill>
                            <a:srgbClr val="27AE60"/>
                          </a:solidFill>
                          <a:latin typeface="PingFang TC"/>
                        </a:rPr>
                        <a:t>完成</a:t>
                      </a:r>
                      <a:endParaRPr sz="1300" b="1" dirty="0">
                        <a:solidFill>
                          <a:srgbClr val="27AE60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2026-06-21～06-22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dirty="0">
                          <a:solidFill>
                            <a:srgbClr val="F39C12"/>
                          </a:solidFill>
                          <a:latin typeface="PingFang TC"/>
                        </a:rPr>
                        <a:t>Determinism </a:t>
                      </a:r>
                      <a:r>
                        <a:rPr sz="1300" b="1" dirty="0" err="1">
                          <a:solidFill>
                            <a:srgbClr val="F39C12"/>
                          </a:solidFill>
                          <a:latin typeface="PingFang TC"/>
                        </a:rPr>
                        <a:t>收斂</a:t>
                      </a:r>
                      <a:endParaRPr sz="1300" b="1" dirty="0">
                        <a:solidFill>
                          <a:srgbClr val="F39C12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W=4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重跑浮動過大，改採同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cluster、變異量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/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變異參數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與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W=128 baseline</a:t>
                      </a:r>
                      <a:r>
                        <a:rPr lang="en-US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</a:t>
                      </a:r>
                      <a:r>
                        <a:rPr lang="en-US"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對標</a:t>
                      </a:r>
                      <a:endParaRPr sz="1300" b="0" dirty="0">
                        <a:solidFill>
                          <a:srgbClr val="111418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dirty="0">
                          <a:solidFill>
                            <a:srgbClr val="F1C40F"/>
                          </a:solidFill>
                          <a:latin typeface="PingFang TC"/>
                        </a:rPr>
                        <a:t>● </a:t>
                      </a:r>
                      <a:r>
                        <a:rPr sz="1300" b="1" dirty="0" err="1">
                          <a:solidFill>
                            <a:srgbClr val="F1C40F"/>
                          </a:solidFill>
                          <a:latin typeface="PingFang TC"/>
                        </a:rPr>
                        <a:t>進行中</a:t>
                      </a:r>
                      <a:endParaRPr sz="1300" b="1" dirty="0">
                        <a:solidFill>
                          <a:srgbClr val="F1C40F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48640" y="6035040"/>
            <a:ext cx="38100" cy="36576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8640" y="60350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A0A8B8"/>
                </a:solidFill>
                <a:latin typeface="PingFang TC"/>
              </a:rPr>
              <a:t>決策界線：可確認六節點跨區交易路徑可行；正式跨家排序須等 W=128、R2～R5 中位數 / 變異係數與回復流程驗收結論。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三家資料庫導入定位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9615285"/>
              </p:ext>
            </p:extLst>
          </p:nvPr>
        </p:nvGraphicFramePr>
        <p:xfrm>
          <a:off x="548640" y="1417320"/>
          <a:ext cx="11064238" cy="188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資料庫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第一階段觀察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導入定位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TiDB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VM 與 K8s 吞吐表現較佳；K8s retention 較高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方便優先進入應用情境對接</a:t>
                      </a:r>
                      <a:r>
                        <a:rPr lang="en-US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</a:t>
                      </a:r>
                      <a:r>
                        <a:rPr lang="en-US" sz="1200" b="0" kern="1200" dirty="0">
                          <a:solidFill>
                            <a:srgbClr val="A0A8B8"/>
                          </a:solidFill>
                          <a:latin typeface="PingFang TC"/>
                          <a:ea typeface="+mn-ea"/>
                          <a:cs typeface="+mn-cs"/>
                        </a:rPr>
                        <a:t>(MySQL Compatibility)</a:t>
                      </a:r>
                      <a:endParaRPr sz="1200" b="0" kern="1200" dirty="0">
                        <a:solidFill>
                          <a:srgbClr val="A0A8B8"/>
                        </a:solidFill>
                        <a:latin typeface="PingFang TC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CockroachDB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一致性需求較強（SSI 預設）；SI / SSI 模式下 retry 與效能成本明顯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B03A14"/>
                          </a:solidFill>
                          <a:latin typeface="PingFang TC"/>
                        </a:rPr>
                        <a:t>保留觀察</a:t>
                      </a:r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：應用層需評估 Error Handling 容忍度與交易模式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YugabyteDB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VM + HAProxy 表現為佳；K8s 結果目前不宜直接作為導入結論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dirty="0">
                          <a:solidFill>
                            <a:srgbClr val="B03A14"/>
                          </a:solidFill>
                          <a:latin typeface="PingFang TC"/>
                        </a:rPr>
                        <a:t>保留觀察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：K8s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部署仍需調校與驗證，VM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路徑可進入評估</a:t>
                      </a:r>
                      <a:endParaRPr sz="1300" b="0" dirty="0">
                        <a:solidFill>
                          <a:srgbClr val="111418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703326"/>
            <a:ext cx="1143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dirty="0" err="1">
                <a:solidFill>
                  <a:srgbClr val="F39C12"/>
                </a:solidFill>
                <a:latin typeface="PingFang TC"/>
              </a:rPr>
              <a:t>同</a:t>
            </a:r>
            <a:r>
              <a:rPr sz="1800" b="1" dirty="0">
                <a:solidFill>
                  <a:srgbClr val="F39C12"/>
                </a:solidFill>
                <a:latin typeface="PingFang TC"/>
              </a:rPr>
              <a:t> IDC / </a:t>
            </a:r>
            <a:r>
              <a:rPr sz="1800" b="1" dirty="0" err="1">
                <a:solidFill>
                  <a:srgbClr val="F39C12"/>
                </a:solidFill>
                <a:latin typeface="PingFang TC"/>
              </a:rPr>
              <a:t>同硬體</a:t>
            </a:r>
            <a:r>
              <a:rPr sz="1800" b="1" dirty="0">
                <a:solidFill>
                  <a:srgbClr val="F39C12"/>
                </a:solidFill>
                <a:latin typeface="PingFang TC"/>
              </a:rPr>
              <a:t> </a:t>
            </a:r>
            <a:r>
              <a:rPr sz="1800" b="1" dirty="0" err="1">
                <a:solidFill>
                  <a:srgbClr val="F39C12"/>
                </a:solidFill>
                <a:latin typeface="PingFang TC"/>
              </a:rPr>
              <a:t>基準</a:t>
            </a:r>
            <a:r>
              <a:rPr sz="1800" b="1" dirty="0">
                <a:solidFill>
                  <a:srgbClr val="F39C12"/>
                </a:solidFill>
                <a:latin typeface="PingFang TC"/>
              </a:rPr>
              <a:t> — vm-3node-haproxy-3s3r-rc, t=128 mean </a:t>
            </a:r>
            <a:r>
              <a:rPr sz="1800" b="1" dirty="0" err="1">
                <a:solidFill>
                  <a:srgbClr val="F39C12"/>
                </a:solidFill>
                <a:latin typeface="PingFang TC"/>
              </a:rPr>
              <a:t>tpmC</a:t>
            </a:r>
            <a:endParaRPr sz="1800" b="1" dirty="0">
              <a:solidFill>
                <a:srgbClr val="F39C12"/>
              </a:solidFill>
              <a:latin typeface="PingFang TC"/>
            </a:endParaRP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4434840"/>
          <a:ext cx="64008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TiDB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111418"/>
                          </a:solidFill>
                          <a:latin typeface="PingFang TC"/>
                        </a:rPr>
                        <a:t>YugabyteDB</a:t>
                      </a:r>
                      <a:endParaRPr sz="1400" b="1" dirty="0">
                        <a:solidFill>
                          <a:srgbClr val="111418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CockroachDB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 b="1" dirty="0">
                          <a:solidFill>
                            <a:srgbClr val="111418"/>
                          </a:solidFill>
                          <a:latin typeface="PingFang TC"/>
                        </a:rPr>
                        <a:t>≈ 26,900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 dirty="0">
                          <a:solidFill>
                            <a:srgbClr val="111418"/>
                          </a:solidFill>
                          <a:latin typeface="PingFang TC"/>
                        </a:rPr>
                        <a:t>≈ 15,600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 dirty="0">
                          <a:solidFill>
                            <a:srgbClr val="111418"/>
                          </a:solidFill>
                          <a:latin typeface="PingFang TC"/>
                        </a:rPr>
                        <a:t>≈ 15,000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669280"/>
            <a:ext cx="114300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 err="1">
                <a:solidFill>
                  <a:srgbClr val="A0A8B8"/>
                </a:solidFill>
                <a:latin typeface="PingFang TC"/>
              </a:rPr>
              <a:t>本組數字為</a:t>
            </a:r>
            <a:r>
              <a:rPr sz="1200" b="0" dirty="0">
                <a:solidFill>
                  <a:srgbClr val="A0A8B8"/>
                </a:solidFill>
                <a:latin typeface="PingFang TC"/>
              </a:rPr>
              <a:t> controlled experiment </a:t>
            </a:r>
            <a:r>
              <a:rPr sz="1200" b="0" dirty="0" err="1">
                <a:solidFill>
                  <a:srgbClr val="A0A8B8"/>
                </a:solidFill>
                <a:latin typeface="PingFang TC"/>
              </a:rPr>
              <a:t>基準（VM</a:t>
            </a:r>
            <a:r>
              <a:rPr sz="1200" b="0" dirty="0">
                <a:solidFill>
                  <a:srgbClr val="A0A8B8"/>
                </a:solidFill>
                <a:latin typeface="PingFang TC"/>
              </a:rPr>
              <a:t> </a:t>
            </a:r>
            <a:r>
              <a:rPr sz="1200" b="0" dirty="0" err="1">
                <a:solidFill>
                  <a:srgbClr val="A0A8B8"/>
                </a:solidFill>
                <a:latin typeface="PingFang TC"/>
              </a:rPr>
              <a:t>現況資源</a:t>
            </a:r>
            <a:r>
              <a:rPr sz="1200" b="0" dirty="0">
                <a:solidFill>
                  <a:srgbClr val="A0A8B8"/>
                </a:solidFill>
                <a:latin typeface="PingFang TC"/>
              </a:rPr>
              <a:t> × 3 node </a:t>
            </a:r>
            <a:r>
              <a:rPr sz="1200" b="0" dirty="0" err="1">
                <a:solidFill>
                  <a:srgbClr val="A0A8B8"/>
                </a:solidFill>
                <a:latin typeface="PingFang TC"/>
              </a:rPr>
              <a:t>拓樸</a:t>
            </a:r>
            <a:r>
              <a:rPr sz="1200" b="0" dirty="0">
                <a:solidFill>
                  <a:srgbClr val="A0A8B8"/>
                </a:solidFill>
                <a:latin typeface="PingFang TC"/>
              </a:rPr>
              <a:t>）；</a:t>
            </a:r>
            <a:r>
              <a:rPr sz="1200" b="0" dirty="0" err="1">
                <a:solidFill>
                  <a:srgbClr val="A0A8B8"/>
                </a:solidFill>
                <a:latin typeface="PingFang TC"/>
              </a:rPr>
              <a:t>不直接</a:t>
            </a:r>
            <a:r>
              <a:rPr sz="1200" dirty="0" err="1">
                <a:solidFill>
                  <a:srgbClr val="A0A8B8"/>
                </a:solidFill>
                <a:latin typeface="PingFang TC"/>
              </a:rPr>
              <a:t>代表各家「</a:t>
            </a:r>
            <a:r>
              <a:rPr sz="1200" dirty="0" err="1">
                <a:solidFill>
                  <a:srgbClr val="A0A8B8"/>
                </a:solidFill>
                <a:latin typeface="PingFang TC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拿出來就跑</a:t>
            </a:r>
            <a:r>
              <a:rPr sz="1200" dirty="0" err="1">
                <a:solidFill>
                  <a:srgbClr val="A0A8B8"/>
                </a:solidFill>
                <a:latin typeface="PingFang TC"/>
              </a:rPr>
              <a:t>」的生產表現；不具任何採購驗收指標用</a:t>
            </a:r>
            <a:r>
              <a:rPr sz="1200" dirty="0">
                <a:solidFill>
                  <a:srgbClr val="A0A8B8"/>
                </a:solidFill>
                <a:latin typeface="PingFang TC"/>
              </a:rPr>
              <a:t>。</a:t>
            </a:r>
          </a:p>
          <a:p>
            <a:pPr algn="l"/>
            <a:r>
              <a:rPr sz="1200" dirty="0" err="1">
                <a:solidFill>
                  <a:srgbClr val="A0A8B8"/>
                </a:solidFill>
                <a:latin typeface="PingFang TC"/>
              </a:rPr>
              <a:t>商業實體</a:t>
            </a:r>
            <a:r>
              <a:rPr sz="1200" dirty="0">
                <a:solidFill>
                  <a:srgbClr val="A0A8B8"/>
                </a:solidFill>
                <a:latin typeface="PingFang TC"/>
              </a:rPr>
              <a:t> / </a:t>
            </a:r>
            <a:r>
              <a:rPr sz="1200" dirty="0" err="1">
                <a:solidFill>
                  <a:srgbClr val="A0A8B8"/>
                </a:solidFill>
                <a:latin typeface="PingFang TC"/>
              </a:rPr>
              <a:t>授權</a:t>
            </a:r>
            <a:r>
              <a:rPr sz="1200" dirty="0">
                <a:solidFill>
                  <a:srgbClr val="A0A8B8"/>
                </a:solidFill>
                <a:latin typeface="PingFang TC"/>
              </a:rPr>
              <a:t> / </a:t>
            </a:r>
            <a:r>
              <a:rPr sz="1200" dirty="0" err="1">
                <a:solidFill>
                  <a:srgbClr val="A0A8B8"/>
                </a:solidFill>
                <a:latin typeface="PingFang TC"/>
              </a:rPr>
              <a:t>採購層面議題需另案審查</a:t>
            </a:r>
            <a:r>
              <a:rPr sz="1200" dirty="0">
                <a:solidFill>
                  <a:srgbClr val="A0A8B8"/>
                </a:solidFill>
                <a:latin typeface="PingFang TC"/>
              </a:rPr>
              <a:t>。</a:t>
            </a:r>
            <a:endParaRPr lang="en-US" sz="1200" dirty="0">
              <a:solidFill>
                <a:srgbClr val="A0A8B8"/>
              </a:solidFill>
              <a:latin typeface="PingFang TC"/>
            </a:endParaRPr>
          </a:p>
          <a:p>
            <a:r>
              <a:rPr lang="en-US" sz="1200" dirty="0">
                <a:solidFill>
                  <a:srgbClr val="A0A8B8"/>
                </a:solidFill>
                <a:latin typeface="PingFang TC"/>
              </a:rPr>
              <a:t>Ref: https://</a:t>
            </a:r>
            <a:r>
              <a:rPr lang="en-US" sz="1200" dirty="0" err="1">
                <a:solidFill>
                  <a:srgbClr val="A0A8B8"/>
                </a:solidFill>
                <a:latin typeface="PingFang TC"/>
              </a:rPr>
              <a:t>docs.yugabyte.com</a:t>
            </a:r>
            <a:r>
              <a:rPr lang="en-US" sz="1200" dirty="0">
                <a:solidFill>
                  <a:srgbClr val="A0A8B8"/>
                </a:solidFill>
                <a:latin typeface="PingFang TC"/>
              </a:rPr>
              <a:t>/stable/benchmark/</a:t>
            </a:r>
            <a:r>
              <a:rPr lang="en-US" sz="1200" dirty="0" err="1">
                <a:solidFill>
                  <a:srgbClr val="A0A8B8"/>
                </a:solidFill>
                <a:latin typeface="PingFang TC"/>
              </a:rPr>
              <a:t>tpcc</a:t>
            </a:r>
            <a:r>
              <a:rPr lang="en-US" sz="1200" dirty="0">
                <a:solidFill>
                  <a:srgbClr val="A0A8B8"/>
                </a:solidFill>
                <a:latin typeface="PingFang TC"/>
              </a:rPr>
              <a:t>/</a:t>
            </a:r>
            <a:endParaRPr sz="1200" dirty="0">
              <a:solidFill>
                <a:srgbClr val="A0A8B8"/>
              </a:solidFill>
              <a:latin typeface="PingFang T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 descr="YugabyteDB Architecture">
            <a:extLst>
              <a:ext uri="{FF2B5EF4-FFF2-40B4-BE49-F238E27FC236}">
                <a16:creationId xmlns:a16="http://schemas.microsoft.com/office/drawing/2014/main" id="{9854332B-4CD8-66D1-ADC0-80CCFF30DD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072" y="0"/>
            <a:ext cx="9967856" cy="4538935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213CEC78-C006-F017-AF4E-EA8E9B73DB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0787" y="4319600"/>
            <a:ext cx="9010426" cy="25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763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 descr="CockroachDB Architecture">
            <a:extLst>
              <a:ext uri="{FF2B5EF4-FFF2-40B4-BE49-F238E27FC236}">
                <a16:creationId xmlns:a16="http://schemas.microsoft.com/office/drawing/2014/main" id="{40D9AC49-4C07-E054-5ECD-018908ED47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0476" y="0"/>
            <a:ext cx="6311048" cy="4249271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97D85CF5-14A3-19C5-F708-00F8D4A262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119" y="4367521"/>
            <a:ext cx="11907761" cy="1990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4818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 descr="TiDB Architecture">
            <a:extLst>
              <a:ext uri="{FF2B5EF4-FFF2-40B4-BE49-F238E27FC236}">
                <a16:creationId xmlns:a16="http://schemas.microsoft.com/office/drawing/2014/main" id="{64BB9A6D-751A-B329-9254-778338E2DD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986" y="0"/>
            <a:ext cx="8556027" cy="4563215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8681CC98-8898-810D-1A3C-A30FD9E6B8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281" y="4563215"/>
            <a:ext cx="11751437" cy="1794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9566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2140ED4D-9E4F-E6E7-0E55-0E2F6A7DBFC8}"/>
              </a:ext>
            </a:extLst>
          </p:cNvPr>
          <p:cNvSpPr txBox="1"/>
          <p:nvPr/>
        </p:nvSpPr>
        <p:spPr>
          <a:xfrm>
            <a:off x="0" y="0"/>
            <a:ext cx="9795630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TW" altLang="en-US" dirty="0"/>
              <a:t>分散式 </a:t>
            </a:r>
            <a:r>
              <a:rPr kumimoji="1" lang="en-US" altLang="zh-TW" dirty="0"/>
              <a:t>DB </a:t>
            </a:r>
            <a:r>
              <a:rPr kumimoji="1" lang="zh-TW" altLang="en-US" dirty="0"/>
              <a:t>跨區後，延遲稅集中在 </a:t>
            </a:r>
            <a:r>
              <a:rPr kumimoji="1" lang="en-US" altLang="zh-TW" dirty="0"/>
              <a:t>commit </a:t>
            </a:r>
            <a:r>
              <a:rPr kumimoji="1" lang="zh-TW" altLang="en-US" dirty="0"/>
              <a:t>路徑上「必跨 </a:t>
            </a:r>
            <a:r>
              <a:rPr kumimoji="1" lang="en-US" altLang="zh-TW" dirty="0"/>
              <a:t>WAN </a:t>
            </a:r>
            <a:r>
              <a:rPr kumimoji="1" lang="zh-TW" altLang="en-US" dirty="0"/>
              <a:t>的節點」且設計機制不同</a:t>
            </a:r>
            <a:endParaRPr kumimoji="1" lang="en-US" altLang="zh-TW" dirty="0"/>
          </a:p>
          <a:p>
            <a:endParaRPr kumimoji="1" lang="en-US" altLang="zh-TW" dirty="0"/>
          </a:p>
          <a:p>
            <a:pPr marL="285750" indent="-285750">
              <a:buFontTx/>
              <a:buChar char="-"/>
            </a:pPr>
            <a:r>
              <a:rPr kumimoji="1" lang="en-US" altLang="zh-TW" dirty="0" err="1"/>
              <a:t>TiDB</a:t>
            </a:r>
            <a:r>
              <a:rPr kumimoji="1" lang="en-US" altLang="zh-TW" dirty="0"/>
              <a:t> </a:t>
            </a:r>
            <a:r>
              <a:rPr kumimoji="1" lang="zh-TW" altLang="en-US" dirty="0"/>
              <a:t>走中央 </a:t>
            </a:r>
            <a:r>
              <a:rPr kumimoji="1" lang="en-US" altLang="zh-TW" dirty="0"/>
              <a:t>PD TSO</a:t>
            </a:r>
            <a:r>
              <a:rPr kumimoji="1" lang="zh-TW" altLang="en-US" dirty="0"/>
              <a:t>（每 </a:t>
            </a:r>
            <a:r>
              <a:rPr kumimoji="1" lang="en-US" altLang="zh-TW" dirty="0" err="1"/>
              <a:t>txn</a:t>
            </a:r>
            <a:r>
              <a:rPr kumimoji="1" lang="en-US" altLang="zh-TW" dirty="0"/>
              <a:t> </a:t>
            </a:r>
            <a:r>
              <a:rPr kumimoji="1" lang="zh-TW" altLang="en-US" dirty="0"/>
              <a:t>取 </a:t>
            </a:r>
            <a:r>
              <a:rPr kumimoji="1" lang="en-US" altLang="zh-TW" dirty="0"/>
              <a:t>timestamp 1 RTT</a:t>
            </a:r>
            <a:r>
              <a:rPr kumimoji="1" lang="zh-TW" altLang="en-US" dirty="0"/>
              <a:t>），</a:t>
            </a:r>
          </a:p>
          <a:p>
            <a:pPr marL="285750" indent="-285750">
              <a:buFontTx/>
              <a:buChar char="-"/>
            </a:pPr>
            <a:r>
              <a:rPr kumimoji="1" lang="en-US" altLang="zh-TW" dirty="0" err="1"/>
              <a:t>CockroachDB</a:t>
            </a:r>
            <a:r>
              <a:rPr kumimoji="1" lang="en-US" altLang="zh-TW" dirty="0"/>
              <a:t> / </a:t>
            </a:r>
            <a:r>
              <a:rPr kumimoji="1" lang="en-US" altLang="zh-TW" dirty="0" err="1"/>
              <a:t>YugabyteDB</a:t>
            </a:r>
            <a:r>
              <a:rPr kumimoji="1" lang="en-US" altLang="zh-TW" dirty="0"/>
              <a:t> </a:t>
            </a:r>
            <a:r>
              <a:rPr kumimoji="1" lang="zh-TW" altLang="en-US" dirty="0"/>
              <a:t>用 </a:t>
            </a:r>
            <a:r>
              <a:rPr kumimoji="1" lang="en-US" altLang="zh-TW" dirty="0"/>
              <a:t>HLC </a:t>
            </a:r>
            <a:r>
              <a:rPr kumimoji="1" lang="zh-TW" altLang="en-US" dirty="0"/>
              <a:t>本地時鐘（無 </a:t>
            </a:r>
            <a:r>
              <a:rPr kumimoji="1" lang="en-US" altLang="zh-TW" dirty="0"/>
              <a:t>TSO RTT</a:t>
            </a:r>
            <a:r>
              <a:rPr kumimoji="1" lang="zh-TW" altLang="en-US" dirty="0"/>
              <a:t>），</a:t>
            </a:r>
            <a:endParaRPr kumimoji="1" lang="en-US" altLang="zh-TW" dirty="0"/>
          </a:p>
          <a:p>
            <a:pPr marL="285750" indent="-285750">
              <a:buFontTx/>
              <a:buChar char="-"/>
            </a:pPr>
            <a:r>
              <a:rPr kumimoji="1" lang="zh-TW" altLang="en-US" dirty="0"/>
              <a:t>三家共通的是</a:t>
            </a:r>
            <a:r>
              <a:rPr kumimoji="1" lang="en-US" altLang="zh-TW" dirty="0"/>
              <a:t> Raft quorum ACK — leader </a:t>
            </a:r>
            <a:r>
              <a:rPr kumimoji="1" lang="zh-TW" altLang="en-US" dirty="0"/>
              <a:t>與 </a:t>
            </a:r>
            <a:r>
              <a:rPr kumimoji="1" lang="en-US" altLang="zh-TW" dirty="0"/>
              <a:t>voter </a:t>
            </a:r>
            <a:r>
              <a:rPr kumimoji="1" lang="zh-TW" altLang="en-US" dirty="0"/>
              <a:t>若跨區即 </a:t>
            </a:r>
            <a:r>
              <a:rPr kumimoji="1" lang="en-US" altLang="zh-TW" dirty="0"/>
              <a:t>+1 RTT</a:t>
            </a:r>
            <a:r>
              <a:rPr kumimoji="1" lang="zh-TW" altLang="en-US" dirty="0"/>
              <a:t>。</a:t>
            </a:r>
            <a:endParaRPr kumimoji="1" lang="en-US" altLang="zh-TW" dirty="0"/>
          </a:p>
          <a:p>
            <a:pPr marL="285750" indent="-285750">
              <a:buFontTx/>
              <a:buChar char="-"/>
            </a:pPr>
            <a:endParaRPr kumimoji="1" lang="en-US" altLang="zh-TW" dirty="0"/>
          </a:p>
          <a:p>
            <a:pPr marL="285750" indent="-285750">
              <a:buFontTx/>
              <a:buChar char="-"/>
            </a:pPr>
            <a:r>
              <a:rPr kumimoji="1" lang="en-US" altLang="zh-TW" dirty="0"/>
              <a:t>YSQL </a:t>
            </a:r>
            <a:r>
              <a:rPr kumimoji="1" lang="en-US" altLang="zh-TW" dirty="0" err="1"/>
              <a:t>postgres</a:t>
            </a:r>
            <a:r>
              <a:rPr kumimoji="1" lang="en-US" altLang="zh-TW" dirty="0"/>
              <a:t> backend </a:t>
            </a:r>
            <a:r>
              <a:rPr kumimoji="1" lang="zh-TW" altLang="en-US" dirty="0"/>
              <a:t>與 </a:t>
            </a:r>
            <a:r>
              <a:rPr kumimoji="1" lang="en-US" altLang="zh-TW" dirty="0" err="1"/>
              <a:t>DocDB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tserver</a:t>
            </a:r>
            <a:r>
              <a:rPr kumimoji="1" lang="en-US" altLang="zh-TW" dirty="0"/>
              <a:t> </a:t>
            </a:r>
            <a:r>
              <a:rPr kumimoji="1" lang="zh-TW" altLang="en-US" dirty="0"/>
              <a:t>是兩層進程邊界，請求需經 </a:t>
            </a:r>
            <a:r>
              <a:rPr kumimoji="1" lang="en-US" altLang="zh-TW" dirty="0"/>
              <a:t>RPC / </a:t>
            </a:r>
            <a:r>
              <a:rPr kumimoji="1" lang="zh-TW" altLang="en-US" dirty="0"/>
              <a:t>序列化 </a:t>
            </a:r>
            <a:r>
              <a:rPr kumimoji="1" lang="en-US" altLang="zh-TW" dirty="0"/>
              <a:t>/ </a:t>
            </a:r>
            <a:r>
              <a:rPr kumimoji="1" lang="zh-TW" altLang="en-US" dirty="0"/>
              <a:t>反序列化；</a:t>
            </a:r>
            <a:br>
              <a:rPr kumimoji="1" lang="en-US" altLang="zh-TW" dirty="0"/>
            </a:br>
            <a:r>
              <a:rPr kumimoji="1" lang="zh-TW" altLang="en-US" dirty="0"/>
              <a:t>若再疊加跨 </a:t>
            </a:r>
            <a:r>
              <a:rPr kumimoji="1" lang="en-US" altLang="zh-TW" dirty="0"/>
              <a:t>Pod / </a:t>
            </a:r>
            <a:r>
              <a:rPr kumimoji="1" lang="zh-TW" altLang="en-US" dirty="0"/>
              <a:t>跨節點路由，延遲與 </a:t>
            </a:r>
            <a:r>
              <a:rPr kumimoji="1" lang="en-US" altLang="zh-TW" dirty="0"/>
              <a:t>CPU </a:t>
            </a:r>
            <a:r>
              <a:rPr kumimoji="1" lang="zh-TW" altLang="en-US" dirty="0"/>
              <a:t>開銷會進一步放大。</a:t>
            </a:r>
            <a:endParaRPr kumimoji="1" lang="en-US" altLang="zh-TW" dirty="0"/>
          </a:p>
          <a:p>
            <a:pPr marL="285750" indent="-285750">
              <a:buFontTx/>
              <a:buChar char="-"/>
            </a:pPr>
            <a:endParaRPr kumimoji="1" lang="en-US" altLang="zh-TW" dirty="0"/>
          </a:p>
          <a:p>
            <a:pPr marL="285750" indent="-285750">
              <a:buFontTx/>
              <a:buChar char="-"/>
            </a:pPr>
            <a:r>
              <a:rPr kumimoji="1" lang="zh-TW" altLang="en-US" dirty="0"/>
              <a:t>跨區後維持強一致 </a:t>
            </a:r>
            <a:r>
              <a:rPr kumimoji="1" lang="en-US" altLang="zh-TW" dirty="0"/>
              <a:t>= </a:t>
            </a:r>
            <a:r>
              <a:rPr kumimoji="1" lang="zh-TW" altLang="en-US" dirty="0"/>
              <a:t>把跨 </a:t>
            </a:r>
            <a:r>
              <a:rPr kumimoji="1" lang="en-US" altLang="zh-TW" dirty="0"/>
              <a:t>WAN </a:t>
            </a:r>
            <a:r>
              <a:rPr kumimoji="1" lang="zh-TW" altLang="en-US" dirty="0"/>
              <a:t>的 </a:t>
            </a:r>
            <a:r>
              <a:rPr kumimoji="1" lang="en-US" altLang="zh-TW" dirty="0"/>
              <a:t>RTT </a:t>
            </a:r>
            <a:r>
              <a:rPr kumimoji="1" lang="zh-TW" altLang="en-US" dirty="0"/>
              <a:t>算進 </a:t>
            </a:r>
            <a:r>
              <a:rPr kumimoji="1" lang="en-US" altLang="zh-TW" dirty="0"/>
              <a:t>commit latency = </a:t>
            </a:r>
            <a:r>
              <a:rPr kumimoji="1" lang="zh-TW" altLang="en-US" dirty="0"/>
              <a:t>無法用最終一致性換寫入速度</a:t>
            </a:r>
            <a:endParaRPr kumimoji="1" lang="en-US" altLang="zh-TW" dirty="0"/>
          </a:p>
          <a:p>
            <a:pPr marL="285750" indent="-285750">
              <a:buFontTx/>
              <a:buChar char="-"/>
            </a:pPr>
            <a:r>
              <a:rPr kumimoji="1" lang="zh-TW" altLang="en-US" dirty="0"/>
              <a:t>強一致與跨區效能無法同時最佳化 </a:t>
            </a:r>
            <a:r>
              <a:rPr kumimoji="1" lang="en-US" altLang="zh-TW" dirty="0"/>
              <a:t>— </a:t>
            </a:r>
            <a:r>
              <a:rPr kumimoji="1" lang="zh-TW" altLang="en-US" dirty="0"/>
              <a:t>必須選 </a:t>
            </a:r>
            <a:r>
              <a:rPr kumimoji="1" lang="en" altLang="zh-TW" dirty="0"/>
              <a:t>workload </a:t>
            </a:r>
            <a:r>
              <a:rPr kumimoji="1" lang="zh-TW" altLang="en-US" dirty="0"/>
              <a:t>模式（</a:t>
            </a:r>
            <a:r>
              <a:rPr kumimoji="1" lang="en" altLang="zh-TW" dirty="0"/>
              <a:t>A-S / A-A-RO / A-A</a:t>
            </a:r>
            <a:r>
              <a:rPr kumimoji="1" lang="zh-TW" altLang="en" dirty="0"/>
              <a:t>）。</a:t>
            </a:r>
            <a:endParaRPr kumimoji="1"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9735721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40C61-E53A-6F73-85FA-06448B5EA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1FB21C8E-4884-25FA-901E-6816A3AA851B}"/>
              </a:ext>
            </a:extLst>
          </p:cNvPr>
          <p:cNvSpPr txBox="1"/>
          <p:nvPr/>
        </p:nvSpPr>
        <p:spPr>
          <a:xfrm>
            <a:off x="0" y="0"/>
            <a:ext cx="981097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分散式 </a:t>
            </a:r>
            <a:r>
              <a:rPr kumimoji="1" lang="en" altLang="zh-TW" dirty="0"/>
              <a:t>DB </a:t>
            </a:r>
            <a:r>
              <a:rPr kumimoji="1" lang="zh-TW" altLang="en-US" dirty="0"/>
              <a:t>把 </a:t>
            </a:r>
            <a:r>
              <a:rPr kumimoji="1" lang="en" altLang="zh-TW" dirty="0"/>
              <a:t>table </a:t>
            </a:r>
            <a:r>
              <a:rPr kumimoji="1" lang="zh-TW" altLang="en-US" dirty="0"/>
              <a:t>切成 </a:t>
            </a:r>
            <a:r>
              <a:rPr kumimoji="1" lang="en" altLang="zh-TW" dirty="0"/>
              <a:t>shard </a:t>
            </a:r>
            <a:r>
              <a:rPr kumimoji="1" lang="zh-TW" altLang="en-US" dirty="0"/>
              <a:t>分散到各節點，「</a:t>
            </a:r>
            <a:r>
              <a:rPr kumimoji="1" lang="en" altLang="zh-TW" dirty="0"/>
              <a:t>row </a:t>
            </a:r>
            <a:r>
              <a:rPr kumimoji="1" lang="zh-TW" altLang="en-US" dirty="0"/>
              <a:t>屬哪個 </a:t>
            </a:r>
            <a:r>
              <a:rPr kumimoji="1" lang="en" altLang="zh-TW" dirty="0"/>
              <a:t>shard</a:t>
            </a:r>
            <a:r>
              <a:rPr kumimoji="1" lang="zh-TW" altLang="en" dirty="0"/>
              <a:t>」</a:t>
            </a:r>
            <a:r>
              <a:rPr kumimoji="1" lang="zh-TW" altLang="en-US" dirty="0"/>
              <a:t>有兩種演算法：</a:t>
            </a:r>
            <a:endParaRPr kumimoji="1" lang="en-US" altLang="zh-TW" dirty="0"/>
          </a:p>
          <a:p>
            <a:endParaRPr kumimoji="1" lang="en-US" altLang="zh-TW" dirty="0"/>
          </a:p>
          <a:p>
            <a:pPr marL="285750" indent="-285750">
              <a:buFontTx/>
              <a:buChar char="-"/>
            </a:pPr>
            <a:r>
              <a:rPr kumimoji="1" lang="en-US" altLang="zh-TW" dirty="0"/>
              <a:t>Range sharding</a:t>
            </a:r>
            <a:r>
              <a:rPr kumimoji="1" lang="zh-TW" altLang="en-US" dirty="0"/>
              <a:t>：依 </a:t>
            </a:r>
            <a:r>
              <a:rPr kumimoji="1" lang="en-US" altLang="zh-TW" dirty="0"/>
              <a:t>key </a:t>
            </a:r>
            <a:r>
              <a:rPr kumimoji="1" lang="zh-TW" altLang="en-US" dirty="0"/>
              <a:t>區間切（</a:t>
            </a:r>
            <a:r>
              <a:rPr kumimoji="1" lang="en-US" altLang="zh-TW" dirty="0"/>
              <a:t>id 1-1000 → shard-1</a:t>
            </a:r>
            <a:r>
              <a:rPr kumimoji="1" lang="zh-TW" altLang="en-US" dirty="0"/>
              <a:t>）</a:t>
            </a:r>
            <a:endParaRPr kumimoji="1" lang="en-US" altLang="zh-TW" dirty="0"/>
          </a:p>
          <a:p>
            <a:pPr marL="742950" lvl="1" indent="-285750">
              <a:buFontTx/>
              <a:buChar char="-"/>
            </a:pPr>
            <a:r>
              <a:rPr kumimoji="1" lang="zh-TW" altLang="en-US" dirty="0"/>
              <a:t>範圍掃描快、有 </a:t>
            </a:r>
            <a:r>
              <a:rPr kumimoji="1" lang="en-US" altLang="zh-TW" dirty="0"/>
              <a:t>locality </a:t>
            </a:r>
            <a:r>
              <a:rPr kumimoji="1" lang="zh-TW" altLang="en-US" dirty="0"/>
              <a:t>但 </a:t>
            </a:r>
            <a:r>
              <a:rPr kumimoji="1" lang="en-US" altLang="zh-TW" dirty="0"/>
              <a:t>sequential write</a:t>
            </a:r>
            <a:r>
              <a:rPr kumimoji="1" lang="zh-TW" altLang="en-US" dirty="0"/>
              <a:t>（</a:t>
            </a:r>
            <a:r>
              <a:rPr kumimoji="1" lang="en-US" altLang="zh-TW" dirty="0"/>
              <a:t>auto-increment / timestamp</a:t>
            </a:r>
            <a:r>
              <a:rPr kumimoji="1" lang="zh-TW" altLang="en-US" dirty="0"/>
              <a:t>）會集中熱點。</a:t>
            </a:r>
            <a:endParaRPr kumimoji="1" lang="en-US" altLang="zh-TW" dirty="0"/>
          </a:p>
          <a:p>
            <a:pPr marL="285750" indent="-285750">
              <a:buFontTx/>
              <a:buChar char="-"/>
            </a:pPr>
            <a:endParaRPr kumimoji="1" lang="en-US" altLang="zh-TW" dirty="0"/>
          </a:p>
          <a:p>
            <a:pPr marL="285750" indent="-285750">
              <a:buFontTx/>
              <a:buChar char="-"/>
            </a:pPr>
            <a:r>
              <a:rPr kumimoji="1" lang="en-US" altLang="zh-TW" dirty="0"/>
              <a:t>Hash sharding</a:t>
            </a:r>
            <a:r>
              <a:rPr kumimoji="1" lang="zh-TW" altLang="en-US" dirty="0"/>
              <a:t>：對 </a:t>
            </a:r>
            <a:r>
              <a:rPr kumimoji="1" lang="en-US" altLang="zh-TW" dirty="0"/>
              <a:t>key </a:t>
            </a:r>
            <a:r>
              <a:rPr kumimoji="1" lang="zh-TW" altLang="en-US" dirty="0"/>
              <a:t>做 </a:t>
            </a:r>
            <a:r>
              <a:rPr kumimoji="1" lang="en-US" altLang="zh-TW" dirty="0"/>
              <a:t>hash </a:t>
            </a:r>
            <a:r>
              <a:rPr kumimoji="1" lang="zh-TW" altLang="en-US" dirty="0"/>
              <a:t>取模分配。寫入分散無熱點</a:t>
            </a:r>
            <a:endParaRPr kumimoji="1" lang="en-US" altLang="zh-TW" dirty="0"/>
          </a:p>
          <a:p>
            <a:pPr marL="742950" lvl="1" indent="-285750">
              <a:buFontTx/>
              <a:buChar char="-"/>
            </a:pPr>
            <a:r>
              <a:rPr kumimoji="1" lang="zh-TW" altLang="en-US" dirty="0"/>
              <a:t>但範圍掃描需 </a:t>
            </a:r>
            <a:r>
              <a:rPr kumimoji="1" lang="en-US" altLang="zh-TW" dirty="0"/>
              <a:t>fan-out </a:t>
            </a:r>
            <a:r>
              <a:rPr kumimoji="1" lang="zh-TW" altLang="en-US" dirty="0"/>
              <a:t>到所有 </a:t>
            </a:r>
            <a:r>
              <a:rPr kumimoji="1" lang="en-US" altLang="zh-TW" dirty="0"/>
              <a:t>shard</a:t>
            </a:r>
            <a:r>
              <a:rPr kumimoji="1" lang="zh-TW" altLang="en-US" dirty="0"/>
              <a:t>，跨 </a:t>
            </a:r>
            <a:r>
              <a:rPr kumimoji="1" lang="en-US" altLang="zh-TW" dirty="0"/>
              <a:t>shard JOIN </a:t>
            </a:r>
            <a:r>
              <a:rPr kumimoji="1" lang="zh-TW" altLang="en-US" dirty="0"/>
              <a:t>成本高</a:t>
            </a:r>
            <a:endParaRPr kumimoji="1" lang="en-US" altLang="zh-TW" dirty="0"/>
          </a:p>
          <a:p>
            <a:endParaRPr kumimoji="1" lang="en" altLang="zh-TW" dirty="0"/>
          </a:p>
          <a:p>
            <a:pPr marL="285750" indent="-285750">
              <a:buFontTx/>
              <a:buChar char="-"/>
            </a:pPr>
            <a:r>
              <a:rPr kumimoji="1" lang="en" altLang="zh-TW" dirty="0"/>
              <a:t>TPC-C </a:t>
            </a:r>
            <a:r>
              <a:rPr kumimoji="1" lang="zh-TW" altLang="en-US" dirty="0"/>
              <a:t>的 </a:t>
            </a:r>
            <a:r>
              <a:rPr kumimoji="1" lang="en" altLang="zh-TW" dirty="0"/>
              <a:t>NEW_ORDER / PAYMENT </a:t>
            </a:r>
            <a:r>
              <a:rPr kumimoji="1" lang="zh-TW" altLang="en-US" dirty="0"/>
              <a:t>高度依賴 </a:t>
            </a:r>
            <a:r>
              <a:rPr kumimoji="1" lang="en" altLang="zh-TW" dirty="0"/>
              <a:t>warehouse </a:t>
            </a:r>
            <a:r>
              <a:rPr kumimoji="1" lang="zh-TW" altLang="en-US" dirty="0"/>
              <a:t>相關 </a:t>
            </a:r>
            <a:r>
              <a:rPr kumimoji="1" lang="en" altLang="zh-TW" dirty="0"/>
              <a:t>row </a:t>
            </a:r>
            <a:r>
              <a:rPr kumimoji="1" lang="zh-TW" altLang="en-US" dirty="0"/>
              <a:t>的 </a:t>
            </a:r>
            <a:r>
              <a:rPr kumimoji="1" lang="en" altLang="zh-TW" dirty="0"/>
              <a:t>locality</a:t>
            </a:r>
          </a:p>
          <a:p>
            <a:pPr marL="285750" indent="-285750">
              <a:buFontTx/>
              <a:buChar char="-"/>
            </a:pPr>
            <a:r>
              <a:rPr kumimoji="1" lang="en" altLang="zh-TW" dirty="0"/>
              <a:t>Hash sharding </a:t>
            </a:r>
            <a:r>
              <a:rPr kumimoji="1" lang="zh-TW" altLang="en-US" dirty="0"/>
              <a:t>在 </a:t>
            </a:r>
            <a:r>
              <a:rPr kumimoji="1" lang="en" altLang="zh-TW" dirty="0"/>
              <a:t>hot warehouse </a:t>
            </a:r>
            <a:r>
              <a:rPr kumimoji="1" lang="zh-TW" altLang="en-US" dirty="0"/>
              <a:t>場景反而能避開單 </a:t>
            </a:r>
            <a:r>
              <a:rPr kumimoji="1" lang="en" altLang="zh-TW" dirty="0"/>
              <a:t>shard </a:t>
            </a:r>
            <a:r>
              <a:rPr kumimoji="1" lang="zh-TW" altLang="en-US" dirty="0"/>
              <a:t>飽和</a:t>
            </a:r>
            <a:endParaRPr kumimoji="1" lang="en-US" altLang="zh-TW" dirty="0"/>
          </a:p>
          <a:p>
            <a:pPr marL="285750" indent="-285750">
              <a:buFontTx/>
              <a:buChar char="-"/>
            </a:pPr>
            <a:endParaRPr kumimoji="1" lang="en-US" altLang="zh-TW" dirty="0"/>
          </a:p>
          <a:p>
            <a:r>
              <a:rPr kumimoji="1" lang="en" altLang="zh-TW" dirty="0"/>
              <a:t>TPC-C </a:t>
            </a:r>
            <a:r>
              <a:rPr kumimoji="1" lang="zh-TW" altLang="en-US" dirty="0"/>
              <a:t>同硬體 </a:t>
            </a:r>
            <a:r>
              <a:rPr kumimoji="1" lang="en" altLang="zh-TW" dirty="0"/>
              <a:t>ranking</a:t>
            </a:r>
            <a:r>
              <a:rPr kumimoji="1" lang="zh-TW" altLang="en" dirty="0"/>
              <a:t>：</a:t>
            </a:r>
            <a:r>
              <a:rPr kumimoji="1" lang="en" altLang="zh-TW" dirty="0" err="1"/>
              <a:t>TiDB</a:t>
            </a:r>
            <a:r>
              <a:rPr kumimoji="1" lang="en" altLang="zh-TW" dirty="0"/>
              <a:t> &gt; CRDB ≈ YBDB </a:t>
            </a:r>
            <a:r>
              <a:rPr kumimoji="1" lang="zh-TW" altLang="en-US" dirty="0"/>
              <a:t>部分受此影響</a:t>
            </a:r>
            <a:br>
              <a:rPr kumimoji="1" lang="en-US" altLang="zh-TW" dirty="0"/>
            </a:br>
            <a:r>
              <a:rPr kumimoji="1" lang="zh-TW" altLang="en-US" dirty="0"/>
              <a:t>（</a:t>
            </a:r>
            <a:r>
              <a:rPr kumimoji="1" lang="en" altLang="zh-TW" dirty="0"/>
              <a:t>YBDB </a:t>
            </a:r>
            <a:r>
              <a:rPr kumimoji="1" lang="zh-TW" altLang="en-US" dirty="0"/>
              <a:t>預設 </a:t>
            </a:r>
            <a:r>
              <a:rPr kumimoji="1" lang="en" altLang="zh-TW" dirty="0"/>
              <a:t>hash </a:t>
            </a:r>
            <a:r>
              <a:rPr kumimoji="1" lang="zh-TW" altLang="en-US" dirty="0"/>
              <a:t>在 </a:t>
            </a:r>
            <a:r>
              <a:rPr kumimoji="1" lang="en" altLang="zh-TW" dirty="0"/>
              <a:t>warehouse-centric workload </a:t>
            </a:r>
            <a:r>
              <a:rPr kumimoji="1" lang="zh-TW" altLang="en-US" dirty="0"/>
              <a:t>下 </a:t>
            </a:r>
            <a:r>
              <a:rPr kumimoji="1" lang="en" altLang="zh-TW" dirty="0"/>
              <a:t>locality </a:t>
            </a:r>
            <a:r>
              <a:rPr kumimoji="1" lang="zh-TW" altLang="en-US" dirty="0"/>
              <a:t>較差）</a:t>
            </a:r>
            <a:endParaRPr kumimoji="1" lang="en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F1C71B7-5749-4DCA-14D1-76B7A782C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633" y="4185577"/>
            <a:ext cx="11412733" cy="20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8550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dirty="0">
                <a:solidFill>
                  <a:srgbClr val="FFFFFF"/>
                </a:solidFill>
                <a:latin typeface="PingFang TC"/>
              </a:rPr>
              <a:t>VM </a:t>
            </a:r>
            <a:r>
              <a:rPr sz="3000" b="1" dirty="0" err="1">
                <a:solidFill>
                  <a:srgbClr val="FFFFFF"/>
                </a:solidFill>
                <a:latin typeface="PingFang TC"/>
              </a:rPr>
              <a:t>與</a:t>
            </a:r>
            <a:r>
              <a:rPr sz="3000" b="1" dirty="0">
                <a:solidFill>
                  <a:srgbClr val="FFFFFF"/>
                </a:solidFill>
                <a:latin typeface="PingFang TC"/>
              </a:rPr>
              <a:t> Kubernetes </a:t>
            </a:r>
            <a:r>
              <a:rPr sz="3000" b="1" dirty="0" err="1">
                <a:solidFill>
                  <a:srgbClr val="FFFFFF"/>
                </a:solidFill>
                <a:latin typeface="PingFang TC"/>
              </a:rPr>
              <a:t>效能差異</a:t>
            </a:r>
            <a:r>
              <a:rPr lang="en-US" sz="3000" b="1" dirty="0">
                <a:solidFill>
                  <a:srgbClr val="FFFFFF"/>
                </a:solidFill>
                <a:latin typeface="PingFang TC"/>
              </a:rPr>
              <a:t> (pre-view)</a:t>
            </a:r>
            <a:endParaRPr sz="3000" b="1" dirty="0">
              <a:solidFill>
                <a:srgbClr val="FFFFFF"/>
              </a:solidFill>
              <a:latin typeface="PingFang TC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280160"/>
            <a:ext cx="38100" cy="36576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864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dirty="0">
                <a:solidFill>
                  <a:srgbClr val="A0A8B8"/>
                </a:solidFill>
                <a:latin typeface="PingFang TC"/>
              </a:rPr>
              <a:t>K8s </a:t>
            </a:r>
            <a:r>
              <a:rPr sz="1800" b="0" dirty="0" err="1">
                <a:solidFill>
                  <a:srgbClr val="A0A8B8"/>
                </a:solidFill>
                <a:latin typeface="PingFang TC"/>
              </a:rPr>
              <a:t>化對</a:t>
            </a:r>
            <a:r>
              <a:rPr sz="1800" b="0" dirty="0">
                <a:solidFill>
                  <a:srgbClr val="A0A8B8"/>
                </a:solidFill>
                <a:latin typeface="PingFang TC"/>
              </a:rPr>
              <a:t> </a:t>
            </a:r>
            <a:r>
              <a:rPr sz="1800" b="0" dirty="0" err="1">
                <a:solidFill>
                  <a:srgbClr val="A0A8B8"/>
                </a:solidFill>
                <a:latin typeface="PingFang TC"/>
              </a:rPr>
              <a:t>TiDB</a:t>
            </a:r>
            <a:r>
              <a:rPr sz="1800" b="0" dirty="0">
                <a:solidFill>
                  <a:srgbClr val="A0A8B8"/>
                </a:solidFill>
                <a:latin typeface="PingFang TC"/>
              </a:rPr>
              <a:t> </a:t>
            </a:r>
            <a:r>
              <a:rPr sz="1800" b="0" dirty="0" err="1">
                <a:solidFill>
                  <a:srgbClr val="A0A8B8"/>
                </a:solidFill>
                <a:latin typeface="PingFang TC"/>
              </a:rPr>
              <a:t>與</a:t>
            </a:r>
            <a:r>
              <a:rPr sz="1800" b="0" dirty="0">
                <a:solidFill>
                  <a:srgbClr val="A0A8B8"/>
                </a:solidFill>
                <a:latin typeface="PingFang TC"/>
              </a:rPr>
              <a:t> </a:t>
            </a:r>
            <a:r>
              <a:rPr sz="1800" b="0" dirty="0" err="1">
                <a:solidFill>
                  <a:srgbClr val="A0A8B8"/>
                </a:solidFill>
                <a:latin typeface="PingFang TC"/>
              </a:rPr>
              <a:t>CockroachDB</a:t>
            </a:r>
            <a:r>
              <a:rPr sz="1800" b="0" dirty="0">
                <a:solidFill>
                  <a:srgbClr val="A0A8B8"/>
                </a:solidFill>
                <a:latin typeface="PingFang TC"/>
              </a:rPr>
              <a:t> </a:t>
            </a:r>
            <a:r>
              <a:rPr sz="1800" b="0" dirty="0" err="1">
                <a:solidFill>
                  <a:srgbClr val="A0A8B8"/>
                </a:solidFill>
                <a:latin typeface="PingFang TC"/>
              </a:rPr>
              <a:t>屬可接受範圍；YugabyteDB</a:t>
            </a:r>
            <a:r>
              <a:rPr sz="1800" b="0" dirty="0">
                <a:solidFill>
                  <a:srgbClr val="A0A8B8"/>
                </a:solidFill>
                <a:latin typeface="PingFang TC"/>
              </a:rPr>
              <a:t> </a:t>
            </a:r>
            <a:r>
              <a:rPr sz="1800" b="0" dirty="0" err="1">
                <a:solidFill>
                  <a:srgbClr val="A0A8B8"/>
                </a:solidFill>
                <a:latin typeface="PingFang TC"/>
              </a:rPr>
              <a:t>在</a:t>
            </a:r>
            <a:r>
              <a:rPr sz="1800" b="0" dirty="0">
                <a:solidFill>
                  <a:srgbClr val="A0A8B8"/>
                </a:solidFill>
                <a:latin typeface="PingFang TC"/>
              </a:rPr>
              <a:t> K8s </a:t>
            </a:r>
            <a:r>
              <a:rPr sz="1800" b="0" dirty="0" err="1">
                <a:solidFill>
                  <a:srgbClr val="A0A8B8"/>
                </a:solidFill>
                <a:latin typeface="PingFang TC"/>
              </a:rPr>
              <a:t>下退化顯著，列為調校與驗證項</a:t>
            </a:r>
            <a:endParaRPr sz="1800" b="0" dirty="0">
              <a:solidFill>
                <a:srgbClr val="A0A8B8"/>
              </a:solidFill>
              <a:latin typeface="PingFang TC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82880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資料庫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S-BASE (VM)
tpmC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S-K8S unlimit
tpmC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S-K8S limit
tpmC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unlimit / VM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limit / VM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p99 unlimit Δ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p99 limit Δ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418"/>
                          </a:solidFill>
                          <a:latin typeface="PingFang TC"/>
                        </a:rPr>
                        <a:t>TiDB v8.5.2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26,947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23,442.9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15,751.9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B03A14"/>
                          </a:solidFill>
                          <a:latin typeface="PingFang TC"/>
                        </a:rPr>
                        <a:t>87.0 %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58.5 %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+17 %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+111 %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418"/>
                          </a:solidFill>
                          <a:latin typeface="PingFang TC"/>
                        </a:rPr>
                        <a:t>CockroachDB v26.2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15,033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12,196.7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6,493.5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B03A14"/>
                          </a:solidFill>
                          <a:latin typeface="PingFang TC"/>
                        </a:rPr>
                        <a:t>81.1 %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43.2 %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+27 %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+192 %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418"/>
                          </a:solidFill>
                          <a:latin typeface="PingFang TC"/>
                        </a:rPr>
                        <a:t>YugabyteDB 2025.2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15,632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2,997.6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1,604.5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B03A14"/>
                          </a:solidFill>
                          <a:latin typeface="PingFang TC"/>
                        </a:rPr>
                        <a:t>19.2 % ⚠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10.3 % ⚠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+669 %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+1556 %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44348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F39C12"/>
                </a:solidFill>
                <a:latin typeface="PingFang TC"/>
              </a:rPr>
              <a:t>觀察解讀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46320"/>
            <a:ext cx="1097280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 algn="l">
              <a:buChar char="•"/>
            </a:pPr>
            <a:r>
              <a:rPr sz="1500" dirty="0" err="1">
                <a:solidFill>
                  <a:srgbClr val="E8EAED"/>
                </a:solidFill>
                <a:latin typeface="PingFang TC"/>
              </a:rPr>
              <a:t>TiDB</a:t>
            </a:r>
            <a:r>
              <a:rPr sz="1500" dirty="0">
                <a:solidFill>
                  <a:srgbClr val="E8EAED"/>
                </a:solidFill>
                <a:latin typeface="PingFang TC"/>
              </a:rPr>
              <a:t> / CockroachDB：K8s </a:t>
            </a:r>
            <a:r>
              <a:rPr sz="1500" dirty="0" err="1">
                <a:solidFill>
                  <a:srgbClr val="E8EAED"/>
                </a:solidFill>
                <a:latin typeface="PingFang TC"/>
              </a:rPr>
              <a:t>unlimit</a:t>
            </a:r>
            <a:r>
              <a:rPr sz="1500" dirty="0">
                <a:solidFill>
                  <a:srgbClr val="E8EAED"/>
                </a:solidFill>
                <a:latin typeface="PingFang TC"/>
              </a:rPr>
              <a:t> </a:t>
            </a:r>
            <a:r>
              <a:rPr sz="1500" dirty="0" err="1">
                <a:solidFill>
                  <a:srgbClr val="E8EAED"/>
                </a:solidFill>
                <a:latin typeface="PingFang TC"/>
              </a:rPr>
              <a:t>保留率</a:t>
            </a:r>
            <a:r>
              <a:rPr sz="1500" dirty="0">
                <a:solidFill>
                  <a:srgbClr val="E8EAED"/>
                </a:solidFill>
                <a:latin typeface="PingFang TC"/>
              </a:rPr>
              <a:t> 81-87 %，</a:t>
            </a:r>
            <a:r>
              <a:rPr sz="1500" dirty="0" err="1">
                <a:solidFill>
                  <a:srgbClr val="E8EAED"/>
                </a:solidFill>
                <a:latin typeface="PingFang TC"/>
              </a:rPr>
              <a:t>屬可接受範圍；limit</a:t>
            </a:r>
            <a:r>
              <a:rPr sz="1500" dirty="0">
                <a:solidFill>
                  <a:srgbClr val="E8EAED"/>
                </a:solidFill>
                <a:latin typeface="PingFang TC"/>
              </a:rPr>
              <a:t> </a:t>
            </a:r>
            <a:r>
              <a:rPr sz="1500" dirty="0" err="1">
                <a:solidFill>
                  <a:srgbClr val="E8EAED"/>
                </a:solidFill>
                <a:latin typeface="PingFang TC"/>
              </a:rPr>
              <a:t>情境大幅衰退反映資源壓縮</a:t>
            </a:r>
            <a:endParaRPr sz="1500" dirty="0">
              <a:solidFill>
                <a:srgbClr val="E8EAED"/>
              </a:solidFill>
              <a:latin typeface="PingFang TC"/>
            </a:endParaRPr>
          </a:p>
          <a:p>
            <a:pPr marL="228600" indent="-228600" algn="l">
              <a:buChar char="•"/>
            </a:pPr>
            <a:r>
              <a:rPr sz="1500" b="0" dirty="0">
                <a:solidFill>
                  <a:srgbClr val="E8EAED"/>
                </a:solidFill>
                <a:latin typeface="PingFang TC"/>
              </a:rPr>
              <a:t>YugabyteDB：K8s </a:t>
            </a:r>
            <a:r>
              <a:rPr sz="1500" b="0" dirty="0" err="1">
                <a:solidFill>
                  <a:srgbClr val="E8EAED"/>
                </a:solidFill>
                <a:latin typeface="PingFang TC"/>
              </a:rPr>
              <a:t>unlimit</a:t>
            </a:r>
            <a:r>
              <a:rPr sz="1500" b="0" dirty="0">
                <a:solidFill>
                  <a:srgbClr val="E8EAED"/>
                </a:solidFill>
                <a:latin typeface="PingFang TC"/>
              </a:rPr>
              <a:t> </a:t>
            </a:r>
            <a:r>
              <a:rPr sz="1500" b="0" dirty="0" err="1">
                <a:solidFill>
                  <a:srgbClr val="E8EAED"/>
                </a:solidFill>
                <a:latin typeface="PingFang TC"/>
              </a:rPr>
              <a:t>僅</a:t>
            </a:r>
            <a:r>
              <a:rPr sz="1500" b="0" dirty="0">
                <a:solidFill>
                  <a:srgbClr val="E8EAED"/>
                </a:solidFill>
                <a:latin typeface="PingFang TC"/>
              </a:rPr>
              <a:t> 19.2 %、p99 +669 %。</a:t>
            </a:r>
            <a:r>
              <a:rPr sz="1500" b="0" dirty="0" err="1">
                <a:solidFill>
                  <a:srgbClr val="E8EAED"/>
                </a:solidFill>
                <a:latin typeface="PingFang TC"/>
              </a:rPr>
              <a:t>成因推論：YSQL</a:t>
            </a:r>
            <a:r>
              <a:rPr sz="1500" b="0" dirty="0">
                <a:solidFill>
                  <a:srgbClr val="E8EAED"/>
                </a:solidFill>
                <a:latin typeface="PingFang TC"/>
              </a:rPr>
              <a:t> + </a:t>
            </a:r>
            <a:r>
              <a:rPr sz="1500" b="0" dirty="0" err="1">
                <a:solidFill>
                  <a:srgbClr val="E8EAED"/>
                </a:solidFill>
                <a:latin typeface="PingFang TC"/>
              </a:rPr>
              <a:t>DocDB</a:t>
            </a:r>
            <a:r>
              <a:rPr sz="1500" b="0" dirty="0">
                <a:solidFill>
                  <a:srgbClr val="E8EAED"/>
                </a:solidFill>
                <a:latin typeface="PingFang TC"/>
              </a:rPr>
              <a:t> </a:t>
            </a:r>
            <a:r>
              <a:rPr sz="1500" b="0" dirty="0" err="1">
                <a:solidFill>
                  <a:srgbClr val="E8EAED"/>
                </a:solidFill>
                <a:latin typeface="PingFang TC"/>
              </a:rPr>
              <a:t>雙</a:t>
            </a:r>
            <a:r>
              <a:rPr sz="1500" b="0" dirty="0">
                <a:solidFill>
                  <a:srgbClr val="E8EAED"/>
                </a:solidFill>
                <a:latin typeface="PingFang TC"/>
              </a:rPr>
              <a:t> process </a:t>
            </a:r>
            <a:r>
              <a:rPr sz="1500" b="0" dirty="0" err="1">
                <a:solidFill>
                  <a:srgbClr val="E8EAED"/>
                </a:solidFill>
                <a:latin typeface="PingFang TC"/>
              </a:rPr>
              <a:t>在</a:t>
            </a:r>
            <a:r>
              <a:rPr sz="1500" b="0" dirty="0">
                <a:solidFill>
                  <a:srgbClr val="E8EAED"/>
                </a:solidFill>
                <a:latin typeface="PingFang TC"/>
              </a:rPr>
              <a:t> K8s pod IPC + CPU contention </a:t>
            </a:r>
            <a:r>
              <a:rPr sz="1500" b="0" dirty="0" err="1">
                <a:solidFill>
                  <a:srgbClr val="E8EAED"/>
                </a:solidFill>
                <a:latin typeface="PingFang TC"/>
              </a:rPr>
              <a:t>放大。</a:t>
            </a:r>
            <a:r>
              <a:rPr sz="1500" b="1" dirty="0" err="1">
                <a:solidFill>
                  <a:srgbClr val="B03A14"/>
                </a:solidFill>
                <a:latin typeface="PingFang TC"/>
              </a:rPr>
              <a:t>成因未定位，列後續調校項</a:t>
            </a:r>
            <a:endParaRPr sz="1500" b="1" dirty="0">
              <a:solidFill>
                <a:srgbClr val="B03A14"/>
              </a:solidFill>
              <a:latin typeface="PingFang TC"/>
            </a:endParaRPr>
          </a:p>
          <a:p>
            <a:pPr marL="228600" indent="-228600" algn="l">
              <a:buChar char="•"/>
            </a:pPr>
            <a:r>
              <a:rPr sz="1500" dirty="0">
                <a:solidFill>
                  <a:srgbClr val="E8EAED"/>
                </a:solidFill>
                <a:latin typeface="PingFang TC"/>
              </a:rPr>
              <a:t>S-BASE ↔ S-K8S </a:t>
            </a:r>
            <a:r>
              <a:rPr sz="1500" dirty="0" err="1">
                <a:solidFill>
                  <a:srgbClr val="E8EAED"/>
                </a:solidFill>
                <a:latin typeface="PingFang TC"/>
              </a:rPr>
              <a:t>可直接比較（同</a:t>
            </a:r>
            <a:r>
              <a:rPr sz="1500" dirty="0">
                <a:solidFill>
                  <a:srgbClr val="E8EAED"/>
                </a:solidFill>
                <a:latin typeface="PingFang TC"/>
              </a:rPr>
              <a:t> workload W=128 t=128）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跨區域 / 跨專線進度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82880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27AE60"/>
                </a:solidFill>
                <a:latin typeface="PingFang TC"/>
              </a:rPr>
              <a:t>✅ 已完成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86000"/>
            <a:ext cx="10972800" cy="17235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>
              <a:buChar char="•"/>
            </a:pPr>
            <a:r>
              <a:rPr lang="zh-TW" altLang="en-US" sz="1600" dirty="0">
                <a:solidFill>
                  <a:srgbClr val="E8EAED"/>
                </a:solidFill>
                <a:latin typeface="PingFang TC"/>
              </a:rPr>
              <a:t>跨機房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技術議題定案（GCP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 5 VM 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拓樸、</a:t>
            </a:r>
            <a:r>
              <a:rPr lang="en-US" sz="1600" dirty="0" err="1">
                <a:solidFill>
                  <a:srgbClr val="E8EAED"/>
                </a:solidFill>
                <a:latin typeface="PingFang TC"/>
              </a:rPr>
              <a:t>P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lacement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 P-A</a:t>
            </a:r>
            <a:r>
              <a:rPr lang="en-US" sz="1600" dirty="0">
                <a:solidFill>
                  <a:srgbClr val="E8EAED"/>
                </a:solidFill>
                <a:latin typeface="PingFang TC"/>
              </a:rPr>
              <a:t> 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/</a:t>
            </a:r>
            <a:r>
              <a:rPr lang="en-US" sz="1600" dirty="0">
                <a:solidFill>
                  <a:srgbClr val="E8EAED"/>
                </a:solidFill>
                <a:latin typeface="PingFang TC"/>
              </a:rPr>
              <a:t> 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P-B</a:t>
            </a:r>
            <a:r>
              <a:rPr lang="en-US" sz="1600" dirty="0">
                <a:solidFill>
                  <a:srgbClr val="E8EAED"/>
                </a:solidFill>
                <a:latin typeface="PingFang TC"/>
              </a:rPr>
              <a:t> (</a:t>
            </a:r>
            <a:r>
              <a:rPr lang="en-US" altLang="zh-TW" sz="1600" dirty="0" err="1">
                <a:solidFill>
                  <a:srgbClr val="E8EAED"/>
                </a:solidFill>
                <a:latin typeface="PingFang TC"/>
              </a:rPr>
              <a:t>註</a:t>
            </a:r>
            <a:r>
              <a:rPr lang="en-US" sz="1600" dirty="0">
                <a:solidFill>
                  <a:srgbClr val="E8EAED"/>
                </a:solidFill>
                <a:latin typeface="PingFang TC"/>
              </a:rPr>
              <a:t>)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、Chaos Engineering </a:t>
            </a:r>
            <a:r>
              <a:rPr lang="en-US" sz="1600" dirty="0">
                <a:solidFill>
                  <a:srgbClr val="E8EAED"/>
                </a:solidFill>
                <a:latin typeface="PingFang TC"/>
              </a:rPr>
              <a:t>&amp; Failover Scenarios design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）</a:t>
            </a:r>
            <a:br>
              <a:rPr lang="en-US" sz="1600" dirty="0">
                <a:solidFill>
                  <a:srgbClr val="E8EAED"/>
                </a:solidFill>
                <a:latin typeface="PingFang TC"/>
              </a:rPr>
            </a:br>
            <a:endParaRPr sz="1600" dirty="0">
              <a:solidFill>
                <a:srgbClr val="E8EAED"/>
              </a:solidFill>
              <a:latin typeface="PingFang TC"/>
            </a:endParaRPr>
          </a:p>
          <a:p>
            <a:pPr marL="228600" indent="-228600">
              <a:buChar char="•"/>
            </a:pPr>
            <a:r>
              <a:rPr sz="1600" dirty="0" err="1">
                <a:solidFill>
                  <a:srgbClr val="E8EAED"/>
                </a:solidFill>
                <a:latin typeface="PingFang TC"/>
              </a:rPr>
              <a:t>IaC、playbook、suite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 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scripts、chrony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 drift gate（</a:t>
            </a:r>
            <a:r>
              <a:rPr lang="en" altLang="zh-TW" sz="1600" dirty="0">
                <a:solidFill>
                  <a:srgbClr val="E8EAED"/>
                </a:solidFill>
                <a:latin typeface="PingFang TC"/>
              </a:rPr>
              <a:t>IDC &amp; GCP 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時間偏移</a:t>
            </a:r>
            <a:r>
              <a:rPr lang="en-US" sz="1600" dirty="0">
                <a:solidFill>
                  <a:srgbClr val="E8EAED"/>
                </a:solidFill>
                <a:latin typeface="PingFang TC"/>
              </a:rPr>
              <a:t>: </a:t>
            </a:r>
            <a:r>
              <a:rPr lang="en" altLang="zh-TW" sz="1600" dirty="0">
                <a:solidFill>
                  <a:srgbClr val="E8EAED"/>
                </a:solidFill>
                <a:latin typeface="PingFang TC"/>
              </a:rPr>
              <a:t>0.017 </a:t>
            </a:r>
            <a:r>
              <a:rPr lang="en" altLang="zh-TW" sz="1600" dirty="0" err="1">
                <a:solidFill>
                  <a:srgbClr val="E8EAED"/>
                </a:solidFill>
                <a:latin typeface="PingFang TC"/>
              </a:rPr>
              <a:t>ms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）</a:t>
            </a:r>
            <a:br>
              <a:rPr lang="en-US" sz="1600" dirty="0">
                <a:solidFill>
                  <a:srgbClr val="E8EAED"/>
                </a:solidFill>
                <a:latin typeface="PingFang TC"/>
              </a:rPr>
            </a:br>
            <a:endParaRPr sz="1600" dirty="0">
              <a:solidFill>
                <a:srgbClr val="E8EAED"/>
              </a:solidFill>
              <a:latin typeface="PingFang TC"/>
            </a:endParaRPr>
          </a:p>
          <a:p>
            <a:pPr marL="228600" indent="-228600" algn="l">
              <a:buChar char="•"/>
            </a:pPr>
            <a:r>
              <a:rPr sz="1600" dirty="0">
                <a:solidFill>
                  <a:srgbClr val="E8EAED"/>
                </a:solidFill>
                <a:latin typeface="PingFang TC"/>
              </a:rPr>
              <a:t>06-18〜06-19：修正 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IaC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 / 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防火牆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 / 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YugabyteDB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 </a:t>
            </a:r>
            <a:r>
              <a:rPr lang="en-US" sz="1600" dirty="0" err="1">
                <a:solidFill>
                  <a:srgbClr val="E8EAED"/>
                </a:solidFill>
                <a:latin typeface="PingFang TC"/>
              </a:rPr>
              <a:t>P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lacement，三家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 DB / 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六節點前期測試驗證</a:t>
            </a:r>
            <a:br>
              <a:rPr lang="en-US" sz="1600" dirty="0">
                <a:solidFill>
                  <a:srgbClr val="E8EAED"/>
                </a:solidFill>
                <a:latin typeface="PingFang TC"/>
              </a:rPr>
            </a:br>
            <a:endParaRPr sz="1600" dirty="0">
              <a:solidFill>
                <a:srgbClr val="E8EAED"/>
              </a:solidFill>
              <a:latin typeface="PingFang TC"/>
            </a:endParaRPr>
          </a:p>
          <a:p>
            <a:pPr marL="228600" indent="-228600" algn="l">
              <a:buChar char="•"/>
            </a:pPr>
            <a:r>
              <a:rPr sz="1600" dirty="0">
                <a:solidFill>
                  <a:srgbClr val="E8EAED"/>
                </a:solidFill>
                <a:latin typeface="PingFang TC"/>
              </a:rPr>
              <a:t>06-21〜06-22：Determinism v2 — 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同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 cluster R1-R5、scheduler / balancer freeze</a:t>
            </a:r>
            <a:r>
              <a:rPr lang="en-US" sz="1600" dirty="0">
                <a:solidFill>
                  <a:srgbClr val="E8EAED"/>
                </a:solidFill>
                <a:latin typeface="PingFang TC"/>
              </a:rPr>
              <a:t> testing.</a:t>
            </a:r>
            <a:endParaRPr sz="1600" dirty="0">
              <a:solidFill>
                <a:srgbClr val="E8EAED"/>
              </a:solidFill>
              <a:latin typeface="PingFang TC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48640" y="43891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1C40F"/>
                </a:solidFill>
                <a:latin typeface="PingFang TC"/>
              </a:rPr>
              <a:t>● 待執行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846320"/>
            <a:ext cx="1097280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 algn="l">
              <a:buChar char="•"/>
            </a:pPr>
            <a:r>
              <a:rPr sz="1600" dirty="0" err="1">
                <a:solidFill>
                  <a:srgbClr val="E8EAED"/>
                </a:solidFill>
                <a:latin typeface="PingFang TC"/>
              </a:rPr>
              <a:t>調度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 scheduler (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開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/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關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)、round-only 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runner、Warmup、Placement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 (replica / lease 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位置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)、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測試結果彙整</a:t>
            </a:r>
            <a:endParaRPr sz="1600" dirty="0">
              <a:solidFill>
                <a:srgbClr val="E8EAED"/>
              </a:solidFill>
              <a:latin typeface="PingFang TC"/>
            </a:endParaRPr>
          </a:p>
          <a:p>
            <a:pPr marL="228600" indent="-228600" algn="l">
              <a:buChar char="•"/>
            </a:pPr>
            <a:r>
              <a:rPr sz="1600" dirty="0" err="1">
                <a:solidFill>
                  <a:srgbClr val="E8EAED"/>
                </a:solidFill>
                <a:latin typeface="PingFang TC"/>
              </a:rPr>
              <a:t>回到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 W=128 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正式基準量測</a:t>
            </a:r>
            <a:endParaRPr sz="1600" dirty="0">
              <a:solidFill>
                <a:srgbClr val="E8EAED"/>
              </a:solidFill>
              <a:latin typeface="PingFang TC"/>
            </a:endParaRPr>
          </a:p>
          <a:p>
            <a:pPr marL="228600" indent="-228600" algn="l">
              <a:buChar char="•"/>
            </a:pPr>
            <a:r>
              <a:rPr sz="1600" dirty="0">
                <a:solidFill>
                  <a:srgbClr val="E8EAED"/>
                </a:solidFill>
                <a:latin typeface="PingFang TC"/>
              </a:rPr>
              <a:t>Failover 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與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 Chaos Engineering 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實際驗證</a:t>
            </a:r>
            <a:endParaRPr sz="1600" dirty="0">
              <a:solidFill>
                <a:srgbClr val="E8EAED"/>
              </a:solidFill>
              <a:latin typeface="PingFang TC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9C3A5-59CE-C1CA-F47E-3832951D1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7781C7F6-0728-50F3-5365-06A846F1A31A}"/>
              </a:ext>
            </a:extLst>
          </p:cNvPr>
          <p:cNvSpPr txBox="1"/>
          <p:nvPr/>
        </p:nvSpPr>
        <p:spPr>
          <a:xfrm>
            <a:off x="0" y="0"/>
            <a:ext cx="11607501" cy="28315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為什麼需要 </a:t>
            </a:r>
            <a:r>
              <a:rPr kumimoji="1" lang="en" altLang="zh-TW" dirty="0"/>
              <a:t>P-A / P-B </a:t>
            </a:r>
            <a:r>
              <a:rPr kumimoji="1" lang="zh-TW" altLang="en-US" dirty="0"/>
              <a:t>兩種 </a:t>
            </a:r>
            <a:r>
              <a:rPr kumimoji="1" lang="en" altLang="zh-TW" dirty="0"/>
              <a:t>Placement</a:t>
            </a:r>
            <a:r>
              <a:rPr kumimoji="1" lang="zh-TW" altLang="en" dirty="0"/>
              <a:t>？</a:t>
            </a:r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zh-TW" altLang="en-US" dirty="0"/>
              <a:t>跨區 </a:t>
            </a:r>
            <a:r>
              <a:rPr kumimoji="1" lang="en-US" altLang="zh-TW" dirty="0"/>
              <a:t>6-node cluster</a:t>
            </a:r>
            <a:r>
              <a:rPr kumimoji="1" lang="zh-TW" altLang="en-US" dirty="0"/>
              <a:t>（</a:t>
            </a:r>
            <a:r>
              <a:rPr kumimoji="1" lang="en-US" altLang="zh-TW" dirty="0"/>
              <a:t>3 IDC + 3 GCP</a:t>
            </a:r>
            <a:r>
              <a:rPr kumimoji="1" lang="zh-TW" altLang="en-US" dirty="0"/>
              <a:t>）下，</a:t>
            </a:r>
            <a:r>
              <a:rPr kumimoji="1" lang="en-US" altLang="zh-TW" dirty="0"/>
              <a:t>Voter </a:t>
            </a:r>
            <a:r>
              <a:rPr kumimoji="1" lang="zh-TW" altLang="en-US" dirty="0"/>
              <a:t>與 </a:t>
            </a:r>
            <a:r>
              <a:rPr kumimoji="1" lang="en-US" altLang="zh-TW" dirty="0"/>
              <a:t>Leader </a:t>
            </a:r>
            <a:r>
              <a:rPr kumimoji="1" lang="zh-TW" altLang="en-US" dirty="0"/>
              <a:t>在哪一區 決定 </a:t>
            </a:r>
            <a:r>
              <a:rPr kumimoji="1" lang="en-US" altLang="zh-TW" dirty="0"/>
              <a:t>raft commit </a:t>
            </a:r>
            <a:r>
              <a:rPr kumimoji="1" lang="zh-TW" altLang="en-US" dirty="0"/>
              <a:t>是否走 </a:t>
            </a:r>
            <a:r>
              <a:rPr kumimoji="1" lang="en-US" altLang="zh-TW" dirty="0"/>
              <a:t>WAN</a:t>
            </a:r>
            <a:r>
              <a:rPr kumimoji="1" lang="zh-TW" altLang="en-US" dirty="0"/>
              <a:t>。</a:t>
            </a:r>
            <a:br>
              <a:rPr kumimoji="1" lang="en-US" altLang="zh-TW" dirty="0"/>
            </a:br>
            <a:r>
              <a:rPr kumimoji="1" lang="zh-TW" altLang="en-US" dirty="0"/>
              <a:t>把 </a:t>
            </a:r>
            <a:r>
              <a:rPr kumimoji="1" lang="en-US" altLang="zh-TW" dirty="0"/>
              <a:t>placement </a:t>
            </a:r>
            <a:r>
              <a:rPr kumimoji="1" lang="zh-TW" altLang="en-US" dirty="0"/>
              <a:t>拆成兩種對照設定，量化 </a:t>
            </a:r>
            <a:r>
              <a:rPr kumimoji="1" lang="en-US" altLang="zh-TW" dirty="0"/>
              <a:t>IDC-only baseline → </a:t>
            </a:r>
            <a:r>
              <a:rPr kumimoji="1" lang="zh-TW" altLang="en-US" dirty="0"/>
              <a:t>跨區寫入的 </a:t>
            </a:r>
            <a:r>
              <a:rPr kumimoji="1" lang="en-US" altLang="zh-TW" dirty="0" err="1"/>
              <a:t>tpmC</a:t>
            </a:r>
            <a:r>
              <a:rPr kumimoji="1" lang="en-US" altLang="zh-TW" dirty="0"/>
              <a:t> </a:t>
            </a:r>
            <a:r>
              <a:rPr kumimoji="1" lang="zh-TW" altLang="en-US" dirty="0"/>
              <a:t>衰減：</a:t>
            </a:r>
            <a:endParaRPr kumimoji="1" lang="en-US" altLang="zh-TW" dirty="0"/>
          </a:p>
          <a:p>
            <a:endParaRPr kumimoji="1" lang="en-US" altLang="zh-TW" dirty="0"/>
          </a:p>
          <a:p>
            <a:pPr marL="285750" indent="-285750">
              <a:buFontTx/>
              <a:buChar char="-"/>
            </a:pPr>
            <a:r>
              <a:rPr kumimoji="1" lang="en-US" altLang="zh-TW" dirty="0"/>
              <a:t>P-A</a:t>
            </a:r>
            <a:r>
              <a:rPr kumimoji="1" lang="zh-TW" altLang="en-US" dirty="0"/>
              <a:t>：情境「正常營運」</a:t>
            </a:r>
            <a:r>
              <a:rPr kumimoji="1" lang="en-US" altLang="zh-TW" dirty="0"/>
              <a:t>— IDC </a:t>
            </a:r>
            <a:r>
              <a:rPr kumimoji="1" lang="zh-TW" altLang="en-US" dirty="0"/>
              <a:t>為主，</a:t>
            </a:r>
            <a:r>
              <a:rPr kumimoji="1" lang="en-US" altLang="zh-TW" dirty="0"/>
              <a:t>GCP </a:t>
            </a:r>
            <a:r>
              <a:rPr kumimoji="1" lang="zh-TW" altLang="en-US" dirty="0"/>
              <a:t>為備</a:t>
            </a:r>
            <a:endParaRPr kumimoji="1" lang="en-US" altLang="zh-TW" dirty="0"/>
          </a:p>
          <a:p>
            <a:pPr marL="285750" indent="-285750">
              <a:buFontTx/>
              <a:buChar char="-"/>
            </a:pPr>
            <a:r>
              <a:rPr kumimoji="1" lang="en-US" altLang="zh-TW" dirty="0"/>
              <a:t>P-B</a:t>
            </a:r>
            <a:r>
              <a:rPr kumimoji="1" lang="zh-TW" altLang="en-US" dirty="0"/>
              <a:t>：情境「退化 </a:t>
            </a:r>
            <a:r>
              <a:rPr kumimoji="1" lang="en-US" altLang="zh-TW" dirty="0"/>
              <a:t>/ Failover </a:t>
            </a:r>
            <a:r>
              <a:rPr kumimoji="1" lang="zh-TW" altLang="en-US" dirty="0"/>
              <a:t>後」</a:t>
            </a:r>
            <a:r>
              <a:rPr kumimoji="1" lang="en-US" altLang="zh-TW" dirty="0"/>
              <a:t>— leader </a:t>
            </a:r>
            <a:r>
              <a:rPr kumimoji="1" lang="zh-TW" altLang="en-US" dirty="0"/>
              <a:t>散在兩區，</a:t>
            </a:r>
            <a:r>
              <a:rPr kumimoji="1" lang="en-US" altLang="zh-TW" dirty="0"/>
              <a:t>WAN </a:t>
            </a:r>
            <a:r>
              <a:rPr kumimoji="1" lang="zh-TW" altLang="en-US" dirty="0"/>
              <a:t>進入 </a:t>
            </a:r>
            <a:r>
              <a:rPr kumimoji="1" lang="en-US" altLang="zh-TW" dirty="0"/>
              <a:t>critical path</a:t>
            </a:r>
          </a:p>
          <a:p>
            <a:endParaRPr kumimoji="1" lang="en-US" altLang="zh-TW" dirty="0"/>
          </a:p>
          <a:p>
            <a:pPr marL="285750" indent="-285750">
              <a:buFontTx/>
              <a:buChar char="-"/>
            </a:pPr>
            <a:r>
              <a:rPr kumimoji="1" lang="zh-TW" altLang="en-US" dirty="0"/>
              <a:t>不同 </a:t>
            </a:r>
            <a:r>
              <a:rPr kumimoji="1" lang="en-US" altLang="zh-TW" dirty="0"/>
              <a:t>Placement </a:t>
            </a:r>
            <a:r>
              <a:rPr kumimoji="1" lang="zh-TW" altLang="en-US" dirty="0"/>
              <a:t>對應不同 </a:t>
            </a:r>
            <a:r>
              <a:rPr kumimoji="1" lang="en-US" altLang="zh-TW" dirty="0"/>
              <a:t>workload </a:t>
            </a:r>
            <a:r>
              <a:rPr kumimoji="1" lang="zh-TW" altLang="en-US" dirty="0"/>
              <a:t>模式（</a:t>
            </a:r>
            <a:r>
              <a:rPr kumimoji="1" lang="en-US" altLang="zh-TW" dirty="0"/>
              <a:t>A-S / A-A-RO / A-A</a:t>
            </a:r>
            <a:r>
              <a:rPr kumimoji="1" lang="zh-TW" altLang="en-US" dirty="0"/>
              <a:t>），也對應 </a:t>
            </a:r>
            <a:r>
              <a:rPr kumimoji="1" lang="en-US" altLang="zh-TW" dirty="0"/>
              <a:t>chaos </a:t>
            </a:r>
            <a:r>
              <a:rPr kumimoji="1" lang="zh-TW" altLang="en-US" dirty="0"/>
              <a:t>測試的不同 </a:t>
            </a:r>
            <a:r>
              <a:rPr kumimoji="1" lang="en-US" altLang="zh-TW" dirty="0"/>
              <a:t>baseline</a:t>
            </a:r>
            <a:r>
              <a:rPr kumimoji="1" lang="zh-TW" altLang="en-US" dirty="0"/>
              <a:t>。</a:t>
            </a:r>
            <a:endParaRPr kumimoji="1" lang="en-US" altLang="zh-TW" dirty="0"/>
          </a:p>
          <a:p>
            <a:endParaRPr lang="zh-TW" altLang="en-US" sz="1600" dirty="0">
              <a:solidFill>
                <a:srgbClr val="E8EAED"/>
              </a:solidFill>
              <a:latin typeface="PingFang TC"/>
            </a:endParaRPr>
          </a:p>
        </p:txBody>
      </p:sp>
    </p:spTree>
    <p:extLst>
      <p:ext uri="{BB962C8B-B14F-4D97-AF65-F5344CB8AC3E}">
        <p14:creationId xmlns:p14="http://schemas.microsoft.com/office/powerpoint/2010/main" val="26319010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X-CROSS 初步結果 (06-22〜06-23)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280160"/>
            <a:ext cx="38100" cy="36576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864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A0A8B8"/>
                </a:solidFill>
                <a:latin typeface="PingFang TC"/>
              </a:rPr>
              <a:t>W=4 framework 驗證；不與 S-BASE/S-K8S 直接對比 · 同 cluster 5 rounds、W=4、16 threads、每 round 5 min、controller = .31 (IDC client)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783080"/>
          <a:ext cx="1106423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90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83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83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83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831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831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1284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507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資料庫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R1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R2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R3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R4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R5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中位數 (有效輪)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CV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TiDB v8.5.2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9,525.5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9,553.2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9,786.9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9,393.2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9,530.8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B03A14"/>
                          </a:solidFill>
                          <a:latin typeface="PingFang TC"/>
                        </a:rPr>
                        <a:t>9,566.0 (R2-R5)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7AE60"/>
                          </a:solidFill>
                          <a:latin typeface="PingFang TC"/>
                        </a:rPr>
                        <a:t>1.67 % ✅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CockroachDB v26.2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8,409.5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8,055.3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7,902.5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7,720.9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7,472.3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B03A14"/>
                          </a:solidFill>
                          <a:latin typeface="PingFang TC"/>
                        </a:rPr>
                        <a:t>7,787.8 (R2-R5)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7AE60"/>
                          </a:solidFill>
                          <a:latin typeface="PingFang TC"/>
                        </a:rPr>
                        <a:t>3.23 % ✅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YugabyteDB 2025.2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102.0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226.9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6,424.2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6,259.3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6,206.2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B03A14"/>
                          </a:solidFill>
                          <a:latin typeface="PingFang TC"/>
                        </a:rPr>
                        <a:t>6,296.6 (R3-R5)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7AE60"/>
                          </a:solidFill>
                          <a:latin typeface="PingFang TC"/>
                        </a:rPr>
                        <a:t>1.82 % ✅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3977639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F39C12"/>
                </a:solidFill>
                <a:latin typeface="PingFang TC"/>
              </a:rPr>
              <a:t>已確認結論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389120"/>
            <a:ext cx="11247120" cy="14003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 algn="l">
              <a:buChar char="•"/>
            </a:pPr>
            <a:r>
              <a:rPr sz="1300" dirty="0">
                <a:solidFill>
                  <a:srgbClr val="E8EAED"/>
                </a:solidFill>
                <a:latin typeface="PingFang TC"/>
              </a:rPr>
              <a:t>06-21 </a:t>
            </a:r>
            <a:r>
              <a:rPr sz="1300" dirty="0" err="1">
                <a:solidFill>
                  <a:srgbClr val="E8EAED"/>
                </a:solidFill>
                <a:latin typeface="PingFang TC"/>
              </a:rPr>
              <a:t>觀察到的</a:t>
            </a:r>
            <a:r>
              <a:rPr sz="1300" dirty="0">
                <a:solidFill>
                  <a:srgbClr val="E8EAED"/>
                </a:solidFill>
                <a:latin typeface="PingFang TC"/>
              </a:rPr>
              <a:t> ±526 % / ±50 % </a:t>
            </a:r>
            <a:r>
              <a:rPr sz="1300" dirty="0" err="1">
                <a:solidFill>
                  <a:srgbClr val="E8EAED"/>
                </a:solidFill>
                <a:latin typeface="PingFang TC"/>
              </a:rPr>
              <a:t>變異主因為「每輪重新部署」造成</a:t>
            </a:r>
            <a:r>
              <a:rPr sz="1300" dirty="0">
                <a:solidFill>
                  <a:srgbClr val="E8EAED"/>
                </a:solidFill>
                <a:latin typeface="PingFang TC"/>
              </a:rPr>
              <a:t> placement / cache / scheduler </a:t>
            </a:r>
            <a:r>
              <a:rPr sz="1300" dirty="0" err="1">
                <a:solidFill>
                  <a:srgbClr val="E8EAED"/>
                </a:solidFill>
                <a:latin typeface="PingFang TC"/>
              </a:rPr>
              <a:t>狀態異動，與</a:t>
            </a:r>
            <a:r>
              <a:rPr sz="1300" dirty="0">
                <a:solidFill>
                  <a:srgbClr val="E8EAED"/>
                </a:solidFill>
                <a:latin typeface="PingFang TC"/>
              </a:rPr>
              <a:t> W=4 contention </a:t>
            </a:r>
            <a:r>
              <a:rPr sz="1300" dirty="0" err="1">
                <a:solidFill>
                  <a:srgbClr val="E8EAED"/>
                </a:solidFill>
                <a:latin typeface="PingFang TC"/>
              </a:rPr>
              <a:t>為兩個獨立來源</a:t>
            </a:r>
            <a:br>
              <a:rPr lang="en-US" sz="1300" dirty="0">
                <a:solidFill>
                  <a:srgbClr val="E8EAED"/>
                </a:solidFill>
                <a:latin typeface="PingFang TC"/>
              </a:rPr>
            </a:br>
            <a:endParaRPr sz="1300" dirty="0">
              <a:solidFill>
                <a:srgbClr val="E8EAED"/>
              </a:solidFill>
              <a:latin typeface="PingFang TC"/>
            </a:endParaRPr>
          </a:p>
          <a:p>
            <a:pPr marL="228600" indent="-228600" algn="l">
              <a:buChar char="•"/>
            </a:pPr>
            <a:r>
              <a:rPr sz="1300" dirty="0" err="1">
                <a:solidFill>
                  <a:srgbClr val="E8EAED"/>
                </a:solidFill>
                <a:latin typeface="PingFang TC"/>
              </a:rPr>
              <a:t>同一</a:t>
            </a:r>
            <a:r>
              <a:rPr sz="1300" dirty="0">
                <a:solidFill>
                  <a:srgbClr val="E8EAED"/>
                </a:solidFill>
                <a:latin typeface="PingFang TC"/>
              </a:rPr>
              <a:t> cluster </a:t>
            </a:r>
            <a:r>
              <a:rPr sz="1300" dirty="0" err="1">
                <a:solidFill>
                  <a:srgbClr val="E8EAED"/>
                </a:solidFill>
                <a:latin typeface="PingFang TC"/>
              </a:rPr>
              <a:t>連跑時，三家</a:t>
            </a:r>
            <a:r>
              <a:rPr sz="1300" dirty="0">
                <a:solidFill>
                  <a:srgbClr val="E8EAED"/>
                </a:solidFill>
                <a:latin typeface="PingFang TC"/>
              </a:rPr>
              <a:t> W=4 R2-R5（或 YBDB R3-R5）的 CV ≤ 5 %，</a:t>
            </a:r>
            <a:r>
              <a:rPr sz="1300" dirty="0" err="1">
                <a:solidFill>
                  <a:srgbClr val="E8EAED"/>
                </a:solidFill>
                <a:latin typeface="PingFang TC"/>
              </a:rPr>
              <a:t>重現性已建立</a:t>
            </a:r>
            <a:br>
              <a:rPr lang="en-US" sz="1300" dirty="0">
                <a:solidFill>
                  <a:srgbClr val="E8EAED"/>
                </a:solidFill>
                <a:latin typeface="PingFang TC"/>
              </a:rPr>
            </a:br>
            <a:endParaRPr sz="1300" dirty="0">
              <a:solidFill>
                <a:srgbClr val="E8EAED"/>
              </a:solidFill>
              <a:latin typeface="PingFang TC"/>
            </a:endParaRPr>
          </a:p>
          <a:p>
            <a:pPr marL="228600" indent="-228600" algn="l">
              <a:buChar char="•"/>
            </a:pPr>
            <a:r>
              <a:rPr sz="1300" dirty="0">
                <a:solidFill>
                  <a:srgbClr val="E8EAED"/>
                </a:solidFill>
                <a:latin typeface="PingFang TC"/>
              </a:rPr>
              <a:t>YBDB Idle=0 </a:t>
            </a:r>
            <a:r>
              <a:rPr sz="1300" dirty="0" err="1">
                <a:solidFill>
                  <a:srgbClr val="E8EAED"/>
                </a:solidFill>
                <a:latin typeface="PingFang TC"/>
              </a:rPr>
              <a:t>解法：gate</a:t>
            </a:r>
            <a:r>
              <a:rPr sz="1300" dirty="0">
                <a:solidFill>
                  <a:srgbClr val="E8EAED"/>
                </a:solidFill>
                <a:latin typeface="PingFang TC"/>
              </a:rPr>
              <a:t> </a:t>
            </a:r>
            <a:r>
              <a:rPr sz="1300" dirty="0" err="1">
                <a:solidFill>
                  <a:srgbClr val="E8EAED"/>
                </a:solidFill>
                <a:latin typeface="PingFang TC"/>
              </a:rPr>
              <a:t>改用</a:t>
            </a:r>
            <a:r>
              <a:rPr sz="1300" dirty="0">
                <a:solidFill>
                  <a:srgbClr val="E8EAED"/>
                </a:solidFill>
                <a:latin typeface="PingFang TC"/>
              </a:rPr>
              <a:t> </a:t>
            </a:r>
            <a:r>
              <a:rPr sz="1300" dirty="0" err="1">
                <a:solidFill>
                  <a:srgbClr val="E8EAED"/>
                </a:solidFill>
                <a:latin typeface="PingFang TC"/>
              </a:rPr>
              <a:t>get_load_move_completion</a:t>
            </a:r>
            <a:r>
              <a:rPr sz="1300" dirty="0">
                <a:solidFill>
                  <a:srgbClr val="E8EAED"/>
                </a:solidFill>
                <a:latin typeface="PingFang TC"/>
              </a:rPr>
              <a:t>=100%；timed run </a:t>
            </a:r>
            <a:r>
              <a:rPr sz="1300" dirty="0" err="1">
                <a:solidFill>
                  <a:srgbClr val="E8EAED"/>
                </a:solidFill>
                <a:latin typeface="PingFang TC"/>
              </a:rPr>
              <a:t>前</a:t>
            </a:r>
            <a:r>
              <a:rPr sz="1300" dirty="0">
                <a:solidFill>
                  <a:srgbClr val="E8EAED"/>
                </a:solidFill>
                <a:latin typeface="PingFang TC"/>
              </a:rPr>
              <a:t> </a:t>
            </a:r>
            <a:r>
              <a:rPr sz="1300" dirty="0" err="1">
                <a:solidFill>
                  <a:srgbClr val="E8EAED"/>
                </a:solidFill>
                <a:latin typeface="PingFang TC"/>
              </a:rPr>
              <a:t>set_load_balancer_enabled</a:t>
            </a:r>
            <a:r>
              <a:rPr sz="1300" dirty="0">
                <a:solidFill>
                  <a:srgbClr val="E8EAED"/>
                </a:solidFill>
                <a:latin typeface="PingFang TC"/>
              </a:rPr>
              <a:t>=0</a:t>
            </a:r>
            <a:br>
              <a:rPr lang="en-US" sz="1300" dirty="0">
                <a:solidFill>
                  <a:srgbClr val="E8EAED"/>
                </a:solidFill>
                <a:latin typeface="PingFang TC"/>
              </a:rPr>
            </a:br>
            <a:endParaRPr sz="1300" dirty="0">
              <a:solidFill>
                <a:srgbClr val="E8EAED"/>
              </a:solidFill>
              <a:latin typeface="PingFang TC"/>
            </a:endParaRPr>
          </a:p>
          <a:p>
            <a:pPr marL="228600" indent="-228600" algn="l">
              <a:buChar char="•"/>
            </a:pPr>
            <a:r>
              <a:rPr sz="1300" dirty="0">
                <a:solidFill>
                  <a:srgbClr val="E8EAED"/>
                </a:solidFill>
                <a:latin typeface="PingFang TC"/>
              </a:rPr>
              <a:t>CRDB lease gate SQL </a:t>
            </a:r>
            <a:r>
              <a:rPr sz="1300" dirty="0" err="1">
                <a:solidFill>
                  <a:srgbClr val="E8EAED"/>
                </a:solidFill>
                <a:latin typeface="PingFang TC"/>
              </a:rPr>
              <a:t>改用</a:t>
            </a:r>
            <a:r>
              <a:rPr sz="1300" dirty="0">
                <a:solidFill>
                  <a:srgbClr val="E8EAED"/>
                </a:solidFill>
                <a:latin typeface="PingFang TC"/>
              </a:rPr>
              <a:t> SHOW RANGES FROM DATABASE </a:t>
            </a:r>
            <a:r>
              <a:rPr sz="1300" dirty="0" err="1">
                <a:solidFill>
                  <a:srgbClr val="E8EAED"/>
                </a:solidFill>
                <a:latin typeface="PingFang TC"/>
              </a:rPr>
              <a:t>tpcc</a:t>
            </a:r>
            <a:r>
              <a:rPr sz="1300" dirty="0">
                <a:solidFill>
                  <a:srgbClr val="E8EAED"/>
                </a:solidFill>
                <a:latin typeface="PingFang TC"/>
              </a:rPr>
              <a:t> WITH TABLES, DETAILS（v26.2 </a:t>
            </a:r>
            <a:r>
              <a:rPr sz="1300" dirty="0" err="1">
                <a:solidFill>
                  <a:srgbClr val="E8EAED"/>
                </a:solidFill>
                <a:latin typeface="PingFang TC"/>
              </a:rPr>
              <a:t>相容</a:t>
            </a:r>
            <a:r>
              <a:rPr sz="1300" dirty="0">
                <a:solidFill>
                  <a:srgbClr val="E8EAED"/>
                </a:solidFill>
                <a:latin typeface="PingFang TC"/>
              </a:rPr>
              <a:t>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dirty="0" err="1">
                <a:solidFill>
                  <a:srgbClr val="FFFFFF"/>
                </a:solidFill>
                <a:latin typeface="PingFang TC"/>
              </a:rPr>
              <a:t>決策框架</a:t>
            </a:r>
            <a:r>
              <a:rPr lang="zh-TW" altLang="en-US" sz="3000" b="1" dirty="0">
                <a:solidFill>
                  <a:srgbClr val="FFFFFF"/>
                </a:solidFill>
                <a:latin typeface="PingFang TC"/>
              </a:rPr>
              <a:t>建議</a:t>
            </a:r>
            <a:endParaRPr sz="3000" b="1" dirty="0">
              <a:solidFill>
                <a:srgbClr val="FFFFFF"/>
              </a:solidFill>
              <a:latin typeface="PingFang TC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280160"/>
            <a:ext cx="38100" cy="36576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8640" y="1324540"/>
            <a:ext cx="109728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dirty="0" err="1">
                <a:solidFill>
                  <a:srgbClr val="A0A8B8"/>
                </a:solidFill>
                <a:latin typeface="PingFang TC"/>
              </a:rPr>
              <a:t>不是選</a:t>
            </a:r>
            <a:r>
              <a:rPr lang="en-US" dirty="0" err="1">
                <a:solidFill>
                  <a:srgbClr val="A0A8B8"/>
                </a:solidFill>
                <a:latin typeface="PingFang TC"/>
              </a:rPr>
              <a:t>邊站</a:t>
            </a:r>
            <a:r>
              <a:rPr sz="1800" b="0" dirty="0" err="1">
                <a:solidFill>
                  <a:srgbClr val="A0A8B8"/>
                </a:solidFill>
                <a:latin typeface="PingFang TC"/>
              </a:rPr>
              <a:t>，</a:t>
            </a:r>
            <a:r>
              <a:rPr lang="en-US" dirty="0" err="1">
                <a:solidFill>
                  <a:srgbClr val="A0A8B8"/>
                </a:solidFill>
                <a:latin typeface="PingFang TC"/>
              </a:rPr>
              <a:t>而</a:t>
            </a:r>
            <a:r>
              <a:rPr sz="1800" b="0" dirty="0" err="1">
                <a:solidFill>
                  <a:srgbClr val="A0A8B8"/>
                </a:solidFill>
                <a:latin typeface="PingFang TC"/>
              </a:rPr>
              <a:t>是先界定</a:t>
            </a:r>
            <a:r>
              <a:rPr sz="1800" b="0" dirty="0">
                <a:solidFill>
                  <a:srgbClr val="A0A8B8"/>
                </a:solidFill>
                <a:latin typeface="PingFang TC"/>
              </a:rPr>
              <a:t> </a:t>
            </a:r>
            <a:r>
              <a:rPr lang="en-US" sz="1800" b="0" dirty="0">
                <a:solidFill>
                  <a:srgbClr val="A0A8B8"/>
                </a:solidFill>
                <a:latin typeface="PingFang TC"/>
              </a:rPr>
              <a:t>A</a:t>
            </a:r>
            <a:r>
              <a:rPr sz="1800" b="0" dirty="0">
                <a:solidFill>
                  <a:srgbClr val="A0A8B8"/>
                </a:solidFill>
                <a:latin typeface="PingFang TC"/>
              </a:rPr>
              <a:t>pplication </a:t>
            </a:r>
            <a:r>
              <a:rPr sz="1800" b="0" dirty="0" err="1">
                <a:solidFill>
                  <a:srgbClr val="A0A8B8"/>
                </a:solidFill>
                <a:latin typeface="PingFang TC"/>
              </a:rPr>
              <a:t>條件、再排序候選；僅提供做決策框架參考依據用</a:t>
            </a:r>
            <a:endParaRPr sz="1800" b="0" dirty="0">
              <a:solidFill>
                <a:srgbClr val="A0A8B8"/>
              </a:solidFill>
              <a:latin typeface="PingFang TC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154271"/>
              </p:ext>
            </p:extLst>
          </p:nvPr>
        </p:nvGraphicFramePr>
        <p:xfrm>
          <a:off x="548640" y="182880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17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分類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內容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處置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7AE60"/>
                          </a:solidFill>
                          <a:latin typeface="PingFang TC"/>
                        </a:rPr>
                        <a:t>短期候選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418"/>
                          </a:solidFill>
                          <a:latin typeface="PingFang TC"/>
                        </a:rPr>
                        <a:t>TiDB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優先進入應用情境對接，無門檻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保留觀察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CockroachDB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依一致性需求、Error Handling 容忍度、維運成本評估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保留觀察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YugabyteDB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VM 路徑可評估；K8s 路徑需先完成部署層級調校與驗證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B03A14"/>
                          </a:solidFill>
                          <a:latin typeface="PingFang TC"/>
                        </a:rPr>
                        <a:t>暫不作結論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跨區域場景、K8s </a:t>
                      </a:r>
                      <a:r>
                        <a:rPr lang="zh-TW" altLang="en-US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退至未來決定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項</a:t>
                      </a:r>
                      <a:endParaRPr sz="1300" b="0" dirty="0">
                        <a:solidFill>
                          <a:srgbClr val="111418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待下一階段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W=128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測試數據與調校產出再回頭評估</a:t>
                      </a:r>
                      <a:endParaRPr sz="1300" b="0" dirty="0">
                        <a:solidFill>
                          <a:srgbClr val="111418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F39C12"/>
                </a:solidFill>
                <a:latin typeface="PingFang TC"/>
              </a:rPr>
              <a:t>Application 需要確認的議題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389120"/>
            <a:ext cx="11247120" cy="180049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 algn="l">
              <a:buChar char="•"/>
            </a:pPr>
            <a:r>
              <a:rPr sz="1300" b="1" dirty="0" err="1">
                <a:solidFill>
                  <a:srgbClr val="F39C12"/>
                </a:solidFill>
                <a:latin typeface="PingFang TC"/>
              </a:rPr>
              <a:t>交易一致性需求：</a:t>
            </a:r>
            <a:r>
              <a:rPr sz="1300" b="0" dirty="0" err="1">
                <a:solidFill>
                  <a:srgbClr val="E8EAED"/>
                </a:solidFill>
                <a:latin typeface="PingFang TC"/>
              </a:rPr>
              <a:t>是否需要</a:t>
            </a:r>
            <a:r>
              <a:rPr sz="1300" b="0" dirty="0">
                <a:solidFill>
                  <a:srgbClr val="E8EAED"/>
                </a:solidFill>
                <a:latin typeface="PingFang TC"/>
              </a:rPr>
              <a:t> SERIALIZABLE / </a:t>
            </a:r>
            <a:r>
              <a:rPr sz="1300" b="0" dirty="0" err="1">
                <a:solidFill>
                  <a:srgbClr val="E8EAED"/>
                </a:solidFill>
                <a:latin typeface="PingFang TC"/>
              </a:rPr>
              <a:t>SSI？是否可接受</a:t>
            </a:r>
            <a:r>
              <a:rPr sz="1300" b="0" dirty="0">
                <a:solidFill>
                  <a:srgbClr val="E8EAED"/>
                </a:solidFill>
                <a:latin typeface="PingFang TC"/>
              </a:rPr>
              <a:t> READ COMMITTED &amp; </a:t>
            </a:r>
            <a:r>
              <a:rPr sz="1300" b="0" dirty="0" err="1">
                <a:solidFill>
                  <a:srgbClr val="E8EAED"/>
                </a:solidFill>
                <a:latin typeface="PingFang TC"/>
              </a:rPr>
              <a:t>產品設計架構轉</a:t>
            </a:r>
            <a:r>
              <a:rPr sz="1300" b="0" dirty="0">
                <a:solidFill>
                  <a:srgbClr val="E8EAED"/>
                </a:solidFill>
                <a:latin typeface="PingFang TC"/>
              </a:rPr>
              <a:t> CAP </a:t>
            </a:r>
            <a:r>
              <a:rPr sz="1300" b="0" dirty="0" err="1">
                <a:solidFill>
                  <a:srgbClr val="E8EAED"/>
                </a:solidFill>
                <a:latin typeface="PingFang TC"/>
              </a:rPr>
              <a:t>的複雜度及可行性</a:t>
            </a:r>
            <a:r>
              <a:rPr sz="1300" b="0" dirty="0">
                <a:solidFill>
                  <a:srgbClr val="E8EAED"/>
                </a:solidFill>
                <a:latin typeface="PingFang TC"/>
              </a:rPr>
              <a:t>？</a:t>
            </a:r>
            <a:endParaRPr lang="en-US" sz="1300" b="0" dirty="0">
              <a:solidFill>
                <a:srgbClr val="E8EAED"/>
              </a:solidFill>
              <a:latin typeface="PingFang TC"/>
            </a:endParaRPr>
          </a:p>
          <a:p>
            <a:pPr marL="228600" indent="-228600" algn="l">
              <a:buChar char="•"/>
            </a:pPr>
            <a:endParaRPr sz="1300" b="0" dirty="0">
              <a:solidFill>
                <a:srgbClr val="E8EAED"/>
              </a:solidFill>
              <a:latin typeface="PingFang TC"/>
            </a:endParaRPr>
          </a:p>
          <a:p>
            <a:pPr marL="228600" indent="-228600" algn="l">
              <a:buChar char="•"/>
            </a:pPr>
            <a:r>
              <a:rPr sz="1300" b="1" dirty="0" err="1">
                <a:solidFill>
                  <a:srgbClr val="F39C12"/>
                </a:solidFill>
                <a:latin typeface="PingFang TC"/>
              </a:rPr>
              <a:t>可接受延遲：</a:t>
            </a:r>
            <a:r>
              <a:rPr sz="1300" b="0" dirty="0" err="1">
                <a:solidFill>
                  <a:srgbClr val="E8EAED"/>
                </a:solidFill>
                <a:latin typeface="PingFang TC"/>
              </a:rPr>
              <a:t>在尖峰</a:t>
            </a:r>
            <a:r>
              <a:rPr sz="1300" b="0" dirty="0">
                <a:solidFill>
                  <a:srgbClr val="E8EAED"/>
                </a:solidFill>
                <a:latin typeface="PingFang TC"/>
              </a:rPr>
              <a:t> t=128 等級負載下，p99 </a:t>
            </a:r>
            <a:r>
              <a:rPr sz="1300" b="0" dirty="0" err="1">
                <a:solidFill>
                  <a:srgbClr val="E8EAED"/>
                </a:solidFill>
                <a:latin typeface="PingFang TC"/>
              </a:rPr>
              <a:t>是否需要</a:t>
            </a:r>
            <a:r>
              <a:rPr sz="1300" b="0" dirty="0">
                <a:solidFill>
                  <a:srgbClr val="E8EAED"/>
                </a:solidFill>
                <a:latin typeface="PingFang TC"/>
              </a:rPr>
              <a:t> 500ms / 1s / 2s </a:t>
            </a:r>
            <a:r>
              <a:rPr sz="1300" b="0" dirty="0" err="1">
                <a:solidFill>
                  <a:srgbClr val="E8EAED"/>
                </a:solidFill>
                <a:latin typeface="PingFang TC"/>
              </a:rPr>
              <a:t>以內</a:t>
            </a:r>
            <a:r>
              <a:rPr sz="1300" b="0" dirty="0">
                <a:solidFill>
                  <a:srgbClr val="E8EAED"/>
                </a:solidFill>
                <a:latin typeface="PingFang TC"/>
              </a:rPr>
              <a:t>？</a:t>
            </a:r>
            <a:endParaRPr lang="en-US" sz="1300" b="0" dirty="0">
              <a:solidFill>
                <a:srgbClr val="E8EAED"/>
              </a:solidFill>
              <a:latin typeface="PingFang TC"/>
            </a:endParaRPr>
          </a:p>
          <a:p>
            <a:pPr marL="228600" indent="-228600" algn="l">
              <a:buChar char="•"/>
            </a:pPr>
            <a:endParaRPr sz="1300" b="0" dirty="0">
              <a:solidFill>
                <a:srgbClr val="E8EAED"/>
              </a:solidFill>
              <a:latin typeface="PingFang TC"/>
            </a:endParaRPr>
          </a:p>
          <a:p>
            <a:pPr marL="228600" indent="-228600" algn="l">
              <a:buChar char="•"/>
            </a:pPr>
            <a:r>
              <a:rPr lang="en-US" sz="1300" b="1" dirty="0">
                <a:solidFill>
                  <a:srgbClr val="F39C12"/>
                </a:solidFill>
                <a:latin typeface="PingFang TC"/>
              </a:rPr>
              <a:t>Error Handling</a:t>
            </a:r>
            <a:r>
              <a:rPr sz="1300" b="1" dirty="0">
                <a:solidFill>
                  <a:srgbClr val="F39C12"/>
                </a:solidFill>
                <a:latin typeface="PingFang TC"/>
              </a:rPr>
              <a:t> / timeout </a:t>
            </a:r>
            <a:r>
              <a:rPr sz="1300" b="1" dirty="0" err="1">
                <a:solidFill>
                  <a:srgbClr val="F39C12"/>
                </a:solidFill>
                <a:latin typeface="PingFang TC"/>
              </a:rPr>
              <a:t>行為：</a:t>
            </a:r>
            <a:r>
              <a:rPr sz="1300" b="0" dirty="0" err="1">
                <a:solidFill>
                  <a:srgbClr val="E8EAED"/>
                </a:solidFill>
                <a:latin typeface="PingFang TC"/>
              </a:rPr>
              <a:t>應用層是否能接受</a:t>
            </a:r>
            <a:r>
              <a:rPr sz="1300" b="0" dirty="0">
                <a:solidFill>
                  <a:srgbClr val="E8EAED"/>
                </a:solidFill>
                <a:latin typeface="PingFang TC"/>
              </a:rPr>
              <a:t> SI / SSI </a:t>
            </a:r>
            <a:r>
              <a:rPr sz="1300" b="0" dirty="0" err="1">
                <a:solidFill>
                  <a:srgbClr val="E8EAED"/>
                </a:solidFill>
                <a:latin typeface="PingFang TC"/>
              </a:rPr>
              <a:t>模式下的</a:t>
            </a:r>
            <a:r>
              <a:rPr sz="1300" b="0" dirty="0">
                <a:solidFill>
                  <a:srgbClr val="E8EAED"/>
                </a:solidFill>
                <a:latin typeface="PingFang TC"/>
              </a:rPr>
              <a:t> retry </a:t>
            </a:r>
            <a:r>
              <a:rPr sz="1300" b="0" dirty="0" err="1">
                <a:solidFill>
                  <a:srgbClr val="E8EAED"/>
                </a:solidFill>
                <a:latin typeface="PingFang TC"/>
              </a:rPr>
              <a:t>機制</a:t>
            </a:r>
            <a:r>
              <a:rPr sz="1300" b="0" dirty="0">
                <a:solidFill>
                  <a:srgbClr val="E8EAED"/>
                </a:solidFill>
                <a:latin typeface="PingFang TC"/>
              </a:rPr>
              <a:t>？</a:t>
            </a:r>
            <a:endParaRPr lang="en-US" sz="1300" b="0" dirty="0">
              <a:solidFill>
                <a:srgbClr val="E8EAED"/>
              </a:solidFill>
              <a:latin typeface="PingFang TC"/>
            </a:endParaRPr>
          </a:p>
          <a:p>
            <a:pPr marL="228600" indent="-228600" algn="l">
              <a:buChar char="•"/>
            </a:pPr>
            <a:endParaRPr sz="1300" b="0" dirty="0">
              <a:solidFill>
                <a:srgbClr val="E8EAED"/>
              </a:solidFill>
              <a:latin typeface="PingFang TC"/>
            </a:endParaRPr>
          </a:p>
          <a:p>
            <a:pPr marL="228600" indent="-228600" algn="l">
              <a:buChar char="•"/>
            </a:pPr>
            <a:r>
              <a:rPr sz="1300" b="1" dirty="0">
                <a:solidFill>
                  <a:srgbClr val="F39C12"/>
                </a:solidFill>
                <a:latin typeface="PingFang TC"/>
              </a:rPr>
              <a:t>RTO / </a:t>
            </a:r>
            <a:r>
              <a:rPr sz="1300" b="1" dirty="0" err="1">
                <a:solidFill>
                  <a:srgbClr val="F39C12"/>
                </a:solidFill>
                <a:latin typeface="PingFang TC"/>
              </a:rPr>
              <a:t>RPO：</a:t>
            </a:r>
            <a:r>
              <a:rPr sz="1300" b="0" dirty="0" err="1">
                <a:solidFill>
                  <a:srgbClr val="E8EAED"/>
                </a:solidFill>
                <a:latin typeface="PingFang TC"/>
              </a:rPr>
              <a:t>跨區域</a:t>
            </a:r>
            <a:r>
              <a:rPr sz="1300" b="0" dirty="0">
                <a:solidFill>
                  <a:srgbClr val="E8EAED"/>
                </a:solidFill>
                <a:latin typeface="PingFang TC"/>
              </a:rPr>
              <a:t> failover </a:t>
            </a:r>
            <a:r>
              <a:rPr sz="1300" b="0" dirty="0" err="1">
                <a:solidFill>
                  <a:srgbClr val="E8EAED"/>
                </a:solidFill>
                <a:latin typeface="PingFang TC"/>
              </a:rPr>
              <a:t>是否需要</a:t>
            </a:r>
            <a:r>
              <a:rPr sz="1300" b="0" dirty="0">
                <a:solidFill>
                  <a:srgbClr val="E8EAED"/>
                </a:solidFill>
                <a:latin typeface="PingFang TC"/>
              </a:rPr>
              <a:t> &lt; 30s </a:t>
            </a:r>
            <a:r>
              <a:rPr sz="1300" b="0" dirty="0" err="1">
                <a:solidFill>
                  <a:srgbClr val="E8EAED"/>
                </a:solidFill>
                <a:latin typeface="PingFang TC"/>
              </a:rPr>
              <a:t>RTO？是否容許資料</a:t>
            </a:r>
            <a:r>
              <a:rPr sz="1300" b="0" dirty="0">
                <a:solidFill>
                  <a:srgbClr val="E8EAED"/>
                </a:solidFill>
                <a:latin typeface="PingFang TC"/>
              </a:rPr>
              <a:t> lag？</a:t>
            </a:r>
            <a:endParaRPr lang="en-US" sz="1300" b="0" dirty="0">
              <a:solidFill>
                <a:srgbClr val="E8EAED"/>
              </a:solidFill>
              <a:latin typeface="PingFang TC"/>
            </a:endParaRPr>
          </a:p>
          <a:p>
            <a:pPr marL="228600" indent="-228600" algn="l">
              <a:buChar char="•"/>
            </a:pPr>
            <a:endParaRPr sz="1300" b="0" dirty="0">
              <a:solidFill>
                <a:srgbClr val="E8EAED"/>
              </a:solidFill>
              <a:latin typeface="PingFang TC"/>
            </a:endParaRPr>
          </a:p>
          <a:p>
            <a:pPr marL="228600" indent="-228600" algn="l">
              <a:buChar char="•"/>
            </a:pPr>
            <a:r>
              <a:rPr sz="1300" b="1" dirty="0" err="1">
                <a:solidFill>
                  <a:srgbClr val="F39C12"/>
                </a:solidFill>
                <a:latin typeface="PingFang TC"/>
              </a:rPr>
              <a:t>連線層</a:t>
            </a:r>
            <a:r>
              <a:rPr sz="1300" b="1" dirty="0">
                <a:solidFill>
                  <a:srgbClr val="F39C12"/>
                </a:solidFill>
                <a:latin typeface="PingFang TC"/>
              </a:rPr>
              <a:t> / </a:t>
            </a:r>
            <a:r>
              <a:rPr sz="1300" b="1" dirty="0" err="1">
                <a:solidFill>
                  <a:srgbClr val="F39C12"/>
                </a:solidFill>
                <a:latin typeface="PingFang TC"/>
              </a:rPr>
              <a:t>交易模式調整：</a:t>
            </a:r>
            <a:r>
              <a:rPr sz="1300" b="0" dirty="0" err="1">
                <a:solidFill>
                  <a:srgbClr val="E8EAED"/>
                </a:solidFill>
                <a:latin typeface="PingFang TC"/>
              </a:rPr>
              <a:t>是否能配合</a:t>
            </a:r>
            <a:r>
              <a:rPr sz="1300" b="0" dirty="0">
                <a:solidFill>
                  <a:srgbClr val="E8EAED"/>
                </a:solidFill>
                <a:latin typeface="PingFang TC"/>
              </a:rPr>
              <a:t> </a:t>
            </a:r>
            <a:r>
              <a:rPr sz="1300" b="0" dirty="0" err="1">
                <a:solidFill>
                  <a:srgbClr val="E8EAED"/>
                </a:solidFill>
                <a:latin typeface="PingFang TC"/>
              </a:rPr>
              <a:t>HAProxy</a:t>
            </a:r>
            <a:r>
              <a:rPr sz="1300" b="0" dirty="0">
                <a:solidFill>
                  <a:srgbClr val="E8EAED"/>
                </a:solidFill>
                <a:latin typeface="PingFang TC"/>
              </a:rPr>
              <a:t> / </a:t>
            </a:r>
            <a:r>
              <a:rPr sz="1300" b="0" dirty="0" err="1">
                <a:solidFill>
                  <a:srgbClr val="E8EAED"/>
                </a:solidFill>
                <a:latin typeface="PingFang TC"/>
              </a:rPr>
              <a:t>PgBouncer</a:t>
            </a:r>
            <a:r>
              <a:rPr sz="1300" b="0" dirty="0">
                <a:solidFill>
                  <a:srgbClr val="E8EAED"/>
                </a:solidFill>
                <a:latin typeface="PingFang TC"/>
              </a:rPr>
              <a:t> / </a:t>
            </a:r>
            <a:r>
              <a:rPr sz="1300" b="0" dirty="0" err="1">
                <a:solidFill>
                  <a:srgbClr val="E8EAED"/>
                </a:solidFill>
                <a:latin typeface="PingFang TC"/>
              </a:rPr>
              <a:t>連線池與短交易模式</a:t>
            </a:r>
            <a:r>
              <a:rPr sz="1300" b="0" dirty="0">
                <a:solidFill>
                  <a:srgbClr val="E8EAED"/>
                </a:solidFill>
                <a:latin typeface="PingFang TC"/>
              </a:rPr>
              <a:t>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後續推進階段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7282878"/>
              </p:ext>
            </p:extLst>
          </p:nvPr>
        </p:nvGraphicFramePr>
        <p:xfrm>
          <a:off x="548639" y="1463040"/>
          <a:ext cx="10840602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25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058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22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32688"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111418"/>
                          </a:solidFill>
                          <a:latin typeface="PingFang TC"/>
                        </a:rPr>
                        <a:t>Y26/07</a:t>
                      </a:r>
                      <a:r>
                        <a:rPr lang="zh-TW" altLang="en-US" sz="1400" b="1" dirty="0">
                          <a:solidFill>
                            <a:srgbClr val="111418"/>
                          </a:solidFill>
                          <a:latin typeface="PingFang TC"/>
                        </a:rPr>
                        <a:t> </a:t>
                      </a:r>
                      <a:r>
                        <a:rPr lang="en-US" altLang="zh-TW" sz="1400" b="1" dirty="0">
                          <a:solidFill>
                            <a:srgbClr val="111418"/>
                          </a:solidFill>
                          <a:latin typeface="PingFang TC"/>
                        </a:rPr>
                        <a:t>(Phase: Cross Region)</a:t>
                      </a:r>
                      <a:endParaRPr sz="1400" b="1" dirty="0">
                        <a:solidFill>
                          <a:srgbClr val="111418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" altLang="zh-TW" sz="1400" b="1" dirty="0">
                          <a:solidFill>
                            <a:srgbClr val="111418"/>
                          </a:solidFill>
                          <a:latin typeface="PingFang TC"/>
                        </a:rPr>
                        <a:t>Y26/08 (</a:t>
                      </a:r>
                      <a:r>
                        <a:rPr lang="en-US" altLang="zh-TW" sz="1400" b="1" dirty="0">
                          <a:solidFill>
                            <a:srgbClr val="111418"/>
                          </a:solidFill>
                          <a:latin typeface="PingFang TC"/>
                        </a:rPr>
                        <a:t>Phase: Cross Region</a:t>
                      </a:r>
                      <a:r>
                        <a:rPr lang="en" altLang="zh-TW" sz="1400" b="1" dirty="0">
                          <a:solidFill>
                            <a:srgbClr val="111418"/>
                          </a:solidFill>
                          <a:latin typeface="PingFang TC"/>
                        </a:rPr>
                        <a:t>)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1400" b="1" dirty="0">
                          <a:solidFill>
                            <a:srgbClr val="111418"/>
                          </a:solidFill>
                          <a:latin typeface="PingFang TC"/>
                        </a:rPr>
                        <a:t>Y26/09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2688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Cross Region W=4 </a:t>
                      </a:r>
                      <a:r>
                        <a:rPr lang="zh-TW" altLang="en-US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框架已完成初步流程驗收，</a:t>
                      </a:r>
                      <a:endParaRPr lang="en-US" altLang="zh-TW" sz="1300" b="0" dirty="0">
                        <a:solidFill>
                          <a:srgbClr val="111418"/>
                        </a:solidFill>
                        <a:latin typeface="PingFang TC"/>
                      </a:endParaRPr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啟動正式 </a:t>
                      </a:r>
                      <a:r>
                        <a:rPr lang="en" altLang="zh-TW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W=128 </a:t>
                      </a:r>
                      <a:r>
                        <a:rPr lang="zh-TW" altLang="en-US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基準量測。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- 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A-S / A-A-RO / A-A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三個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workload profile</a:t>
                      </a:r>
                      <a:r>
                        <a:rPr lang="en-US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.</a:t>
                      </a:r>
                    </a:p>
                    <a:p>
                      <a:pPr algn="l"/>
                      <a:r>
                        <a:rPr lang="en" altLang="zh-TW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- Placement 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P-A/P-B × </a:t>
                      </a:r>
                      <a:r>
                        <a:rPr lang="en-US"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各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資料庫，依檢驗</a:t>
                      </a:r>
                      <a:r>
                        <a:rPr lang="zh-TW" altLang="en-US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指標執行</a:t>
                      </a:r>
                      <a:endParaRPr sz="1300" b="0" dirty="0">
                        <a:solidFill>
                          <a:srgbClr val="111418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相關文件產出</a:t>
                      </a:r>
                      <a:r>
                        <a:rPr lang="en-US" altLang="zh-TW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&amp;</a:t>
                      </a:r>
                      <a:r>
                        <a:rPr lang="zh-TW" altLang="en-US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後勤對接狀況說明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2688">
                <a:tc>
                  <a:txBody>
                    <a:bodyPr/>
                    <a:lstStyle/>
                    <a:p>
                      <a:pPr algn="l"/>
                      <a:endParaRPr sz="1300" b="0" dirty="0">
                        <a:solidFill>
                          <a:srgbClr val="111418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- 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Failover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與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Chaos Engineering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測試</a:t>
                      </a:r>
                      <a:endParaRPr lang="en-US" sz="1300" b="0" dirty="0">
                        <a:solidFill>
                          <a:srgbClr val="111418"/>
                        </a:solidFill>
                        <a:latin typeface="PingFang TC"/>
                      </a:endParaRPr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- </a:t>
                      </a:r>
                      <a:r>
                        <a:rPr lang="zh-TW" altLang="en-US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跨區域測試第二階段報告產出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sz="1300" b="0" dirty="0">
                        <a:solidFill>
                          <a:srgbClr val="111418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1599</Words>
  <Application>Microsoft Macintosh PowerPoint</Application>
  <PresentationFormat>寬螢幕</PresentationFormat>
  <Paragraphs>289</Paragraphs>
  <Slides>17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21" baseType="lpstr">
      <vt:lpstr>PingFang TC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Wn Lin 林武男</cp:lastModifiedBy>
  <cp:revision>18</cp:revision>
  <dcterms:created xsi:type="dcterms:W3CDTF">2013-01-27T09:14:16Z</dcterms:created>
  <dcterms:modified xsi:type="dcterms:W3CDTF">2026-06-25T19:31:53Z</dcterms:modified>
  <cp:category/>
</cp:coreProperties>
</file>