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ingFang TC"/>
              </a:rPr>
              <a:t>第一階段 PoC 成果與下一步決策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A0A8B8"/>
                </a:solidFill>
                <a:latin typeface="PingFang TC"/>
              </a:rPr>
              <a:t>分散式資料庫架構 × 跨區域驗證 × 決策框架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572000"/>
            <a:ext cx="301752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E8EAED"/>
                </a:solidFill>
                <a:latin typeface="PingFang TC"/>
              </a:rPr>
              <a:t>2026-06-26    |    DBA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Outline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9144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2200">
                <a:solidFill>
                  <a:srgbClr val="E8EAED"/>
                </a:solidFill>
                <a:latin typeface="PingFang TC"/>
              </a:rPr>
              <a:t>專案迄今歷程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2200">
                <a:solidFill>
                  <a:srgbClr val="E8EAED"/>
                </a:solidFill>
                <a:latin typeface="PingFang TC"/>
              </a:rPr>
              <a:t>第一階段 PoC 測試數據彙整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2200">
                <a:solidFill>
                  <a:srgbClr val="E8EAED"/>
                </a:solidFill>
                <a:latin typeface="PingFang TC"/>
              </a:rPr>
              <a:t>第二階段 跨區域 / 跨專線執行進度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2200">
                <a:solidFill>
                  <a:srgbClr val="E8EAED"/>
                </a:solidFill>
                <a:latin typeface="PingFang TC"/>
              </a:rPr>
              <a:t>決策框架說明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2200">
                <a:solidFill>
                  <a:srgbClr val="E8EAED"/>
                </a:solidFill>
                <a:latin typeface="PingFang TC"/>
              </a:rPr>
              <a:t>後續推進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專案歷程 ① 研究定義到跨家框架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A0A8B8"/>
                </a:solidFill>
                <a:latin typeface="PingFang TC"/>
              </a:rPr>
              <a:t>先定義問題與比較口徑，再建立可重複執行的基礎設施與三資料庫共同工具鏈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5943600"/>
                <a:gridCol w="1097280"/>
              </a:tblGrid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時間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階段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重大節點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狀態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2026-03-30～04-10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前期研究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定義分散式 SQL、跨區同鍵寫入、follower read、HA/DR 與九項 survey 評估面向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✅ 完成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2026-04-21～04-27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IaC 與第一版測試鏈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建立多測項部署及獨立壓測流程 (Flow Chain)
</a:t>
                      </a:r>
                      <a:r>
                        <a:rPr sz="1100" b="0">
                          <a:solidFill>
                            <a:srgbClr val="F39C12"/>
                          </a:solidFill>
                          <a:latin typeface="PingFang TC"/>
                        </a:rPr>
                        <a:t>gate → prepare → gate-iso → dry-run → run → collect → summary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✅ 完成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2026-04-28～05-05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YugabyteDB 首輪除錯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處理 BenchmarkSQL、bulk load、RF / schema packing 與 HAProxy 問題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✅ 完成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2026-05-06～05-14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三資料庫對標成形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納入 TiDB、CockroachDB、YugabyteDB，統一結果結構與 go-tpc 工具鏈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✅ 完成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603504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8B8"/>
                </a:solidFill>
                <a:latin typeface="PingFang TC"/>
              </a:rPr>
              <a:t>此階段完成的是「可比較的工程框架」，早期測試數字不直接納入 v4.7 正式結果。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專案歷程 ② 基準、三節點與治理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A0A8B8"/>
                </a:solidFill>
                <a:latin typeface="PingFang TC"/>
              </a:rPr>
              <a:t>將測試從可執行提升為可重現、可追溯、可拆解成本來源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5760720"/>
                <a:gridCol w="1097280"/>
              </a:tblGrid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時間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階段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重大節點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狀態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2026-05-18～05-21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v4.7 baseline 重構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建立 PoC-DESIGN SSOT、detached suite、gate、marker、summary 與單節點三隔離級對標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✅ 完成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2026-05-22～06-02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三節點 controlled experiment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完成 shard × replica × HAProxy 拓樸、12-cell dry-run 與三家 5-cell 結果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✅ N=1 完成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2026-05-20～06-04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文件與數據治理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建立模板、AI 協作規範、artifact-first 審計與三家 pipeline-log 對齊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✅ 完成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2026-06-06～06-07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Phase isolation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分離 S-BASE、S-K8S、T-THRD、X-CROSS，建立配置宣告、基礎指標確認及指標配置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✅ 完成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603504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8B8"/>
                </a:solidFill>
                <a:latin typeface="PingFang TC"/>
              </a:rPr>
              <a:t>正式數字必須能追回測試條件、時間戳、結果檔案與完成標記；缺少來源資料 (測試階段) 時不予納入參考。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專案歷程 ③ Kubernetes 到跨區驗證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A0A8B8"/>
                </a:solidFill>
                <a:latin typeface="PingFang TC"/>
              </a:rPr>
              <a:t>已完成 Kubernetes 對照與跨區技術路徑；正式跨區效能仍受實測結果約束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5760720"/>
                <a:gridCol w="1097280"/>
              </a:tblGrid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時間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階段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重大節點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狀態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2026-06-08～06-14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Kubernetes v4.7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由單 cell dry-run 擴充至三資料庫 × limit/unlimit 六組正式 suite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✅ 6/6 完成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2026-06-08～06-17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跨區設計與前置開發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建立 GCP VM、六節點部署、placement、WAN、chaos、failover 與 pre-flight 規格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1C40F"/>
                          </a:solidFill>
                          <a:latin typeface="PingFang TC"/>
                        </a:rPr>
                        <a:t>● 框架完成
部分僅 dry-run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2026-06-18～06-19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IDC↔GCP 實際驗證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修正 IaC、gate、防火牆與 YugabyteDB placement，三家完成真六節點前期測試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✅ smoke 完成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2026-06-21～06-22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Determinism 收斂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W=4 重跑浮動過大，改採同 cluster、freeze/unfreeze、變異量/變異參數 與 W=128 baseline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1C40F"/>
                          </a:solidFill>
                          <a:latin typeface="PingFang TC"/>
                        </a:rPr>
                        <a:t>● 進行中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603504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8B8"/>
                </a:solidFill>
                <a:latin typeface="PingFang TC"/>
              </a:rPr>
              <a:t>決策界線：可確認六節點跨區交易路徑可行；正式跨家排序須等 W=128、R2～R5 中位數 / 變異係數與回復流程驗收結論。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三家資料庫導入定位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06423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/>
                <a:gridCol w="4937760"/>
                <a:gridCol w="429767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資料庫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第一階段觀察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導入定位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TiDB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VM 與 K8s 吞吐表現較佳；K8s retention 較高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方便優先進入應用情境對接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CockroachDB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一致性需求較強（SSI 預設）；SI / SSI 模式下 retry 與效能成本明顯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03A14"/>
                          </a:solidFill>
                          <a:latin typeface="PingFang TC"/>
                        </a:rPr>
                        <a:t>保留觀察</a:t>
                      </a:r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：應用層需評估 Error Handling 容忍度與交易模式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YugabyteDB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VM + HAProxy 表現為佳；K8s 結果目前不宜直接作為導入結論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03A14"/>
                          </a:solidFill>
                          <a:latin typeface="PingFang TC"/>
                        </a:rPr>
                        <a:t>保留觀察</a:t>
                      </a:r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：K8s 部署仍需調校與驗證，VM 路徑可進入評估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5204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PingFang TC"/>
              </a:rPr>
              <a:t>同 IDC / 同硬體 基準 — vm-3node-haproxy-3s3r-rc, t=128 mean tpmC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8B8"/>
                </a:solidFill>
                <a:latin typeface="PingFang TC"/>
              </a:rPr>
              <a:t>三家架構與元件介紹見後續 Slide 7-9；</a:t>
            </a:r>
            <a:r>
              <a:rPr sz="1400" b="0">
                <a:solidFill>
                  <a:srgbClr val="B03A14"/>
                </a:solidFill>
                <a:latin typeface="PingFang TC"/>
              </a:rPr>
              <a:t>各節點較重損耗待 W=128 baseline 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434840"/>
          <a:ext cx="6400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TiDB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YugabyteDB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CockroachDB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111418"/>
                          </a:solidFill>
                          <a:latin typeface="PingFang TC"/>
                        </a:rPr>
                        <a:t>≈ 26,900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111418"/>
                          </a:solidFill>
                          <a:latin typeface="PingFang TC"/>
                        </a:rPr>
                        <a:t>≈ 15,600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111418"/>
                          </a:solidFill>
                          <a:latin typeface="PingFang TC"/>
                        </a:rPr>
                        <a:t>≈ 15,000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66928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本組數字為 controlled experiment 基準（VM 現況資源 × 3 node 拓樸）；不直接代表各家「拿出來就跑」的生產表現；不具任何採購驗收指標用。</a:t>
            </a:r>
          </a:p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商業實體 / 授權 / 採購層面議題需另案審查。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YugabyteDB 架構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-ybdb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17320"/>
            <a:ext cx="923544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1208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YSQL：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PostgreSQL-compatible SQL API；處理 query planning 與 transaction request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DocDB：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distributed document store；負責資料儲存、MVCC、tablet 管理與 Raft 複寫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YB-TServer：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資料服務節點；承載 YSQL request path 與 DocDB tablet（SQL 與儲存同在 tserver 內，與 TiDB SQL/storage 分離不同）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YB-Master：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叢集 metadata 管理；負責 tablet placement、schema metadata 與 cluster coordination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B03A14"/>
                </a:solidFill>
                <a:latin typeface="PingFang TC"/>
              </a:rPr>
              <a:t>架構重點：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tserver 一體式；加節點時 SQL 接收能力與 tablet capacity 一起增加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CockroachDB 架構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-crdb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17320"/>
            <a:ext cx="576072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1208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SQL layer：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每個節點都能接 SQL request、產生 query plan、處理 transaction coordination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Transactional KV / Distribution：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SQL 轉成 KV operation；distribution layer 路由到 range 所在節點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Replication / Raft：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資料以 range 為單位複寫；replica 數直接影響寫入 quorum 與 commit latency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Storage：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每節點同時保存資料並處理查詢；無獨立 SQL node / storage node 分層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B03A14"/>
                </a:solidFill>
                <a:latin typeface="PingFang TC"/>
              </a:rPr>
              <a:t>架構重點：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對稱式架構；任一節點同時具備 SQL / txn / distribution / replication /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TiDB 架構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-tidb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17320"/>
            <a:ext cx="758952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1208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TiDB server：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SQL 接收層；解析 SQL、產生執行計畫、處理 transaction coordination（不保存主要資料）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TiKV：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分散式 row store；資料以 Region 切分並透過 Raft 複寫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PD (Placement Driver)：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叢集 metadata 與排程控制中心；負責 timestamp oracle、Region placement 與負載調度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F39C12"/>
                </a:solidFill>
                <a:latin typeface="PingFang TC"/>
              </a:rPr>
              <a:t>TiFlash：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columnar replica，HTAP / analytical query；本輪 OLTP 測試不以 TiFlash 為主路徑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200" b="1">
                <a:solidFill>
                  <a:srgbClr val="B03A14"/>
                </a:solidFill>
                <a:latin typeface="PingFang TC"/>
              </a:rPr>
              <a:t>架構重點：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SQL 層與儲存層分離；TiDB server 擴 SQL 接收、TiKV 擴儲存與 Raft 複寫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Commit 路徑 × 跨區延遲稅 × 一致性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8B8"/>
                </a:solidFill>
                <a:latin typeface="PingFang TC"/>
              </a:rPr>
              <a:t>分散式 DB 跨區後，延遲稅集中在 commit 路徑上「必跨 WAN 的節點」且設計機制不同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3657600" cy="2286000"/>
          </a:xfrm>
          <a:prstGeom prst="roundRect">
            <a:avLst/>
          </a:prstGeom>
          <a:solidFill>
            <a:srgbClr val="262F46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47671"/>
            <a:ext cx="33284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PingFang TC"/>
              </a:rPr>
              <a:t>TiDB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77439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PingFang TC"/>
              </a:rPr>
              <a:t>時序：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78607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中央 PD TSO</a:t>
            </a:r>
          </a:p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每 txn 取 ts +1 RTT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44367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PingFang TC"/>
              </a:rPr>
              <a:t>Commit：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45535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2PC (Percolator)</a:t>
            </a:r>
          </a:p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prewrite →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511295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PingFang TC"/>
              </a:rPr>
              <a:t>延遲稅集中：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712463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PD TSO 跨區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874519"/>
            <a:ext cx="3657600" cy="2286000"/>
          </a:xfrm>
          <a:prstGeom prst="roundRect">
            <a:avLst/>
          </a:prstGeom>
          <a:solidFill>
            <a:srgbClr val="262F46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1947671"/>
            <a:ext cx="33284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PingFang TC"/>
              </a:rPr>
              <a:t>CockroachDB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377439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PingFang TC"/>
              </a:rPr>
              <a:t>時序：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578607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HLC（本地時鐘 + counter）</a:t>
            </a:r>
          </a:p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無 TSO RTT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2944367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PingFang TC"/>
              </a:rPr>
              <a:t>Commit：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145535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gateway 為 txn coord</a:t>
            </a:r>
          </a:p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intent → resolve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511295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PingFang TC"/>
              </a:rPr>
              <a:t>延遲稅集中：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3712463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leaseholder + intent resolve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874519"/>
            <a:ext cx="3657600" cy="2286000"/>
          </a:xfrm>
          <a:prstGeom prst="roundRect">
            <a:avLst/>
          </a:prstGeom>
          <a:solidFill>
            <a:srgbClr val="262F46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1947671"/>
            <a:ext cx="33284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PingFang TC"/>
              </a:rPr>
              <a:t>YugabyteDB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377439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PingFang TC"/>
              </a:rPr>
              <a:t>時序：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578607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HLC（類 CRDB）</a:t>
            </a:r>
          </a:p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無 TSO RTT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944367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PingFang TC"/>
              </a:rPr>
              <a:t>Commit：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145535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YSQL → DocDB tablet</a:t>
            </a:r>
          </a:p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raft + 狀態表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511295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PingFang TC"/>
              </a:rPr>
              <a:t>延遲稅集中：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712463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YSQL ↔ DocDB IPC</a:t>
            </a:r>
          </a:p>
          <a:p>
            <a:pPr algn="l"/>
            <a:r>
              <a:rPr sz="1000" b="0">
                <a:solidFill>
                  <a:srgbClr val="E8EAED"/>
                </a:solidFill>
                <a:latin typeface="PingFang TC"/>
              </a:rPr>
              <a:t>+ tablet leader 跨區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  <a:latin typeface="PingFang TC"/>
              </a:rPr>
              <a:t>降稅的兩個關鍵動作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6634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300" b="1">
                <a:solidFill>
                  <a:srgbClr val="F39C12"/>
                </a:solidFill>
                <a:latin typeface="PingFang TC"/>
              </a:rPr>
              <a:t>Placement P-A：</a:t>
            </a:r>
            <a:r>
              <a:rPr sz="1300" b="0">
                <a:solidFill>
                  <a:srgbClr val="E8EAED"/>
                </a:solidFill>
                <a:latin typeface="PingFang TC"/>
              </a:rPr>
              <a:t>把 voter 多數拉回 IDC，quorum 不跨 WAN → 寫入稅從 RTT 降到 0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 b="1">
                <a:solidFill>
                  <a:srgbClr val="F39C12"/>
                </a:solidFill>
                <a:latin typeface="PingFang TC"/>
              </a:rPr>
              <a:t>Follower / stale read：</a:t>
            </a:r>
            <a:r>
              <a:rPr sz="1300" b="0">
                <a:solidFill>
                  <a:srgbClr val="E8EAED"/>
                </a:solidFill>
                <a:latin typeface="PingFang TC"/>
              </a:rPr>
              <a:t>讀本地 follower，bounded staleness 換 0 RTT → 適用 A-A-RO workload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 b="1">
                <a:solidFill>
                  <a:srgbClr val="B03A14"/>
                </a:solidFill>
                <a:latin typeface="PingFang TC"/>
              </a:rPr>
              <a:t>YugabyteDB 多一筆稅：</a:t>
            </a:r>
            <a:r>
              <a:rPr sz="1300" b="0">
                <a:solidFill>
                  <a:srgbClr val="E8EAED"/>
                </a:solidFill>
                <a:latin typeface="PingFang TC"/>
              </a:rPr>
              <a:t>YSQL postgres backend ↔ DocDB tablet 是兩 process；跨區 IPC + RTT 雙重放大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80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1C40F"/>
                </a:solidFill>
                <a:latin typeface="PingFang TC"/>
              </a:rPr>
              <a:t>⚠ 強一致與跨區效能無法同時最佳化</a:t>
            </a:r>
            <a:r>
              <a:rPr sz="1300" b="0">
                <a:solidFill>
                  <a:srgbClr val="A0A8B8"/>
                </a:solidFill>
                <a:latin typeface="PingFang TC"/>
              </a:rPr>
              <a:t> — 必須選 workload 模式（A-S / A-A-RO / A-A）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Range vs Hash Sharding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8B8"/>
                </a:solidFill>
                <a:latin typeface="PingFang TC"/>
              </a:rPr>
              <a:t>「row 屬哪個 shard」的兩種演算法 — 直接影響 locality / hotspot / range scan 效能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5486400" cy="2377440"/>
          </a:xfrm>
          <a:prstGeom prst="roundRect">
            <a:avLst/>
          </a:prstGeom>
          <a:solidFill>
            <a:srgbClr val="262F46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5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PingFang TC"/>
              </a:rPr>
              <a:t>Range Sharding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PingFang TC"/>
              </a:rPr>
              <a:t>演算法：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依 key 區間切（id 1-1000 → shard-1）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PingFang TC"/>
              </a:rPr>
              <a:t>優點：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範圍掃描快、locality 高、index/排序自然對齊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55263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PingFang TC"/>
              </a:rPr>
              <a:t>缺點：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Sequential write (auto_inc / timestamp) 集中熱點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94175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PingFang TC"/>
              </a:rPr>
              <a:t>代表 DB：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TiDB / CockroachDB / YBDB secondary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74519"/>
            <a:ext cx="5486400" cy="2377440"/>
          </a:xfrm>
          <a:prstGeom prst="roundRect">
            <a:avLst/>
          </a:prstGeom>
          <a:solidFill>
            <a:srgbClr val="262F46"/>
          </a:solidFill>
          <a:ln w="1905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5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PingFang TC"/>
              </a:rPr>
              <a:t>Hash Sharding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  <a:latin typeface="PingFang TC"/>
              </a:rPr>
              <a:t>演算法：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hash(key) % N → shard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1635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  <a:latin typeface="PingFang TC"/>
              </a:rPr>
              <a:t>優點：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寫入分散、無熱點、shard 容量均勻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55263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  <a:latin typeface="PingFang TC"/>
              </a:rPr>
              <a:t>缺點：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範圍掃描需 fan-out 全 shard；跨 shard JOIN 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94175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  <a:latin typeface="PingFang TC"/>
              </a:rPr>
              <a:t>代表 DB：</a:t>
            </a:r>
            <a:r>
              <a:rPr sz="1200" b="0">
                <a:solidFill>
                  <a:srgbClr val="E8EAED"/>
                </a:solidFill>
                <a:latin typeface="PingFang TC"/>
              </a:rPr>
              <a:t>YugabyteDB (YSQL PK 預設) / Cassandra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52628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11418"/>
                          </a:solidFill>
                          <a:latin typeface="PingFang TC"/>
                        </a:rPr>
                        <a:t>觀察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11418"/>
                          </a:solidFill>
                          <a:latin typeface="PingFang TC"/>
                        </a:rPr>
                        <a:t>解釋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TiDB tpmC ≈ 26,900（最高）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Range + warehouse-aware split + leader balance 對 OLTP locality 最友善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CockroachDB tpmC ≈ 15,000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Range 但 SSI 預設 + retry 成本拉低吞吐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YugabyteDB tpmC ≈ 15,600 (VM)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Hash 預設打散；無熱點但 cross-tablet txn 比例高，吞吐受限於 commit fanout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8640" y="617220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  <a:latin typeface="PingFang TC"/>
              </a:rPr>
              <a:t>TPC-C warehouse-centric workload</a:t>
            </a:r>
            <a:r>
              <a:rPr sz="1200" b="0">
                <a:solidFill>
                  <a:srgbClr val="E8EAED"/>
                </a:solidFill>
                <a:latin typeface="PingFang TC"/>
              </a:rPr>
              <a:t> 偏好 range（同 warehouse row co-located）；hash 在 hot warehouse 場景反能避開單 shard 飽和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VM 與 Kubernetes 效能差異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A0A8B8"/>
                </a:solidFill>
                <a:latin typeface="PingFang TC"/>
              </a:rPr>
              <a:t>K8s 化對 TiDB 與 CockroachDB 屬可接受範圍；YugabyteDB 在 K8s 下退化顯著，列為調校與驗證項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1371600"/>
                <a:gridCol w="1280160"/>
                <a:gridCol w="1097280"/>
                <a:gridCol w="1280160"/>
                <a:gridCol w="1280160"/>
              </a:tblGrid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資料庫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S-BASE (VM)
tpmC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S-K8S unlimit
tpmC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S-K8S limit
tpmC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unlimit / VM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limit / VM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p99 unlimit Δ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p99 limit Δ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418"/>
                          </a:solidFill>
                          <a:latin typeface="PingFang TC"/>
                        </a:rPr>
                        <a:t>TiDB v8.5.2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26,947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23,442.9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15,751.9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03A14"/>
                          </a:solidFill>
                          <a:latin typeface="PingFang TC"/>
                        </a:rPr>
                        <a:t>87.0 %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58.5 %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+17 %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+111 %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418"/>
                          </a:solidFill>
                          <a:latin typeface="PingFang TC"/>
                        </a:rPr>
                        <a:t>CockroachDB v26.2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15,033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12,196.7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6,493.5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03A14"/>
                          </a:solidFill>
                          <a:latin typeface="PingFang TC"/>
                        </a:rPr>
                        <a:t>81.1 %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43.2 %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+27 %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+192 %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418"/>
                          </a:solidFill>
                          <a:latin typeface="PingFang TC"/>
                        </a:rPr>
                        <a:t>YugabyteDB 2025.2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15,632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2,997.6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1,604.5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03A14"/>
                          </a:solidFill>
                          <a:latin typeface="PingFang TC"/>
                        </a:rPr>
                        <a:t>19.2 % ⚠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10.3 % ⚠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+669 %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+1556 %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PingFang TC"/>
              </a:rPr>
              <a:t>觀察解讀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500">
                <a:solidFill>
                  <a:srgbClr val="E8EAED"/>
                </a:solidFill>
                <a:latin typeface="PingFang TC"/>
              </a:rPr>
              <a:t>TiDB / CockroachDB：K8s unlimit 保留率 81-87 %，屬可接受範圍；limit 情境大幅衰退反映資源壓縮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500" b="0">
                <a:solidFill>
                  <a:srgbClr val="E8EAED"/>
                </a:solidFill>
                <a:latin typeface="PingFang TC"/>
              </a:rPr>
              <a:t>YugabyteDB：K8s unlimit 僅 19.2 %、p99 +669 %。成因推論：YSQL + DocDB 雙 process 在 K8s pod IPC + CPU contention 放大。</a:t>
            </a:r>
            <a:r>
              <a:rPr sz="1500" b="1">
                <a:solidFill>
                  <a:srgbClr val="B03A14"/>
                </a:solidFill>
                <a:latin typeface="PingFang TC"/>
              </a:rPr>
              <a:t>成因未定位，列後續調校項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500">
                <a:solidFill>
                  <a:srgbClr val="E8EAED"/>
                </a:solidFill>
                <a:latin typeface="PingFang TC"/>
              </a:rPr>
              <a:t>S-BASE ↔ S-K8S 可直接比較（同 workload W=128 t=128）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跨區域 / 跨專線進度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8B8"/>
                </a:solidFill>
                <a:latin typeface="PingFang TC"/>
              </a:rPr>
              <a:t>IaC、playbook、suite scripts、chrony drift gate 已就位；正式量測待 W=128 + Determinism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  <a:latin typeface="PingFang TC"/>
              </a:rPr>
              <a:t>✅ 已完成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600">
                <a:solidFill>
                  <a:srgbClr val="E8EAED"/>
                </a:solidFill>
                <a:latin typeface="PingFang TC"/>
              </a:rPr>
              <a:t>技術議題定案（GCP 5 VM 拓樸、placement P-A/P-B、Chaos Engineering 等）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600">
                <a:solidFill>
                  <a:srgbClr val="E8EAED"/>
                </a:solidFill>
                <a:latin typeface="PingFang TC"/>
              </a:rPr>
              <a:t>IaC、playbook、suite scripts、chrony drift gate（drift_median 0.017 ms；時間偏移 between IDC &amp; GCP）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600">
                <a:solidFill>
                  <a:srgbClr val="E8EAED"/>
                </a:solidFill>
                <a:latin typeface="PingFang TC"/>
              </a:rPr>
              <a:t>06-18〜06-19：修正 IaC / 防火牆 / YugabyteDB placement，三家 DB / 六節點前期測試驗證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600">
                <a:solidFill>
                  <a:srgbClr val="E8EAED"/>
                </a:solidFill>
                <a:latin typeface="PingFang TC"/>
              </a:rPr>
              <a:t>06-21〜06-22：Determinism v2 — 同 cluster R1-R5、scheduler / balancer freeze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1C40F"/>
                </a:solidFill>
                <a:latin typeface="PingFang TC"/>
              </a:rPr>
              <a:t>● 待執行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600">
                <a:solidFill>
                  <a:srgbClr val="E8EAED"/>
                </a:solidFill>
                <a:latin typeface="PingFang TC"/>
              </a:rPr>
              <a:t>調度 scheduler (開/關)、round-only runner、Warmup、Placement (replica / lease 位置)、測試結果彙整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600">
                <a:solidFill>
                  <a:srgbClr val="E8EAED"/>
                </a:solidFill>
                <a:latin typeface="PingFang TC"/>
              </a:rPr>
              <a:t>回到 W=128 正式基準量測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600">
                <a:solidFill>
                  <a:srgbClr val="E8EAED"/>
                </a:solidFill>
                <a:latin typeface="PingFang TC"/>
              </a:rPr>
              <a:t>Failover 與 Chaos Engineering 實際驗證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P-A / P-B Placement — 跨區寫入路徑的兩種設定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A0A8B8"/>
                </a:solidFill>
                <a:latin typeface="PingFang TC"/>
              </a:rPr>
              <a:t>6-node cluster (3 IDC + 3 GCP) 下，voter 與 leader 的分布決定 raft commit 是否走 WAN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486400" cy="3108960"/>
          </a:xfrm>
          <a:prstGeom prst="roundRect">
            <a:avLst/>
          </a:prstGeom>
          <a:solidFill>
            <a:srgbClr val="262F46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PingFang TC"/>
              </a:rPr>
              <a:t>P-A · 多數 voter 在 IDC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情境：正常營運（IDC 為主，GCP 為備）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88920"/>
            <a:ext cx="2240280" cy="640080"/>
          </a:xfrm>
          <a:prstGeom prst="rect">
            <a:avLst/>
          </a:prstGeom>
          <a:solidFill>
            <a:srgbClr val="1A4A2F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</a:rPr>
              <a:t>IDC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PingFang TC"/>
              </a:rPr>
              <a:t>2 voter/shard · leader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788920"/>
            <a:ext cx="2240280" cy="640080"/>
          </a:xfrm>
          <a:prstGeom prst="rect">
            <a:avLst/>
          </a:prstGeom>
          <a:solidFill>
            <a:srgbClr val="333D55"/>
          </a:solidFill>
          <a:ln>
            <a:solidFill>
              <a:srgbClr val="A0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7889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8EAED"/>
                </a:solidFill>
                <a:latin typeface="PingFang TC"/>
              </a:rPr>
              <a:t>GCP</a:t>
            </a:r>
          </a:p>
          <a:p>
            <a:pPr algn="ctr"/>
            <a:r>
              <a:rPr sz="1200" b="0">
                <a:solidFill>
                  <a:srgbClr val="E8EAED"/>
                </a:solidFill>
                <a:latin typeface="PingFang TC"/>
              </a:rPr>
              <a:t>1 voter/shard · follower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300">
                <a:solidFill>
                  <a:srgbClr val="E8EAED"/>
                </a:solidFill>
                <a:latin typeface="PingFang TC"/>
              </a:rPr>
              <a:t>Quorum 在 IDC，GCP 不擋 commit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>
                <a:solidFill>
                  <a:srgbClr val="E8EAED"/>
                </a:solidFill>
                <a:latin typeface="PingFang TC"/>
              </a:rPr>
              <a:t>適用 workload：A-S（IDC main / GCP standby）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 b="0">
                <a:solidFill>
                  <a:srgbClr val="E8EAED"/>
                </a:solidFill>
                <a:latin typeface="PingFang TC"/>
              </a:rPr>
              <a:t>預期 tpmC 衝擊：</a:t>
            </a:r>
            <a:r>
              <a:rPr sz="1300" b="1">
                <a:solidFill>
                  <a:srgbClr val="F39C12"/>
                </a:solidFill>
                <a:latin typeface="PingFang TC"/>
              </a:rPr>
              <a:t>約 −10〜30 %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5303520" cy="3108960"/>
          </a:xfrm>
          <a:prstGeom prst="roundRect">
            <a:avLst/>
          </a:prstGeom>
          <a:solidFill>
            <a:srgbClr val="262F46"/>
          </a:solidFill>
          <a:ln w="1905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  <a:latin typeface="PingFang TC"/>
              </a:rPr>
              <a:t>P-B · leader 散在兩區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31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情境：退化 / failover 後 / chaos 測試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788920"/>
            <a:ext cx="2148840" cy="640080"/>
          </a:xfrm>
          <a:prstGeom prst="rect">
            <a:avLst/>
          </a:prstGeom>
          <a:solidFill>
            <a:srgbClr val="4A3A1A"/>
          </a:solidFill>
          <a:ln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889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</a:rPr>
              <a:t>IDC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PingFang TC"/>
              </a:rPr>
              <a:t>leader + voter + arbiter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788920"/>
            <a:ext cx="2148840" cy="640080"/>
          </a:xfrm>
          <a:prstGeom prst="rect">
            <a:avLst/>
          </a:prstGeom>
          <a:solidFill>
            <a:srgbClr val="4A3A1A"/>
          </a:solidFill>
          <a:ln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7889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TC"/>
              </a:rPr>
              <a:t>GCP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PingFang TC"/>
              </a:rPr>
              <a:t>leader + voter + arbiter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47288"/>
            <a:ext cx="4434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1C40F"/>
                </a:solidFill>
                <a:latin typeface="PingFang TC"/>
              </a:rPr>
              <a:t>↔ WAN 必擋 raft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65760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300">
                <a:solidFill>
                  <a:srgbClr val="E8EAED"/>
                </a:solidFill>
                <a:latin typeface="PingFang TC"/>
              </a:rPr>
              <a:t>寫入需 WAN quorum，commit latency = RTT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>
                <a:solidFill>
                  <a:srgbClr val="E8EAED"/>
                </a:solidFill>
                <a:latin typeface="PingFang TC"/>
              </a:rPr>
              <a:t>適用 workload：A-A（雙寫）/ A-A-RO（IDC write, GCP read）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 b="0">
                <a:solidFill>
                  <a:srgbClr val="E8EAED"/>
                </a:solidFill>
                <a:latin typeface="PingFang TC"/>
              </a:rPr>
              <a:t>預期 tpmC 衝擊：</a:t>
            </a:r>
            <a:r>
              <a:rPr sz="1300" b="1">
                <a:solidFill>
                  <a:srgbClr val="B03A14"/>
                </a:solidFill>
                <a:latin typeface="PingFang TC"/>
              </a:rPr>
              <a:t>約 −30〜60 %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120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PingFang TC"/>
              </a:rPr>
              <a:t>對標重點：</a:t>
            </a:r>
            <a:r>
              <a:rPr sz="1400" b="0">
                <a:solidFill>
                  <a:srgbClr val="E8EAED"/>
                </a:solidFill>
                <a:latin typeface="PingFang TC"/>
              </a:rPr>
              <a:t>P-A 量「正常營運下的跨區 cost」；P-B 量「退化/failover 後的跨區 cost」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235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0A8B8"/>
                </a:solidFill>
                <a:latin typeface="PingFang TC"/>
              </a:rPr>
              <a:t>兩者相減 ≈ failover 觸發時的額外吞吐損失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X-CROSS 初步結果 (06-22〜06-23)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A0A8B8"/>
                </a:solidFill>
                <a:latin typeface="PingFang TC"/>
              </a:rPr>
              <a:t>W=4 framework 驗證；不與 S-BASE/S-K8S 直接對比 · 同 cluster 5 rounds、W=4、16 threads、每 round 5 min、controller = .31 (IDC client)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3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9058"/>
                <a:gridCol w="1058318"/>
                <a:gridCol w="1058318"/>
                <a:gridCol w="1058318"/>
                <a:gridCol w="1058318"/>
                <a:gridCol w="1058318"/>
                <a:gridCol w="2212847"/>
                <a:gridCol w="1250740"/>
              </a:tblGrid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資料庫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R1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R2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R3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R4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R5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中位數 (有效輪)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CV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TiDB v8.5.2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9,525.5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9,553.2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9,786.9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9,393.2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9,530.8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03A14"/>
                          </a:solidFill>
                          <a:latin typeface="PingFang TC"/>
                        </a:rPr>
                        <a:t>9,566.0 (R2-R5)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  <a:latin typeface="PingFang TC"/>
                        </a:rPr>
                        <a:t>1.67 % ✅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CockroachDB v26.2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8,409.5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8,055.3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7,902.5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7,720.9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7,472.3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03A14"/>
                          </a:solidFill>
                          <a:latin typeface="PingFang TC"/>
                        </a:rPr>
                        <a:t>7,787.8 (R2-R5)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  <a:latin typeface="PingFang TC"/>
                        </a:rPr>
                        <a:t>3.23 % ✅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11418"/>
                          </a:solidFill>
                          <a:latin typeface="PingFang TC"/>
                        </a:rPr>
                        <a:t>YugabyteDB 2025.2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102.0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226.9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6,424.2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6,259.3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11418"/>
                          </a:solidFill>
                          <a:latin typeface="PingFang TC"/>
                        </a:rPr>
                        <a:t>6,206.2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B03A14"/>
                          </a:solidFill>
                          <a:latin typeface="PingFang TC"/>
                        </a:rPr>
                        <a:t>6,296.6 (R3-R5)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7AE60"/>
                          </a:solidFill>
                          <a:latin typeface="PingFang TC"/>
                        </a:rPr>
                        <a:t>1.82 % ✅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39776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PingFang TC"/>
              </a:rPr>
              <a:t>已確認結論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1247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300">
                <a:solidFill>
                  <a:srgbClr val="E8EAED"/>
                </a:solidFill>
                <a:latin typeface="PingFang TC"/>
              </a:rPr>
              <a:t>06-21 觀察到的 ±526 % / ±50 % 變異主因為「每輪重新部署」造成 placement / cache / scheduler 狀態異動，與 W=4 contention 為兩個獨立來源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>
                <a:solidFill>
                  <a:srgbClr val="E8EAED"/>
                </a:solidFill>
                <a:latin typeface="PingFang TC"/>
              </a:rPr>
              <a:t>同一 cluster 連跑時，三家 W=4 R2-R5（或 YBDB R3-R5）的 CV ≤ 5 %，重現性已建立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>
                <a:solidFill>
                  <a:srgbClr val="E8EAED"/>
                </a:solidFill>
                <a:latin typeface="PingFang TC"/>
              </a:rPr>
              <a:t>YBDB Idle=0 解法：gate 改用 get_load_move_completion=100%；timed run 前 set_load_balancer_enabled=0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>
                <a:solidFill>
                  <a:srgbClr val="E8EAED"/>
                </a:solidFill>
                <a:latin typeface="PingFang TC"/>
              </a:rPr>
              <a:t>CRDB lease gate SQL 改用 SHOW RANGES FROM DATABASE tpcc WITH TABLES, DETAILS（v26.2 相容）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1C40F"/>
                </a:solidFill>
                <a:latin typeface="PingFang TC"/>
              </a:rPr>
              <a:t>⚠ Caveat：</a:t>
            </a:r>
            <a:r>
              <a:rPr sz="1300" b="0">
                <a:solidFill>
                  <a:srgbClr val="A0A8B8"/>
                </a:solidFill>
                <a:latin typeface="PingFang TC"/>
              </a:rPr>
              <a:t>W=4 framework / contention 驗證 ≠ 正式基準；R2-R5（YBDB R3-R5）CV ≤ 5 % 已建立但</a:t>
            </a:r>
            <a:r>
              <a:rPr sz="1300" b="1">
                <a:solidFill>
                  <a:srgbClr val="B03A14"/>
                </a:solidFill>
                <a:latin typeface="PingFang TC"/>
              </a:rPr>
              <a:t>不可作跨家排名</a:t>
            </a:r>
            <a:r>
              <a:rPr sz="1300" b="0">
                <a:solidFill>
                  <a:srgbClr val="A0A8B8"/>
                </a:solidFill>
                <a:latin typeface="PingFang TC"/>
              </a:rPr>
              <a:t>；後續需回 W=128。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建議決策框架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8100" cy="3657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A0A8B8"/>
                </a:solidFill>
                <a:latin typeface="PingFang TC"/>
              </a:rPr>
              <a:t>不是選一家，是先界定 application 條件、再排序候選；僅提供做決策框架參考依據用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62179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分類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內容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處置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7AE60"/>
                          </a:solidFill>
                          <a:latin typeface="PingFang TC"/>
                        </a:rPr>
                        <a:t>短期候選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11418"/>
                          </a:solidFill>
                          <a:latin typeface="PingFang TC"/>
                        </a:rPr>
                        <a:t>TiDB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優先進入應用情境對接，無門檻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保留觀察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CockroachDB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依一致性需求、Error Handling 容忍度、維運成本評估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39C12"/>
                          </a:solidFill>
                          <a:latin typeface="PingFang TC"/>
                        </a:rPr>
                        <a:t>保留觀察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YugabyteDB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VM 路徑可評估；K8s 路徑需先完成部署層級調校與驗證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03A14"/>
                          </a:solidFill>
                          <a:latin typeface="PingFang TC"/>
                        </a:rPr>
                        <a:t>暫不作結論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跨區域場景、K8s 退化未定位項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待下一階段 W=128 測試數據與調校產出再回頭評估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9C12"/>
                </a:solidFill>
                <a:latin typeface="PingFang TC"/>
              </a:rPr>
              <a:t>Application 需要確認的議題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12471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>
              <a:buChar char="•"/>
              <a:buClr>
                <a:srgbClr val="E74C3C"/>
              </a:buClr>
            </a:pPr>
            <a:r>
              <a:rPr sz="1300" b="1">
                <a:solidFill>
                  <a:srgbClr val="F39C12"/>
                </a:solidFill>
                <a:latin typeface="PingFang TC"/>
              </a:rPr>
              <a:t>1. 交易一致性需求：</a:t>
            </a:r>
            <a:r>
              <a:rPr sz="1300" b="0">
                <a:solidFill>
                  <a:srgbClr val="E8EAED"/>
                </a:solidFill>
                <a:latin typeface="PingFang TC"/>
              </a:rPr>
              <a:t>是否需要 SERIALIZABLE / SSI？是否可接受 READ COMMITTED &amp; 產品設計架構轉 CAP 的複雜度及可行性？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 b="1">
                <a:solidFill>
                  <a:srgbClr val="F39C12"/>
                </a:solidFill>
                <a:latin typeface="PingFang TC"/>
              </a:rPr>
              <a:t>2. 可接受延遲：</a:t>
            </a:r>
            <a:r>
              <a:rPr sz="1300" b="0">
                <a:solidFill>
                  <a:srgbClr val="E8EAED"/>
                </a:solidFill>
                <a:latin typeface="PingFang TC"/>
              </a:rPr>
              <a:t>在尖峰 t=128 等級負載下，p99 是否需要 500ms / 1s / 2s 以內？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 b="1">
                <a:solidFill>
                  <a:srgbClr val="F39C12"/>
                </a:solidFill>
                <a:latin typeface="PingFang TC"/>
              </a:rPr>
              <a:t>3. retry / timeout 行為：</a:t>
            </a:r>
            <a:r>
              <a:rPr sz="1300" b="0">
                <a:solidFill>
                  <a:srgbClr val="E8EAED"/>
                </a:solidFill>
                <a:latin typeface="PingFang TC"/>
              </a:rPr>
              <a:t>應用層是否能接受 SI / SSI 模式下的 retry 機制？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 b="1">
                <a:solidFill>
                  <a:srgbClr val="F39C12"/>
                </a:solidFill>
                <a:latin typeface="PingFang TC"/>
              </a:rPr>
              <a:t>4. RTO / RPO：</a:t>
            </a:r>
            <a:r>
              <a:rPr sz="1300" b="0">
                <a:solidFill>
                  <a:srgbClr val="E8EAED"/>
                </a:solidFill>
                <a:latin typeface="PingFang TC"/>
              </a:rPr>
              <a:t>跨區域 failover 是否需要 &lt; 30s RTO？是否容許資料 lag？</a:t>
            </a:r>
          </a:p>
          <a:p>
            <a:pPr algn="l" indent="-228600" marL="228600">
              <a:buChar char="•"/>
              <a:buClr>
                <a:srgbClr val="E74C3C"/>
              </a:buClr>
            </a:pPr>
            <a:r>
              <a:rPr sz="1300" b="1">
                <a:solidFill>
                  <a:srgbClr val="F39C12"/>
                </a:solidFill>
                <a:latin typeface="PingFang TC"/>
              </a:rPr>
              <a:t>5. 連線層 / 交易模式調整：</a:t>
            </a:r>
            <a:r>
              <a:rPr sz="1300" b="0">
                <a:solidFill>
                  <a:srgbClr val="E8EAED"/>
                </a:solidFill>
                <a:latin typeface="PingFang TC"/>
              </a:rPr>
              <a:t>是否能配合 HAProxy / PgBouncer / 連線池與短交易模式？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5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PoC 第一階段成果與下一步決策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0A8B8"/>
                </a:solidFill>
                <a:latin typeface="PingFang TC"/>
              </a:rPr>
              <a:t>2026-06-26 · DBA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0A8B8"/>
                </a:solidFill>
                <a:latin typeface="PingFang T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TC"/>
              </a:rPr>
              <a:t>後續推進階段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572000"/>
                <a:gridCol w="2377440"/>
              </a:tblGrid>
              <a:tr h="93268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短期 EX: Y26/07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中期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11418"/>
                          </a:solidFill>
                          <a:latin typeface="PingFang TC"/>
                        </a:rPr>
                        <a:t>決策</a:t>
                      </a:r>
                    </a:p>
                  </a:txBody>
                  <a:tcPr marL="73152" marR="73152" marT="45720" marB="45720" anchor="ctr">
                    <a:solidFill>
                      <a:srgbClr val="D8DDE6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Cross Region W=4 框架已完成初步流程驗收
啟動正式 W=128 基準量測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A-S / A-A-RO / A-A 三個 workload profile × P-A/P-B placement × 三家資料庫，依檢驗指標分批 / 量測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Application owner 完成五項議題確認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W=4 框架已驗，接 W=128 基準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Failover 與 Chaos Engineering 測試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原廠後勤對接狀況說明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freeze/unfreeze、round-only runner、暖機、placement gate 全部通過 審查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跨區域 analytics 第二份報告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/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X-CROSS 完成 determinism 流程 驗收，啟動正式 W=128 基準 量測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>補齊 YugabyteDB K8s 退化成因調查（P-A/P-B、A-S/A-A-RO/A-A）</a:t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418"/>
                          </a:solidFill>
                          <a:latin typeface="PingFang TC"/>
                        </a:rPr>
                        <a:t/>
                      </a:r>
                    </a:p>
                  </a:txBody>
                  <a:tcPr marL="73152" marR="73152" marT="45720" marB="4572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